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96"/>
  </p:notesMasterIdLst>
  <p:sldIdLst>
    <p:sldId id="256" r:id="rId5"/>
    <p:sldId id="331" r:id="rId6"/>
    <p:sldId id="8497" r:id="rId7"/>
    <p:sldId id="8502" r:id="rId8"/>
    <p:sldId id="8504" r:id="rId9"/>
    <p:sldId id="8503" r:id="rId10"/>
    <p:sldId id="8550" r:id="rId11"/>
    <p:sldId id="8553" r:id="rId12"/>
    <p:sldId id="8560" r:id="rId13"/>
    <p:sldId id="8505" r:id="rId14"/>
    <p:sldId id="8506" r:id="rId15"/>
    <p:sldId id="8507" r:id="rId16"/>
    <p:sldId id="8510" r:id="rId17"/>
    <p:sldId id="8518" r:id="rId18"/>
    <p:sldId id="8519" r:id="rId19"/>
    <p:sldId id="8520" r:id="rId20"/>
    <p:sldId id="8521" r:id="rId21"/>
    <p:sldId id="8522" r:id="rId22"/>
    <p:sldId id="8523" r:id="rId23"/>
    <p:sldId id="8508" r:id="rId24"/>
    <p:sldId id="8551" r:id="rId25"/>
    <p:sldId id="8559" r:id="rId26"/>
    <p:sldId id="8561" r:id="rId27"/>
    <p:sldId id="333" r:id="rId28"/>
    <p:sldId id="8509" r:id="rId29"/>
    <p:sldId id="8552" r:id="rId30"/>
    <p:sldId id="8566" r:id="rId31"/>
    <p:sldId id="8513" r:id="rId32"/>
    <p:sldId id="8514" r:id="rId33"/>
    <p:sldId id="8515" r:id="rId34"/>
    <p:sldId id="8516" r:id="rId35"/>
    <p:sldId id="8568" r:id="rId36"/>
    <p:sldId id="8567" r:id="rId37"/>
    <p:sldId id="8570" r:id="rId38"/>
    <p:sldId id="8554" r:id="rId39"/>
    <p:sldId id="8569" r:id="rId40"/>
    <p:sldId id="8555" r:id="rId41"/>
    <p:sldId id="8556" r:id="rId42"/>
    <p:sldId id="8557" r:id="rId43"/>
    <p:sldId id="8558" r:id="rId44"/>
    <p:sldId id="8562" r:id="rId45"/>
    <p:sldId id="8563" r:id="rId46"/>
    <p:sldId id="8564" r:id="rId47"/>
    <p:sldId id="8565" r:id="rId48"/>
    <p:sldId id="8585" r:id="rId49"/>
    <p:sldId id="8517" r:id="rId50"/>
    <p:sldId id="8571" r:id="rId51"/>
    <p:sldId id="8526" r:id="rId52"/>
    <p:sldId id="8586" r:id="rId53"/>
    <p:sldId id="8524" r:id="rId54"/>
    <p:sldId id="8573" r:id="rId55"/>
    <p:sldId id="8574" r:id="rId56"/>
    <p:sldId id="8512" r:id="rId57"/>
    <p:sldId id="8576" r:id="rId58"/>
    <p:sldId id="8577" r:id="rId59"/>
    <p:sldId id="8587" r:id="rId60"/>
    <p:sldId id="8588" r:id="rId61"/>
    <p:sldId id="8572" r:id="rId62"/>
    <p:sldId id="8525" r:id="rId63"/>
    <p:sldId id="8528" r:id="rId64"/>
    <p:sldId id="8579" r:id="rId65"/>
    <p:sldId id="8580" r:id="rId66"/>
    <p:sldId id="8581" r:id="rId67"/>
    <p:sldId id="8582" r:id="rId68"/>
    <p:sldId id="8590" r:id="rId69"/>
    <p:sldId id="8589" r:id="rId70"/>
    <p:sldId id="8591" r:id="rId71"/>
    <p:sldId id="8592" r:id="rId72"/>
    <p:sldId id="8593" r:id="rId73"/>
    <p:sldId id="8594" r:id="rId74"/>
    <p:sldId id="8595" r:id="rId75"/>
    <p:sldId id="8596" r:id="rId76"/>
    <p:sldId id="8597" r:id="rId77"/>
    <p:sldId id="8532" r:id="rId78"/>
    <p:sldId id="8529" r:id="rId79"/>
    <p:sldId id="8530" r:id="rId80"/>
    <p:sldId id="8535" r:id="rId81"/>
    <p:sldId id="8531" r:id="rId82"/>
    <p:sldId id="8533" r:id="rId83"/>
    <p:sldId id="8547" r:id="rId84"/>
    <p:sldId id="8534" r:id="rId85"/>
    <p:sldId id="8546" r:id="rId86"/>
    <p:sldId id="8548" r:id="rId87"/>
    <p:sldId id="8536" r:id="rId88"/>
    <p:sldId id="8537" r:id="rId89"/>
    <p:sldId id="8538" r:id="rId90"/>
    <p:sldId id="8539" r:id="rId91"/>
    <p:sldId id="8527" r:id="rId92"/>
    <p:sldId id="8598" r:id="rId93"/>
    <p:sldId id="268" r:id="rId94"/>
    <p:sldId id="8575" r:id="rId95"/>
  </p:sldIdLst>
  <p:sldSz cx="18288000" cy="10287000"/>
  <p:notesSz cx="6858000" cy="9144000"/>
  <p:embeddedFontLst>
    <p:embeddedFont>
      <p:font typeface="Poppins" panose="00000500000000000000" pitchFamily="2" charset="0"/>
      <p:regular r:id="rId97"/>
      <p:bold r:id="rId98"/>
      <p:italic r:id="rId99"/>
      <p:boldItalic r:id="rId100"/>
    </p:embeddedFont>
    <p:embeddedFont>
      <p:font typeface="Poppins 1 Bold" panose="020B0604020202020204" charset="0"/>
      <p:regular r:id="rId10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2" roundtripDataSignature="AMtx7miCuhGeosWqeH/wf4kyj2KadRk8+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A111915-BE36-4E01-A7E5-04B1672EAD32}" styleName="Estilo claro 2 - Acento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08" autoAdjust="0"/>
    <p:restoredTop sz="94660"/>
  </p:normalViewPr>
  <p:slideViewPr>
    <p:cSldViewPr snapToGrid="0">
      <p:cViewPr varScale="1">
        <p:scale>
          <a:sx n="102" d="100"/>
          <a:sy n="102" d="100"/>
        </p:scale>
        <p:origin x="162" y="22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102" Type="http://customschemas.google.com/relationships/presentationmetadata" Target="metadata"/><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slide" Target="slides/slide86.xml"/><Relationship Id="rId95" Type="http://schemas.openxmlformats.org/officeDocument/2006/relationships/slide" Target="slides/slide9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100" Type="http://schemas.openxmlformats.org/officeDocument/2006/relationships/font" Target="fonts/font4.fntdata"/><Relationship Id="rId105"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slide" Target="slides/slide89.xml"/><Relationship Id="rId98" Type="http://schemas.openxmlformats.org/officeDocument/2006/relationships/font" Target="fonts/font2.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103"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tableStyles" Target="tableStyle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font" Target="fonts/font3.fntdata"/><Relationship Id="rId101" Type="http://schemas.openxmlformats.org/officeDocument/2006/relationships/font" Target="fonts/font5.fntdata"/><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1.fntdata"/><Relationship Id="rId10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E88520-F094-4AB5-AE39-BDACEC21F00E}" type="doc">
      <dgm:prSet loTypeId="urn:microsoft.com/office/officeart/2005/8/layout/vList5" loCatId="list" qsTypeId="urn:microsoft.com/office/officeart/2005/8/quickstyle/simple1" qsCatId="simple" csTypeId="urn:microsoft.com/office/officeart/2005/8/colors/accent1_2" csCatId="accent1"/>
      <dgm:spPr/>
      <dgm:t>
        <a:bodyPr/>
        <a:lstStyle/>
        <a:p>
          <a:endParaRPr lang="es-CO"/>
        </a:p>
      </dgm:t>
    </dgm:pt>
    <dgm:pt modelId="{3E4A5349-783B-4174-AE46-36376482FE3A}">
      <dgm:prSet/>
      <dgm:spPr/>
      <dgm:t>
        <a:bodyPr/>
        <a:lstStyle/>
        <a:p>
          <a:r>
            <a:rPr lang="es-ES" b="1" i="0"/>
            <a:t>Abrid Datos desnortmalizados e ilustrar</a:t>
          </a:r>
          <a:endParaRPr lang="es-CO"/>
        </a:p>
      </dgm:t>
    </dgm:pt>
    <dgm:pt modelId="{76C0757D-0125-4B8A-ADF3-01E48BB7BBA6}" type="parTrans" cxnId="{D3C1446C-2615-455B-B29B-C6CFC23CCABE}">
      <dgm:prSet/>
      <dgm:spPr/>
      <dgm:t>
        <a:bodyPr/>
        <a:lstStyle/>
        <a:p>
          <a:endParaRPr lang="es-CO"/>
        </a:p>
      </dgm:t>
    </dgm:pt>
    <dgm:pt modelId="{971A4FBE-E40E-4957-9D5C-B129222077D6}" type="sibTrans" cxnId="{D3C1446C-2615-455B-B29B-C6CFC23CCABE}">
      <dgm:prSet/>
      <dgm:spPr/>
      <dgm:t>
        <a:bodyPr/>
        <a:lstStyle/>
        <a:p>
          <a:endParaRPr lang="es-CO"/>
        </a:p>
      </dgm:t>
    </dgm:pt>
    <dgm:pt modelId="{D6EF15B0-B62F-45F3-A6C2-09CF398255C4}">
      <dgm:prSet/>
      <dgm:spPr/>
      <dgm:t>
        <a:bodyPr/>
        <a:lstStyle/>
        <a:p>
          <a:r>
            <a:rPr lang="es-ES" b="1" i="0"/>
            <a:t>La maldición de la dimensionalidad</a:t>
          </a:r>
          <a:endParaRPr lang="es-CO"/>
        </a:p>
      </dgm:t>
    </dgm:pt>
    <dgm:pt modelId="{056A4B80-3E89-4295-B7E2-8E0B3838EB4F}" type="parTrans" cxnId="{94DF639C-8BE8-4D56-880A-32E0B33EA4EF}">
      <dgm:prSet/>
      <dgm:spPr/>
      <dgm:t>
        <a:bodyPr/>
        <a:lstStyle/>
        <a:p>
          <a:endParaRPr lang="es-CO"/>
        </a:p>
      </dgm:t>
    </dgm:pt>
    <dgm:pt modelId="{128F71DD-8EEE-43DC-A50B-AC9133C3E263}" type="sibTrans" cxnId="{94DF639C-8BE8-4D56-880A-32E0B33EA4EF}">
      <dgm:prSet/>
      <dgm:spPr/>
      <dgm:t>
        <a:bodyPr/>
        <a:lstStyle/>
        <a:p>
          <a:endParaRPr lang="es-CO"/>
        </a:p>
      </dgm:t>
    </dgm:pt>
    <dgm:pt modelId="{2488E620-80FE-4C9A-8539-C9EF3CBED98A}" type="pres">
      <dgm:prSet presAssocID="{95E88520-F094-4AB5-AE39-BDACEC21F00E}" presName="Name0" presStyleCnt="0">
        <dgm:presLayoutVars>
          <dgm:dir/>
          <dgm:animLvl val="lvl"/>
          <dgm:resizeHandles val="exact"/>
        </dgm:presLayoutVars>
      </dgm:prSet>
      <dgm:spPr/>
    </dgm:pt>
    <dgm:pt modelId="{CB734341-E4DC-4C56-ADC1-C901E7DF550C}" type="pres">
      <dgm:prSet presAssocID="{3E4A5349-783B-4174-AE46-36376482FE3A}" presName="linNode" presStyleCnt="0"/>
      <dgm:spPr/>
    </dgm:pt>
    <dgm:pt modelId="{55AEBD71-788D-4EE5-8622-5FFF5CF7C899}" type="pres">
      <dgm:prSet presAssocID="{3E4A5349-783B-4174-AE46-36376482FE3A}" presName="parentText" presStyleLbl="node1" presStyleIdx="0" presStyleCnt="2">
        <dgm:presLayoutVars>
          <dgm:chMax val="1"/>
          <dgm:bulletEnabled val="1"/>
        </dgm:presLayoutVars>
      </dgm:prSet>
      <dgm:spPr/>
    </dgm:pt>
    <dgm:pt modelId="{A6EAC274-C2C5-4F76-A0F4-40AFCCAED7E0}" type="pres">
      <dgm:prSet presAssocID="{971A4FBE-E40E-4957-9D5C-B129222077D6}" presName="sp" presStyleCnt="0"/>
      <dgm:spPr/>
    </dgm:pt>
    <dgm:pt modelId="{FCAC8D32-D0B0-42AF-AD3E-2767C45DB583}" type="pres">
      <dgm:prSet presAssocID="{D6EF15B0-B62F-45F3-A6C2-09CF398255C4}" presName="linNode" presStyleCnt="0"/>
      <dgm:spPr/>
    </dgm:pt>
    <dgm:pt modelId="{AC8E49C3-6986-444E-8CCF-1178E547B44E}" type="pres">
      <dgm:prSet presAssocID="{D6EF15B0-B62F-45F3-A6C2-09CF398255C4}" presName="parentText" presStyleLbl="node1" presStyleIdx="1" presStyleCnt="2">
        <dgm:presLayoutVars>
          <dgm:chMax val="1"/>
          <dgm:bulletEnabled val="1"/>
        </dgm:presLayoutVars>
      </dgm:prSet>
      <dgm:spPr/>
    </dgm:pt>
  </dgm:ptLst>
  <dgm:cxnLst>
    <dgm:cxn modelId="{CB1FA22A-8BE9-47A1-B8F5-49EBB37A50AC}" type="presOf" srcId="{95E88520-F094-4AB5-AE39-BDACEC21F00E}" destId="{2488E620-80FE-4C9A-8539-C9EF3CBED98A}" srcOrd="0" destOrd="0" presId="urn:microsoft.com/office/officeart/2005/8/layout/vList5"/>
    <dgm:cxn modelId="{3C9F483B-40EB-4DE6-8944-1DB5D1E3916E}" type="presOf" srcId="{3E4A5349-783B-4174-AE46-36376482FE3A}" destId="{55AEBD71-788D-4EE5-8622-5FFF5CF7C899}" srcOrd="0" destOrd="0" presId="urn:microsoft.com/office/officeart/2005/8/layout/vList5"/>
    <dgm:cxn modelId="{D3C1446C-2615-455B-B29B-C6CFC23CCABE}" srcId="{95E88520-F094-4AB5-AE39-BDACEC21F00E}" destId="{3E4A5349-783B-4174-AE46-36376482FE3A}" srcOrd="0" destOrd="0" parTransId="{76C0757D-0125-4B8A-ADF3-01E48BB7BBA6}" sibTransId="{971A4FBE-E40E-4957-9D5C-B129222077D6}"/>
    <dgm:cxn modelId="{94DF639C-8BE8-4D56-880A-32E0B33EA4EF}" srcId="{95E88520-F094-4AB5-AE39-BDACEC21F00E}" destId="{D6EF15B0-B62F-45F3-A6C2-09CF398255C4}" srcOrd="1" destOrd="0" parTransId="{056A4B80-3E89-4295-B7E2-8E0B3838EB4F}" sibTransId="{128F71DD-8EEE-43DC-A50B-AC9133C3E263}"/>
    <dgm:cxn modelId="{BA8C0AD0-EDC5-4350-B57D-FD6542FFF9EE}" type="presOf" srcId="{D6EF15B0-B62F-45F3-A6C2-09CF398255C4}" destId="{AC8E49C3-6986-444E-8CCF-1178E547B44E}" srcOrd="0" destOrd="0" presId="urn:microsoft.com/office/officeart/2005/8/layout/vList5"/>
    <dgm:cxn modelId="{9DBDB6DE-E478-4206-B0D9-ED7EDEE510D3}" type="presParOf" srcId="{2488E620-80FE-4C9A-8539-C9EF3CBED98A}" destId="{CB734341-E4DC-4C56-ADC1-C901E7DF550C}" srcOrd="0" destOrd="0" presId="urn:microsoft.com/office/officeart/2005/8/layout/vList5"/>
    <dgm:cxn modelId="{597B9970-CAA0-4C5B-8D4C-0536C440CB8A}" type="presParOf" srcId="{CB734341-E4DC-4C56-ADC1-C901E7DF550C}" destId="{55AEBD71-788D-4EE5-8622-5FFF5CF7C899}" srcOrd="0" destOrd="0" presId="urn:microsoft.com/office/officeart/2005/8/layout/vList5"/>
    <dgm:cxn modelId="{1CAB01D5-005E-4C06-817D-24616471B771}" type="presParOf" srcId="{2488E620-80FE-4C9A-8539-C9EF3CBED98A}" destId="{A6EAC274-C2C5-4F76-A0F4-40AFCCAED7E0}" srcOrd="1" destOrd="0" presId="urn:microsoft.com/office/officeart/2005/8/layout/vList5"/>
    <dgm:cxn modelId="{7011C9E0-A7A3-432F-9522-B68743964373}" type="presParOf" srcId="{2488E620-80FE-4C9A-8539-C9EF3CBED98A}" destId="{FCAC8D32-D0B0-42AF-AD3E-2767C45DB583}" srcOrd="2" destOrd="0" presId="urn:microsoft.com/office/officeart/2005/8/layout/vList5"/>
    <dgm:cxn modelId="{EFDD7A94-F023-4B5D-B870-012AC3E2E584}" type="presParOf" srcId="{FCAC8D32-D0B0-42AF-AD3E-2767C45DB583}" destId="{AC8E49C3-6986-444E-8CCF-1178E547B44E}" srcOrd="0" destOrd="0" presId="urn:microsoft.com/office/officeart/2005/8/layout/vList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9843CEB-B895-4976-900F-7CADFF1F43E1}"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O"/>
        </a:p>
      </dgm:t>
    </dgm:pt>
    <dgm:pt modelId="{66C9426E-3096-4681-93AC-C3FBC51C6144}">
      <dgm:prSet/>
      <dgm:spPr/>
      <dgm:t>
        <a:bodyPr/>
        <a:lstStyle/>
        <a:p>
          <a:r>
            <a:rPr lang="es-ES" b="0" i="0" dirty="0"/>
            <a:t>Especificación del Problema </a:t>
          </a:r>
          <a:endParaRPr lang="es-CO" dirty="0"/>
        </a:p>
      </dgm:t>
    </dgm:pt>
    <dgm:pt modelId="{DD1176D3-01C4-49DE-BF96-B6F2D9B46978}" type="parTrans" cxnId="{C4BFA4DD-D2FF-4582-BDF9-7FA40D433ED5}">
      <dgm:prSet/>
      <dgm:spPr/>
      <dgm:t>
        <a:bodyPr/>
        <a:lstStyle/>
        <a:p>
          <a:endParaRPr lang="es-CO"/>
        </a:p>
      </dgm:t>
    </dgm:pt>
    <dgm:pt modelId="{A85AD44E-089C-499C-9882-9360851DEAA9}" type="sibTrans" cxnId="{C4BFA4DD-D2FF-4582-BDF9-7FA40D433ED5}">
      <dgm:prSet/>
      <dgm:spPr/>
      <dgm:t>
        <a:bodyPr/>
        <a:lstStyle/>
        <a:p>
          <a:endParaRPr lang="es-CO"/>
        </a:p>
      </dgm:t>
    </dgm:pt>
    <dgm:pt modelId="{10A1F211-A660-4485-AB3F-E6FB8E72C7FD}">
      <dgm:prSet/>
      <dgm:spPr/>
      <dgm:t>
        <a:bodyPr/>
        <a:lstStyle/>
        <a:p>
          <a:r>
            <a:rPr lang="es-ES" b="0" i="0" dirty="0"/>
            <a:t>Modelo Conceptual</a:t>
          </a:r>
          <a:endParaRPr lang="es-CO" dirty="0"/>
        </a:p>
      </dgm:t>
    </dgm:pt>
    <dgm:pt modelId="{53367BD0-A05B-4C92-B09F-625975739E8A}" type="parTrans" cxnId="{A6BE8515-9922-4E1C-94B9-6825565DB552}">
      <dgm:prSet/>
      <dgm:spPr/>
      <dgm:t>
        <a:bodyPr/>
        <a:lstStyle/>
        <a:p>
          <a:endParaRPr lang="es-CO"/>
        </a:p>
      </dgm:t>
    </dgm:pt>
    <dgm:pt modelId="{9CF59634-4413-4A51-AD7E-890D33B19EDE}" type="sibTrans" cxnId="{A6BE8515-9922-4E1C-94B9-6825565DB552}">
      <dgm:prSet/>
      <dgm:spPr/>
      <dgm:t>
        <a:bodyPr/>
        <a:lstStyle/>
        <a:p>
          <a:endParaRPr lang="es-CO"/>
        </a:p>
      </dgm:t>
    </dgm:pt>
    <dgm:pt modelId="{F09B1710-B8A6-4E3D-843E-522F6A747629}">
      <dgm:prSet/>
      <dgm:spPr/>
      <dgm:t>
        <a:bodyPr/>
        <a:lstStyle/>
        <a:p>
          <a:r>
            <a:rPr lang="es-ES" b="0" i="0" dirty="0"/>
            <a:t>Modelo de Implementación</a:t>
          </a:r>
          <a:endParaRPr lang="es-CO" dirty="0"/>
        </a:p>
      </dgm:t>
    </dgm:pt>
    <dgm:pt modelId="{BC6867E1-5CEE-4CA2-B869-CB02D8E4C609}" type="parTrans" cxnId="{A8BBC9A5-88E4-4C53-B6EC-E9C944B75429}">
      <dgm:prSet/>
      <dgm:spPr/>
      <dgm:t>
        <a:bodyPr/>
        <a:lstStyle/>
        <a:p>
          <a:endParaRPr lang="es-CO"/>
        </a:p>
      </dgm:t>
    </dgm:pt>
    <dgm:pt modelId="{2FB19869-A487-4A00-9D74-66A2AD4F161E}" type="sibTrans" cxnId="{A8BBC9A5-88E4-4C53-B6EC-E9C944B75429}">
      <dgm:prSet/>
      <dgm:spPr/>
      <dgm:t>
        <a:bodyPr/>
        <a:lstStyle/>
        <a:p>
          <a:endParaRPr lang="es-CO"/>
        </a:p>
      </dgm:t>
    </dgm:pt>
    <dgm:pt modelId="{557053AC-18C0-4080-AC8C-3C18CF95107A}">
      <dgm:prSet/>
      <dgm:spPr/>
      <dgm:t>
        <a:bodyPr/>
        <a:lstStyle/>
        <a:p>
          <a:r>
            <a:rPr lang="es-ES" b="0" i="0"/>
            <a:t>Base de datos relacional</a:t>
          </a:r>
          <a:endParaRPr lang="es-CO"/>
        </a:p>
      </dgm:t>
    </dgm:pt>
    <dgm:pt modelId="{2B5F572E-4011-4575-AE8B-D8345BC480F4}" type="parTrans" cxnId="{82EFC206-2E7C-4175-82D2-A109A49C5520}">
      <dgm:prSet/>
      <dgm:spPr/>
      <dgm:t>
        <a:bodyPr/>
        <a:lstStyle/>
        <a:p>
          <a:endParaRPr lang="es-CO"/>
        </a:p>
      </dgm:t>
    </dgm:pt>
    <dgm:pt modelId="{07F3FEBD-3052-47C0-94B9-8BB7D05AA256}" type="sibTrans" cxnId="{82EFC206-2E7C-4175-82D2-A109A49C5520}">
      <dgm:prSet/>
      <dgm:spPr/>
      <dgm:t>
        <a:bodyPr/>
        <a:lstStyle/>
        <a:p>
          <a:endParaRPr lang="es-CO"/>
        </a:p>
      </dgm:t>
    </dgm:pt>
    <dgm:pt modelId="{600D9610-3A56-4D48-A6F3-EF4654F3EE64}" type="pres">
      <dgm:prSet presAssocID="{C9843CEB-B895-4976-900F-7CADFF1F43E1}" presName="Name0" presStyleCnt="0">
        <dgm:presLayoutVars>
          <dgm:dir/>
          <dgm:resizeHandles val="exact"/>
        </dgm:presLayoutVars>
      </dgm:prSet>
      <dgm:spPr/>
    </dgm:pt>
    <dgm:pt modelId="{2B0BCC32-784A-4D5B-8353-23C16053FD8B}" type="pres">
      <dgm:prSet presAssocID="{66C9426E-3096-4681-93AC-C3FBC51C6144}" presName="node" presStyleLbl="node1" presStyleIdx="0" presStyleCnt="4">
        <dgm:presLayoutVars>
          <dgm:bulletEnabled val="1"/>
        </dgm:presLayoutVars>
      </dgm:prSet>
      <dgm:spPr/>
    </dgm:pt>
    <dgm:pt modelId="{3D8527F4-CDD3-453C-9CB9-B2C059458FF2}" type="pres">
      <dgm:prSet presAssocID="{A85AD44E-089C-499C-9882-9360851DEAA9}" presName="sibTrans" presStyleLbl="sibTrans2D1" presStyleIdx="0" presStyleCnt="3"/>
      <dgm:spPr/>
    </dgm:pt>
    <dgm:pt modelId="{09BFBDFC-EE80-49A5-9C56-75ED768E0A4F}" type="pres">
      <dgm:prSet presAssocID="{A85AD44E-089C-499C-9882-9360851DEAA9}" presName="connectorText" presStyleLbl="sibTrans2D1" presStyleIdx="0" presStyleCnt="3"/>
      <dgm:spPr/>
    </dgm:pt>
    <dgm:pt modelId="{D0EC1CC0-3D91-4125-9B54-BEB55B8BF791}" type="pres">
      <dgm:prSet presAssocID="{10A1F211-A660-4485-AB3F-E6FB8E72C7FD}" presName="node" presStyleLbl="node1" presStyleIdx="1" presStyleCnt="4">
        <dgm:presLayoutVars>
          <dgm:bulletEnabled val="1"/>
        </dgm:presLayoutVars>
      </dgm:prSet>
      <dgm:spPr/>
    </dgm:pt>
    <dgm:pt modelId="{D7C99F55-161E-44A1-9A1A-666A3482B965}" type="pres">
      <dgm:prSet presAssocID="{9CF59634-4413-4A51-AD7E-890D33B19EDE}" presName="sibTrans" presStyleLbl="sibTrans2D1" presStyleIdx="1" presStyleCnt="3"/>
      <dgm:spPr/>
    </dgm:pt>
    <dgm:pt modelId="{E9265B79-2DFB-4E38-8DEB-89A31C9121BA}" type="pres">
      <dgm:prSet presAssocID="{9CF59634-4413-4A51-AD7E-890D33B19EDE}" presName="connectorText" presStyleLbl="sibTrans2D1" presStyleIdx="1" presStyleCnt="3"/>
      <dgm:spPr/>
    </dgm:pt>
    <dgm:pt modelId="{583BF8E3-E322-47FB-BFC1-448A7295D9D3}" type="pres">
      <dgm:prSet presAssocID="{F09B1710-B8A6-4E3D-843E-522F6A747629}" presName="node" presStyleLbl="node1" presStyleIdx="2" presStyleCnt="4">
        <dgm:presLayoutVars>
          <dgm:bulletEnabled val="1"/>
        </dgm:presLayoutVars>
      </dgm:prSet>
      <dgm:spPr/>
    </dgm:pt>
    <dgm:pt modelId="{DA5E9B4A-2F15-4500-9B01-48E6E21965F6}" type="pres">
      <dgm:prSet presAssocID="{2FB19869-A487-4A00-9D74-66A2AD4F161E}" presName="sibTrans" presStyleLbl="sibTrans2D1" presStyleIdx="2" presStyleCnt="3"/>
      <dgm:spPr/>
    </dgm:pt>
    <dgm:pt modelId="{4B9DC936-881D-4CCB-9450-BB7183F9EF8E}" type="pres">
      <dgm:prSet presAssocID="{2FB19869-A487-4A00-9D74-66A2AD4F161E}" presName="connectorText" presStyleLbl="sibTrans2D1" presStyleIdx="2" presStyleCnt="3"/>
      <dgm:spPr/>
    </dgm:pt>
    <dgm:pt modelId="{204D5A2E-A39F-48F4-974F-6AF598CFCB3F}" type="pres">
      <dgm:prSet presAssocID="{557053AC-18C0-4080-AC8C-3C18CF95107A}" presName="node" presStyleLbl="node1" presStyleIdx="3" presStyleCnt="4">
        <dgm:presLayoutVars>
          <dgm:bulletEnabled val="1"/>
        </dgm:presLayoutVars>
      </dgm:prSet>
      <dgm:spPr/>
    </dgm:pt>
  </dgm:ptLst>
  <dgm:cxnLst>
    <dgm:cxn modelId="{82EFC206-2E7C-4175-82D2-A109A49C5520}" srcId="{C9843CEB-B895-4976-900F-7CADFF1F43E1}" destId="{557053AC-18C0-4080-AC8C-3C18CF95107A}" srcOrd="3" destOrd="0" parTransId="{2B5F572E-4011-4575-AE8B-D8345BC480F4}" sibTransId="{07F3FEBD-3052-47C0-94B9-8BB7D05AA256}"/>
    <dgm:cxn modelId="{A6BE8515-9922-4E1C-94B9-6825565DB552}" srcId="{C9843CEB-B895-4976-900F-7CADFF1F43E1}" destId="{10A1F211-A660-4485-AB3F-E6FB8E72C7FD}" srcOrd="1" destOrd="0" parTransId="{53367BD0-A05B-4C92-B09F-625975739E8A}" sibTransId="{9CF59634-4413-4A51-AD7E-890D33B19EDE}"/>
    <dgm:cxn modelId="{2587852E-E956-4423-822C-8F63405801C5}" type="presOf" srcId="{9CF59634-4413-4A51-AD7E-890D33B19EDE}" destId="{E9265B79-2DFB-4E38-8DEB-89A31C9121BA}" srcOrd="1" destOrd="0" presId="urn:microsoft.com/office/officeart/2005/8/layout/process1"/>
    <dgm:cxn modelId="{8D9E6078-528B-47F3-93BA-6A29F89C195C}" type="presOf" srcId="{F09B1710-B8A6-4E3D-843E-522F6A747629}" destId="{583BF8E3-E322-47FB-BFC1-448A7295D9D3}" srcOrd="0" destOrd="0" presId="urn:microsoft.com/office/officeart/2005/8/layout/process1"/>
    <dgm:cxn modelId="{C364FF78-B312-42D9-BA8F-15C307879355}" type="presOf" srcId="{2FB19869-A487-4A00-9D74-66A2AD4F161E}" destId="{DA5E9B4A-2F15-4500-9B01-48E6E21965F6}" srcOrd="0" destOrd="0" presId="urn:microsoft.com/office/officeart/2005/8/layout/process1"/>
    <dgm:cxn modelId="{E78F228D-1CC8-48FD-B2F2-D55AC13EBE0A}" type="presOf" srcId="{557053AC-18C0-4080-AC8C-3C18CF95107A}" destId="{204D5A2E-A39F-48F4-974F-6AF598CFCB3F}" srcOrd="0" destOrd="0" presId="urn:microsoft.com/office/officeart/2005/8/layout/process1"/>
    <dgm:cxn modelId="{95A20395-1BC3-48AD-92F8-297DDA6DBD01}" type="presOf" srcId="{9CF59634-4413-4A51-AD7E-890D33B19EDE}" destId="{D7C99F55-161E-44A1-9A1A-666A3482B965}" srcOrd="0" destOrd="0" presId="urn:microsoft.com/office/officeart/2005/8/layout/process1"/>
    <dgm:cxn modelId="{D6FE2D9D-4287-43A3-B945-59A5682A1AAE}" type="presOf" srcId="{A85AD44E-089C-499C-9882-9360851DEAA9}" destId="{3D8527F4-CDD3-453C-9CB9-B2C059458FF2}" srcOrd="0" destOrd="0" presId="urn:microsoft.com/office/officeart/2005/8/layout/process1"/>
    <dgm:cxn modelId="{A8BBC9A5-88E4-4C53-B6EC-E9C944B75429}" srcId="{C9843CEB-B895-4976-900F-7CADFF1F43E1}" destId="{F09B1710-B8A6-4E3D-843E-522F6A747629}" srcOrd="2" destOrd="0" parTransId="{BC6867E1-5CEE-4CA2-B869-CB02D8E4C609}" sibTransId="{2FB19869-A487-4A00-9D74-66A2AD4F161E}"/>
    <dgm:cxn modelId="{DA238FB2-F259-45FA-86CA-2D2633F5C70C}" type="presOf" srcId="{66C9426E-3096-4681-93AC-C3FBC51C6144}" destId="{2B0BCC32-784A-4D5B-8353-23C16053FD8B}" srcOrd="0" destOrd="0" presId="urn:microsoft.com/office/officeart/2005/8/layout/process1"/>
    <dgm:cxn modelId="{10E23CBB-FF74-4229-963F-1D43FA653481}" type="presOf" srcId="{2FB19869-A487-4A00-9D74-66A2AD4F161E}" destId="{4B9DC936-881D-4CCB-9450-BB7183F9EF8E}" srcOrd="1" destOrd="0" presId="urn:microsoft.com/office/officeart/2005/8/layout/process1"/>
    <dgm:cxn modelId="{C4BFA4DD-D2FF-4582-BDF9-7FA40D433ED5}" srcId="{C9843CEB-B895-4976-900F-7CADFF1F43E1}" destId="{66C9426E-3096-4681-93AC-C3FBC51C6144}" srcOrd="0" destOrd="0" parTransId="{DD1176D3-01C4-49DE-BF96-B6F2D9B46978}" sibTransId="{A85AD44E-089C-499C-9882-9360851DEAA9}"/>
    <dgm:cxn modelId="{99734DE4-235B-42EC-8A89-DA87D2038D5C}" type="presOf" srcId="{A85AD44E-089C-499C-9882-9360851DEAA9}" destId="{09BFBDFC-EE80-49A5-9C56-75ED768E0A4F}" srcOrd="1" destOrd="0" presId="urn:microsoft.com/office/officeart/2005/8/layout/process1"/>
    <dgm:cxn modelId="{1F07A7E6-DA5D-420C-9067-5656B929745F}" type="presOf" srcId="{C9843CEB-B895-4976-900F-7CADFF1F43E1}" destId="{600D9610-3A56-4D48-A6F3-EF4654F3EE64}" srcOrd="0" destOrd="0" presId="urn:microsoft.com/office/officeart/2005/8/layout/process1"/>
    <dgm:cxn modelId="{86DA98F4-7E7E-4557-9C43-8D796CA61B29}" type="presOf" srcId="{10A1F211-A660-4485-AB3F-E6FB8E72C7FD}" destId="{D0EC1CC0-3D91-4125-9B54-BEB55B8BF791}" srcOrd="0" destOrd="0" presId="urn:microsoft.com/office/officeart/2005/8/layout/process1"/>
    <dgm:cxn modelId="{9646F59A-AD15-4FF9-BF0A-748D1138AB09}" type="presParOf" srcId="{600D9610-3A56-4D48-A6F3-EF4654F3EE64}" destId="{2B0BCC32-784A-4D5B-8353-23C16053FD8B}" srcOrd="0" destOrd="0" presId="urn:microsoft.com/office/officeart/2005/8/layout/process1"/>
    <dgm:cxn modelId="{BD47091B-57AF-4304-BBA7-C0C969B309AA}" type="presParOf" srcId="{600D9610-3A56-4D48-A6F3-EF4654F3EE64}" destId="{3D8527F4-CDD3-453C-9CB9-B2C059458FF2}" srcOrd="1" destOrd="0" presId="urn:microsoft.com/office/officeart/2005/8/layout/process1"/>
    <dgm:cxn modelId="{8693A0A6-338F-4A33-B5A3-448836F59820}" type="presParOf" srcId="{3D8527F4-CDD3-453C-9CB9-B2C059458FF2}" destId="{09BFBDFC-EE80-49A5-9C56-75ED768E0A4F}" srcOrd="0" destOrd="0" presId="urn:microsoft.com/office/officeart/2005/8/layout/process1"/>
    <dgm:cxn modelId="{F4AC96B9-6FA1-4DAD-8220-4B9824AF9F0F}" type="presParOf" srcId="{600D9610-3A56-4D48-A6F3-EF4654F3EE64}" destId="{D0EC1CC0-3D91-4125-9B54-BEB55B8BF791}" srcOrd="2" destOrd="0" presId="urn:microsoft.com/office/officeart/2005/8/layout/process1"/>
    <dgm:cxn modelId="{9973CB65-6FD8-4286-9BB9-EA068883494F}" type="presParOf" srcId="{600D9610-3A56-4D48-A6F3-EF4654F3EE64}" destId="{D7C99F55-161E-44A1-9A1A-666A3482B965}" srcOrd="3" destOrd="0" presId="urn:microsoft.com/office/officeart/2005/8/layout/process1"/>
    <dgm:cxn modelId="{360155AF-7E7E-41BB-9106-6648F9477511}" type="presParOf" srcId="{D7C99F55-161E-44A1-9A1A-666A3482B965}" destId="{E9265B79-2DFB-4E38-8DEB-89A31C9121BA}" srcOrd="0" destOrd="0" presId="urn:microsoft.com/office/officeart/2005/8/layout/process1"/>
    <dgm:cxn modelId="{11642AF7-7AC7-4DDD-9FF4-34ADAA20177B}" type="presParOf" srcId="{600D9610-3A56-4D48-A6F3-EF4654F3EE64}" destId="{583BF8E3-E322-47FB-BFC1-448A7295D9D3}" srcOrd="4" destOrd="0" presId="urn:microsoft.com/office/officeart/2005/8/layout/process1"/>
    <dgm:cxn modelId="{8222C99C-1521-4BFE-BFC3-9027FB566AD7}" type="presParOf" srcId="{600D9610-3A56-4D48-A6F3-EF4654F3EE64}" destId="{DA5E9B4A-2F15-4500-9B01-48E6E21965F6}" srcOrd="5" destOrd="0" presId="urn:microsoft.com/office/officeart/2005/8/layout/process1"/>
    <dgm:cxn modelId="{69A5CFE9-0174-4F03-B8DB-583686416721}" type="presParOf" srcId="{DA5E9B4A-2F15-4500-9B01-48E6E21965F6}" destId="{4B9DC936-881D-4CCB-9450-BB7183F9EF8E}" srcOrd="0" destOrd="0" presId="urn:microsoft.com/office/officeart/2005/8/layout/process1"/>
    <dgm:cxn modelId="{49AF9177-670C-41CB-94BD-644682B4E8AA}" type="presParOf" srcId="{600D9610-3A56-4D48-A6F3-EF4654F3EE64}" destId="{204D5A2E-A39F-48F4-974F-6AF598CFCB3F}" srcOrd="6" destOrd="0" presId="urn:microsoft.com/office/officeart/2005/8/layout/process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709E5FF-45EB-4D78-B2F8-997699151F92}"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s-CO"/>
        </a:p>
      </dgm:t>
    </dgm:pt>
    <dgm:pt modelId="{0CA46AB9-F1E4-43AF-913F-96CE8D99635E}">
      <dgm:prSet/>
      <dgm:spPr/>
      <dgm:t>
        <a:bodyPr/>
        <a:lstStyle/>
        <a:p>
          <a:r>
            <a:rPr lang="es-ES" b="1" i="0"/>
            <a:t>Errores que cuestan caro después</a:t>
          </a:r>
          <a:endParaRPr lang="es-CO"/>
        </a:p>
      </dgm:t>
    </dgm:pt>
    <dgm:pt modelId="{181486EB-C2FD-4C4E-8484-C33D381064B1}" type="parTrans" cxnId="{EC9EC4C2-1DF3-46CC-806E-B0BEA488E671}">
      <dgm:prSet/>
      <dgm:spPr/>
      <dgm:t>
        <a:bodyPr/>
        <a:lstStyle/>
        <a:p>
          <a:endParaRPr lang="es-CO"/>
        </a:p>
      </dgm:t>
    </dgm:pt>
    <dgm:pt modelId="{E4E952B5-1646-4385-8131-83B555D4EFCC}" type="sibTrans" cxnId="{EC9EC4C2-1DF3-46CC-806E-B0BEA488E671}">
      <dgm:prSet/>
      <dgm:spPr/>
      <dgm:t>
        <a:bodyPr/>
        <a:lstStyle/>
        <a:p>
          <a:endParaRPr lang="es-CO"/>
        </a:p>
      </dgm:t>
    </dgm:pt>
    <dgm:pt modelId="{69751349-2053-4D6F-84EA-CE8F9CA22E45}">
      <dgm:prSet/>
      <dgm:spPr/>
      <dgm:t>
        <a:bodyPr/>
        <a:lstStyle/>
        <a:p>
          <a:r>
            <a:rPr lang="es-ES" b="1" i="0"/>
            <a:t>Confundir Atributos con Entidades:</a:t>
          </a:r>
          <a:endParaRPr lang="es-CO"/>
        </a:p>
      </dgm:t>
    </dgm:pt>
    <dgm:pt modelId="{8401C29E-3644-4099-9F5F-061EA2A95112}" type="parTrans" cxnId="{D91D8B69-3D15-44D8-87B0-A71DF6996BB8}">
      <dgm:prSet/>
      <dgm:spPr/>
      <dgm:t>
        <a:bodyPr/>
        <a:lstStyle/>
        <a:p>
          <a:endParaRPr lang="es-CO"/>
        </a:p>
      </dgm:t>
    </dgm:pt>
    <dgm:pt modelId="{EA50DED6-DA3D-40F7-951E-66DFDDAB3C14}" type="sibTrans" cxnId="{D91D8B69-3D15-44D8-87B0-A71DF6996BB8}">
      <dgm:prSet/>
      <dgm:spPr/>
      <dgm:t>
        <a:bodyPr/>
        <a:lstStyle/>
        <a:p>
          <a:endParaRPr lang="es-CO"/>
        </a:p>
      </dgm:t>
    </dgm:pt>
    <dgm:pt modelId="{3A953468-903B-4AA9-B5A1-9F1FEA72CF6A}">
      <dgm:prSet/>
      <dgm:spPr/>
      <dgm:t>
        <a:bodyPr/>
        <a:lstStyle/>
        <a:p>
          <a:r>
            <a:rPr lang="es-ES" b="0" i="1"/>
            <a:t>Error:</a:t>
          </a:r>
          <a:r>
            <a:rPr lang="es-ES" b="0" i="0"/>
            <a:t> Crear una tabla llamada "Precio".</a:t>
          </a:r>
          <a:endParaRPr lang="es-CO"/>
        </a:p>
      </dgm:t>
    </dgm:pt>
    <dgm:pt modelId="{B9C70C8A-CF5B-4F84-9F2F-727A1203719E}" type="parTrans" cxnId="{33B2F929-3066-4B23-B95D-B1B03CAFFFE7}">
      <dgm:prSet/>
      <dgm:spPr/>
      <dgm:t>
        <a:bodyPr/>
        <a:lstStyle/>
        <a:p>
          <a:endParaRPr lang="es-CO"/>
        </a:p>
      </dgm:t>
    </dgm:pt>
    <dgm:pt modelId="{C8F7CE05-11B4-417C-83DD-41E5DC046966}" type="sibTrans" cxnId="{33B2F929-3066-4B23-B95D-B1B03CAFFFE7}">
      <dgm:prSet/>
      <dgm:spPr/>
      <dgm:t>
        <a:bodyPr/>
        <a:lstStyle/>
        <a:p>
          <a:endParaRPr lang="es-CO"/>
        </a:p>
      </dgm:t>
    </dgm:pt>
    <dgm:pt modelId="{9F35351E-D4AD-4C1B-979C-63AF75EAF3FF}">
      <dgm:prSet/>
      <dgm:spPr/>
      <dgm:t>
        <a:bodyPr/>
        <a:lstStyle/>
        <a:p>
          <a:r>
            <a:rPr lang="es-ES" b="0" i="1"/>
            <a:t>Corrección:</a:t>
          </a:r>
          <a:r>
            <a:rPr lang="es-ES" b="0" i="0"/>
            <a:t> El precio no existe por sí solo; es una cualidad de un Producto o de una Venta pactada.</a:t>
          </a:r>
          <a:endParaRPr lang="es-CO"/>
        </a:p>
      </dgm:t>
    </dgm:pt>
    <dgm:pt modelId="{87B832EE-AC2D-460C-8D0E-65BFD5C9E32E}" type="parTrans" cxnId="{38B3B618-60A0-4E86-9B28-E65C6146E328}">
      <dgm:prSet/>
      <dgm:spPr/>
      <dgm:t>
        <a:bodyPr/>
        <a:lstStyle/>
        <a:p>
          <a:endParaRPr lang="es-CO"/>
        </a:p>
      </dgm:t>
    </dgm:pt>
    <dgm:pt modelId="{F4660CB8-67DD-4F8D-9EC6-E2F6FCA87B19}" type="sibTrans" cxnId="{38B3B618-60A0-4E86-9B28-E65C6146E328}">
      <dgm:prSet/>
      <dgm:spPr/>
      <dgm:t>
        <a:bodyPr/>
        <a:lstStyle/>
        <a:p>
          <a:endParaRPr lang="es-CO"/>
        </a:p>
      </dgm:t>
    </dgm:pt>
    <dgm:pt modelId="{6C7D2198-0CF3-4181-993A-47DBE6963749}">
      <dgm:prSet/>
      <dgm:spPr/>
      <dgm:t>
        <a:bodyPr/>
        <a:lstStyle/>
        <a:p>
          <a:r>
            <a:rPr lang="es-ES" b="1" i="0"/>
            <a:t>Ignorar el Detalle (Granularidad):</a:t>
          </a:r>
          <a:endParaRPr lang="es-CO"/>
        </a:p>
      </dgm:t>
    </dgm:pt>
    <dgm:pt modelId="{BE694135-8506-4FC0-888B-77B56B55604A}" type="parTrans" cxnId="{1A71AC26-1576-4D68-97CD-E5BF7974D15A}">
      <dgm:prSet/>
      <dgm:spPr/>
      <dgm:t>
        <a:bodyPr/>
        <a:lstStyle/>
        <a:p>
          <a:endParaRPr lang="es-CO"/>
        </a:p>
      </dgm:t>
    </dgm:pt>
    <dgm:pt modelId="{603352E7-5A5D-49A7-9E53-68375B8CEB22}" type="sibTrans" cxnId="{1A71AC26-1576-4D68-97CD-E5BF7974D15A}">
      <dgm:prSet/>
      <dgm:spPr/>
      <dgm:t>
        <a:bodyPr/>
        <a:lstStyle/>
        <a:p>
          <a:endParaRPr lang="es-CO"/>
        </a:p>
      </dgm:t>
    </dgm:pt>
    <dgm:pt modelId="{392036AB-0955-4BEA-BF08-E9F78EA916E8}">
      <dgm:prSet/>
      <dgm:spPr/>
      <dgm:t>
        <a:bodyPr/>
        <a:lstStyle/>
        <a:p>
          <a:r>
            <a:rPr lang="es-ES" b="0" i="1"/>
            <a:t>Error:</a:t>
          </a:r>
          <a:r>
            <a:rPr lang="es-ES" b="0" i="0"/>
            <a:t> Intentar guardar todos los productos comprados en una sola celda de la tabla "Pedido" (separados por comas).</a:t>
          </a:r>
          <a:endParaRPr lang="es-CO"/>
        </a:p>
      </dgm:t>
    </dgm:pt>
    <dgm:pt modelId="{4A472BAB-1E03-46D9-86DD-AD5C3D85AC75}" type="parTrans" cxnId="{BDE00F5F-AD82-410B-92C5-377354B73A4F}">
      <dgm:prSet/>
      <dgm:spPr/>
      <dgm:t>
        <a:bodyPr/>
        <a:lstStyle/>
        <a:p>
          <a:endParaRPr lang="es-CO"/>
        </a:p>
      </dgm:t>
    </dgm:pt>
    <dgm:pt modelId="{BB731EE3-84C0-479B-A526-A01B260EE632}" type="sibTrans" cxnId="{BDE00F5F-AD82-410B-92C5-377354B73A4F}">
      <dgm:prSet/>
      <dgm:spPr/>
      <dgm:t>
        <a:bodyPr/>
        <a:lstStyle/>
        <a:p>
          <a:endParaRPr lang="es-CO"/>
        </a:p>
      </dgm:t>
    </dgm:pt>
    <dgm:pt modelId="{0248C53A-2B1A-439A-A4BC-672C5C7981C4}">
      <dgm:prSet/>
      <dgm:spPr/>
      <dgm:t>
        <a:bodyPr/>
        <a:lstStyle/>
        <a:p>
          <a:r>
            <a:rPr lang="es-ES" b="0" i="1"/>
            <a:t>Corrección:</a:t>
          </a:r>
          <a:r>
            <a:rPr lang="es-ES" b="0" i="0"/>
            <a:t> Detectar la necesidad de una tabla hija (Order_Items) para normalizar la información.</a:t>
          </a:r>
          <a:endParaRPr lang="es-CO"/>
        </a:p>
      </dgm:t>
    </dgm:pt>
    <dgm:pt modelId="{9AC492E2-C368-49B1-BF80-9FE0A928762A}" type="parTrans" cxnId="{736C9122-9096-4688-909A-DD8B107D3C35}">
      <dgm:prSet/>
      <dgm:spPr/>
      <dgm:t>
        <a:bodyPr/>
        <a:lstStyle/>
        <a:p>
          <a:endParaRPr lang="es-CO"/>
        </a:p>
      </dgm:t>
    </dgm:pt>
    <dgm:pt modelId="{4FE2A2B4-22C8-4882-93E2-FE39D5F39275}" type="sibTrans" cxnId="{736C9122-9096-4688-909A-DD8B107D3C35}">
      <dgm:prSet/>
      <dgm:spPr/>
      <dgm:t>
        <a:bodyPr/>
        <a:lstStyle/>
        <a:p>
          <a:endParaRPr lang="es-CO"/>
        </a:p>
      </dgm:t>
    </dgm:pt>
    <dgm:pt modelId="{53893564-2997-427E-AB77-7ABDB870BFBB}">
      <dgm:prSet/>
      <dgm:spPr/>
      <dgm:t>
        <a:bodyPr/>
        <a:lstStyle/>
        <a:p>
          <a:r>
            <a:rPr lang="es-ES" b="1" i="0"/>
            <a:t>Sinónimos y Ambigüedad:</a:t>
          </a:r>
          <a:endParaRPr lang="es-CO"/>
        </a:p>
      </dgm:t>
    </dgm:pt>
    <dgm:pt modelId="{CA535507-8691-41EE-A607-1CA436DDB611}" type="parTrans" cxnId="{A61025BF-A7E7-4B25-952B-9C403C825B41}">
      <dgm:prSet/>
      <dgm:spPr/>
      <dgm:t>
        <a:bodyPr/>
        <a:lstStyle/>
        <a:p>
          <a:endParaRPr lang="es-CO"/>
        </a:p>
      </dgm:t>
    </dgm:pt>
    <dgm:pt modelId="{052A3B2D-89DD-4E4A-B8C5-B620451DEAF7}" type="sibTrans" cxnId="{A61025BF-A7E7-4B25-952B-9C403C825B41}">
      <dgm:prSet/>
      <dgm:spPr/>
      <dgm:t>
        <a:bodyPr/>
        <a:lstStyle/>
        <a:p>
          <a:endParaRPr lang="es-CO"/>
        </a:p>
      </dgm:t>
    </dgm:pt>
    <dgm:pt modelId="{9157BAD7-2197-43AD-B275-25FE69AADBDD}">
      <dgm:prSet/>
      <dgm:spPr/>
      <dgm:t>
        <a:bodyPr/>
        <a:lstStyle/>
        <a:p>
          <a:r>
            <a:rPr lang="es-ES" b="0" i="0"/>
            <a:t>Si un departamento dice "Comprador" y otro "Usuario", el arquitecto de datos debe estandarizar (ej: </a:t>
          </a:r>
          <a:r>
            <a:rPr lang="es-ES" b="1" i="0"/>
            <a:t>Customer</a:t>
          </a:r>
          <a:r>
            <a:rPr lang="es-ES" b="0" i="0"/>
            <a:t>).</a:t>
          </a:r>
          <a:endParaRPr lang="es-CO"/>
        </a:p>
      </dgm:t>
    </dgm:pt>
    <dgm:pt modelId="{128ACDCC-4C92-4ABC-9AAD-CF935CC528AA}" type="parTrans" cxnId="{92E07456-E914-46A4-866C-16561A6D7F27}">
      <dgm:prSet/>
      <dgm:spPr/>
      <dgm:t>
        <a:bodyPr/>
        <a:lstStyle/>
        <a:p>
          <a:endParaRPr lang="es-CO"/>
        </a:p>
      </dgm:t>
    </dgm:pt>
    <dgm:pt modelId="{7532FFAB-6910-42E6-AC2E-A744A7545BAF}" type="sibTrans" cxnId="{92E07456-E914-46A4-866C-16561A6D7F27}">
      <dgm:prSet/>
      <dgm:spPr/>
      <dgm:t>
        <a:bodyPr/>
        <a:lstStyle/>
        <a:p>
          <a:endParaRPr lang="es-CO"/>
        </a:p>
      </dgm:t>
    </dgm:pt>
    <dgm:pt modelId="{70802432-0C97-4564-9D0F-1F2DE1EA9297}">
      <dgm:prSet/>
      <dgm:spPr/>
      <dgm:t>
        <a:bodyPr/>
        <a:lstStyle/>
        <a:p>
          <a:r>
            <a:rPr lang="es-ES" b="1" i="0"/>
            <a:t>Datos Calculados:</a:t>
          </a:r>
          <a:endParaRPr lang="es-CO"/>
        </a:p>
      </dgm:t>
    </dgm:pt>
    <dgm:pt modelId="{7256C1DC-FB13-40BF-BFD4-DA99BB21336D}" type="parTrans" cxnId="{DD19CE21-AAD7-4923-83F5-ECB661F8F499}">
      <dgm:prSet/>
      <dgm:spPr/>
      <dgm:t>
        <a:bodyPr/>
        <a:lstStyle/>
        <a:p>
          <a:endParaRPr lang="es-CO"/>
        </a:p>
      </dgm:t>
    </dgm:pt>
    <dgm:pt modelId="{F122300C-E266-4E86-BF59-3FF33F1ECE21}" type="sibTrans" cxnId="{DD19CE21-AAD7-4923-83F5-ECB661F8F499}">
      <dgm:prSet/>
      <dgm:spPr/>
      <dgm:t>
        <a:bodyPr/>
        <a:lstStyle/>
        <a:p>
          <a:endParaRPr lang="es-CO"/>
        </a:p>
      </dgm:t>
    </dgm:pt>
    <dgm:pt modelId="{E16B6F0F-546A-4722-B37E-73E0B27E06E4}">
      <dgm:prSet/>
      <dgm:spPr/>
      <dgm:t>
        <a:bodyPr/>
        <a:lstStyle/>
        <a:p>
          <a:r>
            <a:rPr lang="es-ES" b="0" i="0"/>
            <a:t>No almacenamos "Días que tardó el envío". Almacenamos Fecha_Envio y Fecha_Entrega, y calculamos la diferencia cuando sea necesario.</a:t>
          </a:r>
          <a:endParaRPr lang="es-CO"/>
        </a:p>
      </dgm:t>
    </dgm:pt>
    <dgm:pt modelId="{6BD5D9C5-5BEF-4B7E-9E43-163EA11DB1A0}" type="parTrans" cxnId="{05C77614-6CD1-45AC-9716-A56D8C026DB6}">
      <dgm:prSet/>
      <dgm:spPr/>
      <dgm:t>
        <a:bodyPr/>
        <a:lstStyle/>
        <a:p>
          <a:endParaRPr lang="es-CO"/>
        </a:p>
      </dgm:t>
    </dgm:pt>
    <dgm:pt modelId="{01C2A92E-55C3-4E33-868A-AB545556A09A}" type="sibTrans" cxnId="{05C77614-6CD1-45AC-9716-A56D8C026DB6}">
      <dgm:prSet/>
      <dgm:spPr/>
      <dgm:t>
        <a:bodyPr/>
        <a:lstStyle/>
        <a:p>
          <a:endParaRPr lang="es-CO"/>
        </a:p>
      </dgm:t>
    </dgm:pt>
    <dgm:pt modelId="{7ACE998F-F509-4F03-A6CE-19FB7B197FDC}" type="pres">
      <dgm:prSet presAssocID="{C709E5FF-45EB-4D78-B2F8-997699151F92}" presName="linear" presStyleCnt="0">
        <dgm:presLayoutVars>
          <dgm:animLvl val="lvl"/>
          <dgm:resizeHandles val="exact"/>
        </dgm:presLayoutVars>
      </dgm:prSet>
      <dgm:spPr/>
    </dgm:pt>
    <dgm:pt modelId="{352BC13A-90F2-4464-A92F-25D90C8822EA}" type="pres">
      <dgm:prSet presAssocID="{0CA46AB9-F1E4-43AF-913F-96CE8D99635E}" presName="parentText" presStyleLbl="node1" presStyleIdx="0" presStyleCnt="5">
        <dgm:presLayoutVars>
          <dgm:chMax val="0"/>
          <dgm:bulletEnabled val="1"/>
        </dgm:presLayoutVars>
      </dgm:prSet>
      <dgm:spPr/>
    </dgm:pt>
    <dgm:pt modelId="{E87B3BFF-E123-4308-9547-4D00C6EC9800}" type="pres">
      <dgm:prSet presAssocID="{E4E952B5-1646-4385-8131-83B555D4EFCC}" presName="spacer" presStyleCnt="0"/>
      <dgm:spPr/>
    </dgm:pt>
    <dgm:pt modelId="{133ED0BF-8AA8-4DEE-B2E9-41B5A0B2CD90}" type="pres">
      <dgm:prSet presAssocID="{69751349-2053-4D6F-84EA-CE8F9CA22E45}" presName="parentText" presStyleLbl="node1" presStyleIdx="1" presStyleCnt="5">
        <dgm:presLayoutVars>
          <dgm:chMax val="0"/>
          <dgm:bulletEnabled val="1"/>
        </dgm:presLayoutVars>
      </dgm:prSet>
      <dgm:spPr/>
    </dgm:pt>
    <dgm:pt modelId="{994D4E88-E28D-4841-BF4E-C8E89D0BF8C3}" type="pres">
      <dgm:prSet presAssocID="{69751349-2053-4D6F-84EA-CE8F9CA22E45}" presName="childText" presStyleLbl="revTx" presStyleIdx="0" presStyleCnt="4">
        <dgm:presLayoutVars>
          <dgm:bulletEnabled val="1"/>
        </dgm:presLayoutVars>
      </dgm:prSet>
      <dgm:spPr/>
    </dgm:pt>
    <dgm:pt modelId="{987078A6-04D9-4E63-9C58-26119E1AE2A1}" type="pres">
      <dgm:prSet presAssocID="{6C7D2198-0CF3-4181-993A-47DBE6963749}" presName="parentText" presStyleLbl="node1" presStyleIdx="2" presStyleCnt="5">
        <dgm:presLayoutVars>
          <dgm:chMax val="0"/>
          <dgm:bulletEnabled val="1"/>
        </dgm:presLayoutVars>
      </dgm:prSet>
      <dgm:spPr/>
    </dgm:pt>
    <dgm:pt modelId="{E0845346-9DF2-4D44-853E-E804040BB75D}" type="pres">
      <dgm:prSet presAssocID="{6C7D2198-0CF3-4181-993A-47DBE6963749}" presName="childText" presStyleLbl="revTx" presStyleIdx="1" presStyleCnt="4">
        <dgm:presLayoutVars>
          <dgm:bulletEnabled val="1"/>
        </dgm:presLayoutVars>
      </dgm:prSet>
      <dgm:spPr/>
    </dgm:pt>
    <dgm:pt modelId="{954FAAB9-0006-4D66-8F27-6285613969E2}" type="pres">
      <dgm:prSet presAssocID="{53893564-2997-427E-AB77-7ABDB870BFBB}" presName="parentText" presStyleLbl="node1" presStyleIdx="3" presStyleCnt="5">
        <dgm:presLayoutVars>
          <dgm:chMax val="0"/>
          <dgm:bulletEnabled val="1"/>
        </dgm:presLayoutVars>
      </dgm:prSet>
      <dgm:spPr/>
    </dgm:pt>
    <dgm:pt modelId="{CCC39003-3CCF-4718-BF9E-CD64B04CABA3}" type="pres">
      <dgm:prSet presAssocID="{53893564-2997-427E-AB77-7ABDB870BFBB}" presName="childText" presStyleLbl="revTx" presStyleIdx="2" presStyleCnt="4">
        <dgm:presLayoutVars>
          <dgm:bulletEnabled val="1"/>
        </dgm:presLayoutVars>
      </dgm:prSet>
      <dgm:spPr/>
    </dgm:pt>
    <dgm:pt modelId="{CE31755D-7B0A-4218-9D72-FB92E59C7650}" type="pres">
      <dgm:prSet presAssocID="{70802432-0C97-4564-9D0F-1F2DE1EA9297}" presName="parentText" presStyleLbl="node1" presStyleIdx="4" presStyleCnt="5">
        <dgm:presLayoutVars>
          <dgm:chMax val="0"/>
          <dgm:bulletEnabled val="1"/>
        </dgm:presLayoutVars>
      </dgm:prSet>
      <dgm:spPr/>
    </dgm:pt>
    <dgm:pt modelId="{DD20DFEF-15CC-4B2F-878F-C06F42210F77}" type="pres">
      <dgm:prSet presAssocID="{70802432-0C97-4564-9D0F-1F2DE1EA9297}" presName="childText" presStyleLbl="revTx" presStyleIdx="3" presStyleCnt="4">
        <dgm:presLayoutVars>
          <dgm:bulletEnabled val="1"/>
        </dgm:presLayoutVars>
      </dgm:prSet>
      <dgm:spPr/>
    </dgm:pt>
  </dgm:ptLst>
  <dgm:cxnLst>
    <dgm:cxn modelId="{05C77614-6CD1-45AC-9716-A56D8C026DB6}" srcId="{70802432-0C97-4564-9D0F-1F2DE1EA9297}" destId="{E16B6F0F-546A-4722-B37E-73E0B27E06E4}" srcOrd="0" destOrd="0" parTransId="{6BD5D9C5-5BEF-4B7E-9E43-163EA11DB1A0}" sibTransId="{01C2A92E-55C3-4E33-868A-AB545556A09A}"/>
    <dgm:cxn modelId="{38B3B618-60A0-4E86-9B28-E65C6146E328}" srcId="{69751349-2053-4D6F-84EA-CE8F9CA22E45}" destId="{9F35351E-D4AD-4C1B-979C-63AF75EAF3FF}" srcOrd="1" destOrd="0" parTransId="{87B832EE-AC2D-460C-8D0E-65BFD5C9E32E}" sibTransId="{F4660CB8-67DD-4F8D-9EC6-E2F6FCA87B19}"/>
    <dgm:cxn modelId="{DD19CE21-AAD7-4923-83F5-ECB661F8F499}" srcId="{C709E5FF-45EB-4D78-B2F8-997699151F92}" destId="{70802432-0C97-4564-9D0F-1F2DE1EA9297}" srcOrd="4" destOrd="0" parTransId="{7256C1DC-FB13-40BF-BFD4-DA99BB21336D}" sibTransId="{F122300C-E266-4E86-BF59-3FF33F1ECE21}"/>
    <dgm:cxn modelId="{736C9122-9096-4688-909A-DD8B107D3C35}" srcId="{6C7D2198-0CF3-4181-993A-47DBE6963749}" destId="{0248C53A-2B1A-439A-A4BC-672C5C7981C4}" srcOrd="1" destOrd="0" parTransId="{9AC492E2-C368-49B1-BF80-9FE0A928762A}" sibTransId="{4FE2A2B4-22C8-4882-93E2-FE39D5F39275}"/>
    <dgm:cxn modelId="{1A71AC26-1576-4D68-97CD-E5BF7974D15A}" srcId="{C709E5FF-45EB-4D78-B2F8-997699151F92}" destId="{6C7D2198-0CF3-4181-993A-47DBE6963749}" srcOrd="2" destOrd="0" parTransId="{BE694135-8506-4FC0-888B-77B56B55604A}" sibTransId="{603352E7-5A5D-49A7-9E53-68375B8CEB22}"/>
    <dgm:cxn modelId="{BAE43B29-0B54-4D30-BC02-AD8AE020A9ED}" type="presOf" srcId="{9157BAD7-2197-43AD-B275-25FE69AADBDD}" destId="{CCC39003-3CCF-4718-BF9E-CD64B04CABA3}" srcOrd="0" destOrd="0" presId="urn:microsoft.com/office/officeart/2005/8/layout/vList2"/>
    <dgm:cxn modelId="{33B2F929-3066-4B23-B95D-B1B03CAFFFE7}" srcId="{69751349-2053-4D6F-84EA-CE8F9CA22E45}" destId="{3A953468-903B-4AA9-B5A1-9F1FEA72CF6A}" srcOrd="0" destOrd="0" parTransId="{B9C70C8A-CF5B-4F84-9F2F-727A1203719E}" sibTransId="{C8F7CE05-11B4-417C-83DD-41E5DC046966}"/>
    <dgm:cxn modelId="{BDE00F5F-AD82-410B-92C5-377354B73A4F}" srcId="{6C7D2198-0CF3-4181-993A-47DBE6963749}" destId="{392036AB-0955-4BEA-BF08-E9F78EA916E8}" srcOrd="0" destOrd="0" parTransId="{4A472BAB-1E03-46D9-86DD-AD5C3D85AC75}" sibTransId="{BB731EE3-84C0-479B-A526-A01B260EE632}"/>
    <dgm:cxn modelId="{D91D8B69-3D15-44D8-87B0-A71DF6996BB8}" srcId="{C709E5FF-45EB-4D78-B2F8-997699151F92}" destId="{69751349-2053-4D6F-84EA-CE8F9CA22E45}" srcOrd="1" destOrd="0" parTransId="{8401C29E-3644-4099-9F5F-061EA2A95112}" sibTransId="{EA50DED6-DA3D-40F7-951E-66DFDDAB3C14}"/>
    <dgm:cxn modelId="{FB218350-7BD7-4CE1-B84A-B7E128506778}" type="presOf" srcId="{53893564-2997-427E-AB77-7ABDB870BFBB}" destId="{954FAAB9-0006-4D66-8F27-6285613969E2}" srcOrd="0" destOrd="0" presId="urn:microsoft.com/office/officeart/2005/8/layout/vList2"/>
    <dgm:cxn modelId="{92E07456-E914-46A4-866C-16561A6D7F27}" srcId="{53893564-2997-427E-AB77-7ABDB870BFBB}" destId="{9157BAD7-2197-43AD-B275-25FE69AADBDD}" srcOrd="0" destOrd="0" parTransId="{128ACDCC-4C92-4ABC-9AAD-CF935CC528AA}" sibTransId="{7532FFAB-6910-42E6-AC2E-A744A7545BAF}"/>
    <dgm:cxn modelId="{1926C883-C0E4-43B9-9089-5E196AFC38EC}" type="presOf" srcId="{3A953468-903B-4AA9-B5A1-9F1FEA72CF6A}" destId="{994D4E88-E28D-4841-BF4E-C8E89D0BF8C3}" srcOrd="0" destOrd="0" presId="urn:microsoft.com/office/officeart/2005/8/layout/vList2"/>
    <dgm:cxn modelId="{D8B17584-1AAB-47E2-8934-BFF273F930BF}" type="presOf" srcId="{C709E5FF-45EB-4D78-B2F8-997699151F92}" destId="{7ACE998F-F509-4F03-A6CE-19FB7B197FDC}" srcOrd="0" destOrd="0" presId="urn:microsoft.com/office/officeart/2005/8/layout/vList2"/>
    <dgm:cxn modelId="{B239C78F-A9CA-4968-ABE9-B6B4151596C7}" type="presOf" srcId="{6C7D2198-0CF3-4181-993A-47DBE6963749}" destId="{987078A6-04D9-4E63-9C58-26119E1AE2A1}" srcOrd="0" destOrd="0" presId="urn:microsoft.com/office/officeart/2005/8/layout/vList2"/>
    <dgm:cxn modelId="{2946F597-7D97-46B0-966D-325D2B3ACCDB}" type="presOf" srcId="{0248C53A-2B1A-439A-A4BC-672C5C7981C4}" destId="{E0845346-9DF2-4D44-853E-E804040BB75D}" srcOrd="0" destOrd="1" presId="urn:microsoft.com/office/officeart/2005/8/layout/vList2"/>
    <dgm:cxn modelId="{33171AA6-1E25-4428-8EB1-44AD5839FE02}" type="presOf" srcId="{0CA46AB9-F1E4-43AF-913F-96CE8D99635E}" destId="{352BC13A-90F2-4464-A92F-25D90C8822EA}" srcOrd="0" destOrd="0" presId="urn:microsoft.com/office/officeart/2005/8/layout/vList2"/>
    <dgm:cxn modelId="{A61025BF-A7E7-4B25-952B-9C403C825B41}" srcId="{C709E5FF-45EB-4D78-B2F8-997699151F92}" destId="{53893564-2997-427E-AB77-7ABDB870BFBB}" srcOrd="3" destOrd="0" parTransId="{CA535507-8691-41EE-A607-1CA436DDB611}" sibTransId="{052A3B2D-89DD-4E4A-B8C5-B620451DEAF7}"/>
    <dgm:cxn modelId="{EC9EC4C2-1DF3-46CC-806E-B0BEA488E671}" srcId="{C709E5FF-45EB-4D78-B2F8-997699151F92}" destId="{0CA46AB9-F1E4-43AF-913F-96CE8D99635E}" srcOrd="0" destOrd="0" parTransId="{181486EB-C2FD-4C4E-8484-C33D381064B1}" sibTransId="{E4E952B5-1646-4385-8131-83B555D4EFCC}"/>
    <dgm:cxn modelId="{8054F1C8-D5DD-4355-B836-AD2E008A7773}" type="presOf" srcId="{E16B6F0F-546A-4722-B37E-73E0B27E06E4}" destId="{DD20DFEF-15CC-4B2F-878F-C06F42210F77}" srcOrd="0" destOrd="0" presId="urn:microsoft.com/office/officeart/2005/8/layout/vList2"/>
    <dgm:cxn modelId="{2064C4D0-2635-4B6B-A20C-A5890C221B4D}" type="presOf" srcId="{69751349-2053-4D6F-84EA-CE8F9CA22E45}" destId="{133ED0BF-8AA8-4DEE-B2E9-41B5A0B2CD90}" srcOrd="0" destOrd="0" presId="urn:microsoft.com/office/officeart/2005/8/layout/vList2"/>
    <dgm:cxn modelId="{2CCA9DD3-7331-4B96-BF49-E8DAD67EA735}" type="presOf" srcId="{70802432-0C97-4564-9D0F-1F2DE1EA9297}" destId="{CE31755D-7B0A-4218-9D72-FB92E59C7650}" srcOrd="0" destOrd="0" presId="urn:microsoft.com/office/officeart/2005/8/layout/vList2"/>
    <dgm:cxn modelId="{6268EFE5-37C0-4F4F-9CA2-89188EE74665}" type="presOf" srcId="{392036AB-0955-4BEA-BF08-E9F78EA916E8}" destId="{E0845346-9DF2-4D44-853E-E804040BB75D}" srcOrd="0" destOrd="0" presId="urn:microsoft.com/office/officeart/2005/8/layout/vList2"/>
    <dgm:cxn modelId="{1C33D5F5-2F16-479A-9688-EDE3194FCCE9}" type="presOf" srcId="{9F35351E-D4AD-4C1B-979C-63AF75EAF3FF}" destId="{994D4E88-E28D-4841-BF4E-C8E89D0BF8C3}" srcOrd="0" destOrd="1" presId="urn:microsoft.com/office/officeart/2005/8/layout/vList2"/>
    <dgm:cxn modelId="{16E39A17-BADA-4202-B32C-9B16440AD10B}" type="presParOf" srcId="{7ACE998F-F509-4F03-A6CE-19FB7B197FDC}" destId="{352BC13A-90F2-4464-A92F-25D90C8822EA}" srcOrd="0" destOrd="0" presId="urn:microsoft.com/office/officeart/2005/8/layout/vList2"/>
    <dgm:cxn modelId="{0AE6F070-1161-405B-9BEC-8237D5B56AAE}" type="presParOf" srcId="{7ACE998F-F509-4F03-A6CE-19FB7B197FDC}" destId="{E87B3BFF-E123-4308-9547-4D00C6EC9800}" srcOrd="1" destOrd="0" presId="urn:microsoft.com/office/officeart/2005/8/layout/vList2"/>
    <dgm:cxn modelId="{5BA9F10B-C6C1-4475-87B1-1970817FAC23}" type="presParOf" srcId="{7ACE998F-F509-4F03-A6CE-19FB7B197FDC}" destId="{133ED0BF-8AA8-4DEE-B2E9-41B5A0B2CD90}" srcOrd="2" destOrd="0" presId="urn:microsoft.com/office/officeart/2005/8/layout/vList2"/>
    <dgm:cxn modelId="{F3670B53-3C12-4882-B13F-2595746BA877}" type="presParOf" srcId="{7ACE998F-F509-4F03-A6CE-19FB7B197FDC}" destId="{994D4E88-E28D-4841-BF4E-C8E89D0BF8C3}" srcOrd="3" destOrd="0" presId="urn:microsoft.com/office/officeart/2005/8/layout/vList2"/>
    <dgm:cxn modelId="{36453F54-A9E3-4EF0-91D1-9FD22CD2950D}" type="presParOf" srcId="{7ACE998F-F509-4F03-A6CE-19FB7B197FDC}" destId="{987078A6-04D9-4E63-9C58-26119E1AE2A1}" srcOrd="4" destOrd="0" presId="urn:microsoft.com/office/officeart/2005/8/layout/vList2"/>
    <dgm:cxn modelId="{762A4F0D-AE0F-4B43-9D1D-7717E2ED40BE}" type="presParOf" srcId="{7ACE998F-F509-4F03-A6CE-19FB7B197FDC}" destId="{E0845346-9DF2-4D44-853E-E804040BB75D}" srcOrd="5" destOrd="0" presId="urn:microsoft.com/office/officeart/2005/8/layout/vList2"/>
    <dgm:cxn modelId="{DAB643DF-88DA-4B36-8967-2A627A70A28E}" type="presParOf" srcId="{7ACE998F-F509-4F03-A6CE-19FB7B197FDC}" destId="{954FAAB9-0006-4D66-8F27-6285613969E2}" srcOrd="6" destOrd="0" presId="urn:microsoft.com/office/officeart/2005/8/layout/vList2"/>
    <dgm:cxn modelId="{45264F3F-6DF7-4123-81D0-F593E3C41947}" type="presParOf" srcId="{7ACE998F-F509-4F03-A6CE-19FB7B197FDC}" destId="{CCC39003-3CCF-4718-BF9E-CD64B04CABA3}" srcOrd="7" destOrd="0" presId="urn:microsoft.com/office/officeart/2005/8/layout/vList2"/>
    <dgm:cxn modelId="{B44A4BE1-56D8-4A7B-96B1-6C647A1D89C3}" type="presParOf" srcId="{7ACE998F-F509-4F03-A6CE-19FB7B197FDC}" destId="{CE31755D-7B0A-4218-9D72-FB92E59C7650}" srcOrd="8" destOrd="0" presId="urn:microsoft.com/office/officeart/2005/8/layout/vList2"/>
    <dgm:cxn modelId="{BD854F71-AA76-467B-BB30-F87D32DA4347}" type="presParOf" srcId="{7ACE998F-F509-4F03-A6CE-19FB7B197FDC}" destId="{DD20DFEF-15CC-4B2F-878F-C06F42210F77}" srcOrd="9"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7E3F32-761D-4E8C-9FDA-117C2389122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s-CO"/>
        </a:p>
      </dgm:t>
    </dgm:pt>
    <dgm:pt modelId="{F58C865A-F7E7-4D6F-8BD0-DE043831246D}">
      <dgm:prSet/>
      <dgm:spPr/>
      <dgm:t>
        <a:bodyPr/>
        <a:lstStyle/>
        <a:p>
          <a:r>
            <a:rPr lang="es-ES" b="1" i="0" dirty="0"/>
            <a:t>Coincidencia de Tipos de Datos:</a:t>
          </a:r>
          <a:r>
            <a:rPr lang="es-ES" b="0" i="0" dirty="0"/>
            <a:t> </a:t>
          </a:r>
        </a:p>
        <a:p>
          <a:r>
            <a:rPr lang="es-ES" b="0" i="0" dirty="0"/>
            <a:t>El campo en la tabla hija (donde va la FK) debe tener </a:t>
          </a:r>
          <a:r>
            <a:rPr lang="es-ES" b="1" i="0" dirty="0"/>
            <a:t>exactamente</a:t>
          </a:r>
          <a:r>
            <a:rPr lang="es-ES" b="0" i="0" dirty="0"/>
            <a:t> el mismo tipo de dato que la clave primaria de la tabla padre (ej. si el ID padre es INT UNSIGNED, el hijo debe ser INT UNSIGNED).</a:t>
          </a:r>
          <a:endParaRPr lang="es-CO" dirty="0"/>
        </a:p>
      </dgm:t>
    </dgm:pt>
    <dgm:pt modelId="{E81ECFA2-8C9E-4EA7-887C-FB7FF5F9B522}" type="parTrans" cxnId="{AC8AD3B2-C5C1-4914-BD70-FC9FEDF5D8F2}">
      <dgm:prSet/>
      <dgm:spPr/>
      <dgm:t>
        <a:bodyPr/>
        <a:lstStyle/>
        <a:p>
          <a:endParaRPr lang="es-CO"/>
        </a:p>
      </dgm:t>
    </dgm:pt>
    <dgm:pt modelId="{7CC3A3A5-5DBC-4DB5-A56F-2D3A5C2A8779}" type="sibTrans" cxnId="{AC8AD3B2-C5C1-4914-BD70-FC9FEDF5D8F2}">
      <dgm:prSet/>
      <dgm:spPr/>
      <dgm:t>
        <a:bodyPr/>
        <a:lstStyle/>
        <a:p>
          <a:endParaRPr lang="es-CO"/>
        </a:p>
      </dgm:t>
    </dgm:pt>
    <dgm:pt modelId="{F20F205C-7AA7-456E-9B77-4EB2822093CC}">
      <dgm:prSet/>
      <dgm:spPr/>
      <dgm:t>
        <a:bodyPr/>
        <a:lstStyle/>
        <a:p>
          <a:r>
            <a:rPr lang="es-ES" b="1" i="0" dirty="0"/>
            <a:t>Existencia:</a:t>
          </a:r>
          <a:r>
            <a:rPr lang="es-ES" b="0" i="0" dirty="0"/>
            <a:t> </a:t>
          </a:r>
        </a:p>
        <a:p>
          <a:r>
            <a:rPr lang="es-ES" b="0" i="0" dirty="0"/>
            <a:t>La tabla "Padre" (la referenciada) debe existir antes de crear la tabla "Hija".</a:t>
          </a:r>
          <a:endParaRPr lang="es-CO" dirty="0"/>
        </a:p>
      </dgm:t>
    </dgm:pt>
    <dgm:pt modelId="{0305E42A-A3B1-4423-8490-5E56ACDE30B5}" type="parTrans" cxnId="{0AF49ABB-514B-419A-8EFC-1027F886B721}">
      <dgm:prSet/>
      <dgm:spPr/>
      <dgm:t>
        <a:bodyPr/>
        <a:lstStyle/>
        <a:p>
          <a:endParaRPr lang="es-CO"/>
        </a:p>
      </dgm:t>
    </dgm:pt>
    <dgm:pt modelId="{3842305D-CAF5-4762-84DA-FAD8665AB921}" type="sibTrans" cxnId="{0AF49ABB-514B-419A-8EFC-1027F886B721}">
      <dgm:prSet/>
      <dgm:spPr/>
      <dgm:t>
        <a:bodyPr/>
        <a:lstStyle/>
        <a:p>
          <a:endParaRPr lang="es-CO"/>
        </a:p>
      </dgm:t>
    </dgm:pt>
    <dgm:pt modelId="{A1FCBED0-DEDB-469A-81AF-FC61A2B5BF5D}">
      <dgm:prSet/>
      <dgm:spPr/>
      <dgm:t>
        <a:bodyPr/>
        <a:lstStyle/>
        <a:p>
          <a:r>
            <a:rPr lang="es-ES" b="1" i="0" dirty="0"/>
            <a:t>Unicidad:</a:t>
          </a:r>
          <a:r>
            <a:rPr lang="es-ES" b="0" i="0" dirty="0"/>
            <a:t> </a:t>
          </a:r>
        </a:p>
        <a:p>
          <a:r>
            <a:rPr lang="es-ES" b="0" i="0" dirty="0"/>
            <a:t>La columna a la que apuntas en la tabla padre debe ser una PRIMARY KEY o tener un </a:t>
          </a:r>
          <a:r>
            <a:rPr lang="es-ES" b="0" i="0" dirty="0" err="1"/>
            <a:t>constraint</a:t>
          </a:r>
          <a:r>
            <a:rPr lang="es-ES" b="0" i="0" dirty="0"/>
            <a:t> UNIQUE.</a:t>
          </a:r>
          <a:endParaRPr lang="es-CO" dirty="0"/>
        </a:p>
      </dgm:t>
    </dgm:pt>
    <dgm:pt modelId="{FA30F32F-79ED-446F-9145-DF236759C275}" type="parTrans" cxnId="{420C6811-1571-4EEC-879C-FBC668B61208}">
      <dgm:prSet/>
      <dgm:spPr/>
      <dgm:t>
        <a:bodyPr/>
        <a:lstStyle/>
        <a:p>
          <a:endParaRPr lang="es-CO"/>
        </a:p>
      </dgm:t>
    </dgm:pt>
    <dgm:pt modelId="{1E9DE25C-6775-43F5-94B5-56B2C2E64088}" type="sibTrans" cxnId="{420C6811-1571-4EEC-879C-FBC668B61208}">
      <dgm:prSet/>
      <dgm:spPr/>
      <dgm:t>
        <a:bodyPr/>
        <a:lstStyle/>
        <a:p>
          <a:endParaRPr lang="es-CO"/>
        </a:p>
      </dgm:t>
    </dgm:pt>
    <dgm:pt modelId="{B87B646F-46EE-4F21-8C54-F1DB373D02A1}" type="pres">
      <dgm:prSet presAssocID="{417E3F32-761D-4E8C-9FDA-117C2389122D}" presName="diagram" presStyleCnt="0">
        <dgm:presLayoutVars>
          <dgm:dir/>
          <dgm:resizeHandles val="exact"/>
        </dgm:presLayoutVars>
      </dgm:prSet>
      <dgm:spPr/>
    </dgm:pt>
    <dgm:pt modelId="{A3742E80-1075-4750-9E23-441BAD13CF34}" type="pres">
      <dgm:prSet presAssocID="{F58C865A-F7E7-4D6F-8BD0-DE043831246D}" presName="node" presStyleLbl="node1" presStyleIdx="0" presStyleCnt="3">
        <dgm:presLayoutVars>
          <dgm:bulletEnabled val="1"/>
        </dgm:presLayoutVars>
      </dgm:prSet>
      <dgm:spPr/>
    </dgm:pt>
    <dgm:pt modelId="{EA39C7AA-60A7-4DCC-B4FD-D9B7643C4D0C}" type="pres">
      <dgm:prSet presAssocID="{7CC3A3A5-5DBC-4DB5-A56F-2D3A5C2A8779}" presName="sibTrans" presStyleCnt="0"/>
      <dgm:spPr/>
    </dgm:pt>
    <dgm:pt modelId="{A0CE91DA-C32F-4C24-983D-8BE92FF83CC4}" type="pres">
      <dgm:prSet presAssocID="{F20F205C-7AA7-456E-9B77-4EB2822093CC}" presName="node" presStyleLbl="node1" presStyleIdx="1" presStyleCnt="3">
        <dgm:presLayoutVars>
          <dgm:bulletEnabled val="1"/>
        </dgm:presLayoutVars>
      </dgm:prSet>
      <dgm:spPr/>
    </dgm:pt>
    <dgm:pt modelId="{B11DE875-5110-487B-83FD-7B18F8779D9A}" type="pres">
      <dgm:prSet presAssocID="{3842305D-CAF5-4762-84DA-FAD8665AB921}" presName="sibTrans" presStyleCnt="0"/>
      <dgm:spPr/>
    </dgm:pt>
    <dgm:pt modelId="{3C5CACE5-5082-4CD7-94B3-08E78248ED15}" type="pres">
      <dgm:prSet presAssocID="{A1FCBED0-DEDB-469A-81AF-FC61A2B5BF5D}" presName="node" presStyleLbl="node1" presStyleIdx="2" presStyleCnt="3">
        <dgm:presLayoutVars>
          <dgm:bulletEnabled val="1"/>
        </dgm:presLayoutVars>
      </dgm:prSet>
      <dgm:spPr/>
    </dgm:pt>
  </dgm:ptLst>
  <dgm:cxnLst>
    <dgm:cxn modelId="{420C6811-1571-4EEC-879C-FBC668B61208}" srcId="{417E3F32-761D-4E8C-9FDA-117C2389122D}" destId="{A1FCBED0-DEDB-469A-81AF-FC61A2B5BF5D}" srcOrd="2" destOrd="0" parTransId="{FA30F32F-79ED-446F-9145-DF236759C275}" sibTransId="{1E9DE25C-6775-43F5-94B5-56B2C2E64088}"/>
    <dgm:cxn modelId="{F5968022-A104-4B23-95B4-BF3567E83F61}" type="presOf" srcId="{417E3F32-761D-4E8C-9FDA-117C2389122D}" destId="{B87B646F-46EE-4F21-8C54-F1DB373D02A1}" srcOrd="0" destOrd="0" presId="urn:microsoft.com/office/officeart/2005/8/layout/default"/>
    <dgm:cxn modelId="{761FE22F-448D-49FB-9B77-00D7DE98C929}" type="presOf" srcId="{A1FCBED0-DEDB-469A-81AF-FC61A2B5BF5D}" destId="{3C5CACE5-5082-4CD7-94B3-08E78248ED15}" srcOrd="0" destOrd="0" presId="urn:microsoft.com/office/officeart/2005/8/layout/default"/>
    <dgm:cxn modelId="{212C8797-FDA2-44D7-A7C0-2E27753FEF18}" type="presOf" srcId="{F20F205C-7AA7-456E-9B77-4EB2822093CC}" destId="{A0CE91DA-C32F-4C24-983D-8BE92FF83CC4}" srcOrd="0" destOrd="0" presId="urn:microsoft.com/office/officeart/2005/8/layout/default"/>
    <dgm:cxn modelId="{DD1297A5-F918-4C5B-B437-538E3C262297}" type="presOf" srcId="{F58C865A-F7E7-4D6F-8BD0-DE043831246D}" destId="{A3742E80-1075-4750-9E23-441BAD13CF34}" srcOrd="0" destOrd="0" presId="urn:microsoft.com/office/officeart/2005/8/layout/default"/>
    <dgm:cxn modelId="{AC8AD3B2-C5C1-4914-BD70-FC9FEDF5D8F2}" srcId="{417E3F32-761D-4E8C-9FDA-117C2389122D}" destId="{F58C865A-F7E7-4D6F-8BD0-DE043831246D}" srcOrd="0" destOrd="0" parTransId="{E81ECFA2-8C9E-4EA7-887C-FB7FF5F9B522}" sibTransId="{7CC3A3A5-5DBC-4DB5-A56F-2D3A5C2A8779}"/>
    <dgm:cxn modelId="{0AF49ABB-514B-419A-8EFC-1027F886B721}" srcId="{417E3F32-761D-4E8C-9FDA-117C2389122D}" destId="{F20F205C-7AA7-456E-9B77-4EB2822093CC}" srcOrd="1" destOrd="0" parTransId="{0305E42A-A3B1-4423-8490-5E56ACDE30B5}" sibTransId="{3842305D-CAF5-4762-84DA-FAD8665AB921}"/>
    <dgm:cxn modelId="{1AED6357-2E2F-4228-AF3F-7DC7F62EB440}" type="presParOf" srcId="{B87B646F-46EE-4F21-8C54-F1DB373D02A1}" destId="{A3742E80-1075-4750-9E23-441BAD13CF34}" srcOrd="0" destOrd="0" presId="urn:microsoft.com/office/officeart/2005/8/layout/default"/>
    <dgm:cxn modelId="{352E1861-900B-47EE-805A-4D4B343FC2F3}" type="presParOf" srcId="{B87B646F-46EE-4F21-8C54-F1DB373D02A1}" destId="{EA39C7AA-60A7-4DCC-B4FD-D9B7643C4D0C}" srcOrd="1" destOrd="0" presId="urn:microsoft.com/office/officeart/2005/8/layout/default"/>
    <dgm:cxn modelId="{1D107B06-5412-4D37-8AD5-0991813AF8BE}" type="presParOf" srcId="{B87B646F-46EE-4F21-8C54-F1DB373D02A1}" destId="{A0CE91DA-C32F-4C24-983D-8BE92FF83CC4}" srcOrd="2" destOrd="0" presId="urn:microsoft.com/office/officeart/2005/8/layout/default"/>
    <dgm:cxn modelId="{897460BF-D8C6-401A-B7F2-486261DF7B6C}" type="presParOf" srcId="{B87B646F-46EE-4F21-8C54-F1DB373D02A1}" destId="{B11DE875-5110-487B-83FD-7B18F8779D9A}" srcOrd="3" destOrd="0" presId="urn:microsoft.com/office/officeart/2005/8/layout/default"/>
    <dgm:cxn modelId="{0765DC79-D1BF-44F9-A8D4-074436CA2964}" type="presParOf" srcId="{B87B646F-46EE-4F21-8C54-F1DB373D02A1}" destId="{3C5CACE5-5082-4CD7-94B3-08E78248ED15}" srcOrd="4"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AEBD71-788D-4EE5-8622-5FFF5CF7C899}">
      <dsp:nvSpPr>
        <dsp:cNvPr id="0" name=""/>
        <dsp:cNvSpPr/>
      </dsp:nvSpPr>
      <dsp:spPr>
        <a:xfrm>
          <a:off x="3571627" y="59"/>
          <a:ext cx="4018080" cy="236799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s-ES" sz="3100" b="1" i="0" kern="1200"/>
            <a:t>Abrid Datos desnortmalizados e ilustrar</a:t>
          </a:r>
          <a:endParaRPr lang="es-CO" sz="3100" kern="1200"/>
        </a:p>
      </dsp:txBody>
      <dsp:txXfrm>
        <a:off x="3687223" y="115655"/>
        <a:ext cx="3786888" cy="2136804"/>
      </dsp:txXfrm>
    </dsp:sp>
    <dsp:sp modelId="{AC8E49C3-6986-444E-8CCF-1178E547B44E}">
      <dsp:nvSpPr>
        <dsp:cNvPr id="0" name=""/>
        <dsp:cNvSpPr/>
      </dsp:nvSpPr>
      <dsp:spPr>
        <a:xfrm>
          <a:off x="3571627" y="2486455"/>
          <a:ext cx="4018080" cy="236799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s-ES" sz="3100" b="1" i="0" kern="1200"/>
            <a:t>La maldición de la dimensionalidad</a:t>
          </a:r>
          <a:endParaRPr lang="es-CO" sz="3100" kern="1200"/>
        </a:p>
      </dsp:txBody>
      <dsp:txXfrm>
        <a:off x="3687223" y="2602051"/>
        <a:ext cx="3786888" cy="213680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0BCC32-784A-4D5B-8353-23C16053FD8B}">
      <dsp:nvSpPr>
        <dsp:cNvPr id="0" name=""/>
        <dsp:cNvSpPr/>
      </dsp:nvSpPr>
      <dsp:spPr>
        <a:xfrm>
          <a:off x="6230"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Especificación del Problema </a:t>
          </a:r>
          <a:endParaRPr lang="es-CO" sz="2700" kern="1200" dirty="0"/>
        </a:p>
      </dsp:txBody>
      <dsp:txXfrm>
        <a:off x="52705" y="46475"/>
        <a:ext cx="2631175" cy="1493812"/>
      </dsp:txXfrm>
    </dsp:sp>
    <dsp:sp modelId="{3D8527F4-CDD3-453C-9CB9-B2C059458FF2}">
      <dsp:nvSpPr>
        <dsp:cNvPr id="0" name=""/>
        <dsp:cNvSpPr/>
      </dsp:nvSpPr>
      <dsp:spPr>
        <a:xfrm>
          <a:off x="3002768"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3002768" y="590706"/>
        <a:ext cx="404260" cy="405349"/>
      </dsp:txXfrm>
    </dsp:sp>
    <dsp:sp modelId="{D0EC1CC0-3D91-4125-9B54-BEB55B8BF791}">
      <dsp:nvSpPr>
        <dsp:cNvPr id="0" name=""/>
        <dsp:cNvSpPr/>
      </dsp:nvSpPr>
      <dsp:spPr>
        <a:xfrm>
          <a:off x="3820006"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Modelo Conceptual</a:t>
          </a:r>
          <a:endParaRPr lang="es-CO" sz="2700" kern="1200" dirty="0"/>
        </a:p>
      </dsp:txBody>
      <dsp:txXfrm>
        <a:off x="3866481" y="46475"/>
        <a:ext cx="2631175" cy="1493812"/>
      </dsp:txXfrm>
    </dsp:sp>
    <dsp:sp modelId="{D7C99F55-161E-44A1-9A1A-666A3482B965}">
      <dsp:nvSpPr>
        <dsp:cNvPr id="0" name=""/>
        <dsp:cNvSpPr/>
      </dsp:nvSpPr>
      <dsp:spPr>
        <a:xfrm>
          <a:off x="6816544"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6816544" y="590706"/>
        <a:ext cx="404260" cy="405349"/>
      </dsp:txXfrm>
    </dsp:sp>
    <dsp:sp modelId="{583BF8E3-E322-47FB-BFC1-448A7295D9D3}">
      <dsp:nvSpPr>
        <dsp:cNvPr id="0" name=""/>
        <dsp:cNvSpPr/>
      </dsp:nvSpPr>
      <dsp:spPr>
        <a:xfrm>
          <a:off x="7633782"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Modelo de Implementación</a:t>
          </a:r>
          <a:endParaRPr lang="es-CO" sz="2700" kern="1200" dirty="0"/>
        </a:p>
      </dsp:txBody>
      <dsp:txXfrm>
        <a:off x="7680257" y="46475"/>
        <a:ext cx="2631175" cy="1493812"/>
      </dsp:txXfrm>
    </dsp:sp>
    <dsp:sp modelId="{DA5E9B4A-2F15-4500-9B01-48E6E21965F6}">
      <dsp:nvSpPr>
        <dsp:cNvPr id="0" name=""/>
        <dsp:cNvSpPr/>
      </dsp:nvSpPr>
      <dsp:spPr>
        <a:xfrm>
          <a:off x="10630320"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10630320" y="590706"/>
        <a:ext cx="404260" cy="405349"/>
      </dsp:txXfrm>
    </dsp:sp>
    <dsp:sp modelId="{204D5A2E-A39F-48F4-974F-6AF598CFCB3F}">
      <dsp:nvSpPr>
        <dsp:cNvPr id="0" name=""/>
        <dsp:cNvSpPr/>
      </dsp:nvSpPr>
      <dsp:spPr>
        <a:xfrm>
          <a:off x="11447557"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a:t>Base de datos relacional</a:t>
          </a:r>
          <a:endParaRPr lang="es-CO" sz="2700" kern="1200"/>
        </a:p>
      </dsp:txBody>
      <dsp:txXfrm>
        <a:off x="11494032" y="46475"/>
        <a:ext cx="2631175" cy="14938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2BC13A-90F2-4464-A92F-25D90C8822EA}">
      <dsp:nvSpPr>
        <dsp:cNvPr id="0" name=""/>
        <dsp:cNvSpPr/>
      </dsp:nvSpPr>
      <dsp:spPr>
        <a:xfrm>
          <a:off x="0" y="131399"/>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Errores que cuestan caro después</a:t>
          </a:r>
          <a:endParaRPr lang="es-CO" sz="3000" kern="1200"/>
        </a:p>
      </dsp:txBody>
      <dsp:txXfrm>
        <a:off x="34269" y="165668"/>
        <a:ext cx="14307339" cy="633462"/>
      </dsp:txXfrm>
    </dsp:sp>
    <dsp:sp modelId="{133ED0BF-8AA8-4DEE-B2E9-41B5A0B2CD90}">
      <dsp:nvSpPr>
        <dsp:cNvPr id="0" name=""/>
        <dsp:cNvSpPr/>
      </dsp:nvSpPr>
      <dsp:spPr>
        <a:xfrm>
          <a:off x="0" y="919799"/>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Confundir Atributos con Entidades:</a:t>
          </a:r>
          <a:endParaRPr lang="es-CO" sz="3000" kern="1200"/>
        </a:p>
      </dsp:txBody>
      <dsp:txXfrm>
        <a:off x="34269" y="954068"/>
        <a:ext cx="14307339" cy="633462"/>
      </dsp:txXfrm>
    </dsp:sp>
    <dsp:sp modelId="{994D4E88-E28D-4841-BF4E-C8E89D0BF8C3}">
      <dsp:nvSpPr>
        <dsp:cNvPr id="0" name=""/>
        <dsp:cNvSpPr/>
      </dsp:nvSpPr>
      <dsp:spPr>
        <a:xfrm>
          <a:off x="0" y="1621799"/>
          <a:ext cx="14375877" cy="760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1" kern="1200"/>
            <a:t>Error:</a:t>
          </a:r>
          <a:r>
            <a:rPr lang="es-ES" sz="2300" b="0" i="0" kern="1200"/>
            <a:t> Crear una tabla llamada "Precio".</a:t>
          </a:r>
          <a:endParaRPr lang="es-CO" sz="2300" kern="1200"/>
        </a:p>
        <a:p>
          <a:pPr marL="228600" lvl="1" indent="-228600" algn="l" defTabSz="1022350">
            <a:lnSpc>
              <a:spcPct val="90000"/>
            </a:lnSpc>
            <a:spcBef>
              <a:spcPct val="0"/>
            </a:spcBef>
            <a:spcAft>
              <a:spcPct val="20000"/>
            </a:spcAft>
            <a:buChar char="•"/>
          </a:pPr>
          <a:r>
            <a:rPr lang="es-ES" sz="2300" b="0" i="1" kern="1200"/>
            <a:t>Corrección:</a:t>
          </a:r>
          <a:r>
            <a:rPr lang="es-ES" sz="2300" b="0" i="0" kern="1200"/>
            <a:t> El precio no existe por sí solo; es una cualidad de un Producto o de una Venta pactada.</a:t>
          </a:r>
          <a:endParaRPr lang="es-CO" sz="2300" kern="1200"/>
        </a:p>
      </dsp:txBody>
      <dsp:txXfrm>
        <a:off x="0" y="1621799"/>
        <a:ext cx="14375877" cy="760725"/>
      </dsp:txXfrm>
    </dsp:sp>
    <dsp:sp modelId="{987078A6-04D9-4E63-9C58-26119E1AE2A1}">
      <dsp:nvSpPr>
        <dsp:cNvPr id="0" name=""/>
        <dsp:cNvSpPr/>
      </dsp:nvSpPr>
      <dsp:spPr>
        <a:xfrm>
          <a:off x="0" y="23825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Ignorar el Detalle (Granularidad):</a:t>
          </a:r>
          <a:endParaRPr lang="es-CO" sz="3000" kern="1200"/>
        </a:p>
      </dsp:txBody>
      <dsp:txXfrm>
        <a:off x="34269" y="2416793"/>
        <a:ext cx="14307339" cy="633462"/>
      </dsp:txXfrm>
    </dsp:sp>
    <dsp:sp modelId="{E0845346-9DF2-4D44-853E-E804040BB75D}">
      <dsp:nvSpPr>
        <dsp:cNvPr id="0" name=""/>
        <dsp:cNvSpPr/>
      </dsp:nvSpPr>
      <dsp:spPr>
        <a:xfrm>
          <a:off x="0" y="3084524"/>
          <a:ext cx="14375877" cy="10557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1" kern="1200"/>
            <a:t>Error:</a:t>
          </a:r>
          <a:r>
            <a:rPr lang="es-ES" sz="2300" b="0" i="0" kern="1200"/>
            <a:t> Intentar guardar todos los productos comprados en una sola celda de la tabla "Pedido" (separados por comas).</a:t>
          </a:r>
          <a:endParaRPr lang="es-CO" sz="2300" kern="1200"/>
        </a:p>
        <a:p>
          <a:pPr marL="228600" lvl="1" indent="-228600" algn="l" defTabSz="1022350">
            <a:lnSpc>
              <a:spcPct val="90000"/>
            </a:lnSpc>
            <a:spcBef>
              <a:spcPct val="0"/>
            </a:spcBef>
            <a:spcAft>
              <a:spcPct val="20000"/>
            </a:spcAft>
            <a:buChar char="•"/>
          </a:pPr>
          <a:r>
            <a:rPr lang="es-ES" sz="2300" b="0" i="1" kern="1200"/>
            <a:t>Corrección:</a:t>
          </a:r>
          <a:r>
            <a:rPr lang="es-ES" sz="2300" b="0" i="0" kern="1200"/>
            <a:t> Detectar la necesidad de una tabla hija (Order_Items) para normalizar la información.</a:t>
          </a:r>
          <a:endParaRPr lang="es-CO" sz="2300" kern="1200"/>
        </a:p>
      </dsp:txBody>
      <dsp:txXfrm>
        <a:off x="0" y="3084524"/>
        <a:ext cx="14375877" cy="1055700"/>
      </dsp:txXfrm>
    </dsp:sp>
    <dsp:sp modelId="{954FAAB9-0006-4D66-8F27-6285613969E2}">
      <dsp:nvSpPr>
        <dsp:cNvPr id="0" name=""/>
        <dsp:cNvSpPr/>
      </dsp:nvSpPr>
      <dsp:spPr>
        <a:xfrm>
          <a:off x="0" y="41402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Sinónimos y Ambigüedad:</a:t>
          </a:r>
          <a:endParaRPr lang="es-CO" sz="3000" kern="1200"/>
        </a:p>
      </dsp:txBody>
      <dsp:txXfrm>
        <a:off x="34269" y="4174493"/>
        <a:ext cx="14307339" cy="633462"/>
      </dsp:txXfrm>
    </dsp:sp>
    <dsp:sp modelId="{CCC39003-3CCF-4718-BF9E-CD64B04CABA3}">
      <dsp:nvSpPr>
        <dsp:cNvPr id="0" name=""/>
        <dsp:cNvSpPr/>
      </dsp:nvSpPr>
      <dsp:spPr>
        <a:xfrm>
          <a:off x="0" y="4842224"/>
          <a:ext cx="14375877" cy="683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0" kern="1200"/>
            <a:t>Si un departamento dice "Comprador" y otro "Usuario", el arquitecto de datos debe estandarizar (ej: </a:t>
          </a:r>
          <a:r>
            <a:rPr lang="es-ES" sz="2300" b="1" i="0" kern="1200"/>
            <a:t>Customer</a:t>
          </a:r>
          <a:r>
            <a:rPr lang="es-ES" sz="2300" b="0" i="0" kern="1200"/>
            <a:t>).</a:t>
          </a:r>
          <a:endParaRPr lang="es-CO" sz="2300" kern="1200"/>
        </a:p>
      </dsp:txBody>
      <dsp:txXfrm>
        <a:off x="0" y="4842224"/>
        <a:ext cx="14375877" cy="683100"/>
      </dsp:txXfrm>
    </dsp:sp>
    <dsp:sp modelId="{CE31755D-7B0A-4218-9D72-FB92E59C7650}">
      <dsp:nvSpPr>
        <dsp:cNvPr id="0" name=""/>
        <dsp:cNvSpPr/>
      </dsp:nvSpPr>
      <dsp:spPr>
        <a:xfrm>
          <a:off x="0" y="55253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Datos Calculados:</a:t>
          </a:r>
          <a:endParaRPr lang="es-CO" sz="3000" kern="1200"/>
        </a:p>
      </dsp:txBody>
      <dsp:txXfrm>
        <a:off x="34269" y="5559593"/>
        <a:ext cx="14307339" cy="633462"/>
      </dsp:txXfrm>
    </dsp:sp>
    <dsp:sp modelId="{DD20DFEF-15CC-4B2F-878F-C06F42210F77}">
      <dsp:nvSpPr>
        <dsp:cNvPr id="0" name=""/>
        <dsp:cNvSpPr/>
      </dsp:nvSpPr>
      <dsp:spPr>
        <a:xfrm>
          <a:off x="0" y="6227324"/>
          <a:ext cx="14375877" cy="683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0" kern="1200"/>
            <a:t>No almacenamos "Días que tardó el envío". Almacenamos Fecha_Envio y Fecha_Entrega, y calculamos la diferencia cuando sea necesario.</a:t>
          </a:r>
          <a:endParaRPr lang="es-CO" sz="2300" kern="1200"/>
        </a:p>
      </dsp:txBody>
      <dsp:txXfrm>
        <a:off x="0" y="6227324"/>
        <a:ext cx="14375877" cy="6831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742E80-1075-4750-9E23-441BAD13CF34}">
      <dsp:nvSpPr>
        <dsp:cNvPr id="0" name=""/>
        <dsp:cNvSpPr/>
      </dsp:nvSpPr>
      <dsp:spPr>
        <a:xfrm>
          <a:off x="0"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Coincidencia de Tipos de Datos:</a:t>
          </a:r>
          <a:r>
            <a:rPr lang="es-ES" sz="2100" b="0" i="0" kern="1200" dirty="0"/>
            <a:t> </a:t>
          </a:r>
        </a:p>
        <a:p>
          <a:pPr marL="0" lvl="0" indent="0" algn="ctr" defTabSz="933450">
            <a:lnSpc>
              <a:spcPct val="90000"/>
            </a:lnSpc>
            <a:spcBef>
              <a:spcPct val="0"/>
            </a:spcBef>
            <a:spcAft>
              <a:spcPct val="35000"/>
            </a:spcAft>
            <a:buNone/>
          </a:pPr>
          <a:r>
            <a:rPr lang="es-ES" sz="2100" b="0" i="0" kern="1200" dirty="0"/>
            <a:t>El campo en la tabla hija (donde va la FK) debe tener </a:t>
          </a:r>
          <a:r>
            <a:rPr lang="es-ES" sz="2100" b="1" i="0" kern="1200" dirty="0"/>
            <a:t>exactamente</a:t>
          </a:r>
          <a:r>
            <a:rPr lang="es-ES" sz="2100" b="0" i="0" kern="1200" dirty="0"/>
            <a:t> el mismo tipo de dato que la clave primaria de la tabla padre (ej. si el ID padre es INT UNSIGNED, el hijo debe ser INT UNSIGNED).</a:t>
          </a:r>
          <a:endParaRPr lang="es-CO" sz="2100" kern="1200" dirty="0"/>
        </a:p>
      </dsp:txBody>
      <dsp:txXfrm>
        <a:off x="0" y="341438"/>
        <a:ext cx="4365788" cy="2619473"/>
      </dsp:txXfrm>
    </dsp:sp>
    <dsp:sp modelId="{A0CE91DA-C32F-4C24-983D-8BE92FF83CC4}">
      <dsp:nvSpPr>
        <dsp:cNvPr id="0" name=""/>
        <dsp:cNvSpPr/>
      </dsp:nvSpPr>
      <dsp:spPr>
        <a:xfrm>
          <a:off x="4802367"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Existencia:</a:t>
          </a:r>
          <a:r>
            <a:rPr lang="es-ES" sz="2100" b="0" i="0" kern="1200" dirty="0"/>
            <a:t> </a:t>
          </a:r>
        </a:p>
        <a:p>
          <a:pPr marL="0" lvl="0" indent="0" algn="ctr" defTabSz="933450">
            <a:lnSpc>
              <a:spcPct val="90000"/>
            </a:lnSpc>
            <a:spcBef>
              <a:spcPct val="0"/>
            </a:spcBef>
            <a:spcAft>
              <a:spcPct val="35000"/>
            </a:spcAft>
            <a:buNone/>
          </a:pPr>
          <a:r>
            <a:rPr lang="es-ES" sz="2100" b="0" i="0" kern="1200" dirty="0"/>
            <a:t>La tabla "Padre" (la referenciada) debe existir antes de crear la tabla "Hija".</a:t>
          </a:r>
          <a:endParaRPr lang="es-CO" sz="2100" kern="1200" dirty="0"/>
        </a:p>
      </dsp:txBody>
      <dsp:txXfrm>
        <a:off x="4802367" y="341438"/>
        <a:ext cx="4365788" cy="2619473"/>
      </dsp:txXfrm>
    </dsp:sp>
    <dsp:sp modelId="{3C5CACE5-5082-4CD7-94B3-08E78248ED15}">
      <dsp:nvSpPr>
        <dsp:cNvPr id="0" name=""/>
        <dsp:cNvSpPr/>
      </dsp:nvSpPr>
      <dsp:spPr>
        <a:xfrm>
          <a:off x="9604735"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Unicidad:</a:t>
          </a:r>
          <a:r>
            <a:rPr lang="es-ES" sz="2100" b="0" i="0" kern="1200" dirty="0"/>
            <a:t> </a:t>
          </a:r>
        </a:p>
        <a:p>
          <a:pPr marL="0" lvl="0" indent="0" algn="ctr" defTabSz="933450">
            <a:lnSpc>
              <a:spcPct val="90000"/>
            </a:lnSpc>
            <a:spcBef>
              <a:spcPct val="0"/>
            </a:spcBef>
            <a:spcAft>
              <a:spcPct val="35000"/>
            </a:spcAft>
            <a:buNone/>
          </a:pPr>
          <a:r>
            <a:rPr lang="es-ES" sz="2100" b="0" i="0" kern="1200" dirty="0"/>
            <a:t>La columna a la que apuntas en la tabla padre debe ser una PRIMARY KEY o tener un </a:t>
          </a:r>
          <a:r>
            <a:rPr lang="es-ES" sz="2100" b="0" i="0" kern="1200" dirty="0" err="1"/>
            <a:t>constraint</a:t>
          </a:r>
          <a:r>
            <a:rPr lang="es-ES" sz="2100" b="0" i="0" kern="1200" dirty="0"/>
            <a:t> UNIQUE.</a:t>
          </a:r>
          <a:endParaRPr lang="es-CO" sz="2100" kern="1200" dirty="0"/>
        </a:p>
      </dsp:txBody>
      <dsp:txXfrm>
        <a:off x="9604735" y="341438"/>
        <a:ext cx="4365788" cy="2619473"/>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80013"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2763"/>
            <a:ext cx="3429000"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02400"/>
            <a:ext cx="3962400" cy="341313"/>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80013" y="6502400"/>
            <a:ext cx="3962400" cy="341313"/>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914400" y="3251200"/>
            <a:ext cx="7315200" cy="3081338"/>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8:notes"/>
          <p:cNvSpPr txBox="1">
            <a:spLocks noGrp="1"/>
          </p:cNvSpPr>
          <p:nvPr>
            <p:ph type="body" idx="1"/>
          </p:nvPr>
        </p:nvSpPr>
        <p:spPr>
          <a:xfrm>
            <a:off x="914400" y="3251200"/>
            <a:ext cx="7315200" cy="3081338"/>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9" name="Google Shape;359;p8: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1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7" name="Google Shape;47;p1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8" name="Google Shape;48;p1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9" name="Google Shape;49;p1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0" name="Google Shape;50;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7"/>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1" name="Google Shape;61;p17"/>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2" name="Google Shape;62;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8"/>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8"/>
          <p:cNvSpPr>
            <a:spLocks noGrp="1"/>
          </p:cNvSpPr>
          <p:nvPr>
            <p:ph type="pic" idx="2"/>
          </p:nvPr>
        </p:nvSpPr>
        <p:spPr>
          <a:xfrm>
            <a:off x="1792288" y="612775"/>
            <a:ext cx="5486400" cy="4114800"/>
          </a:xfrm>
          <a:prstGeom prst="rect">
            <a:avLst/>
          </a:prstGeom>
          <a:noFill/>
          <a:ln>
            <a:noFill/>
          </a:ln>
        </p:spPr>
      </p:sp>
      <p:sp>
        <p:nvSpPr>
          <p:cNvPr id="68" name="Google Shape;68;p18"/>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9" name="Google Shape;69;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9"/>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4" r:id="rId2"/>
    <p:sldLayoutId id="2147483656" r:id="rId3"/>
    <p:sldLayoutId id="2147483657" r:id="rId4"/>
    <p:sldLayoutId id="2147483658" r:id="rId5"/>
    <p:sldLayoutId id="2147483659"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7.png"/><Relationship Id="rId7" Type="http://schemas.openxmlformats.org/officeDocument/2006/relationships/diagramQuickStyle" Target="../diagrams/quickStyle1.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8.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7.png"/><Relationship Id="rId7" Type="http://schemas.openxmlformats.org/officeDocument/2006/relationships/diagramQuickStyle" Target="../diagrams/quickStyle2.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8.svg"/><Relationship Id="rId9" Type="http://schemas.microsoft.com/office/2007/relationships/diagramDrawing" Target="../diagrams/drawing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3.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image" Target="../media/image7.png"/><Relationship Id="rId7" Type="http://schemas.openxmlformats.org/officeDocument/2006/relationships/diagramQuickStyle" Target="../diagrams/quickStyle3.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3.xml"/><Relationship Id="rId5" Type="http://schemas.openxmlformats.org/officeDocument/2006/relationships/diagramData" Target="../diagrams/data3.xml"/><Relationship Id="rId4" Type="http://schemas.openxmlformats.org/officeDocument/2006/relationships/image" Target="../media/image8.svg"/><Relationship Id="rId9" Type="http://schemas.microsoft.com/office/2007/relationships/diagramDrawing" Target="../diagrams/drawing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hyperlink" Target="https://drive.google.com/file/d/1HIq7TgyTC39MFYDWEfhXrwqwkl-YwvKt/view?usp=sharing" TargetMode="External"/><Relationship Id="rId4" Type="http://schemas.openxmlformats.org/officeDocument/2006/relationships/image" Target="../media/image8.svg"/></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8.svg"/></Relationships>
</file>

<file path=ppt/slides/_rels/slide4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8.svg"/></Relationships>
</file>

<file path=ppt/slides/_rels/slide4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8.svg"/></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svg"/></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8.svg"/></Relationships>
</file>

<file path=ppt/slides/_rels/slide5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7.png"/><Relationship Id="rId7"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svg"/></Relationships>
</file>

<file path=ppt/slides/_rels/slide5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8.svg"/></Relationships>
</file>

<file path=ppt/slides/_rels/slide56.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7.png"/><Relationship Id="rId7" Type="http://schemas.openxmlformats.org/officeDocument/2006/relationships/diagramQuickStyle" Target="../diagrams/quickStyle4.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8.svg"/><Relationship Id="rId9" Type="http://schemas.microsoft.com/office/2007/relationships/diagramDrawing" Target="../diagrams/drawing4.xml"/></Relationships>
</file>

<file path=ppt/slides/_rels/slide5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8.svg"/></Relationships>
</file>

<file path=ppt/slides/_rels/slide5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8.svg"/></Relationships>
</file>

<file path=ppt/slides/_rels/slide6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8.svg"/></Relationships>
</file>

<file path=ppt/slides/_rels/slide6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8.svg"/></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8.svg"/></Relationships>
</file>

<file path=ppt/slides/_rels/slide7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8.svg"/></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8.svg"/></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8.svg"/></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8.svg"/></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8.svg"/></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8.svg"/></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8.svg"/></Relationships>
</file>

<file path=ppt/slides/_rels/slide8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8.svg"/></Relationships>
</file>

<file path=ppt/slides/_rels/slide8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8.svg"/></Relationships>
</file>

<file path=ppt/slides/_rels/slide90.xml.rels><?xml version="1.0" encoding="UTF-8" standalone="yes"?>
<Relationships xmlns="http://schemas.openxmlformats.org/package/2006/relationships"><Relationship Id="rId8" Type="http://schemas.openxmlformats.org/officeDocument/2006/relationships/hyperlink" Target="http://www.enyoi.co" TargetMode="External"/><Relationship Id="rId13" Type="http://schemas.openxmlformats.org/officeDocument/2006/relationships/image" Target="../media/image1.png"/><Relationship Id="rId3" Type="http://schemas.openxmlformats.org/officeDocument/2006/relationships/image" Target="../media/image2.png"/><Relationship Id="rId7" Type="http://schemas.openxmlformats.org/officeDocument/2006/relationships/image" Target="../media/image35.png"/><Relationship Id="rId12"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instagram.com/enyoi.co/" TargetMode="External"/><Relationship Id="rId11" Type="http://schemas.openxmlformats.org/officeDocument/2006/relationships/hyperlink" Target="https://www.tiktok.com/@enyoi.co" TargetMode="External"/><Relationship Id="rId5" Type="http://schemas.openxmlformats.org/officeDocument/2006/relationships/image" Target="../media/image34.png"/><Relationship Id="rId10" Type="http://schemas.openxmlformats.org/officeDocument/2006/relationships/image" Target="../media/image37.png"/><Relationship Id="rId4" Type="http://schemas.openxmlformats.org/officeDocument/2006/relationships/hyperlink" Target="https://wa.me/573206649412" TargetMode="External"/><Relationship Id="rId9" Type="http://schemas.openxmlformats.org/officeDocument/2006/relationships/image" Target="../media/image36.png"/></Relationships>
</file>

<file path=ppt/slides/_rels/slide9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p:nvPr/>
        </p:nvSpPr>
        <p:spPr>
          <a:xfrm>
            <a:off x="358764" y="455568"/>
            <a:ext cx="3004519" cy="1201808"/>
          </a:xfrm>
          <a:custGeom>
            <a:avLst/>
            <a:gdLst/>
            <a:ahLst/>
            <a:cxnLst/>
            <a:rect l="l" t="t" r="r" b="b"/>
            <a:pathLst>
              <a:path w="3457174" h="1382870" extrusionOk="0">
                <a:moveTo>
                  <a:pt x="0" y="0"/>
                </a:moveTo>
                <a:lnTo>
                  <a:pt x="3457174" y="0"/>
                </a:lnTo>
                <a:lnTo>
                  <a:pt x="3457174" y="1382870"/>
                </a:lnTo>
                <a:lnTo>
                  <a:pt x="0" y="1382870"/>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89" name="Google Shape;89;p1"/>
          <p:cNvGrpSpPr/>
          <p:nvPr/>
        </p:nvGrpSpPr>
        <p:grpSpPr>
          <a:xfrm rot="10800000">
            <a:off x="10392303" y="15240"/>
            <a:ext cx="7895697" cy="10431661"/>
            <a:chOff x="0" y="-38100"/>
            <a:chExt cx="2079525" cy="2747433"/>
          </a:xfrm>
        </p:grpSpPr>
        <p:sp>
          <p:nvSpPr>
            <p:cNvPr id="90" name="Google Shape;90;p1"/>
            <p:cNvSpPr/>
            <p:nvPr/>
          </p:nvSpPr>
          <p:spPr>
            <a:xfrm>
              <a:off x="0" y="0"/>
              <a:ext cx="2079525" cy="2709333"/>
            </a:xfrm>
            <a:custGeom>
              <a:avLst/>
              <a:gdLst/>
              <a:ahLst/>
              <a:cxnLst/>
              <a:rect l="l" t="t" r="r" b="b"/>
              <a:pathLst>
                <a:path w="2079525" h="2709333" extrusionOk="0">
                  <a:moveTo>
                    <a:pt x="0" y="0"/>
                  </a:moveTo>
                  <a:lnTo>
                    <a:pt x="2079525" y="0"/>
                  </a:lnTo>
                  <a:lnTo>
                    <a:pt x="2079525" y="2709333"/>
                  </a:lnTo>
                  <a:lnTo>
                    <a:pt x="0" y="2709333"/>
                  </a:lnTo>
                  <a:close/>
                </a:path>
              </a:pathLst>
            </a:custGeom>
            <a:gradFill>
              <a:gsLst>
                <a:gs pos="0">
                  <a:srgbClr val="6B1374"/>
                </a:gs>
                <a:gs pos="33333">
                  <a:srgbClr val="700A89"/>
                </a:gs>
                <a:gs pos="66667">
                  <a:srgbClr val="C20052"/>
                </a:gs>
                <a:gs pos="100000">
                  <a:srgbClr val="FF0055"/>
                </a:gs>
              </a:gsLst>
              <a:lin ang="5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 name="Google Shape;91;p1"/>
            <p:cNvSpPr txBox="1"/>
            <p:nvPr/>
          </p:nvSpPr>
          <p:spPr>
            <a:xfrm>
              <a:off x="0" y="-38100"/>
              <a:ext cx="2079525" cy="274743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92" name="Google Shape;92;p1"/>
          <p:cNvSpPr/>
          <p:nvPr/>
        </p:nvSpPr>
        <p:spPr>
          <a:xfrm>
            <a:off x="9562641" y="4953536"/>
            <a:ext cx="4777510" cy="4687932"/>
          </a:xfrm>
          <a:custGeom>
            <a:avLst/>
            <a:gdLst/>
            <a:ahLst/>
            <a:cxnLst/>
            <a:rect l="l" t="t" r="r" b="b"/>
            <a:pathLst>
              <a:path w="4777510" h="4687932" extrusionOk="0">
                <a:moveTo>
                  <a:pt x="0" y="0"/>
                </a:moveTo>
                <a:lnTo>
                  <a:pt x="4777511" y="0"/>
                </a:lnTo>
                <a:lnTo>
                  <a:pt x="4777511" y="4687932"/>
                </a:lnTo>
                <a:lnTo>
                  <a:pt x="0" y="4687932"/>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 name="Google Shape;93;p1"/>
          <p:cNvSpPr/>
          <p:nvPr/>
        </p:nvSpPr>
        <p:spPr>
          <a:xfrm rot="10800000">
            <a:off x="14340152" y="455568"/>
            <a:ext cx="4777510" cy="4687932"/>
          </a:xfrm>
          <a:custGeom>
            <a:avLst/>
            <a:gdLst/>
            <a:ahLst/>
            <a:cxnLst/>
            <a:rect l="l" t="t" r="r" b="b"/>
            <a:pathLst>
              <a:path w="4777510" h="4687932" extrusionOk="0">
                <a:moveTo>
                  <a:pt x="0" y="0"/>
                </a:moveTo>
                <a:lnTo>
                  <a:pt x="4777510" y="0"/>
                </a:lnTo>
                <a:lnTo>
                  <a:pt x="4777510" y="4687932"/>
                </a:lnTo>
                <a:lnTo>
                  <a:pt x="0" y="4687932"/>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94" name="Google Shape;94;p1"/>
          <p:cNvGrpSpPr/>
          <p:nvPr/>
        </p:nvGrpSpPr>
        <p:grpSpPr>
          <a:xfrm rot="1460314">
            <a:off x="10691684" y="4380706"/>
            <a:ext cx="7356554" cy="1393786"/>
            <a:chOff x="0" y="-38100"/>
            <a:chExt cx="1937529" cy="367088"/>
          </a:xfrm>
        </p:grpSpPr>
        <p:sp>
          <p:nvSpPr>
            <p:cNvPr id="95" name="Google Shape;95;p1"/>
            <p:cNvSpPr/>
            <p:nvPr/>
          </p:nvSpPr>
          <p:spPr>
            <a:xfrm>
              <a:off x="0" y="0"/>
              <a:ext cx="1937528" cy="328988"/>
            </a:xfrm>
            <a:custGeom>
              <a:avLst/>
              <a:gdLst/>
              <a:ahLst/>
              <a:cxnLst/>
              <a:rect l="l" t="t" r="r" b="b"/>
              <a:pathLst>
                <a:path w="1937528" h="328988" extrusionOk="0">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
            <p:cNvSpPr txBox="1"/>
            <p:nvPr/>
          </p:nvSpPr>
          <p:spPr>
            <a:xfrm>
              <a:off x="0" y="-38100"/>
              <a:ext cx="1937529" cy="367088"/>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97" name="Google Shape;97;p1"/>
          <p:cNvGrpSpPr/>
          <p:nvPr/>
        </p:nvGrpSpPr>
        <p:grpSpPr>
          <a:xfrm rot="10800000">
            <a:off x="-536261" y="9574006"/>
            <a:ext cx="8704395" cy="279585"/>
            <a:chOff x="0" y="-38100"/>
            <a:chExt cx="2292515" cy="73635"/>
          </a:xfrm>
        </p:grpSpPr>
        <p:sp>
          <p:nvSpPr>
            <p:cNvPr id="98" name="Google Shape;98;p1"/>
            <p:cNvSpPr/>
            <p:nvPr/>
          </p:nvSpPr>
          <p:spPr>
            <a:xfrm>
              <a:off x="0" y="0"/>
              <a:ext cx="2292515" cy="35535"/>
            </a:xfrm>
            <a:custGeom>
              <a:avLst/>
              <a:gdLst/>
              <a:ahLst/>
              <a:cxnLst/>
              <a:rect l="l" t="t" r="r" b="b"/>
              <a:pathLst>
                <a:path w="2292515" h="35535" extrusionOk="0">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 name="Google Shape;99;p1"/>
            <p:cNvSpPr txBox="1"/>
            <p:nvPr/>
          </p:nvSpPr>
          <p:spPr>
            <a:xfrm>
              <a:off x="0" y="-38100"/>
              <a:ext cx="2292514" cy="73635"/>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100" name="Google Shape;100;p1"/>
          <p:cNvSpPr txBox="1"/>
          <p:nvPr/>
        </p:nvSpPr>
        <p:spPr>
          <a:xfrm>
            <a:off x="907966" y="4667931"/>
            <a:ext cx="8115300" cy="947760"/>
          </a:xfrm>
          <a:prstGeom prst="rect">
            <a:avLst/>
          </a:prstGeom>
          <a:noFill/>
          <a:ln>
            <a:noFill/>
          </a:ln>
        </p:spPr>
        <p:txBody>
          <a:bodyPr spcFirstLastPara="1" wrap="square" lIns="0" tIns="0" rIns="0" bIns="0" anchor="t" anchorCtr="0">
            <a:spAutoFit/>
          </a:bodyPr>
          <a:lstStyle/>
          <a:p>
            <a:pPr marL="0" marR="0" lvl="0" indent="0" algn="ctr" rtl="0">
              <a:lnSpc>
                <a:spcPct val="140009"/>
              </a:lnSpc>
              <a:spcBef>
                <a:spcPts val="0"/>
              </a:spcBef>
              <a:spcAft>
                <a:spcPts val="0"/>
              </a:spcAft>
              <a:buNone/>
            </a:pPr>
            <a:r>
              <a:rPr lang="es-CO" sz="4399" b="1" dirty="0">
                <a:solidFill>
                  <a:srgbClr val="700A89"/>
                </a:solidFill>
                <a:latin typeface="Poppins"/>
                <a:ea typeface="Poppins"/>
                <a:cs typeface="Poppins"/>
                <a:sym typeface="Poppins"/>
              </a:rPr>
              <a:t>Diseño Relacional</a:t>
            </a:r>
            <a:endParaRPr dirty="0"/>
          </a:p>
        </p:txBody>
      </p:sp>
      <p:pic>
        <p:nvPicPr>
          <p:cNvPr id="101" name="Google Shape;101;p1"/>
          <p:cNvPicPr preferRelativeResize="0"/>
          <p:nvPr/>
        </p:nvPicPr>
        <p:blipFill rotWithShape="1">
          <a:blip r:embed="rId5">
            <a:alphaModFix/>
          </a:blip>
          <a:srcRect l="53990" t="15859" r="8554" b="69322"/>
          <a:stretch/>
        </p:blipFill>
        <p:spPr>
          <a:xfrm>
            <a:off x="5181600" y="609324"/>
            <a:ext cx="4721448" cy="104805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629EE-1985-2225-31E2-050DC896E6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E846FC-1099-F5A4-7D4D-94754DDF4519}"/>
              </a:ext>
            </a:extLst>
          </p:cNvPr>
          <p:cNvSpPr/>
          <p:nvPr/>
        </p:nvSpPr>
        <p:spPr>
          <a:xfrm>
            <a:off x="-437361" y="8801100"/>
            <a:ext cx="1656562" cy="1607056"/>
          </a:xfrm>
          <a:custGeom>
            <a:avLst/>
            <a:gdLst/>
            <a:ahLst/>
            <a:cxnLst/>
            <a:rect l="l" t="t" r="r" b="b"/>
            <a:pathLst>
              <a:path w="2052835" h="2064911">
                <a:moveTo>
                  <a:pt x="0" y="0"/>
                </a:moveTo>
                <a:lnTo>
                  <a:pt x="2052835" y="0"/>
                </a:lnTo>
                <a:lnTo>
                  <a:pt x="2052835" y="2064910"/>
                </a:lnTo>
                <a:lnTo>
                  <a:pt x="0" y="2064910"/>
                </a:lnTo>
                <a:lnTo>
                  <a:pt x="0" y="0"/>
                </a:lnTo>
                <a:close/>
              </a:path>
            </a:pathLst>
          </a:custGeom>
          <a:blipFill>
            <a:blip r:embed="rId2"/>
            <a:stretch>
              <a:fillRect l="-34848" t="-49459" r="-26429" b="-59444"/>
            </a:stretch>
          </a:blipFill>
        </p:spPr>
        <p:txBody>
          <a:bodyPr/>
          <a:lstStyle/>
          <a:p>
            <a:endParaRPr lang="es-CO"/>
          </a:p>
        </p:txBody>
      </p:sp>
      <p:sp>
        <p:nvSpPr>
          <p:cNvPr id="3" name="Freeform 3">
            <a:extLst>
              <a:ext uri="{FF2B5EF4-FFF2-40B4-BE49-F238E27FC236}">
                <a16:creationId xmlns:a16="http://schemas.microsoft.com/office/drawing/2014/main" id="{B433B88B-431D-F520-8A64-604BAC5A4F71}"/>
              </a:ext>
            </a:extLst>
          </p:cNvPr>
          <p:cNvSpPr/>
          <p:nvPr/>
        </p:nvSpPr>
        <p:spPr>
          <a:xfrm rot="-10800000">
            <a:off x="16136495" y="-695866"/>
            <a:ext cx="1607799" cy="1648365"/>
          </a:xfrm>
          <a:custGeom>
            <a:avLst/>
            <a:gdLst/>
            <a:ahLst/>
            <a:cxnLst/>
            <a:rect l="l" t="t" r="r" b="b"/>
            <a:pathLst>
              <a:path w="1607799" h="1648365">
                <a:moveTo>
                  <a:pt x="0" y="0"/>
                </a:moveTo>
                <a:lnTo>
                  <a:pt x="1607799" y="0"/>
                </a:lnTo>
                <a:lnTo>
                  <a:pt x="1607799" y="1648364"/>
                </a:lnTo>
                <a:lnTo>
                  <a:pt x="0" y="1648364"/>
                </a:lnTo>
                <a:lnTo>
                  <a:pt x="0" y="0"/>
                </a:lnTo>
                <a:close/>
              </a:path>
            </a:pathLst>
          </a:custGeom>
          <a:blipFill>
            <a:blip r:embed="rId3"/>
            <a:stretch>
              <a:fillRect l="-36892" t="-49695" r="-28270" b="-60205"/>
            </a:stretch>
          </a:blipFill>
        </p:spPr>
        <p:txBody>
          <a:bodyPr/>
          <a:lstStyle/>
          <a:p>
            <a:endParaRPr lang="es-CO"/>
          </a:p>
        </p:txBody>
      </p:sp>
      <p:sp>
        <p:nvSpPr>
          <p:cNvPr id="9" name="Freeform 21">
            <a:extLst>
              <a:ext uri="{FF2B5EF4-FFF2-40B4-BE49-F238E27FC236}">
                <a16:creationId xmlns:a16="http://schemas.microsoft.com/office/drawing/2014/main" id="{1D05F255-F2E3-68A0-D911-D29FFBA02339}"/>
              </a:ext>
            </a:extLst>
          </p:cNvPr>
          <p:cNvSpPr/>
          <p:nvPr/>
        </p:nvSpPr>
        <p:spPr>
          <a:xfrm>
            <a:off x="14954160" y="7813562"/>
            <a:ext cx="2743200" cy="2438400"/>
          </a:xfrm>
          <a:custGeom>
            <a:avLst/>
            <a:gdLst/>
            <a:ahLst/>
            <a:cxnLst/>
            <a:rect l="l" t="t" r="r" b="b"/>
            <a:pathLst>
              <a:path w="5397947" h="4972858">
                <a:moveTo>
                  <a:pt x="0" y="0"/>
                </a:moveTo>
                <a:lnTo>
                  <a:pt x="5397947" y="0"/>
                </a:lnTo>
                <a:lnTo>
                  <a:pt x="5397947" y="4972859"/>
                </a:lnTo>
                <a:lnTo>
                  <a:pt x="0" y="4972859"/>
                </a:lnTo>
                <a:lnTo>
                  <a:pt x="0" y="0"/>
                </a:lnTo>
                <a:close/>
              </a:path>
            </a:pathLst>
          </a:custGeom>
          <a:blipFill>
            <a:blip r:embed="rId4"/>
            <a:stretch>
              <a:fillRect/>
            </a:stretch>
          </a:blipFill>
        </p:spPr>
        <p:txBody>
          <a:bodyPr/>
          <a:lstStyle/>
          <a:p>
            <a:endParaRPr lang="es-CO"/>
          </a:p>
        </p:txBody>
      </p:sp>
      <p:sp>
        <p:nvSpPr>
          <p:cNvPr id="8" name="CuadroTexto 7">
            <a:extLst>
              <a:ext uri="{FF2B5EF4-FFF2-40B4-BE49-F238E27FC236}">
                <a16:creationId xmlns:a16="http://schemas.microsoft.com/office/drawing/2014/main" id="{096DCFA7-361F-02A9-70F0-6BC7CADA3C28}"/>
              </a:ext>
            </a:extLst>
          </p:cNvPr>
          <p:cNvSpPr txBox="1"/>
          <p:nvPr/>
        </p:nvSpPr>
        <p:spPr>
          <a:xfrm>
            <a:off x="2000250" y="1952625"/>
            <a:ext cx="14668500" cy="1754326"/>
          </a:xfrm>
          <a:prstGeom prst="rect">
            <a:avLst/>
          </a:prstGeom>
          <a:noFill/>
        </p:spPr>
        <p:txBody>
          <a:bodyPr wrap="square">
            <a:spAutoFit/>
          </a:bodyPr>
          <a:lstStyle/>
          <a:p>
            <a:r>
              <a:rPr lang="es-MX" sz="2800" b="1" dirty="0">
                <a:latin typeface="Poppins" panose="00000500000000000000" pitchFamily="2" charset="0"/>
                <a:cs typeface="Poppins" panose="00000500000000000000" pitchFamily="2" charset="0"/>
              </a:rPr>
              <a:t>Objetivo</a:t>
            </a:r>
          </a:p>
          <a:p>
            <a:endParaRPr lang="es-MX" sz="2800" b="1" dirty="0">
              <a:latin typeface="Poppins" panose="00000500000000000000" pitchFamily="2" charset="0"/>
              <a:cs typeface="Poppins" panose="00000500000000000000" pitchFamily="2" charset="0"/>
            </a:endParaRPr>
          </a:p>
          <a:p>
            <a:endParaRPr lang="es-MX" sz="2800" b="1" dirty="0">
              <a:latin typeface="Poppins" panose="00000500000000000000" pitchFamily="2" charset="0"/>
              <a:cs typeface="Poppins" panose="00000500000000000000" pitchFamily="2" charset="0"/>
            </a:endParaRPr>
          </a:p>
          <a:p>
            <a:endParaRPr lang="es-MX" sz="2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004461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BE647-2F94-13D5-27DE-4A5DB74E1A0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3863DAD-F684-284C-2ED7-62294E5E595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898E5CA-37A9-0597-9D10-9A6A87597AA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C395F84-2666-E01F-7240-1F6F93BDA7B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6FA7629-9511-F4A4-7613-1B201C33252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446395D-E9BA-9E85-56A5-2F6A6409A8F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9A0ECEB-C6B6-16E0-C6D1-98D056177F2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513AD4A-301F-94CD-5896-56702A74C75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FBD03C7-19EF-C8F7-680E-2A1D5D5406D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8FEA821-FD08-DD49-404E-B2A3BAB88CF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11FD1F1-29DA-B476-936B-2C9DEF53253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57BA99F3-AD4F-5DD2-1C4B-646F8957AD1B}"/>
              </a:ext>
            </a:extLst>
          </p:cNvPr>
          <p:cNvSpPr txBox="1"/>
          <p:nvPr/>
        </p:nvSpPr>
        <p:spPr>
          <a:xfrm>
            <a:off x="1950461" y="509599"/>
            <a:ext cx="14554200" cy="3600986"/>
          </a:xfrm>
          <a:prstGeom prst="rect">
            <a:avLst/>
          </a:prstGeom>
          <a:noFill/>
        </p:spPr>
        <p:txBody>
          <a:bodyPr wrap="square">
            <a:spAutoFit/>
          </a:bodyPr>
          <a:lstStyle/>
          <a:p>
            <a:r>
              <a:rPr lang="es-ES" sz="3600" b="1" dirty="0">
                <a:latin typeface="Poppins 1 Bold" panose="020B0604020202020204" charset="0"/>
                <a:cs typeface="Poppins 1 Bold" panose="020B0604020202020204" charset="0"/>
              </a:rPr>
              <a:t>Agenda</a:t>
            </a:r>
          </a:p>
          <a:p>
            <a:endParaRPr lang="es-ES" sz="3600" b="1" dirty="0">
              <a:latin typeface="Poppins 1 Bold" panose="020B0604020202020204" charset="0"/>
              <a:cs typeface="Poppins 1 Bold" panose="020B0604020202020204" charset="0"/>
            </a:endParaRPr>
          </a:p>
          <a:p>
            <a:endParaRPr lang="es-ES" sz="3600" b="1" dirty="0">
              <a:latin typeface="Poppins 1 Bold" panose="020B0604020202020204" charset="0"/>
              <a:cs typeface="Poppins 1 Bold" panose="020B0604020202020204" charset="0"/>
            </a:endParaRPr>
          </a:p>
          <a:p>
            <a:pPr marL="742950" indent="-742950">
              <a:buFont typeface="+mj-lt"/>
              <a:buAutoNum type="arabicPeriod"/>
            </a:pPr>
            <a:endParaRPr lang="es-CO" sz="3600" dirty="0"/>
          </a:p>
          <a:p>
            <a:pPr lvl="0"/>
            <a:endParaRPr lang="es-CO" sz="3600" dirty="0"/>
          </a:p>
          <a:p>
            <a:endParaRPr lang="es-ES" sz="2400" dirty="0"/>
          </a:p>
          <a:p>
            <a:endParaRPr lang="es-ES" sz="2400" dirty="0"/>
          </a:p>
        </p:txBody>
      </p:sp>
    </p:spTree>
    <p:extLst>
      <p:ext uri="{BB962C8B-B14F-4D97-AF65-F5344CB8AC3E}">
        <p14:creationId xmlns:p14="http://schemas.microsoft.com/office/powerpoint/2010/main" val="3263708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C4226-BBB1-6642-7911-7297143A860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60FF4C-FF87-D353-AFE0-71BE03429A3A}"/>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2AA98C1-EAED-B60E-B81B-AB86FB64550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B1D0DB6-D090-DFDF-0241-FFA60988413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35E6491-FD97-9A1F-BC8E-662CF639047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C613C70-2465-A8BB-131F-005D8F185AE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F2B1638-D7B1-7E0B-A4C3-DA55F09E005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8DD7AC1-63D7-F518-130F-C85ACD8DE3C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538ED31-8B20-7FDB-ACC5-5A1FC351211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38245AA-8E1E-F9F6-B0EF-CE296347D8E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93CD9DE-5B2E-AC36-54E2-1F8BC6F4E7D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B131834C-6AC9-32BD-59B4-A3A7CC8CF198}"/>
              </a:ext>
            </a:extLst>
          </p:cNvPr>
          <p:cNvSpPr txBox="1"/>
          <p:nvPr/>
        </p:nvSpPr>
        <p:spPr>
          <a:xfrm>
            <a:off x="1237268" y="619028"/>
            <a:ext cx="15627284" cy="8586966"/>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r>
              <a:rPr lang="es-ES" sz="2400" b="1" dirty="0"/>
              <a:t>¿Por qué organizar los datos así?</a:t>
            </a:r>
          </a:p>
          <a:p>
            <a:pPr>
              <a:buNone/>
            </a:pPr>
            <a:endParaRPr lang="es-ES" sz="2400" b="1" dirty="0"/>
          </a:p>
          <a:p>
            <a:pPr>
              <a:buNone/>
            </a:pPr>
            <a:endParaRPr lang="es-ES" sz="2400" b="1" dirty="0"/>
          </a:p>
          <a:p>
            <a:pPr>
              <a:buNone/>
            </a:pPr>
            <a:r>
              <a:rPr lang="es-ES" sz="2400" b="1" dirty="0"/>
              <a:t>VENTAJAS (El "Orden")</a:t>
            </a:r>
          </a:p>
          <a:p>
            <a:pPr>
              <a:buNone/>
            </a:pPr>
            <a:r>
              <a:rPr lang="es-ES" sz="2400" i="1" dirty="0"/>
              <a:t>Ideal para sistemas transaccionales (OLTP) como la App de Venta</a:t>
            </a:r>
          </a:p>
          <a:p>
            <a:pPr>
              <a:buNone/>
            </a:pPr>
            <a:endParaRPr lang="es-ES" sz="2400" dirty="0"/>
          </a:p>
          <a:p>
            <a:pPr>
              <a:buFont typeface="+mj-lt"/>
              <a:buAutoNum type="arabicPeriod"/>
            </a:pPr>
            <a:r>
              <a:rPr lang="es-ES" sz="2400" b="1" dirty="0"/>
              <a:t>Integridad de Datos (La "Verdad Única")</a:t>
            </a:r>
            <a:endParaRPr lang="es-ES" sz="2400" dirty="0"/>
          </a:p>
          <a:p>
            <a:pPr marL="742950" lvl="1" indent="-285750">
              <a:buFont typeface="+mj-lt"/>
              <a:buAutoNum type="arabicPeriod"/>
            </a:pPr>
            <a:r>
              <a:rPr lang="es-ES" sz="2400" b="1" dirty="0"/>
              <a:t>Concepto:</a:t>
            </a:r>
            <a:r>
              <a:rPr lang="es-ES" sz="2400" dirty="0"/>
              <a:t> Las reglas aseguran que no existan "pedidos huérfanos" sin cliente, o ventas de productos que no existen.</a:t>
            </a:r>
          </a:p>
          <a:p>
            <a:pPr marL="742950" lvl="1" indent="-285750">
              <a:buFont typeface="+mj-lt"/>
              <a:buAutoNum type="arabicPeriod"/>
            </a:pPr>
            <a:r>
              <a:rPr lang="es-ES" sz="2400" b="1" dirty="0"/>
              <a:t>Ejemplo </a:t>
            </a:r>
            <a:r>
              <a:rPr lang="es-ES" sz="2400" b="1" dirty="0" err="1"/>
              <a:t>Olist</a:t>
            </a:r>
            <a:r>
              <a:rPr lang="es-ES" sz="2400" b="1" dirty="0"/>
              <a:t>:</a:t>
            </a:r>
            <a:r>
              <a:rPr lang="es-ES" sz="2400" dirty="0"/>
              <a:t> Gracias a las </a:t>
            </a:r>
            <a:r>
              <a:rPr lang="es-ES" sz="2400" i="1" dirty="0" err="1"/>
              <a:t>Foreign</a:t>
            </a:r>
            <a:r>
              <a:rPr lang="es-ES" sz="2400" i="1" dirty="0"/>
              <a:t> </a:t>
            </a:r>
            <a:r>
              <a:rPr lang="es-ES" sz="2400" i="1" dirty="0" err="1"/>
              <a:t>Keys</a:t>
            </a:r>
            <a:r>
              <a:rPr lang="es-ES" sz="2400" dirty="0"/>
              <a:t>, es imposible crear una fila en </a:t>
            </a:r>
            <a:r>
              <a:rPr lang="es-ES" sz="2400" dirty="0" err="1">
                <a:latin typeface="Courier New" panose="02070309020205020404" pitchFamily="49" charset="0"/>
              </a:rPr>
              <a:t>order_items</a:t>
            </a:r>
            <a:r>
              <a:rPr lang="es-ES" sz="2400" dirty="0"/>
              <a:t> con un </a:t>
            </a:r>
            <a:r>
              <a:rPr lang="es-ES" sz="2400" dirty="0" err="1">
                <a:latin typeface="Courier New" panose="02070309020205020404" pitchFamily="49" charset="0"/>
              </a:rPr>
              <a:t>product_id</a:t>
            </a:r>
            <a:r>
              <a:rPr lang="es-ES" sz="2400" dirty="0"/>
              <a:t> que no esté registrado en la tabla </a:t>
            </a:r>
            <a:r>
              <a:rPr lang="es-ES" sz="2400" dirty="0" err="1">
                <a:latin typeface="Courier New" panose="02070309020205020404" pitchFamily="49" charset="0"/>
              </a:rPr>
              <a:t>products</a:t>
            </a:r>
            <a:r>
              <a:rPr lang="es-ES" sz="2400" dirty="0"/>
              <a:t>.</a:t>
            </a:r>
          </a:p>
          <a:p>
            <a:pPr marL="742950" lvl="1" indent="-285750">
              <a:buFont typeface="+mj-lt"/>
              <a:buAutoNum type="arabicPeriod"/>
            </a:pPr>
            <a:endParaRPr lang="es-ES" sz="2400" dirty="0"/>
          </a:p>
          <a:p>
            <a:pPr>
              <a:buFont typeface="+mj-lt"/>
              <a:buAutoNum type="arabicPeriod"/>
            </a:pPr>
            <a:r>
              <a:rPr lang="es-ES" sz="2400" b="1" dirty="0"/>
              <a:t>Eficiencia de Almacenamiento (Normalización)</a:t>
            </a:r>
            <a:endParaRPr lang="es-ES" sz="2400" dirty="0"/>
          </a:p>
          <a:p>
            <a:pPr marL="742950" lvl="1" indent="-285750">
              <a:buFont typeface="+mj-lt"/>
              <a:buAutoNum type="arabicPeriod"/>
            </a:pPr>
            <a:r>
              <a:rPr lang="es-ES" sz="2400" b="1" dirty="0"/>
              <a:t>Concepto:</a:t>
            </a:r>
            <a:r>
              <a:rPr lang="es-ES" sz="2400" dirty="0"/>
              <a:t> Evita la duplicidad. Si un dato se repite, se mueve a una tabla separada.</a:t>
            </a:r>
          </a:p>
          <a:p>
            <a:pPr marL="742950" lvl="1" indent="-285750">
              <a:buFont typeface="+mj-lt"/>
              <a:buAutoNum type="arabicPeriod"/>
            </a:pPr>
            <a:r>
              <a:rPr lang="es-ES" sz="2400" b="1" dirty="0"/>
              <a:t>Ejemplo </a:t>
            </a:r>
            <a:r>
              <a:rPr lang="es-ES" sz="2400" b="1" dirty="0" err="1"/>
              <a:t>Olist</a:t>
            </a:r>
            <a:r>
              <a:rPr lang="es-ES" sz="2400" b="1" dirty="0"/>
              <a:t>:</a:t>
            </a:r>
            <a:r>
              <a:rPr lang="es-ES" sz="2400" dirty="0"/>
              <a:t> La categoría "</a:t>
            </a:r>
            <a:r>
              <a:rPr lang="es-ES" sz="2400" dirty="0" err="1"/>
              <a:t>cool_stuff</a:t>
            </a:r>
            <a:r>
              <a:rPr lang="es-ES" sz="2400" dirty="0"/>
              <a:t>" se guarda una sola vez en la tabla </a:t>
            </a:r>
            <a:r>
              <a:rPr lang="es-ES" sz="2400" dirty="0" err="1">
                <a:latin typeface="Courier New" panose="02070309020205020404" pitchFamily="49" charset="0"/>
              </a:rPr>
              <a:t>products</a:t>
            </a:r>
            <a:r>
              <a:rPr lang="es-ES" sz="2400" dirty="0"/>
              <a:t>. No se repite en texto las 112,000 veces que se vendió algo de esa categoría.</a:t>
            </a:r>
          </a:p>
          <a:p>
            <a:pPr marL="742950" lvl="1" indent="-285750">
              <a:buFont typeface="+mj-lt"/>
              <a:buAutoNum type="arabicPeriod"/>
            </a:pPr>
            <a:endParaRPr lang="es-ES" sz="2400" dirty="0"/>
          </a:p>
          <a:p>
            <a:pPr>
              <a:buFont typeface="+mj-lt"/>
              <a:buAutoNum type="arabicPeriod"/>
            </a:pPr>
            <a:r>
              <a:rPr lang="es-ES" sz="2400" b="1" dirty="0"/>
              <a:t>Mantenibilidad y Actualización</a:t>
            </a:r>
            <a:endParaRPr lang="es-ES" sz="2400" dirty="0"/>
          </a:p>
          <a:p>
            <a:pPr marL="742950" lvl="1" indent="-285750">
              <a:buFont typeface="+mj-lt"/>
              <a:buAutoNum type="arabicPeriod"/>
            </a:pPr>
            <a:r>
              <a:rPr lang="es-ES" sz="2400" b="1" dirty="0"/>
              <a:t>Concepto:</a:t>
            </a:r>
            <a:r>
              <a:rPr lang="es-ES" sz="2400" dirty="0"/>
              <a:t> Cambias el dato en un lugar, y se refleja en todo el sistema.</a:t>
            </a:r>
          </a:p>
          <a:p>
            <a:pPr marL="742950" lvl="1" indent="-285750">
              <a:buFont typeface="+mj-lt"/>
              <a:buAutoNum type="arabicPeriod"/>
            </a:pPr>
            <a:r>
              <a:rPr lang="es-ES" sz="2400" b="1" dirty="0"/>
              <a:t>Ejemplo </a:t>
            </a:r>
            <a:r>
              <a:rPr lang="es-ES" sz="2400" b="1" dirty="0" err="1"/>
              <a:t>Olist</a:t>
            </a:r>
            <a:r>
              <a:rPr lang="es-ES" sz="2400" b="1" dirty="0"/>
              <a:t>:</a:t>
            </a:r>
            <a:r>
              <a:rPr lang="es-ES" sz="2400" dirty="0"/>
              <a:t> Si la ciudad "sao paulo" cambia de nombre, solo haces </a:t>
            </a:r>
            <a:r>
              <a:rPr lang="es-ES" sz="2400" dirty="0">
                <a:latin typeface="Courier New" panose="02070309020205020404" pitchFamily="49" charset="0"/>
              </a:rPr>
              <a:t>UPDATE</a:t>
            </a:r>
            <a:r>
              <a:rPr lang="es-ES" sz="2400" dirty="0"/>
              <a:t> en una fila (o en la tabla de Geo), no en millones de órdenes históricas.</a:t>
            </a:r>
          </a:p>
        </p:txBody>
      </p:sp>
    </p:spTree>
    <p:extLst>
      <p:ext uri="{BB962C8B-B14F-4D97-AF65-F5344CB8AC3E}">
        <p14:creationId xmlns:p14="http://schemas.microsoft.com/office/powerpoint/2010/main" val="2378932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2828-1556-0618-F727-174C54B3EF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2A2A98E-16D2-BEC6-280C-34CE999CD89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1B8AA29-F2BB-F7C9-D717-F8849DB8BC7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C1127A9-D747-D544-6EBF-E5694C1F4FA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A365942-A523-4FA5-FC69-97A62978E10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53C4E51-4971-5952-5C36-230B14DFA84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A47702A-9E15-0E67-8E38-68C19DF11DC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FEBBCD5-E9E9-F902-1ABE-5DF3ACD954E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8950FDE-A6BE-24EA-12F8-A0D67C9A2CE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EF016B0-AD68-CE71-0ED5-370A00085A5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254D337-C658-D018-EF97-692A7BC064A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A593FF89-7B01-9CD8-D6CA-8B7445164CA7}"/>
              </a:ext>
            </a:extLst>
          </p:cNvPr>
          <p:cNvSpPr txBox="1"/>
          <p:nvPr/>
        </p:nvSpPr>
        <p:spPr>
          <a:xfrm>
            <a:off x="1237268" y="619028"/>
            <a:ext cx="15627284" cy="3416320"/>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r>
              <a:rPr lang="es-ES" sz="2400" b="1" dirty="0"/>
              <a:t>¿Por qué organizar los datos así?</a:t>
            </a:r>
          </a:p>
          <a:p>
            <a:pPr>
              <a:buNone/>
            </a:pPr>
            <a:endParaRPr lang="es-ES" sz="2400" b="1" dirty="0"/>
          </a:p>
          <a:p>
            <a:pPr>
              <a:buNone/>
            </a:pPr>
            <a:endParaRPr lang="es-ES" sz="2400" b="1" dirty="0"/>
          </a:p>
          <a:p>
            <a:pPr>
              <a:buNone/>
            </a:pPr>
            <a:endParaRPr lang="es-ES" sz="2400" b="1" dirty="0"/>
          </a:p>
          <a:p>
            <a:pPr>
              <a:buNone/>
            </a:pPr>
            <a:endParaRPr lang="es-ES" sz="2400" b="1" dirty="0"/>
          </a:p>
          <a:p>
            <a:pPr>
              <a:buNone/>
            </a:pPr>
            <a:endParaRPr lang="es-ES" sz="2400" b="1" dirty="0"/>
          </a:p>
          <a:p>
            <a:pPr>
              <a:buNone/>
            </a:pPr>
            <a:endParaRPr lang="es-ES" sz="2400" b="1" dirty="0"/>
          </a:p>
        </p:txBody>
      </p:sp>
      <p:graphicFrame>
        <p:nvGraphicFramePr>
          <p:cNvPr id="14" name="Diagrama 13">
            <a:extLst>
              <a:ext uri="{FF2B5EF4-FFF2-40B4-BE49-F238E27FC236}">
                <a16:creationId xmlns:a16="http://schemas.microsoft.com/office/drawing/2014/main" id="{C98A5D66-C2FD-5831-D243-7EF74CAF9C6F}"/>
              </a:ext>
            </a:extLst>
          </p:cNvPr>
          <p:cNvGraphicFramePr/>
          <p:nvPr>
            <p:extLst>
              <p:ext uri="{D42A27DB-BD31-4B8C-83A1-F6EECF244321}">
                <p14:modId xmlns:p14="http://schemas.microsoft.com/office/powerpoint/2010/main" val="1667519062"/>
              </p:ext>
            </p:extLst>
          </p:nvPr>
        </p:nvGraphicFramePr>
        <p:xfrm>
          <a:off x="3261674" y="3346809"/>
          <a:ext cx="11161335" cy="485451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2890891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557C7-E425-B761-E509-E6CBD5EFF42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6C825EE-8EF7-CC42-50A3-853004AC6A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90519E9-3721-093D-8ED2-F98D6FB808B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FA3CD85-757E-CBFE-3FE3-CA800CA9E9F7}"/>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68A0629-65E7-74E3-3F2A-8E4FE4841D4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345EC27-0A08-022F-C342-0649AFE6F55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885D834-48C9-4942-F3DA-85B6B97570AC}"/>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48CFD11-5261-A131-E9EF-1DA465C2ABD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58F8C85-FE89-CE37-8E35-6F9564417C8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DC67731-1ABE-C3E2-E927-57EC4A04C3D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1334130-9A6D-9E96-F5B3-5144D09FBBC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43C93A9F-30CB-5604-762F-D4B593840A6E}"/>
              </a:ext>
            </a:extLst>
          </p:cNvPr>
          <p:cNvSpPr txBox="1"/>
          <p:nvPr/>
        </p:nvSpPr>
        <p:spPr>
          <a:xfrm>
            <a:off x="1227841" y="484045"/>
            <a:ext cx="16060918" cy="8586966"/>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endParaRPr lang="es-ES" sz="2400" b="1" dirty="0"/>
          </a:p>
          <a:p>
            <a:pPr>
              <a:buNone/>
            </a:pPr>
            <a:endParaRPr lang="es-ES" sz="2400" b="1" dirty="0"/>
          </a:p>
          <a:p>
            <a:r>
              <a:rPr lang="es-ES" sz="2400" b="1" dirty="0"/>
              <a:t>DESVENTAJAS (La "Burocracia")</a:t>
            </a:r>
          </a:p>
          <a:p>
            <a:endParaRPr lang="es-ES" sz="2400" b="1" dirty="0"/>
          </a:p>
          <a:p>
            <a:r>
              <a:rPr lang="es-ES" sz="2400" i="1" dirty="0"/>
              <a:t>Costoso para análisis masivo (OLAP) o Ciencia de Datos</a:t>
            </a:r>
          </a:p>
          <a:p>
            <a:endParaRPr lang="es-ES" sz="2400" dirty="0"/>
          </a:p>
          <a:p>
            <a:r>
              <a:rPr lang="es-ES" sz="2400" b="1" dirty="0"/>
              <a:t>Complejidad en Consultas (El infierno de los </a:t>
            </a:r>
            <a:r>
              <a:rPr lang="es-ES" sz="2400" b="1" dirty="0" err="1"/>
              <a:t>JOINs</a:t>
            </a:r>
            <a:r>
              <a:rPr lang="es-ES" sz="2400" b="1" dirty="0"/>
              <a:t>)</a:t>
            </a:r>
            <a:endParaRPr lang="es-ES" sz="2400" dirty="0"/>
          </a:p>
          <a:p>
            <a:pPr lvl="1"/>
            <a:r>
              <a:rPr lang="es-ES" sz="2400" b="1" dirty="0"/>
              <a:t>Concepto:</a:t>
            </a:r>
            <a:r>
              <a:rPr lang="es-ES" sz="2400" dirty="0"/>
              <a:t> Para reconstruir la información completa de un evento, necesitas unir muchas tablas, lo que consume mucha CPU y memoria.</a:t>
            </a:r>
          </a:p>
          <a:p>
            <a:pPr lvl="1"/>
            <a:r>
              <a:rPr lang="es-ES" sz="2400" b="1" dirty="0"/>
              <a:t>Ejemplo </a:t>
            </a:r>
            <a:r>
              <a:rPr lang="es-ES" sz="2400" b="1" dirty="0" err="1"/>
              <a:t>Olist</a:t>
            </a:r>
            <a:r>
              <a:rPr lang="es-ES" sz="2400" b="1" dirty="0"/>
              <a:t>:</a:t>
            </a:r>
            <a:r>
              <a:rPr lang="es-ES" sz="2400" dirty="0"/>
              <a:t> Para saber </a:t>
            </a:r>
            <a:r>
              <a:rPr lang="es-ES" sz="2400" i="1" dirty="0"/>
              <a:t>"¿Quién compró qué y dónde vive?"</a:t>
            </a:r>
            <a:r>
              <a:rPr lang="es-ES" sz="2400" dirty="0"/>
              <a:t>, el motor de base de datos tuvo que coser 5 tablas (</a:t>
            </a:r>
            <a:r>
              <a:rPr lang="es-ES" sz="2400" dirty="0" err="1"/>
              <a:t>orders</a:t>
            </a:r>
            <a:r>
              <a:rPr lang="es-ES" sz="2400" dirty="0"/>
              <a:t> + </a:t>
            </a:r>
            <a:r>
              <a:rPr lang="es-ES" sz="2400" dirty="0" err="1"/>
              <a:t>items</a:t>
            </a:r>
            <a:r>
              <a:rPr lang="es-ES" sz="2400" dirty="0"/>
              <a:t> + </a:t>
            </a:r>
            <a:r>
              <a:rPr lang="es-ES" sz="2400" dirty="0" err="1"/>
              <a:t>products</a:t>
            </a:r>
            <a:r>
              <a:rPr lang="es-ES" sz="2400" dirty="0"/>
              <a:t> + </a:t>
            </a:r>
            <a:r>
              <a:rPr lang="es-ES" sz="2400" dirty="0" err="1"/>
              <a:t>customers</a:t>
            </a:r>
            <a:r>
              <a:rPr lang="es-ES" sz="2400" dirty="0"/>
              <a:t> + </a:t>
            </a:r>
            <a:r>
              <a:rPr lang="es-ES" sz="2400" dirty="0" err="1"/>
              <a:t>sellers</a:t>
            </a:r>
            <a:r>
              <a:rPr lang="es-ES" sz="2400" dirty="0"/>
              <a:t>) al mismo tiempo.</a:t>
            </a:r>
          </a:p>
          <a:p>
            <a:pPr lvl="1"/>
            <a:endParaRPr lang="es-ES" sz="2400" dirty="0"/>
          </a:p>
          <a:p>
            <a:r>
              <a:rPr lang="es-ES" sz="2400" b="1" dirty="0"/>
              <a:t>Rigidez del Esquema (</a:t>
            </a:r>
            <a:r>
              <a:rPr lang="es-ES" sz="2400" b="1" dirty="0" err="1"/>
              <a:t>Schema</a:t>
            </a:r>
            <a:r>
              <a:rPr lang="es-ES" sz="2400" b="1" dirty="0"/>
              <a:t> </a:t>
            </a:r>
            <a:r>
              <a:rPr lang="es-ES" sz="2400" b="1" dirty="0" err="1"/>
              <a:t>rigidity</a:t>
            </a:r>
            <a:r>
              <a:rPr lang="es-ES" sz="2400" b="1" dirty="0"/>
              <a:t>)</a:t>
            </a:r>
            <a:endParaRPr lang="es-ES" sz="2400" dirty="0"/>
          </a:p>
          <a:p>
            <a:pPr lvl="1"/>
            <a:r>
              <a:rPr lang="es-ES" sz="2400" b="1" dirty="0"/>
              <a:t>Concepto:</a:t>
            </a:r>
            <a:r>
              <a:rPr lang="es-ES" sz="2400" dirty="0"/>
              <a:t> Debes definir la estructura </a:t>
            </a:r>
            <a:r>
              <a:rPr lang="es-ES" sz="2400" i="1" dirty="0"/>
              <a:t>antes</a:t>
            </a:r>
            <a:r>
              <a:rPr lang="es-ES" sz="2400" dirty="0"/>
              <a:t> de guardar los datos. Cambiarla después es doloroso.</a:t>
            </a:r>
          </a:p>
          <a:p>
            <a:pPr lvl="1"/>
            <a:r>
              <a:rPr lang="es-ES" sz="2400" b="1" dirty="0"/>
              <a:t>Ejemplo </a:t>
            </a:r>
            <a:r>
              <a:rPr lang="es-ES" sz="2400" b="1" dirty="0" err="1"/>
              <a:t>Olist</a:t>
            </a:r>
            <a:r>
              <a:rPr lang="es-ES" sz="2400" b="1" dirty="0"/>
              <a:t>:</a:t>
            </a:r>
            <a:r>
              <a:rPr lang="es-ES" sz="2400" dirty="0"/>
              <a:t> Si mañana </a:t>
            </a:r>
            <a:r>
              <a:rPr lang="es-ES" sz="2400" dirty="0" err="1"/>
              <a:t>Olist</a:t>
            </a:r>
            <a:r>
              <a:rPr lang="es-ES" sz="2400" dirty="0"/>
              <a:t> quiere empezar a vender seguros de vida con atributos totalmente diferentes a los productos físicos, tendrías que alterar las tablas existentes (ALTER TABLE) o crear estructuras complejas, arriesgando romper la aplicación.</a:t>
            </a:r>
          </a:p>
          <a:p>
            <a:pPr lvl="1"/>
            <a:endParaRPr lang="es-ES" sz="2400" dirty="0"/>
          </a:p>
          <a:p>
            <a:r>
              <a:rPr lang="es-ES" sz="2400" b="1" dirty="0"/>
              <a:t>Rendimiento en Lectura Masiva</a:t>
            </a:r>
            <a:endParaRPr lang="es-ES" sz="2400" dirty="0"/>
          </a:p>
          <a:p>
            <a:pPr lvl="1"/>
            <a:r>
              <a:rPr lang="es-ES" sz="2400" b="1" dirty="0"/>
              <a:t>Concepto:</a:t>
            </a:r>
            <a:r>
              <a:rPr lang="es-ES" sz="2400" dirty="0"/>
              <a:t> Al estar los datos fragmentados, leer todo el historial para reportes es lento comparado con una tabla plana o bases NoSQL.</a:t>
            </a:r>
          </a:p>
        </p:txBody>
      </p:sp>
    </p:spTree>
    <p:extLst>
      <p:ext uri="{BB962C8B-B14F-4D97-AF65-F5344CB8AC3E}">
        <p14:creationId xmlns:p14="http://schemas.microsoft.com/office/powerpoint/2010/main" val="2365868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1BBFF-F08F-C57E-5655-C946037DE71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14FA464-757A-8D39-85C6-896227FEC6A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1CDEC9D-23E2-B360-2CF4-5B66E1D4C63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7B80911-7F45-5292-A3C8-FABD1D0708F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1FDF73C-5A08-29DA-A519-CFD2DF2B832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3B95B14-704E-652C-EF9B-B04958112B9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6FC3294-755A-3FE3-D79F-3390F58CB3D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4341B29-3806-F1B2-C780-78A806ECCAA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9F7A921-C45D-28E0-144F-4251F70D41C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5D5C4BE-8188-29EF-B8DB-56F299D4758A}"/>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B9B5EEE-9ABA-4699-C8DC-9B03F741DC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5" name="Diagrama 14">
            <a:extLst>
              <a:ext uri="{FF2B5EF4-FFF2-40B4-BE49-F238E27FC236}">
                <a16:creationId xmlns:a16="http://schemas.microsoft.com/office/drawing/2014/main" id="{16F77BA2-D8D9-B578-17B9-59FCBB6266A5}"/>
              </a:ext>
            </a:extLst>
          </p:cNvPr>
          <p:cNvGraphicFramePr/>
          <p:nvPr>
            <p:extLst>
              <p:ext uri="{D42A27DB-BD31-4B8C-83A1-F6EECF244321}">
                <p14:modId xmlns:p14="http://schemas.microsoft.com/office/powerpoint/2010/main" val="2300535084"/>
              </p:ext>
            </p:extLst>
          </p:nvPr>
        </p:nvGraphicFramePr>
        <p:xfrm>
          <a:off x="1725105" y="2070839"/>
          <a:ext cx="14177914" cy="158676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6" name="CuadroTexto 15">
            <a:extLst>
              <a:ext uri="{FF2B5EF4-FFF2-40B4-BE49-F238E27FC236}">
                <a16:creationId xmlns:a16="http://schemas.microsoft.com/office/drawing/2014/main" id="{877194B9-EA71-E970-0848-E2105BF0A047}"/>
              </a:ext>
            </a:extLst>
          </p:cNvPr>
          <p:cNvSpPr txBox="1"/>
          <p:nvPr/>
        </p:nvSpPr>
        <p:spPr>
          <a:xfrm>
            <a:off x="5976595" y="4758779"/>
            <a:ext cx="1911101" cy="769441"/>
          </a:xfrm>
          <a:prstGeom prst="rect">
            <a:avLst/>
          </a:prstGeom>
          <a:noFill/>
        </p:spPr>
        <p:txBody>
          <a:bodyPr wrap="none" rtlCol="0">
            <a:spAutoFit/>
          </a:bodyPr>
          <a:lstStyle/>
          <a:p>
            <a:r>
              <a:rPr lang="es-CO" sz="4400" i="1" dirty="0"/>
              <a:t>¿Qué?</a:t>
            </a:r>
          </a:p>
        </p:txBody>
      </p:sp>
      <p:sp>
        <p:nvSpPr>
          <p:cNvPr id="17" name="CuadroTexto 16">
            <a:extLst>
              <a:ext uri="{FF2B5EF4-FFF2-40B4-BE49-F238E27FC236}">
                <a16:creationId xmlns:a16="http://schemas.microsoft.com/office/drawing/2014/main" id="{1C93CB8E-9D66-1138-22C7-EA28B75E9D45}"/>
              </a:ext>
            </a:extLst>
          </p:cNvPr>
          <p:cNvSpPr txBox="1"/>
          <p:nvPr/>
        </p:nvSpPr>
        <p:spPr>
          <a:xfrm>
            <a:off x="9565743" y="4758779"/>
            <a:ext cx="2348720" cy="769441"/>
          </a:xfrm>
          <a:prstGeom prst="rect">
            <a:avLst/>
          </a:prstGeom>
          <a:noFill/>
        </p:spPr>
        <p:txBody>
          <a:bodyPr wrap="none" rtlCol="0">
            <a:spAutoFit/>
          </a:bodyPr>
          <a:lstStyle/>
          <a:p>
            <a:r>
              <a:rPr lang="es-CO" sz="4400" i="1" dirty="0"/>
              <a:t>¿Cómo?</a:t>
            </a:r>
          </a:p>
        </p:txBody>
      </p:sp>
      <p:sp>
        <p:nvSpPr>
          <p:cNvPr id="19" name="CuadroTexto 18">
            <a:extLst>
              <a:ext uri="{FF2B5EF4-FFF2-40B4-BE49-F238E27FC236}">
                <a16:creationId xmlns:a16="http://schemas.microsoft.com/office/drawing/2014/main" id="{0ADC0557-F6C5-E556-428B-DA04C53346F5}"/>
              </a:ext>
            </a:extLst>
          </p:cNvPr>
          <p:cNvSpPr txBox="1"/>
          <p:nvPr/>
        </p:nvSpPr>
        <p:spPr>
          <a:xfrm>
            <a:off x="5019802" y="6408469"/>
            <a:ext cx="3824685" cy="1446550"/>
          </a:xfrm>
          <a:prstGeom prst="rect">
            <a:avLst/>
          </a:prstGeom>
          <a:noFill/>
        </p:spPr>
        <p:txBody>
          <a:bodyPr wrap="square" rtlCol="0">
            <a:spAutoFit/>
          </a:bodyPr>
          <a:lstStyle/>
          <a:p>
            <a:pPr algn="ctr"/>
            <a:r>
              <a:rPr lang="es-CO" sz="4400" i="1" dirty="0"/>
              <a:t>Vista de </a:t>
            </a:r>
          </a:p>
          <a:p>
            <a:pPr algn="ctr"/>
            <a:r>
              <a:rPr lang="es-CO" sz="4400" i="1" dirty="0"/>
              <a:t>Usuario</a:t>
            </a:r>
          </a:p>
        </p:txBody>
      </p:sp>
      <p:sp>
        <p:nvSpPr>
          <p:cNvPr id="20" name="CuadroTexto 19">
            <a:extLst>
              <a:ext uri="{FF2B5EF4-FFF2-40B4-BE49-F238E27FC236}">
                <a16:creationId xmlns:a16="http://schemas.microsoft.com/office/drawing/2014/main" id="{E908728F-66F2-C675-B830-B166CD07CC0B}"/>
              </a:ext>
            </a:extLst>
          </p:cNvPr>
          <p:cNvSpPr txBox="1"/>
          <p:nvPr/>
        </p:nvSpPr>
        <p:spPr>
          <a:xfrm>
            <a:off x="9296401" y="6408469"/>
            <a:ext cx="3571812" cy="1446550"/>
          </a:xfrm>
          <a:prstGeom prst="rect">
            <a:avLst/>
          </a:prstGeom>
          <a:noFill/>
        </p:spPr>
        <p:txBody>
          <a:bodyPr wrap="none" rtlCol="0">
            <a:spAutoFit/>
          </a:bodyPr>
          <a:lstStyle/>
          <a:p>
            <a:pPr algn="ctr"/>
            <a:r>
              <a:rPr lang="es-CO" sz="4400" i="1" dirty="0"/>
              <a:t>Vista de </a:t>
            </a:r>
          </a:p>
          <a:p>
            <a:pPr algn="ctr"/>
            <a:r>
              <a:rPr lang="es-CO" sz="4400" i="1" dirty="0"/>
              <a:t>Desarrollador</a:t>
            </a:r>
          </a:p>
        </p:txBody>
      </p:sp>
    </p:spTree>
    <p:extLst>
      <p:ext uri="{BB962C8B-B14F-4D97-AF65-F5344CB8AC3E}">
        <p14:creationId xmlns:p14="http://schemas.microsoft.com/office/powerpoint/2010/main" val="31568300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D73A9-F78F-0A68-9E38-658F45383F1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1B7A10-2F4C-AC05-754D-BAE536CAB05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2C63BA0-FF0A-B866-9131-9332AE0FCCB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2852C93-3988-44EC-7F7B-16C23EFD057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EBD8865-8CCE-E964-3B49-8DD4D9E587B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9A026B5-020F-9793-D098-B5B079095C1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D0C9E31-135F-E199-8316-29FA9D657D3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07915BF-5BAB-B555-C7C6-873D5CD17EB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56717F3-FE32-6982-DEC8-CE37F1A9DF9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5E41464-8F5D-3C09-2639-19AA342E330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9882098-048F-2923-DE80-9F7BD66CD05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6AE9D14-5600-D8EC-A64E-59674CF7DE65}"/>
              </a:ext>
            </a:extLst>
          </p:cNvPr>
          <p:cNvSpPr txBox="1"/>
          <p:nvPr/>
        </p:nvSpPr>
        <p:spPr>
          <a:xfrm>
            <a:off x="1614340" y="968983"/>
            <a:ext cx="14844861" cy="8648521"/>
          </a:xfrm>
          <a:prstGeom prst="rect">
            <a:avLst/>
          </a:prstGeom>
          <a:noFill/>
        </p:spPr>
        <p:txBody>
          <a:bodyPr wrap="square">
            <a:spAutoFit/>
          </a:bodyPr>
          <a:lstStyle/>
          <a:p>
            <a:r>
              <a:rPr lang="es-CO" sz="2400" dirty="0"/>
              <a:t>Paso 1: Descubrir entidades y asignar atributos</a:t>
            </a:r>
          </a:p>
          <a:p>
            <a:pPr marL="285750" indent="-285750">
              <a:buFont typeface="Arial" panose="020B0604020202020204" pitchFamily="34" charset="0"/>
              <a:buChar char="•"/>
            </a:pPr>
            <a:r>
              <a:rPr lang="es-CO" sz="2400" dirty="0"/>
              <a:t>Paso 1-1: Descubrir las entidades</a:t>
            </a:r>
          </a:p>
          <a:p>
            <a:pPr marL="285750" indent="-285750">
              <a:buFont typeface="Arial" panose="020B0604020202020204" pitchFamily="34" charset="0"/>
              <a:buChar char="•"/>
            </a:pPr>
            <a:r>
              <a:rPr lang="es-CO" sz="2400" dirty="0"/>
              <a:t>Paso 1-2: Asignar atributos a cada entidad descubierta</a:t>
            </a:r>
          </a:p>
          <a:p>
            <a:pPr marL="285750" indent="-285750">
              <a:buFont typeface="Arial" panose="020B0604020202020204" pitchFamily="34" charset="0"/>
              <a:buChar char="•"/>
            </a:pPr>
            <a:r>
              <a:rPr lang="es-CO" sz="2400" dirty="0"/>
              <a:t>Paso 1-3: Seleccionar identificadores, claves y claves primarias de los atributos de cada entidad</a:t>
            </a:r>
          </a:p>
          <a:p>
            <a:pPr marL="285750" indent="-285750">
              <a:buFont typeface="Arial" panose="020B0604020202020204" pitchFamily="34" charset="0"/>
              <a:buChar char="•"/>
            </a:pPr>
            <a:endParaRPr lang="es-CO" sz="2400" dirty="0"/>
          </a:p>
          <a:p>
            <a:r>
              <a:rPr lang="es-CO" sz="2400" dirty="0"/>
              <a:t>Paso 2: Derivar relaciones unarias y binarias</a:t>
            </a:r>
          </a:p>
          <a:p>
            <a:pPr marL="285750" indent="-285750">
              <a:buFont typeface="Arial" panose="020B0604020202020204" pitchFamily="34" charset="0"/>
              <a:buChar char="•"/>
            </a:pPr>
            <a:r>
              <a:rPr lang="es-CO" sz="2400" dirty="0"/>
              <a:t>Paso 2-1: Construir la matriz</a:t>
            </a:r>
          </a:p>
          <a:p>
            <a:pPr marL="285750" indent="-285750">
              <a:buFont typeface="Arial" panose="020B0604020202020204" pitchFamily="34" charset="0"/>
              <a:buChar char="•"/>
            </a:pPr>
            <a:r>
              <a:rPr lang="es-CO" sz="2400" dirty="0"/>
              <a:t>Paso 2-2: Completar la matriz</a:t>
            </a:r>
          </a:p>
          <a:p>
            <a:pPr marL="285750" indent="-285750">
              <a:buFont typeface="Arial" panose="020B0604020202020204" pitchFamily="34" charset="0"/>
              <a:buChar char="•"/>
            </a:pPr>
            <a:endParaRPr lang="es-CO" sz="2400" dirty="0"/>
          </a:p>
          <a:p>
            <a:r>
              <a:rPr lang="es-CO" sz="2400" dirty="0"/>
              <a:t>Paso 3: Crear un diagrama de entidad-relación simplificado</a:t>
            </a:r>
          </a:p>
          <a:p>
            <a:endParaRPr lang="es-CO" sz="2400" dirty="0"/>
          </a:p>
          <a:p>
            <a:r>
              <a:rPr lang="es-CO" sz="2400" dirty="0"/>
              <a:t>Paso 4: Enumerar las aserciones para todas las relaciones</a:t>
            </a:r>
          </a:p>
          <a:p>
            <a:endParaRPr lang="es-CO" sz="2400" dirty="0"/>
          </a:p>
          <a:p>
            <a:r>
              <a:rPr lang="es-CO" sz="2400" dirty="0"/>
              <a:t>Paso 5: Crear un diagrama E-R detallado utilizando aserciones</a:t>
            </a:r>
          </a:p>
          <a:p>
            <a:endParaRPr lang="es-CO" sz="2400" dirty="0"/>
          </a:p>
          <a:p>
            <a:r>
              <a:rPr lang="es-CO" sz="2400" dirty="0"/>
              <a:t>Paso 6: Transformar el diagrama E-R detallado en un diagrama R-M implementable</a:t>
            </a:r>
          </a:p>
          <a:p>
            <a:pPr marL="285750" indent="-285750">
              <a:buFont typeface="Arial" panose="020B0604020202020204" pitchFamily="34" charset="0"/>
              <a:buChar char="•"/>
            </a:pPr>
            <a:r>
              <a:rPr lang="es-CO" sz="2400" dirty="0"/>
              <a:t>Paso 6-1: Relaciones de muchos a muchos</a:t>
            </a:r>
          </a:p>
          <a:p>
            <a:pPr marL="285750" indent="-285750">
              <a:buFont typeface="Arial" panose="020B0604020202020204" pitchFamily="34" charset="0"/>
              <a:buChar char="•"/>
            </a:pPr>
            <a:r>
              <a:rPr lang="es-CO" sz="2400" dirty="0"/>
              <a:t>Paso 6-2: Relaciones de uno a muchos</a:t>
            </a:r>
          </a:p>
          <a:p>
            <a:pPr marL="285750" indent="-285750">
              <a:buFont typeface="Arial" panose="020B0604020202020204" pitchFamily="34" charset="0"/>
              <a:buChar char="•"/>
            </a:pPr>
            <a:r>
              <a:rPr lang="es-CO" sz="2400" dirty="0"/>
              <a:t>Paso 6-3: Relaciones uno a uno</a:t>
            </a:r>
          </a:p>
          <a:p>
            <a:pPr marL="285750" indent="-285750">
              <a:buFont typeface="Arial" panose="020B0604020202020204" pitchFamily="34" charset="0"/>
              <a:buChar char="•"/>
            </a:pPr>
            <a:r>
              <a:rPr lang="es-CO" sz="2400" dirty="0"/>
              <a:t>Paso 6-4: Combinar los resultados para crear un diagrama R-M</a:t>
            </a:r>
          </a:p>
          <a:p>
            <a:pPr marL="285750" indent="-285750">
              <a:buFont typeface="Arial" panose="020B0604020202020204" pitchFamily="34" charset="0"/>
              <a:buChar char="•"/>
            </a:pPr>
            <a:endParaRPr lang="es-CO" sz="2400" dirty="0"/>
          </a:p>
          <a:p>
            <a:r>
              <a:rPr lang="es-ES" sz="2400" dirty="0"/>
              <a:t>Paso 7: Diseño para la implementación del Modelo Físico </a:t>
            </a:r>
          </a:p>
          <a:p>
            <a:pPr marL="285750" indent="-285750">
              <a:buFont typeface="Arial" panose="020B0604020202020204" pitchFamily="34" charset="0"/>
              <a:buChar char="•"/>
            </a:pPr>
            <a:endParaRPr lang="es-CO" sz="2800" dirty="0"/>
          </a:p>
        </p:txBody>
      </p:sp>
    </p:spTree>
    <p:extLst>
      <p:ext uri="{BB962C8B-B14F-4D97-AF65-F5344CB8AC3E}">
        <p14:creationId xmlns:p14="http://schemas.microsoft.com/office/powerpoint/2010/main" val="1159471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462FB-AC9D-33E3-DA71-21E3405172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3663E3-97E5-44FE-B079-7F51B8784E7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8CC28BA-6A78-495C-F816-51EB6165026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34BC567-97DC-1970-4A96-C1EC35B429F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E747018-0BE0-9F3A-1A53-DF7CF6EB7C3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0D62A40-3B65-1564-5AEB-BE090C5E10A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1877A8A-FDE0-A802-5022-B79D2C2DEA1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A0B8679-33B0-1D36-CA5F-0504BDCF078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9617F3F-FDC9-634A-6963-928B894D75D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53D92FB-D999-FCC8-7AB7-AD591A74ECE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1DF7DD2-1C33-F16F-501A-FE32BDF7C83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0B6E92A1-AFDC-4730-3838-2DE7F4E194B1}"/>
              </a:ext>
            </a:extLst>
          </p:cNvPr>
          <p:cNvSpPr txBox="1"/>
          <p:nvPr/>
        </p:nvSpPr>
        <p:spPr>
          <a:xfrm>
            <a:off x="4800600" y="3833649"/>
            <a:ext cx="9186420" cy="2123658"/>
          </a:xfrm>
          <a:prstGeom prst="rect">
            <a:avLst/>
          </a:prstGeom>
          <a:noFill/>
        </p:spPr>
        <p:txBody>
          <a:bodyPr wrap="square">
            <a:spAutoFit/>
          </a:bodyPr>
          <a:lstStyle/>
          <a:p>
            <a:pPr algn="ctr"/>
            <a:r>
              <a:rPr lang="es-CO" sz="4400" b="1" dirty="0"/>
              <a:t>Paso 1: </a:t>
            </a:r>
          </a:p>
          <a:p>
            <a:pPr algn="ctr"/>
            <a:r>
              <a:rPr lang="es-CO" sz="4400" b="1" dirty="0"/>
              <a:t>Descubrir entidades y asignar atributos</a:t>
            </a:r>
          </a:p>
        </p:txBody>
      </p:sp>
    </p:spTree>
    <p:extLst>
      <p:ext uri="{BB962C8B-B14F-4D97-AF65-F5344CB8AC3E}">
        <p14:creationId xmlns:p14="http://schemas.microsoft.com/office/powerpoint/2010/main" val="325405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1FA83-B9F8-0E16-A193-67BE5061C75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323CE4-25E3-35CD-2E39-A04BF767485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811F45B-0A32-D0F2-6BC4-12655E5EF12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682A44E-B3B6-440F-DAF2-C70C9D55DAC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D2A5317-190D-86AE-E465-BED55282927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D0D05DE-99E6-D949-1669-83CF110C0DF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ABF3848-5CB0-EB25-FA59-A92518166D9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01693BC-35AD-23CD-38A1-F7E03F7826C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9F7918C-67E3-1C0B-52D5-11E9BB520FB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F81C645-DFDB-15AB-D879-64464A15D40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999EEDE-02CB-00A2-FEA7-288CF5E32F1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AA83893-4EEC-A58F-B17F-59228A6E880A}"/>
              </a:ext>
            </a:extLst>
          </p:cNvPr>
          <p:cNvSpPr txBox="1"/>
          <p:nvPr/>
        </p:nvSpPr>
        <p:spPr>
          <a:xfrm>
            <a:off x="1064834" y="607315"/>
            <a:ext cx="15911268" cy="8817799"/>
          </a:xfrm>
          <a:prstGeom prst="rect">
            <a:avLst/>
          </a:prstGeom>
          <a:noFill/>
        </p:spPr>
        <p:txBody>
          <a:bodyPr wrap="square">
            <a:spAutoFit/>
          </a:bodyPr>
          <a:lstStyle/>
          <a:p>
            <a:pPr>
              <a:buNone/>
            </a:pPr>
            <a:r>
              <a:rPr lang="es-ES" sz="2700" b="1" dirty="0"/>
              <a:t>Paso 0: Análisis de Requerimientos</a:t>
            </a:r>
          </a:p>
          <a:p>
            <a:pPr>
              <a:buNone/>
            </a:pPr>
            <a:endParaRPr lang="es-ES" sz="2700" b="1" dirty="0"/>
          </a:p>
          <a:p>
            <a:pPr>
              <a:buNone/>
            </a:pPr>
            <a:r>
              <a:rPr lang="es-ES" sz="2700" b="1" dirty="0"/>
              <a:t>"La Fase de Descubrimiento“</a:t>
            </a:r>
          </a:p>
          <a:p>
            <a:pPr>
              <a:buNone/>
            </a:pPr>
            <a:endParaRPr lang="es-ES" sz="2700" b="1" dirty="0"/>
          </a:p>
          <a:p>
            <a:pPr>
              <a:buNone/>
            </a:pPr>
            <a:r>
              <a:rPr lang="es-ES" sz="2700" dirty="0"/>
              <a:t>Antes de abrir cualquier herramienta de diagramado, debemos actuar como analistas. </a:t>
            </a:r>
          </a:p>
          <a:p>
            <a:pPr>
              <a:buNone/>
            </a:pPr>
            <a:endParaRPr lang="es-ES" sz="2700" dirty="0"/>
          </a:p>
          <a:p>
            <a:pPr>
              <a:buNone/>
            </a:pPr>
            <a:r>
              <a:rPr lang="es-ES" sz="2700" dirty="0">
                <a:highlight>
                  <a:srgbClr val="FFFF00"/>
                </a:highlight>
              </a:rPr>
              <a:t>El error #1 es empezar a crear tablas sin entender el flujo completo de la información.</a:t>
            </a:r>
          </a:p>
          <a:p>
            <a:pPr>
              <a:buNone/>
            </a:pPr>
            <a:endParaRPr lang="es-ES" sz="2700" dirty="0"/>
          </a:p>
          <a:p>
            <a:pPr>
              <a:buNone/>
            </a:pPr>
            <a:r>
              <a:rPr lang="es-ES" sz="2700" b="1" dirty="0"/>
              <a:t>Técnicas de Recolección de Datos:</a:t>
            </a:r>
          </a:p>
          <a:p>
            <a:pPr>
              <a:buNone/>
            </a:pPr>
            <a:endParaRPr lang="es-ES" sz="2700" b="1" dirty="0"/>
          </a:p>
          <a:p>
            <a:pPr marL="457200" indent="-457200">
              <a:buFont typeface="+mj-lt"/>
              <a:buAutoNum type="arabicPeriod"/>
            </a:pPr>
            <a:r>
              <a:rPr lang="es-ES" sz="2700" b="1" dirty="0"/>
              <a:t>Entrevistas con </a:t>
            </a:r>
            <a:r>
              <a:rPr lang="es-ES" sz="2700" b="1" dirty="0" err="1"/>
              <a:t>Stakeholders</a:t>
            </a:r>
            <a:r>
              <a:rPr lang="es-ES" sz="2700" b="1" dirty="0"/>
              <a:t>:</a:t>
            </a:r>
            <a:r>
              <a:rPr lang="es-ES" sz="2700" dirty="0"/>
              <a:t> Preguntar "¿Qué pasa después?" hasta llegar al final del proceso.</a:t>
            </a:r>
          </a:p>
          <a:p>
            <a:pPr marL="457200" indent="-457200">
              <a:buFont typeface="+mj-lt"/>
              <a:buAutoNum type="arabicPeriod"/>
            </a:pPr>
            <a:r>
              <a:rPr lang="es-ES" sz="2700" b="1" dirty="0"/>
              <a:t>Análisis de Documentos Existentes:</a:t>
            </a:r>
            <a:r>
              <a:rPr lang="es-ES" sz="2700" dirty="0"/>
              <a:t> Revisar facturas, reportes en Excel o formularios actuales.</a:t>
            </a:r>
          </a:p>
          <a:p>
            <a:pPr marL="457200" indent="-457200">
              <a:buFont typeface="+mj-lt"/>
              <a:buAutoNum type="arabicPeriod"/>
            </a:pPr>
            <a:r>
              <a:rPr lang="es-ES" sz="2700" b="1" dirty="0"/>
              <a:t>Observación del Proceso:</a:t>
            </a:r>
            <a:r>
              <a:rPr lang="es-ES" sz="2700" dirty="0"/>
              <a:t> Ver cómo operan los usuarios reales.</a:t>
            </a:r>
          </a:p>
          <a:p>
            <a:pPr>
              <a:buFont typeface="+mj-lt"/>
              <a:buAutoNum type="arabicPeriod"/>
            </a:pPr>
            <a:endParaRPr lang="es-ES" sz="2700" dirty="0"/>
          </a:p>
          <a:p>
            <a:pPr>
              <a:buNone/>
            </a:pPr>
            <a:r>
              <a:rPr lang="es-ES" sz="2700" b="1" dirty="0"/>
              <a:t>El Método Lingüístico (Sustantivos y Verbos)</a:t>
            </a:r>
          </a:p>
          <a:p>
            <a:pPr>
              <a:buNone/>
            </a:pPr>
            <a:endParaRPr lang="es-ES" sz="2700" b="1" dirty="0"/>
          </a:p>
          <a:p>
            <a:pPr>
              <a:buNone/>
            </a:pPr>
            <a:r>
              <a:rPr lang="es-ES" sz="2700" dirty="0"/>
              <a:t>Para estructurar el caos, usamos el lenguaje:</a:t>
            </a:r>
          </a:p>
          <a:p>
            <a:pPr>
              <a:buNone/>
            </a:pPr>
            <a:endParaRPr lang="es-ES" sz="2700" dirty="0"/>
          </a:p>
          <a:p>
            <a:pPr marL="457200" lvl="5" indent="-457200">
              <a:buFont typeface="+mj-lt"/>
              <a:buAutoNum type="arabicPeriod"/>
            </a:pPr>
            <a:r>
              <a:rPr lang="es-ES" sz="2700" b="1" dirty="0"/>
              <a:t>Sustantivos (</a:t>
            </a:r>
            <a:r>
              <a:rPr lang="es-ES" sz="2700" b="1" dirty="0" err="1"/>
              <a:t>Nouns</a:t>
            </a:r>
            <a:r>
              <a:rPr lang="es-ES" sz="2700" b="1" dirty="0"/>
              <a:t>):</a:t>
            </a:r>
            <a:r>
              <a:rPr lang="es-ES" sz="2700" dirty="0"/>
              <a:t> Candidatos fuertes a ser </a:t>
            </a:r>
            <a:r>
              <a:rPr lang="es-ES" sz="2700" b="1" dirty="0"/>
              <a:t>Entidades</a:t>
            </a:r>
            <a:r>
              <a:rPr lang="es-ES" sz="2700" dirty="0"/>
              <a:t> (Tablas). </a:t>
            </a:r>
            <a:r>
              <a:rPr lang="es-ES" sz="2700" dirty="0" err="1"/>
              <a:t>Ej</a:t>
            </a:r>
            <a:r>
              <a:rPr lang="es-ES" sz="2700" dirty="0"/>
              <a:t>: "Cliente", "Producto".</a:t>
            </a:r>
          </a:p>
          <a:p>
            <a:pPr marL="457200" lvl="5" indent="-457200">
              <a:buFont typeface="+mj-lt"/>
              <a:buAutoNum type="arabicPeriod"/>
            </a:pPr>
            <a:r>
              <a:rPr lang="es-ES" sz="2700" b="1" dirty="0"/>
              <a:t>Verbos:</a:t>
            </a:r>
            <a:r>
              <a:rPr lang="es-ES" sz="2700" dirty="0"/>
              <a:t> Candidatos a ser </a:t>
            </a:r>
            <a:r>
              <a:rPr lang="es-ES" sz="2700" b="1" dirty="0"/>
              <a:t>Relaciones</a:t>
            </a:r>
            <a:r>
              <a:rPr lang="es-ES" sz="2700" dirty="0"/>
              <a:t>. </a:t>
            </a:r>
            <a:r>
              <a:rPr lang="es-ES" sz="2700" dirty="0" err="1"/>
              <a:t>Ej</a:t>
            </a:r>
            <a:r>
              <a:rPr lang="es-ES" sz="2700" dirty="0"/>
              <a:t>: "Compra", "Envía", "Califica".</a:t>
            </a:r>
          </a:p>
          <a:p>
            <a:pPr marL="457200" lvl="5" indent="-457200">
              <a:buFont typeface="+mj-lt"/>
              <a:buAutoNum type="arabicPeriod"/>
            </a:pPr>
            <a:r>
              <a:rPr lang="es-ES" sz="2700" b="1" dirty="0"/>
              <a:t>Adjetivos/Detalles:</a:t>
            </a:r>
            <a:r>
              <a:rPr lang="es-ES" sz="2700" dirty="0"/>
              <a:t> Candidatos a ser </a:t>
            </a:r>
            <a:r>
              <a:rPr lang="es-ES" sz="2700" b="1" dirty="0"/>
              <a:t>Atributos</a:t>
            </a:r>
            <a:r>
              <a:rPr lang="es-ES" sz="2700" dirty="0"/>
              <a:t> (Columnas). </a:t>
            </a:r>
            <a:r>
              <a:rPr lang="es-ES" sz="2700" dirty="0" err="1"/>
              <a:t>Ej</a:t>
            </a:r>
            <a:r>
              <a:rPr lang="es-ES" sz="2700" dirty="0"/>
              <a:t>: "Rojo", "Urgente", "Pagado".</a:t>
            </a:r>
          </a:p>
        </p:txBody>
      </p:sp>
    </p:spTree>
    <p:extLst>
      <p:ext uri="{BB962C8B-B14F-4D97-AF65-F5344CB8AC3E}">
        <p14:creationId xmlns:p14="http://schemas.microsoft.com/office/powerpoint/2010/main" val="384747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717F-3767-D837-B8C4-5A7E2A02215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7D8242C-4BD0-FACD-4BD7-71C91E8B3DA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12AD4E1-E025-3270-ACDF-E7AB3983ACE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BF02F91-7BAB-584D-A313-0A197909C89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40A58F5-F62C-6688-740E-C28B0143858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CDBD8A7-39D4-CE0E-F05D-883DE744705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142D538-21D4-4BAB-53AF-D6572EEF0C3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D795987-5329-320C-8C6B-7AEA8FA5CCC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98ED445-976E-843F-21B0-7896A352FBF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6DEC4BA-67EA-41DA-5F65-4D9126B165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717E262-02E8-025B-98CE-32BE2194394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EDCD1B3-D0EC-A18C-8C27-0142D427FCF8}"/>
              </a:ext>
            </a:extLst>
          </p:cNvPr>
          <p:cNvSpPr txBox="1"/>
          <p:nvPr/>
        </p:nvSpPr>
        <p:spPr>
          <a:xfrm>
            <a:off x="1613162" y="839241"/>
            <a:ext cx="15061676" cy="8463855"/>
          </a:xfrm>
          <a:prstGeom prst="rect">
            <a:avLst/>
          </a:prstGeom>
          <a:noFill/>
        </p:spPr>
        <p:txBody>
          <a:bodyPr wrap="square">
            <a:spAutoFit/>
          </a:bodyPr>
          <a:lstStyle/>
          <a:p>
            <a:pPr>
              <a:buNone/>
            </a:pPr>
            <a:r>
              <a:rPr lang="es-ES" sz="3200" b="1" dirty="0"/>
              <a:t>Aplicación: Caso </a:t>
            </a:r>
            <a:r>
              <a:rPr lang="es-ES" sz="3200" b="1" dirty="0" err="1"/>
              <a:t>Olist</a:t>
            </a:r>
            <a:r>
              <a:rPr lang="es-ES" sz="3200" b="1" dirty="0"/>
              <a:t> (Extendido)</a:t>
            </a:r>
          </a:p>
          <a:p>
            <a:pPr>
              <a:buNone/>
            </a:pPr>
            <a:endParaRPr lang="es-ES" sz="3200" b="1" dirty="0"/>
          </a:p>
          <a:p>
            <a:pPr>
              <a:buNone/>
            </a:pPr>
            <a:r>
              <a:rPr lang="es-ES" sz="3200" b="1" dirty="0"/>
              <a:t>"La Narrativa Completa“</a:t>
            </a:r>
          </a:p>
          <a:p>
            <a:pPr>
              <a:buNone/>
            </a:pPr>
            <a:endParaRPr lang="es-ES" sz="3200" b="1" dirty="0"/>
          </a:p>
          <a:p>
            <a:pPr>
              <a:buNone/>
            </a:pPr>
            <a:r>
              <a:rPr lang="es-ES" sz="3200" i="1" dirty="0"/>
              <a:t>Imagina una entrevista profunda con el CTO de </a:t>
            </a:r>
            <a:r>
              <a:rPr lang="es-ES" sz="3200" i="1" dirty="0" err="1"/>
              <a:t>Olist</a:t>
            </a:r>
            <a:r>
              <a:rPr lang="es-ES" sz="3200" i="1" dirty="0"/>
              <a:t>. No solo venden productos, el sistema es más complejo:</a:t>
            </a:r>
          </a:p>
          <a:p>
            <a:pPr>
              <a:buNone/>
            </a:pPr>
            <a:endParaRPr lang="es-ES" sz="3200" dirty="0"/>
          </a:p>
          <a:p>
            <a:pPr>
              <a:buNone/>
            </a:pPr>
            <a:r>
              <a:rPr lang="es-ES" sz="3200" dirty="0"/>
              <a:t>"Somos un mercado (Marketplace) que conecta </a:t>
            </a:r>
            <a:r>
              <a:rPr lang="es-ES" sz="3200" b="1" dirty="0"/>
              <a:t>Vendedores</a:t>
            </a:r>
            <a:r>
              <a:rPr lang="es-ES" sz="3200" dirty="0"/>
              <a:t> y </a:t>
            </a:r>
            <a:r>
              <a:rPr lang="es-ES" sz="3200" b="1" dirty="0"/>
              <a:t>Clientes</a:t>
            </a:r>
            <a:r>
              <a:rPr lang="es-ES" sz="3200" dirty="0"/>
              <a:t>.</a:t>
            </a:r>
          </a:p>
          <a:p>
            <a:pPr marL="514350" indent="-514350">
              <a:buFont typeface="+mj-lt"/>
              <a:buAutoNum type="arabicPeriod"/>
            </a:pPr>
            <a:r>
              <a:rPr lang="es-ES" sz="3200" dirty="0"/>
              <a:t>El </a:t>
            </a:r>
            <a:r>
              <a:rPr lang="es-ES" sz="3200" b="1" dirty="0"/>
              <a:t>Cliente</a:t>
            </a:r>
            <a:r>
              <a:rPr lang="es-ES" sz="3200" dirty="0"/>
              <a:t> navega y crea un </a:t>
            </a:r>
            <a:r>
              <a:rPr lang="es-ES" sz="3200" b="1" dirty="0"/>
              <a:t>Pedido</a:t>
            </a:r>
            <a:r>
              <a:rPr lang="es-ES" sz="3200" dirty="0"/>
              <a:t>.</a:t>
            </a:r>
          </a:p>
          <a:p>
            <a:pPr marL="514350" indent="-514350">
              <a:buFont typeface="+mj-lt"/>
              <a:buAutoNum type="arabicPeriod"/>
            </a:pPr>
            <a:r>
              <a:rPr lang="es-ES" sz="3200" dirty="0"/>
              <a:t>Un mismo pedido puede contener múltiples </a:t>
            </a:r>
            <a:r>
              <a:rPr lang="es-ES" sz="3200" b="1" dirty="0" err="1"/>
              <a:t>Items</a:t>
            </a:r>
            <a:r>
              <a:rPr lang="es-ES" sz="3200" dirty="0"/>
              <a:t> (productos), y curiosamente, cada </a:t>
            </a:r>
            <a:r>
              <a:rPr lang="es-ES" sz="3200" dirty="0" err="1"/>
              <a:t>item</a:t>
            </a:r>
            <a:r>
              <a:rPr lang="es-ES" sz="3200" dirty="0"/>
              <a:t> puede venir de un </a:t>
            </a:r>
            <a:r>
              <a:rPr lang="es-ES" sz="3200" b="1" dirty="0"/>
              <a:t>Vendedor</a:t>
            </a:r>
            <a:r>
              <a:rPr lang="es-ES" sz="3200" dirty="0"/>
              <a:t> diferente.</a:t>
            </a:r>
          </a:p>
          <a:p>
            <a:pPr marL="514350" indent="-514350">
              <a:buFont typeface="+mj-lt"/>
              <a:buAutoNum type="arabicPeriod"/>
            </a:pPr>
            <a:r>
              <a:rPr lang="es-ES" sz="3200" dirty="0"/>
              <a:t>El cliente paga el total, a veces usando múltiples métodos en un registro de </a:t>
            </a:r>
            <a:r>
              <a:rPr lang="es-ES" sz="3200" b="1" dirty="0"/>
              <a:t>Pagos</a:t>
            </a:r>
            <a:r>
              <a:rPr lang="es-ES" sz="3200" dirty="0"/>
              <a:t> (tarjeta y cupón).</a:t>
            </a:r>
          </a:p>
          <a:p>
            <a:pPr marL="514350" indent="-514350">
              <a:buFont typeface="+mj-lt"/>
              <a:buAutoNum type="arabicPeriod"/>
            </a:pPr>
            <a:r>
              <a:rPr lang="es-ES" sz="3200" dirty="0"/>
              <a:t>Tras la entrega, el cliente deja una </a:t>
            </a:r>
            <a:r>
              <a:rPr lang="es-ES" sz="3200" b="1" dirty="0"/>
              <a:t>Reseña</a:t>
            </a:r>
            <a:r>
              <a:rPr lang="es-ES" sz="3200" dirty="0"/>
              <a:t> (</a:t>
            </a:r>
            <a:r>
              <a:rPr lang="es-ES" sz="3200" dirty="0" err="1"/>
              <a:t>Review</a:t>
            </a:r>
            <a:r>
              <a:rPr lang="es-ES" sz="3200" dirty="0"/>
              <a:t>) calificando su experiencia.</a:t>
            </a:r>
          </a:p>
          <a:p>
            <a:pPr marL="514350" indent="-514350">
              <a:buFont typeface="+mj-lt"/>
              <a:buAutoNum type="arabicPeriod"/>
            </a:pPr>
            <a:r>
              <a:rPr lang="es-ES" sz="3200" dirty="0"/>
              <a:t>Para la logística, necesitamos saber la </a:t>
            </a:r>
            <a:r>
              <a:rPr lang="es-ES" sz="3200" b="1" dirty="0"/>
              <a:t>Geolocalización</a:t>
            </a:r>
            <a:r>
              <a:rPr lang="es-ES" sz="3200" dirty="0"/>
              <a:t> exacta (</a:t>
            </a:r>
            <a:r>
              <a:rPr lang="es-ES" sz="3200" dirty="0" err="1"/>
              <a:t>Lat</a:t>
            </a:r>
            <a:r>
              <a:rPr lang="es-ES" sz="3200" dirty="0"/>
              <a:t>/Long) basada en el código postal."</a:t>
            </a:r>
          </a:p>
        </p:txBody>
      </p:sp>
    </p:spTree>
    <p:extLst>
      <p:ext uri="{BB962C8B-B14F-4D97-AF65-F5344CB8AC3E}">
        <p14:creationId xmlns:p14="http://schemas.microsoft.com/office/powerpoint/2010/main" val="3750917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F9F6-E0D4-572D-D687-8DFBDC18E30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F97273-F48A-D6EB-B204-327E0636F61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2D14560-B5AA-9599-3C37-70861DD198E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D89C65A-F2D6-CA8C-B7ED-DA93CE5CB6A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6616679-2BAB-83F1-8D52-5AAC5C2AC0E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9BDA7EC-77C1-31FE-9471-C9BC0F059A9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3EF4286-2865-9384-6416-3F08051AF0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F6BD6B0-E3C3-F85F-015A-9D3F44DF057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561CB06-61EA-D5AD-B9BE-8F833772B42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80E7F10-B72E-2DCC-4DD1-7E59A40BEDA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201FB05-E25F-79ED-6A93-071B346EB17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D736F33-12C8-9903-6EE8-C8E35263A40A}"/>
              </a:ext>
            </a:extLst>
          </p:cNvPr>
          <p:cNvSpPr txBox="1"/>
          <p:nvPr/>
        </p:nvSpPr>
        <p:spPr>
          <a:xfrm>
            <a:off x="1285674" y="763222"/>
            <a:ext cx="15716652" cy="8279190"/>
          </a:xfrm>
          <a:prstGeom prst="rect">
            <a:avLst/>
          </a:prstGeom>
          <a:noFill/>
        </p:spPr>
        <p:txBody>
          <a:bodyPr wrap="square">
            <a:spAutoFit/>
          </a:bodyPr>
          <a:lstStyle/>
          <a:p>
            <a:pPr>
              <a:buNone/>
            </a:pPr>
            <a:r>
              <a:rPr lang="es-ES" sz="2800" b="1" dirty="0"/>
              <a:t>Ejecutando el Análisis (Extracción)</a:t>
            </a:r>
          </a:p>
          <a:p>
            <a:pPr>
              <a:buNone/>
            </a:pPr>
            <a:endParaRPr lang="es-ES" sz="2800" b="1" dirty="0"/>
          </a:p>
          <a:p>
            <a:pPr>
              <a:buNone/>
            </a:pPr>
            <a:r>
              <a:rPr lang="es-ES" sz="2800" dirty="0"/>
              <a:t>Subrayamos los conceptos clave en la narrativa ampliada para descubrir las estructuras:</a:t>
            </a:r>
          </a:p>
          <a:p>
            <a:pPr>
              <a:buNone/>
            </a:pPr>
            <a:endParaRPr lang="es-ES" sz="2800" dirty="0"/>
          </a:p>
          <a:p>
            <a:pPr>
              <a:buNone/>
            </a:pPr>
            <a:endParaRPr lang="es-ES" sz="2800" dirty="0"/>
          </a:p>
          <a:p>
            <a:pPr marL="514350" indent="-514350">
              <a:buAutoNum type="arabicPeriod"/>
            </a:pPr>
            <a:r>
              <a:rPr lang="es-ES" sz="2800" b="1" dirty="0"/>
              <a:t>Entidades Tangibles (Objetos Reales)</a:t>
            </a:r>
          </a:p>
          <a:p>
            <a:pPr marL="514350" indent="-514350">
              <a:buAutoNum type="arabicPeriod"/>
            </a:pPr>
            <a:endParaRPr lang="es-ES" sz="2800" b="1" dirty="0"/>
          </a:p>
          <a:p>
            <a:pPr marL="457200" indent="-457200">
              <a:buFont typeface="Arial" panose="020B0604020202020204" pitchFamily="34" charset="0"/>
              <a:buChar char="•"/>
            </a:pPr>
            <a:r>
              <a:rPr lang="es-ES" sz="2800" b="1" dirty="0" err="1"/>
              <a:t>Customer</a:t>
            </a:r>
            <a:r>
              <a:rPr lang="es-ES" sz="2800" b="1" dirty="0"/>
              <a:t>:</a:t>
            </a:r>
            <a:r>
              <a:rPr lang="es-ES" sz="2800" dirty="0"/>
              <a:t> La persona física.</a:t>
            </a:r>
          </a:p>
          <a:p>
            <a:pPr marL="457200" indent="-457200">
              <a:buFont typeface="Arial" panose="020B0604020202020204" pitchFamily="34" charset="0"/>
              <a:buChar char="•"/>
            </a:pPr>
            <a:r>
              <a:rPr lang="es-ES" sz="2800" b="1" dirty="0" err="1"/>
              <a:t>Seller</a:t>
            </a:r>
            <a:r>
              <a:rPr lang="es-ES" sz="2800" b="1" dirty="0"/>
              <a:t>:</a:t>
            </a:r>
            <a:r>
              <a:rPr lang="es-ES" sz="2800" dirty="0"/>
              <a:t> La empresa o persona que vende.</a:t>
            </a:r>
          </a:p>
          <a:p>
            <a:pPr marL="457200" indent="-457200">
              <a:buFont typeface="Arial" panose="020B0604020202020204" pitchFamily="34" charset="0"/>
              <a:buChar char="•"/>
            </a:pPr>
            <a:r>
              <a:rPr lang="es-ES" sz="2800" b="1" dirty="0" err="1"/>
              <a:t>Product</a:t>
            </a:r>
            <a:r>
              <a:rPr lang="es-ES" sz="2800" b="1" dirty="0"/>
              <a:t>:</a:t>
            </a:r>
            <a:r>
              <a:rPr lang="es-ES" sz="2800" dirty="0"/>
              <a:t> El objeto físico inventariado.</a:t>
            </a:r>
          </a:p>
          <a:p>
            <a:pPr marL="457200" indent="-457200">
              <a:buFont typeface="Arial" panose="020B0604020202020204" pitchFamily="34" charset="0"/>
              <a:buChar char="•"/>
            </a:pPr>
            <a:endParaRPr lang="es-ES" sz="2800" dirty="0"/>
          </a:p>
          <a:p>
            <a:pPr>
              <a:buNone/>
            </a:pPr>
            <a:r>
              <a:rPr lang="es-ES" sz="2800" b="1" dirty="0"/>
              <a:t>2. Entidades Transaccionales (Eventos)</a:t>
            </a:r>
          </a:p>
          <a:p>
            <a:pPr>
              <a:buNone/>
            </a:pPr>
            <a:endParaRPr lang="es-ES" sz="2800" b="1" dirty="0"/>
          </a:p>
          <a:p>
            <a:pPr>
              <a:buNone/>
            </a:pPr>
            <a:r>
              <a:rPr lang="es-ES" sz="2800" i="1" dirty="0"/>
              <a:t>Son "invisibles" pero críticas. Registran acciones en el tiempo.</a:t>
            </a:r>
            <a:endParaRPr lang="es-ES" sz="2800" dirty="0"/>
          </a:p>
          <a:p>
            <a:pPr marL="457200" indent="-457200">
              <a:buFont typeface="Arial" panose="020B0604020202020204" pitchFamily="34" charset="0"/>
              <a:buChar char="•"/>
            </a:pPr>
            <a:r>
              <a:rPr lang="es-ES" sz="2800" b="1" dirty="0" err="1"/>
              <a:t>Order</a:t>
            </a:r>
            <a:r>
              <a:rPr lang="es-ES" sz="2800" b="1" dirty="0"/>
              <a:t>:</a:t>
            </a:r>
            <a:r>
              <a:rPr lang="es-ES" sz="2800" dirty="0"/>
              <a:t> El evento de compra general (la "cabecera").</a:t>
            </a:r>
          </a:p>
          <a:p>
            <a:pPr marL="457200" indent="-457200">
              <a:buFont typeface="Arial" panose="020B0604020202020204" pitchFamily="34" charset="0"/>
              <a:buChar char="•"/>
            </a:pPr>
            <a:r>
              <a:rPr lang="es-ES" sz="2800" b="1" dirty="0" err="1"/>
              <a:t>Order_Item</a:t>
            </a:r>
            <a:r>
              <a:rPr lang="es-ES" sz="2800" b="1" dirty="0"/>
              <a:t>:</a:t>
            </a:r>
            <a:r>
              <a:rPr lang="es-ES" sz="2800" dirty="0"/>
              <a:t> El detalle específico. </a:t>
            </a:r>
            <a:r>
              <a:rPr lang="es-ES" sz="2800" i="1" dirty="0"/>
              <a:t>Crucial:</a:t>
            </a:r>
            <a:r>
              <a:rPr lang="es-ES" sz="2800" dirty="0"/>
              <a:t> Aquí descubrimos que la relación Pedido-Producto es de "Muchos a Muchos".</a:t>
            </a:r>
          </a:p>
          <a:p>
            <a:pPr marL="457200" indent="-457200">
              <a:buFont typeface="Arial" panose="020B0604020202020204" pitchFamily="34" charset="0"/>
              <a:buChar char="•"/>
            </a:pPr>
            <a:r>
              <a:rPr lang="es-ES" sz="2800" b="1" dirty="0" err="1"/>
              <a:t>Payment</a:t>
            </a:r>
            <a:r>
              <a:rPr lang="es-ES" sz="2800" b="1" dirty="0"/>
              <a:t>:</a:t>
            </a:r>
            <a:r>
              <a:rPr lang="es-ES" sz="2800" dirty="0"/>
              <a:t> El evento financiero.</a:t>
            </a:r>
          </a:p>
          <a:p>
            <a:pPr marL="457200" indent="-457200">
              <a:buFont typeface="Arial" panose="020B0604020202020204" pitchFamily="34" charset="0"/>
              <a:buChar char="•"/>
            </a:pPr>
            <a:r>
              <a:rPr lang="es-ES" sz="2800" b="1" dirty="0" err="1"/>
              <a:t>Review</a:t>
            </a:r>
            <a:r>
              <a:rPr lang="es-ES" sz="2800" b="1" dirty="0"/>
              <a:t>:</a:t>
            </a:r>
            <a:r>
              <a:rPr lang="es-ES" sz="2800" dirty="0"/>
              <a:t> El evento de retroalimentación.</a:t>
            </a:r>
          </a:p>
        </p:txBody>
      </p:sp>
    </p:spTree>
    <p:extLst>
      <p:ext uri="{BB962C8B-B14F-4D97-AF65-F5344CB8AC3E}">
        <p14:creationId xmlns:p14="http://schemas.microsoft.com/office/powerpoint/2010/main" val="1433707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DC7AD-F356-6A40-0157-560B7C396A4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4D7D4E-DB71-9A36-63C5-17641ABB553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CB76E73-2584-2D7E-30AE-A9864C9F2B6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ECEAF99-2CAE-5549-7FFB-226CF2FA368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2E4EFF1-3793-416E-4CD1-F66F30ADF38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D4125CE-D686-26A6-45C6-9E2F4AC037C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6E522D5-ABD2-8C89-EF5A-0E29793F2BD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7035930-95B2-6C13-118A-E68B97ECFD4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0D17064-7878-6572-45D2-611C2C339B6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87B84FF-8F5D-E5DD-B9D8-C45B415A7F3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0453174-3B83-8CFD-031E-07459044FEC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6" name="Diagrama 15">
            <a:extLst>
              <a:ext uri="{FF2B5EF4-FFF2-40B4-BE49-F238E27FC236}">
                <a16:creationId xmlns:a16="http://schemas.microsoft.com/office/drawing/2014/main" id="{EAD7CE07-8817-8F96-8C0D-D9FAF1448381}"/>
              </a:ext>
            </a:extLst>
          </p:cNvPr>
          <p:cNvGraphicFramePr/>
          <p:nvPr>
            <p:extLst>
              <p:ext uri="{D42A27DB-BD31-4B8C-83A1-F6EECF244321}">
                <p14:modId xmlns:p14="http://schemas.microsoft.com/office/powerpoint/2010/main" val="3066959780"/>
              </p:ext>
            </p:extLst>
          </p:nvPr>
        </p:nvGraphicFramePr>
        <p:xfrm>
          <a:off x="2151068" y="1875934"/>
          <a:ext cx="14375877" cy="704182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5" name="CuadroTexto 14">
            <a:extLst>
              <a:ext uri="{FF2B5EF4-FFF2-40B4-BE49-F238E27FC236}">
                <a16:creationId xmlns:a16="http://schemas.microsoft.com/office/drawing/2014/main" id="{836DE7D8-B7E5-6E50-2D3C-DBAABB2531F7}"/>
              </a:ext>
            </a:extLst>
          </p:cNvPr>
          <p:cNvSpPr txBox="1"/>
          <p:nvPr/>
        </p:nvSpPr>
        <p:spPr>
          <a:xfrm>
            <a:off x="1520072" y="707373"/>
            <a:ext cx="9186420" cy="523220"/>
          </a:xfrm>
          <a:prstGeom prst="rect">
            <a:avLst/>
          </a:prstGeom>
          <a:noFill/>
        </p:spPr>
        <p:txBody>
          <a:bodyPr wrap="square">
            <a:spAutoFit/>
          </a:bodyPr>
          <a:lstStyle/>
          <a:p>
            <a:pPr>
              <a:buNone/>
            </a:pPr>
            <a:r>
              <a:rPr lang="es-ES" sz="2800" b="1" dirty="0"/>
              <a:t>Trampas Comunes en la Fase de Requerimientos</a:t>
            </a:r>
          </a:p>
        </p:txBody>
      </p:sp>
    </p:spTree>
    <p:extLst>
      <p:ext uri="{BB962C8B-B14F-4D97-AF65-F5344CB8AC3E}">
        <p14:creationId xmlns:p14="http://schemas.microsoft.com/office/powerpoint/2010/main" val="3052526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5EE48-2EE9-5842-7B9C-16365341F1C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EDD58E-824E-CF71-28B6-C1B8D22199A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1335D2E-E0A8-6C4A-E8C3-DC7A976780C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8207A84-64FB-B340-B9F8-03C23E9F20C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419AB9A-A11C-52CF-34DC-3FFCE8786DA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EBEB7BA-D6D3-025D-9B95-6CB1A431A32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DAD4A0B-B879-5A25-6ACA-C35F3067C63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0560A2C-5EB0-F09F-0211-703D3890167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29FA9F8-947E-1B38-9C87-215DBE87D7F4}"/>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59A1482-788B-1855-F202-B8780D00872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BAC6546-7934-ACC0-7ABB-EE5A7D9124E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C5409938-D45A-DCBB-0159-E72BD9E6D187}"/>
              </a:ext>
            </a:extLst>
          </p:cNvPr>
          <p:cNvSpPr txBox="1"/>
          <p:nvPr/>
        </p:nvSpPr>
        <p:spPr>
          <a:xfrm>
            <a:off x="1239025" y="931574"/>
            <a:ext cx="16398525" cy="5262979"/>
          </a:xfrm>
          <a:prstGeom prst="rect">
            <a:avLst/>
          </a:prstGeom>
          <a:noFill/>
        </p:spPr>
        <p:txBody>
          <a:bodyPr wrap="square">
            <a:spAutoFit/>
          </a:bodyPr>
          <a:lstStyle/>
          <a:p>
            <a:pPr>
              <a:buNone/>
            </a:pPr>
            <a:r>
              <a:rPr lang="es-ES" sz="2800" b="1" dirty="0"/>
              <a:t>Formalizando el Vocabulario antes de Relacionar</a:t>
            </a:r>
          </a:p>
          <a:p>
            <a:pPr>
              <a:buNone/>
            </a:pPr>
            <a:endParaRPr lang="es-ES" sz="2800" b="1" dirty="0"/>
          </a:p>
          <a:p>
            <a:pPr>
              <a:buNone/>
            </a:pPr>
            <a:r>
              <a:rPr lang="es-ES" sz="2800" b="1" dirty="0"/>
              <a:t>El problema de la Torre de Babel</a:t>
            </a:r>
          </a:p>
          <a:p>
            <a:pPr>
              <a:buNone/>
            </a:pPr>
            <a:endParaRPr lang="es-ES" sz="2800" dirty="0"/>
          </a:p>
          <a:p>
            <a:pPr>
              <a:buNone/>
            </a:pPr>
            <a:r>
              <a:rPr lang="es-ES" sz="2800" dirty="0"/>
              <a:t>En el Paso 1 descubrimos entidades ("Cliente", "Pedido"). Pero, ¿todos entendemos lo mismo por "Cliente"?</a:t>
            </a:r>
          </a:p>
          <a:p>
            <a:pPr>
              <a:buNone/>
            </a:pPr>
            <a:endParaRPr lang="es-ES" sz="2800" dirty="0"/>
          </a:p>
          <a:p>
            <a:pPr>
              <a:buFont typeface="Arial" panose="020B0604020202020204" pitchFamily="34" charset="0"/>
              <a:buChar char="•"/>
            </a:pPr>
            <a:r>
              <a:rPr lang="es-ES" sz="2800" b="1" dirty="0"/>
              <a:t>El Objetivo:</a:t>
            </a:r>
            <a:r>
              <a:rPr lang="es-ES" sz="2800" dirty="0"/>
              <a:t> Eliminar sinónimos y ambigüedades.</a:t>
            </a:r>
          </a:p>
          <a:p>
            <a:endParaRPr lang="es-ES" sz="2800" dirty="0"/>
          </a:p>
          <a:p>
            <a:pPr>
              <a:buFont typeface="Arial" panose="020B0604020202020204" pitchFamily="34" charset="0"/>
              <a:buChar char="•"/>
            </a:pPr>
            <a:r>
              <a:rPr lang="es-ES" sz="2800" b="1" dirty="0"/>
              <a:t>La Regla:</a:t>
            </a:r>
            <a:r>
              <a:rPr lang="es-ES" sz="2800" dirty="0"/>
              <a:t> Si no puedes describirlo en una frase, no es una entidad, es un proceso.</a:t>
            </a:r>
          </a:p>
          <a:p>
            <a:pPr>
              <a:buNone/>
            </a:pPr>
            <a:r>
              <a:rPr lang="es-ES" sz="2800" i="1" dirty="0"/>
              <a:t>"Antes de conectar A con B, debemos saber exactamente qué es A y qué es B.“</a:t>
            </a:r>
          </a:p>
          <a:p>
            <a:pPr>
              <a:buNone/>
            </a:pPr>
            <a:endParaRPr lang="es-ES" sz="2800" dirty="0"/>
          </a:p>
        </p:txBody>
      </p:sp>
    </p:spTree>
    <p:extLst>
      <p:ext uri="{BB962C8B-B14F-4D97-AF65-F5344CB8AC3E}">
        <p14:creationId xmlns:p14="http://schemas.microsoft.com/office/powerpoint/2010/main" val="944586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A0931-5D03-4BC3-AEBC-E2CEEA10F36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8EFCEB-A149-FF71-1A7F-9FFF9383D8A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519B690-9653-5241-96B0-359782AB8D2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BA2C3BC-840F-C683-8323-AB5D2224219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8F383A6-6833-8365-398B-226AF795C2D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379A31A-CB86-685F-83AE-67B711BA469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488BAE5-74D1-ACEC-57C1-BCE4D2C5BF48}"/>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8630741-399B-D7DE-CD5E-0E9FEB45585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4236FA9-3795-694F-A980-66565AACA56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5A8DACB-C903-0C04-03A3-264AF125B37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D552E7B-D869-49DE-F683-6038B9E2277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1917F7C-A04B-0846-CBAE-DCBA17105910}"/>
              </a:ext>
            </a:extLst>
          </p:cNvPr>
          <p:cNvSpPr txBox="1"/>
          <p:nvPr/>
        </p:nvSpPr>
        <p:spPr>
          <a:xfrm>
            <a:off x="1124145" y="1536261"/>
            <a:ext cx="16381430" cy="6863417"/>
          </a:xfrm>
          <a:prstGeom prst="rect">
            <a:avLst/>
          </a:prstGeom>
          <a:noFill/>
        </p:spPr>
        <p:txBody>
          <a:bodyPr wrap="square">
            <a:spAutoFit/>
          </a:bodyPr>
          <a:lstStyle/>
          <a:p>
            <a:pPr>
              <a:buNone/>
            </a:pPr>
            <a:r>
              <a:rPr lang="es-ES" sz="4000" b="1" dirty="0"/>
              <a:t>La Estructura del Diccionario de Entidades</a:t>
            </a:r>
          </a:p>
          <a:p>
            <a:pPr>
              <a:buNone/>
            </a:pPr>
            <a:endParaRPr lang="es-ES" sz="4000" b="1" dirty="0"/>
          </a:p>
          <a:p>
            <a:pPr>
              <a:buNone/>
            </a:pPr>
            <a:r>
              <a:rPr lang="es-ES" sz="4000" dirty="0"/>
              <a:t>Basándonos en tu imagen, debemos crear una ficha técnica para cada tabla candidata con 3 columnas críticas:</a:t>
            </a:r>
          </a:p>
          <a:p>
            <a:pPr>
              <a:buNone/>
            </a:pPr>
            <a:endParaRPr lang="es-ES" sz="4000" dirty="0"/>
          </a:p>
          <a:p>
            <a:pPr marL="742950" indent="-742950">
              <a:buFont typeface="+mj-lt"/>
              <a:buAutoNum type="arabicPeriod"/>
            </a:pPr>
            <a:r>
              <a:rPr lang="es-ES" sz="4000" b="1" dirty="0"/>
              <a:t>Nombre de Entidad:</a:t>
            </a:r>
            <a:r>
              <a:rPr lang="es-ES" sz="4000" dirty="0"/>
              <a:t> El nombre oficial (singular) que usaremos en SQL.</a:t>
            </a:r>
          </a:p>
          <a:p>
            <a:pPr marL="742950" indent="-742950">
              <a:buFont typeface="+mj-lt"/>
              <a:buAutoNum type="arabicPeriod"/>
            </a:pPr>
            <a:r>
              <a:rPr lang="es-ES" sz="4000" b="1" dirty="0"/>
              <a:t>Descripción:</a:t>
            </a:r>
            <a:r>
              <a:rPr lang="es-ES" sz="4000" dirty="0"/>
              <a:t> Definición del negocio.</a:t>
            </a:r>
          </a:p>
          <a:p>
            <a:pPr marL="742950" indent="-742950">
              <a:buFont typeface="+mj-lt"/>
              <a:buAutoNum type="arabicPeriod"/>
            </a:pPr>
            <a:r>
              <a:rPr lang="es-ES" sz="4000" b="1" dirty="0"/>
              <a:t>Sinónimos (Aliases):</a:t>
            </a:r>
            <a:r>
              <a:rPr lang="es-ES" sz="4000" dirty="0"/>
              <a:t> Palabras prohibidas que significan lo mismo.</a:t>
            </a:r>
          </a:p>
          <a:p>
            <a:pPr marL="742950" lvl="1" indent="-285750">
              <a:buFont typeface="+mj-lt"/>
              <a:buAutoNum type="arabicPeriod"/>
            </a:pPr>
            <a:r>
              <a:rPr lang="es-ES" sz="4000" i="1" dirty="0"/>
              <a:t>Ejemplo:</a:t>
            </a:r>
            <a:r>
              <a:rPr lang="es-ES" sz="4000" dirty="0"/>
              <a:t> Si Programación dice "</a:t>
            </a:r>
            <a:r>
              <a:rPr lang="es-ES" sz="4000" dirty="0" err="1"/>
              <a:t>User</a:t>
            </a:r>
            <a:r>
              <a:rPr lang="es-ES" sz="4000" dirty="0"/>
              <a:t>" y Ventas dice "</a:t>
            </a:r>
            <a:r>
              <a:rPr lang="es-ES" sz="4000" dirty="0" err="1"/>
              <a:t>Buyer</a:t>
            </a:r>
            <a:r>
              <a:rPr lang="es-ES" sz="4000" dirty="0"/>
              <a:t>", decidimos usar "</a:t>
            </a:r>
            <a:r>
              <a:rPr lang="es-ES" sz="4000" dirty="0" err="1"/>
              <a:t>Customer</a:t>
            </a:r>
            <a:r>
              <a:rPr lang="es-ES" sz="4000" dirty="0"/>
              <a:t>".</a:t>
            </a:r>
          </a:p>
        </p:txBody>
      </p:sp>
    </p:spTree>
    <p:extLst>
      <p:ext uri="{BB962C8B-B14F-4D97-AF65-F5344CB8AC3E}">
        <p14:creationId xmlns:p14="http://schemas.microsoft.com/office/powerpoint/2010/main" val="2771238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204A6-ADF2-416C-D1FF-51E87E72C7C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D44F2C8-FBA3-9A1C-917E-4AF8BE3FA0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033A3F6-6111-B0E1-D10E-FF5437B75FC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23C5496-692C-F887-2FE9-2BD5CBA5E6F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BCDA3E2-870D-010A-23A2-1A43B784497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914A88A-751F-1AA3-2BEE-A031693C5CD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86AB2BF-5B0A-AF51-2AA6-DCBB0CCECF6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263ED9A-FB70-5736-C881-8D44BFC229F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42E45DC-53CD-4EDC-3612-7D1FC812D5C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0B39033-887D-47E7-BEB0-46AAB98BD70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99B6D20-9D4F-0903-A100-96F478224D0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8310A42C-691F-2B0C-1734-54778288339B}"/>
              </a:ext>
            </a:extLst>
          </p:cNvPr>
          <p:cNvGraphicFramePr>
            <a:graphicFrameLocks noGrp="1"/>
          </p:cNvGraphicFramePr>
          <p:nvPr>
            <p:extLst>
              <p:ext uri="{D42A27DB-BD31-4B8C-83A1-F6EECF244321}">
                <p14:modId xmlns:p14="http://schemas.microsoft.com/office/powerpoint/2010/main" val="575244775"/>
              </p:ext>
            </p:extLst>
          </p:nvPr>
        </p:nvGraphicFramePr>
        <p:xfrm>
          <a:off x="1294613" y="3297732"/>
          <a:ext cx="15926586" cy="4389120"/>
        </p:xfrm>
        <a:graphic>
          <a:graphicData uri="http://schemas.openxmlformats.org/drawingml/2006/table">
            <a:tbl>
              <a:tblPr/>
              <a:tblGrid>
                <a:gridCol w="5308862">
                  <a:extLst>
                    <a:ext uri="{9D8B030D-6E8A-4147-A177-3AD203B41FA5}">
                      <a16:colId xmlns:a16="http://schemas.microsoft.com/office/drawing/2014/main" val="2627473297"/>
                    </a:ext>
                  </a:extLst>
                </a:gridCol>
                <a:gridCol w="5308862">
                  <a:extLst>
                    <a:ext uri="{9D8B030D-6E8A-4147-A177-3AD203B41FA5}">
                      <a16:colId xmlns:a16="http://schemas.microsoft.com/office/drawing/2014/main" val="2377507056"/>
                    </a:ext>
                  </a:extLst>
                </a:gridCol>
                <a:gridCol w="5308862">
                  <a:extLst>
                    <a:ext uri="{9D8B030D-6E8A-4147-A177-3AD203B41FA5}">
                      <a16:colId xmlns:a16="http://schemas.microsoft.com/office/drawing/2014/main" val="2305305923"/>
                    </a:ext>
                  </a:extLst>
                </a:gridCol>
              </a:tblGrid>
              <a:tr h="0">
                <a:tc>
                  <a:txBody>
                    <a:bodyPr/>
                    <a:lstStyle/>
                    <a:p>
                      <a:pPr>
                        <a:buNone/>
                      </a:pPr>
                      <a:r>
                        <a:rPr lang="es-CO" sz="2400" dirty="0"/>
                        <a:t>Nombre Entidad (Oficial)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Descripción del Negocio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Sinónimos / Aliases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7641935"/>
                  </a:ext>
                </a:extLst>
              </a:tr>
              <a:tr h="0">
                <a:tc>
                  <a:txBody>
                    <a:bodyPr/>
                    <a:lstStyle/>
                    <a:p>
                      <a:pPr>
                        <a:buNone/>
                      </a:pPr>
                      <a:r>
                        <a:rPr lang="es-CO" sz="2400" b="1" dirty="0" err="1"/>
                        <a:t>Customer</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La persona o entidad que realiza la compra. En </a:t>
                      </a:r>
                      <a:r>
                        <a:rPr lang="es-ES" sz="2400" dirty="0" err="1"/>
                        <a:t>Olist</a:t>
                      </a:r>
                      <a:r>
                        <a:rPr lang="es-ES" sz="2400" dirty="0"/>
                        <a:t>, tienen un ID temporal por pedido y un ID único histórico.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Comprador, Usuario, Client, Buyer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9405762"/>
                  </a:ext>
                </a:extLst>
              </a:tr>
              <a:tr h="0">
                <a:tc>
                  <a:txBody>
                    <a:bodyPr/>
                    <a:lstStyle/>
                    <a:p>
                      <a:pPr>
                        <a:buNone/>
                      </a:pPr>
                      <a:r>
                        <a:rPr lang="es-CO" sz="2400" b="1"/>
                        <a:t>Seller</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socio comercial que provee el producto. No es empleado de Olist, es un tercero.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Vendedor, Proveedor, Merchant, </a:t>
                      </a:r>
                      <a:r>
                        <a:rPr lang="es-CO" sz="2400" dirty="0" err="1"/>
                        <a:t>Partner</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2389291"/>
                  </a:ext>
                </a:extLst>
              </a:tr>
              <a:tr h="0">
                <a:tc>
                  <a:txBody>
                    <a:bodyPr/>
                    <a:lstStyle/>
                    <a:p>
                      <a:pPr>
                        <a:buNone/>
                      </a:pPr>
                      <a:r>
                        <a:rPr lang="es-CO" sz="2400" b="1"/>
                        <a:t>Product</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ítem físico disponible en el catálogo. Se agrupa por categorías globales.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Artículo, SKU, </a:t>
                      </a:r>
                      <a:r>
                        <a:rPr lang="es-CO" sz="2400" dirty="0" err="1"/>
                        <a:t>Item</a:t>
                      </a:r>
                      <a:r>
                        <a:rPr lang="es-CO" sz="2400" dirty="0"/>
                        <a:t>, </a:t>
                      </a:r>
                      <a:r>
                        <a:rPr lang="es-CO" sz="2400" dirty="0" err="1"/>
                        <a:t>Merchandise</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44959432"/>
                  </a:ext>
                </a:extLst>
              </a:tr>
            </a:tbl>
          </a:graphicData>
        </a:graphic>
      </p:graphicFrame>
      <p:sp>
        <p:nvSpPr>
          <p:cNvPr id="13" name="Rectangle 1">
            <a:extLst>
              <a:ext uri="{FF2B5EF4-FFF2-40B4-BE49-F238E27FC236}">
                <a16:creationId xmlns:a16="http://schemas.microsoft.com/office/drawing/2014/main" id="{18C3C2AE-7B6F-A3D8-1ADB-54D8D32ACA4B}"/>
              </a:ext>
            </a:extLst>
          </p:cNvPr>
          <p:cNvSpPr>
            <a:spLocks noChangeArrowheads="1"/>
          </p:cNvSpPr>
          <p:nvPr/>
        </p:nvSpPr>
        <p:spPr bwMode="auto">
          <a:xfrm>
            <a:off x="1239624" y="763222"/>
            <a:ext cx="1296657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200" b="1" i="0" u="none" strike="noStrike" cap="none" normalizeH="0" baseline="0" dirty="0">
                <a:ln>
                  <a:noFill/>
                </a:ln>
                <a:solidFill>
                  <a:schemeClr val="tx1"/>
                </a:solidFill>
                <a:effectLst/>
                <a:latin typeface="Arial" panose="020B0604020202020204" pitchFamily="34" charset="0"/>
              </a:rPr>
              <a:t>Aplicación Práctica: Diccionario </a:t>
            </a:r>
            <a:r>
              <a:rPr kumimoji="0" lang="es-CO" altLang="es-CO" sz="3200" b="1" i="0" u="none" strike="noStrike" cap="none" normalizeH="0" baseline="0" dirty="0" err="1">
                <a:ln>
                  <a:noFill/>
                </a:ln>
                <a:solidFill>
                  <a:schemeClr val="tx1"/>
                </a:solidFill>
                <a:effectLst/>
                <a:latin typeface="Arial" panose="020B0604020202020204" pitchFamily="34" charset="0"/>
              </a:rPr>
              <a:t>Olist</a:t>
            </a:r>
            <a:r>
              <a:rPr kumimoji="0" lang="es-CO" altLang="es-CO" sz="3200" b="1" i="0" u="none" strike="noStrike" cap="none" normalizeH="0" baseline="0" dirty="0">
                <a:ln>
                  <a:noFill/>
                </a:ln>
                <a:solidFill>
                  <a:schemeClr val="tx1"/>
                </a:solidFill>
                <a:effectLst/>
                <a:latin typeface="Arial" panose="020B0604020202020204" pitchFamily="34" charset="0"/>
              </a:rPr>
              <a:t> (Parte 1)</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0" i="0" u="none" strike="noStrike" cap="none" normalizeH="0" baseline="0" dirty="0">
                <a:ln>
                  <a:noFill/>
                </a:ln>
                <a:solidFill>
                  <a:schemeClr val="tx1"/>
                </a:solidFill>
                <a:effectLst/>
                <a:latin typeface="Arial" panose="020B0604020202020204" pitchFamily="34" charset="0"/>
              </a:rPr>
              <a:t>Llenemos la tabla con los datos reales de </a:t>
            </a:r>
            <a:r>
              <a:rPr kumimoji="0" lang="es-CO" altLang="es-CO" sz="1800" b="0" i="0" u="none" strike="noStrike" cap="none" normalizeH="0" baseline="0" dirty="0" err="1">
                <a:ln>
                  <a:noFill/>
                </a:ln>
                <a:solidFill>
                  <a:schemeClr val="tx1"/>
                </a:solidFill>
                <a:effectLst/>
                <a:latin typeface="Arial" panose="020B0604020202020204" pitchFamily="34" charset="0"/>
              </a:rPr>
              <a:t>Olist</a:t>
            </a:r>
            <a:r>
              <a:rPr kumimoji="0" lang="es-CO" altLang="es-CO" sz="1800" b="0" i="0" u="none" strike="noStrike" cap="none" normalizeH="0" baseline="0" dirty="0">
                <a:ln>
                  <a:noFill/>
                </a:ln>
                <a:solidFill>
                  <a:schemeClr val="tx1"/>
                </a:solidFill>
                <a:effectLst/>
                <a:latin typeface="Arial" panose="020B0604020202020204" pitchFamily="34" charset="0"/>
              </a:rPr>
              <a:t> para limpiar nuestro diseño:</a:t>
            </a:r>
            <a:endParaRPr kumimoji="0" lang="es-CO" altLang="es-CO" sz="4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74081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EFF2B-856D-A312-1286-CD29B75B5E6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A054C17-CEA0-1EE0-FD46-BA3659DA384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07BB087-7E92-AB4E-01C3-AE9D1AD763AD}"/>
              </a:ext>
            </a:extLst>
          </p:cNvPr>
          <p:cNvGrpSpPr/>
          <p:nvPr/>
        </p:nvGrpSpPr>
        <p:grpSpPr>
          <a:xfrm>
            <a:off x="-13018" y="76041"/>
            <a:ext cx="449045" cy="10287000"/>
            <a:chOff x="0" y="0"/>
            <a:chExt cx="598727" cy="13716000"/>
          </a:xfrm>
        </p:grpSpPr>
        <p:grpSp>
          <p:nvGrpSpPr>
            <p:cNvPr id="4" name="Group 4">
              <a:extLst>
                <a:ext uri="{FF2B5EF4-FFF2-40B4-BE49-F238E27FC236}">
                  <a16:creationId xmlns:a16="http://schemas.microsoft.com/office/drawing/2014/main" id="{986E5E86-A653-2392-D537-A83BC1953AE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AE2E156-ABE7-83AC-F369-9960422EA2F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0227EC3-B075-70AB-B4E7-5AD578EABF5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9EEA861-2236-A071-2361-FB6977CFAE1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C8D5B0C-3041-7B28-7E87-E1E7EB2B77B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7B484EE-A86E-6709-1A30-5353D3FC407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771F4A2-73C5-1093-8208-DD9E0BD9597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5BC200F-2D48-81CD-3924-2BAF681001A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25E7E220-7EC9-DF16-B676-F5F8860E2B88}"/>
              </a:ext>
            </a:extLst>
          </p:cNvPr>
          <p:cNvGraphicFramePr>
            <a:graphicFrameLocks noGrp="1"/>
          </p:cNvGraphicFramePr>
          <p:nvPr>
            <p:extLst>
              <p:ext uri="{D42A27DB-BD31-4B8C-83A1-F6EECF244321}">
                <p14:modId xmlns:p14="http://schemas.microsoft.com/office/powerpoint/2010/main" val="4032124931"/>
              </p:ext>
            </p:extLst>
          </p:nvPr>
        </p:nvGraphicFramePr>
        <p:xfrm>
          <a:off x="2007911" y="2572809"/>
          <a:ext cx="14818935" cy="6252757"/>
        </p:xfrm>
        <a:graphic>
          <a:graphicData uri="http://schemas.openxmlformats.org/drawingml/2006/table">
            <a:tbl>
              <a:tblPr/>
              <a:tblGrid>
                <a:gridCol w="4939645">
                  <a:extLst>
                    <a:ext uri="{9D8B030D-6E8A-4147-A177-3AD203B41FA5}">
                      <a16:colId xmlns:a16="http://schemas.microsoft.com/office/drawing/2014/main" val="1783722434"/>
                    </a:ext>
                  </a:extLst>
                </a:gridCol>
                <a:gridCol w="4939645">
                  <a:extLst>
                    <a:ext uri="{9D8B030D-6E8A-4147-A177-3AD203B41FA5}">
                      <a16:colId xmlns:a16="http://schemas.microsoft.com/office/drawing/2014/main" val="1979497216"/>
                    </a:ext>
                  </a:extLst>
                </a:gridCol>
                <a:gridCol w="4939645">
                  <a:extLst>
                    <a:ext uri="{9D8B030D-6E8A-4147-A177-3AD203B41FA5}">
                      <a16:colId xmlns:a16="http://schemas.microsoft.com/office/drawing/2014/main" val="4065968662"/>
                    </a:ext>
                  </a:extLst>
                </a:gridCol>
              </a:tblGrid>
              <a:tr h="691732">
                <a:tc>
                  <a:txBody>
                    <a:bodyPr/>
                    <a:lstStyle/>
                    <a:p>
                      <a:pPr>
                        <a:buNone/>
                      </a:pPr>
                      <a:r>
                        <a:rPr lang="es-CO" sz="2400"/>
                        <a:t>Nombre Entidad (Oficial)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Descripción del Negocio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Sinónimos / Aliases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2061412"/>
                  </a:ext>
                </a:extLst>
              </a:tr>
              <a:tr h="2240713">
                <a:tc>
                  <a:txBody>
                    <a:bodyPr/>
                    <a:lstStyle/>
                    <a:p>
                      <a:pPr>
                        <a:buNone/>
                      </a:pPr>
                      <a:r>
                        <a:rPr lang="es-CO" sz="2400" b="1"/>
                        <a:t>Order</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El evento "padre" que agrupa la compra. Contiene el estado (entregado, cancelado) y fechas.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Pedido, Venta, Transacción, Carrito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5302639"/>
                  </a:ext>
                </a:extLst>
              </a:tr>
              <a:tr h="1660156">
                <a:tc>
                  <a:txBody>
                    <a:bodyPr/>
                    <a:lstStyle/>
                    <a:p>
                      <a:pPr>
                        <a:buNone/>
                      </a:pPr>
                      <a:r>
                        <a:rPr lang="es-CO" sz="2400" b="1"/>
                        <a:t>Order_Item</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detalle de línea. Representa "Un producto específico dentro de una orden específica".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Línea de pedido, Detalle, </a:t>
                      </a:r>
                      <a:r>
                        <a:rPr lang="es-ES" sz="2400" dirty="0" err="1"/>
                        <a:t>Item</a:t>
                      </a:r>
                      <a:r>
                        <a:rPr lang="es-ES" sz="2400" dirty="0"/>
                        <a:t> de Venta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0371050"/>
                  </a:ext>
                </a:extLst>
              </a:tr>
              <a:tr h="1660156">
                <a:tc>
                  <a:txBody>
                    <a:bodyPr/>
                    <a:lstStyle/>
                    <a:p>
                      <a:pPr>
                        <a:buNone/>
                      </a:pPr>
                      <a:r>
                        <a:rPr lang="es-CO" sz="2400" b="1"/>
                        <a:t>Payment</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registro financiero. Una orden puede tener múltiples de estos (ej: 2 tarjetas de crédito).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Cobro, Transacción Financiera, Cuota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10045122"/>
                  </a:ext>
                </a:extLst>
              </a:tr>
            </a:tbl>
          </a:graphicData>
        </a:graphic>
      </p:graphicFrame>
      <p:sp>
        <p:nvSpPr>
          <p:cNvPr id="13" name="Rectangle 1">
            <a:extLst>
              <a:ext uri="{FF2B5EF4-FFF2-40B4-BE49-F238E27FC236}">
                <a16:creationId xmlns:a16="http://schemas.microsoft.com/office/drawing/2014/main" id="{7CC4C4B7-BC72-ABC2-F871-27D5ADA509C1}"/>
              </a:ext>
            </a:extLst>
          </p:cNvPr>
          <p:cNvSpPr>
            <a:spLocks noChangeArrowheads="1"/>
          </p:cNvSpPr>
          <p:nvPr/>
        </p:nvSpPr>
        <p:spPr bwMode="auto">
          <a:xfrm>
            <a:off x="1135930" y="964013"/>
            <a:ext cx="8479410"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Arial" panose="020B0604020202020204" pitchFamily="34" charset="0"/>
              </a:rPr>
              <a:t>Aplicación Práctica: Diccionario </a:t>
            </a:r>
            <a:r>
              <a:rPr kumimoji="0" lang="es-CO" altLang="es-CO" sz="2400" b="1" i="0" u="none" strike="noStrike" cap="none" normalizeH="0" baseline="0" dirty="0" err="1">
                <a:ln>
                  <a:noFill/>
                </a:ln>
                <a:solidFill>
                  <a:schemeClr val="tx1"/>
                </a:solidFill>
                <a:effectLst/>
                <a:latin typeface="Arial" panose="020B0604020202020204" pitchFamily="34" charset="0"/>
              </a:rPr>
              <a:t>Olist</a:t>
            </a:r>
            <a:r>
              <a:rPr kumimoji="0" lang="es-CO" altLang="es-CO" sz="2400" b="1" i="0" u="none" strike="noStrike" cap="none" normalizeH="0" baseline="0" dirty="0">
                <a:ln>
                  <a:noFill/>
                </a:ln>
                <a:solidFill>
                  <a:schemeClr val="tx1"/>
                </a:solidFill>
                <a:effectLst/>
                <a:latin typeface="Arial" panose="020B0604020202020204" pitchFamily="34" charset="0"/>
              </a:rPr>
              <a:t> (Parte 2)</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Arial" panose="020B0604020202020204" pitchFamily="34" charset="0"/>
              </a:rPr>
              <a:t>Las entidades transaccionales (las que suelen causar confusión):</a:t>
            </a:r>
            <a:endParaRPr kumimoji="0" lang="es-CO" altLang="es-CO"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59138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380F-A4A2-FEDF-756B-E942EB09BC2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F31F02-85F1-FA48-3B63-FCA7EA896C8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3EB86C0-1AC1-2639-774C-04EE88FA19E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37A7356-A71F-2FFA-6994-7557AF6BEFD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04DB371-1AD7-061A-9326-CE5CBC9339A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A8BEE2C-8789-0ED4-A8FB-8BA87089F54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FEE5FD7-3C67-2F10-0302-A4EDED0BC8E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8AD027B-7969-CA7C-BEE0-7004EA8A851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5BA7644-CBFF-0A22-5B80-4B4DDB7DA9E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005BE50-01D3-93DC-EA63-CB28CD250B9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1B2456A-B09E-D652-52C5-2A81B6B7258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3EB8C41-2227-DB3C-4A0D-BB6BE40EEEBD}"/>
              </a:ext>
            </a:extLst>
          </p:cNvPr>
          <p:cNvSpPr txBox="1"/>
          <p:nvPr/>
        </p:nvSpPr>
        <p:spPr>
          <a:xfrm>
            <a:off x="1444656" y="1172510"/>
            <a:ext cx="15580151" cy="7478970"/>
          </a:xfrm>
          <a:prstGeom prst="rect">
            <a:avLst/>
          </a:prstGeom>
          <a:noFill/>
        </p:spPr>
        <p:txBody>
          <a:bodyPr wrap="square">
            <a:spAutoFit/>
          </a:bodyPr>
          <a:lstStyle/>
          <a:p>
            <a:pPr>
              <a:buNone/>
            </a:pPr>
            <a:r>
              <a:rPr lang="es-ES" sz="3200" b="1" dirty="0"/>
              <a:t>Detectando "Falsas Entidades" (Limpieza)</a:t>
            </a:r>
          </a:p>
          <a:p>
            <a:pPr>
              <a:buNone/>
            </a:pPr>
            <a:endParaRPr lang="es-ES" sz="3200" b="1" dirty="0"/>
          </a:p>
          <a:p>
            <a:pPr>
              <a:buNone/>
            </a:pPr>
            <a:r>
              <a:rPr lang="es-ES" sz="3200" dirty="0"/>
              <a:t>En este paso, usamos la columna de </a:t>
            </a:r>
            <a:r>
              <a:rPr lang="es-ES" sz="3200" b="1" dirty="0"/>
              <a:t>Descripción</a:t>
            </a:r>
            <a:r>
              <a:rPr lang="es-ES" sz="3200" dirty="0"/>
              <a:t> para descartar errores del Paso 1.</a:t>
            </a:r>
          </a:p>
          <a:p>
            <a:pPr>
              <a:buNone/>
            </a:pPr>
            <a:endParaRPr lang="es-ES" sz="3200" dirty="0"/>
          </a:p>
          <a:p>
            <a:pPr>
              <a:buFont typeface="Arial" panose="020B0604020202020204" pitchFamily="34" charset="0"/>
              <a:buChar char="•"/>
            </a:pPr>
            <a:r>
              <a:rPr lang="es-ES" sz="3200" b="1" dirty="0"/>
              <a:t>Candidato:</a:t>
            </a:r>
            <a:r>
              <a:rPr lang="es-ES" sz="3200" dirty="0"/>
              <a:t> "</a:t>
            </a:r>
            <a:r>
              <a:rPr lang="es-ES" sz="3200" dirty="0" err="1"/>
              <a:t>Geolocation</a:t>
            </a:r>
            <a:r>
              <a:rPr lang="es-ES" sz="3200" dirty="0"/>
              <a:t>"</a:t>
            </a:r>
          </a:p>
          <a:p>
            <a:pPr>
              <a:buFont typeface="Arial" panose="020B0604020202020204" pitchFamily="34" charset="0"/>
              <a:buChar char="•"/>
            </a:pPr>
            <a:r>
              <a:rPr lang="es-ES" sz="3200" b="1" dirty="0"/>
              <a:t>Análisis:</a:t>
            </a:r>
            <a:r>
              <a:rPr lang="es-ES" sz="3200" dirty="0"/>
              <a:t> ¿Es una entidad de negocio?</a:t>
            </a:r>
          </a:p>
          <a:p>
            <a:pPr marL="742950" lvl="1" indent="-285750">
              <a:buFont typeface="Arial" panose="020B0604020202020204" pitchFamily="34" charset="0"/>
              <a:buChar char="•"/>
            </a:pPr>
            <a:r>
              <a:rPr lang="es-ES" sz="3200" i="1" dirty="0"/>
              <a:t>Descripción:</a:t>
            </a:r>
            <a:r>
              <a:rPr lang="es-ES" sz="3200" dirty="0"/>
              <a:t> Es una lista de códigos postales con latitud/longitud.</a:t>
            </a:r>
          </a:p>
          <a:p>
            <a:pPr marL="742950" lvl="1" indent="-285750">
              <a:buFont typeface="Arial" panose="020B0604020202020204" pitchFamily="34" charset="0"/>
              <a:buChar char="•"/>
            </a:pPr>
            <a:r>
              <a:rPr lang="es-ES" sz="3200" i="1" dirty="0"/>
              <a:t>Veredicto:</a:t>
            </a:r>
            <a:r>
              <a:rPr lang="es-ES" sz="3200" dirty="0"/>
              <a:t> Sí, es una entidad de referencia (</a:t>
            </a:r>
            <a:r>
              <a:rPr lang="es-ES" sz="3200" dirty="0" err="1"/>
              <a:t>Lookup</a:t>
            </a:r>
            <a:r>
              <a:rPr lang="es-ES" sz="3200" dirty="0"/>
              <a:t> Table).</a:t>
            </a:r>
          </a:p>
          <a:p>
            <a:pPr marL="742950" lvl="1" indent="-285750">
              <a:buFont typeface="Arial" panose="020B0604020202020204" pitchFamily="34" charset="0"/>
              <a:buChar char="•"/>
            </a:pPr>
            <a:endParaRPr lang="es-ES" sz="3200" dirty="0"/>
          </a:p>
          <a:p>
            <a:pPr marL="742950" lvl="1" indent="-285750">
              <a:buFont typeface="Arial" panose="020B0604020202020204" pitchFamily="34" charset="0"/>
              <a:buChar char="•"/>
            </a:pPr>
            <a:endParaRPr lang="es-ES" sz="3200" dirty="0"/>
          </a:p>
          <a:p>
            <a:pPr>
              <a:buFont typeface="Arial" panose="020B0604020202020204" pitchFamily="34" charset="0"/>
              <a:buChar char="•"/>
            </a:pPr>
            <a:r>
              <a:rPr lang="es-ES" sz="3200" b="1" dirty="0"/>
              <a:t>Candidato:</a:t>
            </a:r>
            <a:r>
              <a:rPr lang="es-ES" sz="3200" dirty="0"/>
              <a:t> "</a:t>
            </a:r>
            <a:r>
              <a:rPr lang="es-ES" sz="3200" dirty="0" err="1"/>
              <a:t>Shipping</a:t>
            </a:r>
            <a:r>
              <a:rPr lang="es-ES" sz="3200" dirty="0"/>
              <a:t>" (Envío)</a:t>
            </a:r>
          </a:p>
          <a:p>
            <a:pPr>
              <a:buFont typeface="Arial" panose="020B0604020202020204" pitchFamily="34" charset="0"/>
              <a:buChar char="•"/>
            </a:pPr>
            <a:r>
              <a:rPr lang="es-ES" sz="3200" b="1" dirty="0"/>
              <a:t>Análisis:</a:t>
            </a:r>
            <a:r>
              <a:rPr lang="es-ES" sz="3200" dirty="0"/>
              <a:t> ¿Es una tabla aparte?</a:t>
            </a:r>
          </a:p>
          <a:p>
            <a:pPr marL="742950" lvl="1" indent="-285750">
              <a:buFont typeface="Arial" panose="020B0604020202020204" pitchFamily="34" charset="0"/>
              <a:buChar char="•"/>
            </a:pPr>
            <a:r>
              <a:rPr lang="es-ES" sz="3200" i="1" dirty="0"/>
              <a:t>Descripción:</a:t>
            </a:r>
            <a:r>
              <a:rPr lang="es-ES" sz="3200" dirty="0"/>
              <a:t> Es el valor del flete (</a:t>
            </a:r>
            <a:r>
              <a:rPr lang="es-ES" sz="3200" dirty="0" err="1">
                <a:latin typeface="Courier New" panose="02070309020205020404" pitchFamily="49" charset="0"/>
              </a:rPr>
              <a:t>freight_value</a:t>
            </a:r>
            <a:r>
              <a:rPr lang="es-ES" sz="3200" dirty="0"/>
              <a:t>) y la fecha de entrega.</a:t>
            </a:r>
          </a:p>
          <a:p>
            <a:pPr marL="742950" lvl="1" indent="-285750">
              <a:buFont typeface="Arial" panose="020B0604020202020204" pitchFamily="34" charset="0"/>
              <a:buChar char="•"/>
            </a:pPr>
            <a:r>
              <a:rPr lang="es-ES" sz="3200" i="1" dirty="0"/>
              <a:t>Veredicto:</a:t>
            </a:r>
            <a:r>
              <a:rPr lang="es-ES" sz="3200" dirty="0"/>
              <a:t> </a:t>
            </a:r>
            <a:r>
              <a:rPr lang="es-ES" sz="3200" b="1" dirty="0"/>
              <a:t>NO</a:t>
            </a:r>
            <a:r>
              <a:rPr lang="es-ES" sz="3200" dirty="0"/>
              <a:t>. Son atributos que viven dentro de </a:t>
            </a:r>
            <a:r>
              <a:rPr lang="es-ES" sz="3200" dirty="0" err="1">
                <a:latin typeface="Courier New" panose="02070309020205020404" pitchFamily="49" charset="0"/>
              </a:rPr>
              <a:t>Order_Items</a:t>
            </a:r>
            <a:r>
              <a:rPr lang="es-ES" sz="3200" dirty="0"/>
              <a:t> (el costo) y </a:t>
            </a:r>
            <a:r>
              <a:rPr lang="es-ES" sz="3200" dirty="0" err="1">
                <a:latin typeface="Courier New" panose="02070309020205020404" pitchFamily="49" charset="0"/>
              </a:rPr>
              <a:t>Order</a:t>
            </a:r>
            <a:r>
              <a:rPr lang="es-ES" sz="3200" dirty="0"/>
              <a:t> (la fecha). Lo borramos de la lista de Entidades.</a:t>
            </a:r>
          </a:p>
        </p:txBody>
      </p:sp>
    </p:spTree>
    <p:extLst>
      <p:ext uri="{BB962C8B-B14F-4D97-AF65-F5344CB8AC3E}">
        <p14:creationId xmlns:p14="http://schemas.microsoft.com/office/powerpoint/2010/main" val="40660443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EC1C7-D829-80E7-5D22-86C96855EDA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554BBDC-7622-43AF-4897-DAD4FB1431E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5696803-0D2B-8C70-C573-B8B0D051D64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7C73E7B-32D2-A7E4-B4D5-C9C30213E87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3CB144C-9475-B6CF-1864-7ADA1752477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CFC564F-BE20-488E-55FB-964C9819262D}"/>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FAC936D-208E-ACE8-1056-546659C03EA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6A5878C-1562-F80A-F173-C5C0950D52F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A22C3D7-1BB5-AF5F-7BD3-179A2F0A4D3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11D0357-B859-ABED-091B-847DC913FDB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435ADF2-5683-0746-09BB-C0DC4F72F93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1F36984B-92A4-8E85-90AD-4F6CF9A225B1}"/>
              </a:ext>
            </a:extLst>
          </p:cNvPr>
          <p:cNvSpPr txBox="1"/>
          <p:nvPr/>
        </p:nvSpPr>
        <p:spPr>
          <a:xfrm>
            <a:off x="1256121" y="1172510"/>
            <a:ext cx="16150285" cy="7971413"/>
          </a:xfrm>
          <a:prstGeom prst="rect">
            <a:avLst/>
          </a:prstGeom>
          <a:noFill/>
        </p:spPr>
        <p:txBody>
          <a:bodyPr wrap="square">
            <a:spAutoFit/>
          </a:bodyPr>
          <a:lstStyle/>
          <a:p>
            <a:pPr>
              <a:buNone/>
            </a:pPr>
            <a:r>
              <a:rPr lang="es-ES" sz="3200" b="1" dirty="0"/>
              <a:t>El Resultado: Lista Maestra Limpia</a:t>
            </a:r>
          </a:p>
          <a:p>
            <a:pPr>
              <a:buNone/>
            </a:pPr>
            <a:endParaRPr lang="es-ES" sz="3200" b="1" dirty="0"/>
          </a:p>
          <a:p>
            <a:pPr>
              <a:buNone/>
            </a:pPr>
            <a:r>
              <a:rPr lang="es-ES" sz="3200" dirty="0"/>
              <a:t>Al terminar este paso intermedio, tenemos la materia prima pura para la Matriz de Relaciones (Paso 2).</a:t>
            </a:r>
          </a:p>
          <a:p>
            <a:pPr>
              <a:buNone/>
            </a:pPr>
            <a:endParaRPr lang="es-ES" sz="3200" dirty="0"/>
          </a:p>
          <a:p>
            <a:pPr>
              <a:buNone/>
            </a:pPr>
            <a:r>
              <a:rPr lang="es-ES" sz="3200" b="1" dirty="0"/>
              <a:t>Nuestra Lista Oficial para </a:t>
            </a:r>
            <a:r>
              <a:rPr lang="es-ES" sz="3200" b="1" dirty="0" err="1"/>
              <a:t>Olist</a:t>
            </a:r>
            <a:r>
              <a:rPr lang="es-ES" sz="3200" b="1" dirty="0"/>
              <a:t>:</a:t>
            </a:r>
            <a:endParaRPr lang="es-ES" sz="3200" dirty="0"/>
          </a:p>
          <a:p>
            <a:pPr>
              <a:buFont typeface="+mj-lt"/>
              <a:buAutoNum type="arabicPeriod"/>
            </a:pPr>
            <a:r>
              <a:rPr lang="es-ES" sz="3200" dirty="0" err="1">
                <a:latin typeface="Courier New" panose="02070309020205020404" pitchFamily="49" charset="0"/>
              </a:rPr>
              <a:t>Customer</a:t>
            </a:r>
            <a:endParaRPr lang="es-ES" sz="3200" dirty="0"/>
          </a:p>
          <a:p>
            <a:pPr>
              <a:buFont typeface="+mj-lt"/>
              <a:buAutoNum type="arabicPeriod"/>
            </a:pPr>
            <a:r>
              <a:rPr lang="es-ES" sz="3200" dirty="0" err="1">
                <a:latin typeface="Courier New" panose="02070309020205020404" pitchFamily="49" charset="0"/>
              </a:rPr>
              <a:t>Order</a:t>
            </a:r>
            <a:endParaRPr lang="es-ES" sz="3200" dirty="0"/>
          </a:p>
          <a:p>
            <a:pPr>
              <a:buFont typeface="+mj-lt"/>
              <a:buAutoNum type="arabicPeriod"/>
            </a:pPr>
            <a:r>
              <a:rPr lang="es-ES" sz="3200" dirty="0" err="1">
                <a:latin typeface="Courier New" panose="02070309020205020404" pitchFamily="49" charset="0"/>
              </a:rPr>
              <a:t>Order_Items</a:t>
            </a:r>
            <a:r>
              <a:rPr lang="es-ES" sz="3200" dirty="0"/>
              <a:t> (Entidad débil/hija)</a:t>
            </a:r>
          </a:p>
          <a:p>
            <a:pPr>
              <a:buFont typeface="+mj-lt"/>
              <a:buAutoNum type="arabicPeriod"/>
            </a:pPr>
            <a:r>
              <a:rPr lang="es-ES" sz="3200" dirty="0" err="1">
                <a:latin typeface="Courier New" panose="02070309020205020404" pitchFamily="49" charset="0"/>
              </a:rPr>
              <a:t>Product</a:t>
            </a:r>
            <a:endParaRPr lang="es-ES" sz="3200" dirty="0"/>
          </a:p>
          <a:p>
            <a:pPr>
              <a:buFont typeface="+mj-lt"/>
              <a:buAutoNum type="arabicPeriod"/>
            </a:pPr>
            <a:r>
              <a:rPr lang="es-ES" sz="3200" dirty="0" err="1">
                <a:latin typeface="Courier New" panose="02070309020205020404" pitchFamily="49" charset="0"/>
              </a:rPr>
              <a:t>Seller</a:t>
            </a:r>
            <a:endParaRPr lang="es-ES" sz="3200" dirty="0"/>
          </a:p>
          <a:p>
            <a:pPr>
              <a:buFont typeface="+mj-lt"/>
              <a:buAutoNum type="arabicPeriod"/>
            </a:pPr>
            <a:r>
              <a:rPr lang="es-ES" sz="3200" dirty="0" err="1">
                <a:latin typeface="Courier New" panose="02070309020205020404" pitchFamily="49" charset="0"/>
              </a:rPr>
              <a:t>Payments</a:t>
            </a:r>
            <a:endParaRPr lang="es-ES" sz="3200" dirty="0"/>
          </a:p>
          <a:p>
            <a:pPr>
              <a:buFont typeface="+mj-lt"/>
              <a:buAutoNum type="arabicPeriod"/>
            </a:pPr>
            <a:r>
              <a:rPr lang="es-ES" sz="3200" dirty="0" err="1">
                <a:latin typeface="Courier New" panose="02070309020205020404" pitchFamily="49" charset="0"/>
              </a:rPr>
              <a:t>Reviews</a:t>
            </a:r>
            <a:endParaRPr lang="es-ES" sz="3200" dirty="0">
              <a:latin typeface="Courier New" panose="02070309020205020404" pitchFamily="49" charset="0"/>
            </a:endParaRPr>
          </a:p>
          <a:p>
            <a:pPr>
              <a:buFont typeface="+mj-lt"/>
              <a:buAutoNum type="arabicPeriod"/>
            </a:pPr>
            <a:endParaRPr lang="es-ES" sz="3200" dirty="0"/>
          </a:p>
          <a:p>
            <a:pPr>
              <a:buNone/>
            </a:pPr>
            <a:r>
              <a:rPr lang="es-ES" sz="3200" i="1" dirty="0"/>
              <a:t>Ahora sí, con estos 7 actores definidos, podemos ir al Paso 2 y cruzarlos en la Matriz sin miedo a confundir "Envío" con "Pedido".</a:t>
            </a:r>
            <a:endParaRPr lang="es-ES" sz="3200" dirty="0"/>
          </a:p>
        </p:txBody>
      </p:sp>
    </p:spTree>
    <p:extLst>
      <p:ext uri="{BB962C8B-B14F-4D97-AF65-F5344CB8AC3E}">
        <p14:creationId xmlns:p14="http://schemas.microsoft.com/office/powerpoint/2010/main" val="28181109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A7B3B-F11C-EBBF-AD0F-B413B607CB6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9E2E43-0256-8489-FFB4-87929D223B2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21E456-11D2-D145-1F5C-70DA04F1862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71FAD34-C834-5A64-A5B6-3A269C31E3A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3694F8E-9604-A302-8ECB-7D665241DB9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8AF287B-BDB6-C09C-B271-A7D7B4AE49C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CB9A204-8684-3228-AC7D-148EBDA4545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F5630DC-4D92-6F93-E6ED-E268A22FF18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47ECBCB-CC9B-6A61-81A3-AD038D387AF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D39C829-40A9-EA3D-E6C1-C69651353D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CD1AB03-DD55-8050-F2E2-FC51F5D555E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5F73B961-CDEB-4453-98B5-F8ED5982DCCD}"/>
              </a:ext>
            </a:extLst>
          </p:cNvPr>
          <p:cNvGraphicFramePr>
            <a:graphicFrameLocks noGrp="1"/>
          </p:cNvGraphicFramePr>
          <p:nvPr>
            <p:extLst>
              <p:ext uri="{D42A27DB-BD31-4B8C-83A1-F6EECF244321}">
                <p14:modId xmlns:p14="http://schemas.microsoft.com/office/powerpoint/2010/main" val="4270924123"/>
              </p:ext>
            </p:extLst>
          </p:nvPr>
        </p:nvGraphicFramePr>
        <p:xfrm>
          <a:off x="1918354" y="4323054"/>
          <a:ext cx="14069507" cy="4673784"/>
        </p:xfrm>
        <a:graphic>
          <a:graphicData uri="http://schemas.openxmlformats.org/drawingml/2006/table">
            <a:tbl>
              <a:tblPr firstRow="1" firstCol="1">
                <a:tableStyleId>{5C22544A-7EE6-4342-B048-85BDC9FD1C3A}</a:tableStyleId>
              </a:tblPr>
              <a:tblGrid>
                <a:gridCol w="3025429">
                  <a:extLst>
                    <a:ext uri="{9D8B030D-6E8A-4147-A177-3AD203B41FA5}">
                      <a16:colId xmlns:a16="http://schemas.microsoft.com/office/drawing/2014/main" val="3900059387"/>
                    </a:ext>
                  </a:extLst>
                </a:gridCol>
                <a:gridCol w="5369143">
                  <a:extLst>
                    <a:ext uri="{9D8B030D-6E8A-4147-A177-3AD203B41FA5}">
                      <a16:colId xmlns:a16="http://schemas.microsoft.com/office/drawing/2014/main" val="670859805"/>
                    </a:ext>
                  </a:extLst>
                </a:gridCol>
                <a:gridCol w="5674935">
                  <a:extLst>
                    <a:ext uri="{9D8B030D-6E8A-4147-A177-3AD203B41FA5}">
                      <a16:colId xmlns:a16="http://schemas.microsoft.com/office/drawing/2014/main" val="1487586318"/>
                    </a:ext>
                  </a:extLst>
                </a:gridCol>
              </a:tblGrid>
              <a:tr h="728939">
                <a:tc>
                  <a:txBody>
                    <a:bodyPr/>
                    <a:lstStyle/>
                    <a:p>
                      <a:pPr>
                        <a:buNone/>
                      </a:pPr>
                      <a:r>
                        <a:rPr lang="es-CO" sz="1800"/>
                        <a:t>Entidad</a:t>
                      </a:r>
                    </a:p>
                  </a:txBody>
                  <a:tcPr anchor="ctr"/>
                </a:tc>
                <a:tc>
                  <a:txBody>
                    <a:bodyPr/>
                    <a:lstStyle/>
                    <a:p>
                      <a:pPr>
                        <a:buNone/>
                      </a:pPr>
                      <a:r>
                        <a:rPr lang="es-CO" sz="1800"/>
                        <a:t>Atributos Detectados (Columnas)</a:t>
                      </a:r>
                    </a:p>
                  </a:txBody>
                  <a:tcPr anchor="ctr"/>
                </a:tc>
                <a:tc>
                  <a:txBody>
                    <a:bodyPr/>
                    <a:lstStyle/>
                    <a:p>
                      <a:pPr>
                        <a:buNone/>
                      </a:pPr>
                      <a:r>
                        <a:rPr lang="es-CO" sz="1800"/>
                        <a:t>Regla de Negocio Asociada</a:t>
                      </a:r>
                    </a:p>
                  </a:txBody>
                  <a:tcPr anchor="ctr"/>
                </a:tc>
                <a:extLst>
                  <a:ext uri="{0D108BD9-81ED-4DB2-BD59-A6C34878D82A}">
                    <a16:rowId xmlns:a16="http://schemas.microsoft.com/office/drawing/2014/main" val="601937812"/>
                  </a:ext>
                </a:extLst>
              </a:tr>
              <a:tr h="728939">
                <a:tc>
                  <a:txBody>
                    <a:bodyPr/>
                    <a:lstStyle/>
                    <a:p>
                      <a:pPr>
                        <a:buNone/>
                      </a:pPr>
                      <a:r>
                        <a:rPr lang="es-CO" sz="1800" b="1" dirty="0" err="1"/>
                        <a:t>Customer</a:t>
                      </a:r>
                      <a:endParaRPr lang="es-CO" sz="1800" dirty="0"/>
                    </a:p>
                  </a:txBody>
                  <a:tcPr anchor="ctr"/>
                </a:tc>
                <a:tc>
                  <a:txBody>
                    <a:bodyPr/>
                    <a:lstStyle/>
                    <a:p>
                      <a:pPr>
                        <a:buNone/>
                      </a:pPr>
                      <a:r>
                        <a:rPr lang="es-ES" sz="1800"/>
                        <a:t>ID, Ciudad, Estado, Código Postal.</a:t>
                      </a:r>
                    </a:p>
                  </a:txBody>
                  <a:tcPr anchor="ctr"/>
                </a:tc>
                <a:tc>
                  <a:txBody>
                    <a:bodyPr/>
                    <a:lstStyle/>
                    <a:p>
                      <a:pPr>
                        <a:buNone/>
                      </a:pPr>
                      <a:r>
                        <a:rPr lang="es-ES" sz="1800"/>
                        <a:t>Un cliente tiene una ubicación fija para el envío.</a:t>
                      </a:r>
                    </a:p>
                  </a:txBody>
                  <a:tcPr anchor="ctr"/>
                </a:tc>
                <a:extLst>
                  <a:ext uri="{0D108BD9-81ED-4DB2-BD59-A6C34878D82A}">
                    <a16:rowId xmlns:a16="http://schemas.microsoft.com/office/drawing/2014/main" val="2329907203"/>
                  </a:ext>
                </a:extLst>
              </a:tr>
              <a:tr h="728939">
                <a:tc>
                  <a:txBody>
                    <a:bodyPr/>
                    <a:lstStyle/>
                    <a:p>
                      <a:pPr>
                        <a:buNone/>
                      </a:pPr>
                      <a:r>
                        <a:rPr lang="es-CO" sz="1800" b="1"/>
                        <a:t>Product</a:t>
                      </a:r>
                      <a:endParaRPr lang="es-CO" sz="1800"/>
                    </a:p>
                  </a:txBody>
                  <a:tcPr anchor="ctr"/>
                </a:tc>
                <a:tc>
                  <a:txBody>
                    <a:bodyPr/>
                    <a:lstStyle/>
                    <a:p>
                      <a:pPr>
                        <a:buNone/>
                      </a:pPr>
                      <a:r>
                        <a:rPr lang="es-CO" sz="1800"/>
                        <a:t>ID, Categoría, Peso, Fotos, Dimensiones.</a:t>
                      </a:r>
                    </a:p>
                  </a:txBody>
                  <a:tcPr anchor="ctr"/>
                </a:tc>
                <a:tc>
                  <a:txBody>
                    <a:bodyPr/>
                    <a:lstStyle/>
                    <a:p>
                      <a:pPr>
                        <a:buNone/>
                      </a:pPr>
                      <a:r>
                        <a:rPr lang="es-ES" sz="1800"/>
                        <a:t>Necesitamos dimensiones para calcular el envío.</a:t>
                      </a:r>
                    </a:p>
                  </a:txBody>
                  <a:tcPr anchor="ctr"/>
                </a:tc>
                <a:extLst>
                  <a:ext uri="{0D108BD9-81ED-4DB2-BD59-A6C34878D82A}">
                    <a16:rowId xmlns:a16="http://schemas.microsoft.com/office/drawing/2014/main" val="2423443725"/>
                  </a:ext>
                </a:extLst>
              </a:tr>
              <a:tr h="1029089">
                <a:tc>
                  <a:txBody>
                    <a:bodyPr/>
                    <a:lstStyle/>
                    <a:p>
                      <a:pPr>
                        <a:buNone/>
                      </a:pPr>
                      <a:r>
                        <a:rPr lang="es-CO" sz="1800" b="1"/>
                        <a:t>Order</a:t>
                      </a:r>
                      <a:endParaRPr lang="es-CO" sz="1800"/>
                    </a:p>
                  </a:txBody>
                  <a:tcPr anchor="ctr"/>
                </a:tc>
                <a:tc>
                  <a:txBody>
                    <a:bodyPr/>
                    <a:lstStyle/>
                    <a:p>
                      <a:pPr>
                        <a:buNone/>
                      </a:pPr>
                      <a:r>
                        <a:rPr lang="es-CO" sz="1800"/>
                        <a:t>ID, Estado (status), Timestamps (Compra, Aprobado, Entregado).</a:t>
                      </a:r>
                    </a:p>
                  </a:txBody>
                  <a:tcPr anchor="ctr"/>
                </a:tc>
                <a:tc>
                  <a:txBody>
                    <a:bodyPr/>
                    <a:lstStyle/>
                    <a:p>
                      <a:pPr>
                        <a:buNone/>
                      </a:pPr>
                      <a:r>
                        <a:rPr lang="es-ES" sz="1800" dirty="0"/>
                        <a:t>Un pedido tiene un ciclo de vida con múltiples fechas.</a:t>
                      </a:r>
                    </a:p>
                  </a:txBody>
                  <a:tcPr anchor="ctr"/>
                </a:tc>
                <a:extLst>
                  <a:ext uri="{0D108BD9-81ED-4DB2-BD59-A6C34878D82A}">
                    <a16:rowId xmlns:a16="http://schemas.microsoft.com/office/drawing/2014/main" val="2673539326"/>
                  </a:ext>
                </a:extLst>
              </a:tr>
              <a:tr h="728939">
                <a:tc>
                  <a:txBody>
                    <a:bodyPr/>
                    <a:lstStyle/>
                    <a:p>
                      <a:pPr>
                        <a:buNone/>
                      </a:pPr>
                      <a:r>
                        <a:rPr lang="es-CO" sz="1800" b="1"/>
                        <a:t>Payment</a:t>
                      </a:r>
                      <a:endParaRPr lang="es-CO" sz="1800"/>
                    </a:p>
                  </a:txBody>
                  <a:tcPr anchor="ctr"/>
                </a:tc>
                <a:tc>
                  <a:txBody>
                    <a:bodyPr/>
                    <a:lstStyle/>
                    <a:p>
                      <a:pPr>
                        <a:buNone/>
                      </a:pPr>
                      <a:r>
                        <a:rPr lang="es-ES" sz="1800"/>
                        <a:t>Tipo (Tarjeta/Boleto), Cuotas (Installments), Valor.</a:t>
                      </a:r>
                    </a:p>
                  </a:txBody>
                  <a:tcPr anchor="ctr"/>
                </a:tc>
                <a:tc>
                  <a:txBody>
                    <a:bodyPr/>
                    <a:lstStyle/>
                    <a:p>
                      <a:pPr>
                        <a:buNone/>
                      </a:pPr>
                      <a:r>
                        <a:rPr lang="es-ES" sz="1800" dirty="0"/>
                        <a:t>Un pedido puede tener varios pagos parciales.</a:t>
                      </a:r>
                    </a:p>
                  </a:txBody>
                  <a:tcPr anchor="ctr"/>
                </a:tc>
                <a:extLst>
                  <a:ext uri="{0D108BD9-81ED-4DB2-BD59-A6C34878D82A}">
                    <a16:rowId xmlns:a16="http://schemas.microsoft.com/office/drawing/2014/main" val="270311082"/>
                  </a:ext>
                </a:extLst>
              </a:tr>
              <a:tr h="728939">
                <a:tc>
                  <a:txBody>
                    <a:bodyPr/>
                    <a:lstStyle/>
                    <a:p>
                      <a:pPr>
                        <a:buNone/>
                      </a:pPr>
                      <a:r>
                        <a:rPr lang="es-CO" sz="1800" b="1"/>
                        <a:t>Review</a:t>
                      </a:r>
                      <a:endParaRPr lang="es-CO" sz="1800"/>
                    </a:p>
                  </a:txBody>
                  <a:tcPr anchor="ctr"/>
                </a:tc>
                <a:tc>
                  <a:txBody>
                    <a:bodyPr/>
                    <a:lstStyle/>
                    <a:p>
                      <a:pPr>
                        <a:buNone/>
                      </a:pPr>
                      <a:r>
                        <a:rPr lang="es-CO" sz="1800"/>
                        <a:t>Score (1-5), Título, Mensaje.</a:t>
                      </a:r>
                    </a:p>
                  </a:txBody>
                  <a:tcPr anchor="ctr"/>
                </a:tc>
                <a:tc>
                  <a:txBody>
                    <a:bodyPr/>
                    <a:lstStyle/>
                    <a:p>
                      <a:pPr>
                        <a:buNone/>
                      </a:pPr>
                      <a:r>
                        <a:rPr lang="es-ES" sz="1800" dirty="0"/>
                        <a:t>La reseña se vincula a la orden, no al cliente directamente.</a:t>
                      </a:r>
                    </a:p>
                  </a:txBody>
                  <a:tcPr anchor="ctr"/>
                </a:tc>
                <a:extLst>
                  <a:ext uri="{0D108BD9-81ED-4DB2-BD59-A6C34878D82A}">
                    <a16:rowId xmlns:a16="http://schemas.microsoft.com/office/drawing/2014/main" val="130659494"/>
                  </a:ext>
                </a:extLst>
              </a:tr>
            </a:tbl>
          </a:graphicData>
        </a:graphic>
      </p:graphicFrame>
      <p:sp>
        <p:nvSpPr>
          <p:cNvPr id="13" name="Rectangle 1">
            <a:extLst>
              <a:ext uri="{FF2B5EF4-FFF2-40B4-BE49-F238E27FC236}">
                <a16:creationId xmlns:a16="http://schemas.microsoft.com/office/drawing/2014/main" id="{13FDA7A9-D887-D27F-2F37-9A4ADC1181D9}"/>
              </a:ext>
            </a:extLst>
          </p:cNvPr>
          <p:cNvSpPr>
            <a:spLocks noChangeArrowheads="1"/>
          </p:cNvSpPr>
          <p:nvPr/>
        </p:nvSpPr>
        <p:spPr bwMode="auto">
          <a:xfrm>
            <a:off x="1918354" y="950800"/>
            <a:ext cx="13041984" cy="24314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600" b="1" i="0" u="none" strike="noStrike" cap="none" normalizeH="0" baseline="0" dirty="0">
                <a:ln>
                  <a:noFill/>
                </a:ln>
                <a:solidFill>
                  <a:schemeClr val="tx1"/>
                </a:solidFill>
                <a:effectLst/>
                <a:latin typeface="Arial" panose="020B0604020202020204" pitchFamily="34" charset="0"/>
              </a:rPr>
              <a:t>Asignación de Atributos y Reglas de Negocio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Arial" panose="020B0604020202020204" pitchFamily="34" charset="0"/>
              </a:rPr>
              <a:t>Transformando "Detalles" en Columnas</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Arial" panose="020B0604020202020204" pitchFamily="34" charset="0"/>
              </a:rPr>
              <a:t>Una vez tenemos las entidades, asignamos los datos basándonos en los archivos reales del sistema</a:t>
            </a:r>
            <a:r>
              <a:rPr kumimoji="0" lang="es-CO" altLang="es-CO" sz="1100" b="0" i="0" u="none" strike="noStrike" cap="none" normalizeH="0" baseline="0" dirty="0">
                <a:ln>
                  <a:noFill/>
                </a:ln>
                <a:solidFill>
                  <a:schemeClr val="tx1"/>
                </a:solidFill>
                <a:effectLst/>
                <a:latin typeface="Arial" panose="020B0604020202020204" pitchFamily="34" charset="0"/>
              </a:rPr>
              <a:t>.</a:t>
            </a:r>
            <a:endParaRPr kumimoji="0" lang="es-CO" altLang="es-CO"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086926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28F6F-BCC2-8FE1-5484-56E5F20B14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00C009A-623D-16E6-4D6E-6CCC38ED8FD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1A6E73E-73D9-5C1F-2A4C-341BF432BB0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EF687BC-313C-3214-B8B7-D90DEC5BD27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5F2E033-5E4B-E758-18AB-305B0FEDC39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CF1FF5F-654C-6316-416A-499E18617C2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D1CA0C4-8D0A-1275-19F9-B3BCF9FE9BB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A8123E9-187E-B970-E153-00ABDF4B024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E692C26-C2C7-281D-B63A-83EA3E0E374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B1B748C-E7A0-5312-A4B3-F663EBB0223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15EDE26-99C8-A075-E96A-0D62134FC1B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A78F5CC2-859B-202E-A8C9-EA0888B63F10}"/>
              </a:ext>
            </a:extLst>
          </p:cNvPr>
          <p:cNvSpPr txBox="1"/>
          <p:nvPr/>
        </p:nvSpPr>
        <p:spPr>
          <a:xfrm>
            <a:off x="1564849" y="1649690"/>
            <a:ext cx="4799712" cy="769441"/>
          </a:xfrm>
          <a:prstGeom prst="rect">
            <a:avLst/>
          </a:prstGeom>
          <a:noFill/>
        </p:spPr>
        <p:txBody>
          <a:bodyPr wrap="none" rtlCol="0">
            <a:spAutoFit/>
          </a:bodyPr>
          <a:lstStyle/>
          <a:p>
            <a:r>
              <a:rPr lang="es-CO" sz="4400" dirty="0"/>
              <a:t>Caso de Estudio 1</a:t>
            </a:r>
          </a:p>
        </p:txBody>
      </p:sp>
      <p:sp>
        <p:nvSpPr>
          <p:cNvPr id="15" name="CuadroTexto 14">
            <a:extLst>
              <a:ext uri="{FF2B5EF4-FFF2-40B4-BE49-F238E27FC236}">
                <a16:creationId xmlns:a16="http://schemas.microsoft.com/office/drawing/2014/main" id="{B1D6B251-A352-D73A-D4D5-1628D304C84A}"/>
              </a:ext>
            </a:extLst>
          </p:cNvPr>
          <p:cNvSpPr txBox="1"/>
          <p:nvPr/>
        </p:nvSpPr>
        <p:spPr>
          <a:xfrm>
            <a:off x="2309567" y="3662686"/>
            <a:ext cx="14027084" cy="3539430"/>
          </a:xfrm>
          <a:prstGeom prst="rect">
            <a:avLst/>
          </a:prstGeom>
          <a:noFill/>
        </p:spPr>
        <p:txBody>
          <a:bodyPr wrap="square">
            <a:spAutoFit/>
          </a:bodyPr>
          <a:lstStyle/>
          <a:p>
            <a:pPr algn="just">
              <a:buNone/>
            </a:pPr>
            <a:r>
              <a:rPr lang="es-ES" sz="2800" dirty="0"/>
              <a:t>Una pequeña firma de contabilidad quiere una aplicación sencilla de recursos humanos que le ayude a llevar el registro de sus empleados, sus cargos, las asignaciones (o prestaciones), las escalas salariales y qué vehículos de la empresa conducen sus empleados.</a:t>
            </a:r>
          </a:p>
          <a:p>
            <a:pPr algn="just">
              <a:buNone/>
            </a:pPr>
            <a:endParaRPr lang="es-ES" sz="2800" dirty="0"/>
          </a:p>
          <a:p>
            <a:pPr algn="just">
              <a:buNone/>
            </a:pPr>
            <a:r>
              <a:rPr lang="es-ES" sz="2800" dirty="0"/>
              <a:t>La aplicación debe llevar el registro de todos los cargos de la firma, de los empleados que ocupan esos cargos, de las asignaciones asociadas a esos cargos, de las escalas salariales de esos cargos y de los vehículos de la empresa asignados a dichos cargos.</a:t>
            </a:r>
          </a:p>
        </p:txBody>
      </p:sp>
    </p:spTree>
    <p:extLst>
      <p:ext uri="{BB962C8B-B14F-4D97-AF65-F5344CB8AC3E}">
        <p14:creationId xmlns:p14="http://schemas.microsoft.com/office/powerpoint/2010/main" val="37620439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1E933-3D12-9D29-59C6-4DE9E0887DE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5F74110-6578-FCC0-AA32-7F8DF263CCE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29B12AA-2E3D-4FA9-CD81-8A0AE17011A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03AEC14-B48A-812B-2C8A-994AF65BEC2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47FA695-37C5-CB0E-BD20-3009E5BF8E8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96B1ACB-CDC3-E3D5-6708-FD2ABA16124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8B7DE28-0E23-F232-C76A-114D1410660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FF03851-2887-5C40-A1F3-EC6A79F3803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3F0844E-93CF-DB07-9045-BF49548091E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C2E35F5-06DE-F0DF-FC6F-37DB5C64799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B0C7911-20F9-B27D-B6D7-73484A51472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CE625097-D338-6433-4F2A-A1F627F5C848}"/>
              </a:ext>
            </a:extLst>
          </p:cNvPr>
          <p:cNvSpPr txBox="1"/>
          <p:nvPr/>
        </p:nvSpPr>
        <p:spPr>
          <a:xfrm>
            <a:off x="1536569" y="879379"/>
            <a:ext cx="4799712" cy="769441"/>
          </a:xfrm>
          <a:prstGeom prst="rect">
            <a:avLst/>
          </a:prstGeom>
          <a:noFill/>
        </p:spPr>
        <p:txBody>
          <a:bodyPr wrap="none" rtlCol="0">
            <a:spAutoFit/>
          </a:bodyPr>
          <a:lstStyle/>
          <a:p>
            <a:r>
              <a:rPr lang="es-CO" sz="4400" dirty="0"/>
              <a:t>Caso de Estudio 2</a:t>
            </a:r>
          </a:p>
        </p:txBody>
      </p:sp>
      <p:sp>
        <p:nvSpPr>
          <p:cNvPr id="15" name="CuadroTexto 14">
            <a:extLst>
              <a:ext uri="{FF2B5EF4-FFF2-40B4-BE49-F238E27FC236}">
                <a16:creationId xmlns:a16="http://schemas.microsoft.com/office/drawing/2014/main" id="{7C1BC633-8506-C369-3CB5-0D355CC9491C}"/>
              </a:ext>
            </a:extLst>
          </p:cNvPr>
          <p:cNvSpPr txBox="1"/>
          <p:nvPr/>
        </p:nvSpPr>
        <p:spPr>
          <a:xfrm>
            <a:off x="2130458" y="2437201"/>
            <a:ext cx="14027084" cy="6555641"/>
          </a:xfrm>
          <a:prstGeom prst="rect">
            <a:avLst/>
          </a:prstGeom>
          <a:noFill/>
        </p:spPr>
        <p:txBody>
          <a:bodyPr wrap="square">
            <a:spAutoFit/>
          </a:bodyPr>
          <a:lstStyle/>
          <a:p>
            <a:r>
              <a:rPr lang="es-ES" sz="2800" dirty="0"/>
              <a:t>Los dueños de un pequeño taller de reparación de computadores quieren llevar un registro de los trabajos de reparación de los equipos que arreglan, de los elementos usados en cada trabajo de reparación, de los costos de mano de obra de cada trabajo, de los técnicos que realizan cada reparación y del costo total de cada trabajo de reparación.</a:t>
            </a:r>
          </a:p>
          <a:p>
            <a:endParaRPr lang="es-ES" sz="2800" dirty="0"/>
          </a:p>
          <a:p>
            <a:r>
              <a:rPr lang="es-ES" sz="2800" dirty="0"/>
              <a:t>Cuando los clientes llevan sus computadores para ser reparados, hacen un depósito por el trabajo de reparación y se les da una fecha para regresar y retirar su computador. Luego los técnicos realizan las reparaciones en los computadores de los clientes según el trabajo de reparación, y detallan los costos de mano de obra y los elementos usados en cada trabajo.</a:t>
            </a:r>
          </a:p>
          <a:p>
            <a:endParaRPr lang="es-ES" sz="2800" dirty="0"/>
          </a:p>
          <a:p>
            <a:r>
              <a:rPr lang="es-ES" sz="2800" dirty="0"/>
              <a:t>Cuando los clientes regresan, pagan el costo total del trabajo de reparación menos el depósito, reciben un comprobante de pago y retiran el computador reparado usando ese comprobante.</a:t>
            </a:r>
          </a:p>
        </p:txBody>
      </p:sp>
    </p:spTree>
    <p:extLst>
      <p:ext uri="{BB962C8B-B14F-4D97-AF65-F5344CB8AC3E}">
        <p14:creationId xmlns:p14="http://schemas.microsoft.com/office/powerpoint/2010/main" val="2015857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D645-8069-B932-FF37-566BD0DCFF4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7E42C9-385A-DF8E-DD21-CF7C0FA3074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B44B9C-E7DE-B47A-D58E-857AA9E426B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B6DFCC0-EA5E-B3A7-7CE2-E76CEFB310F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6B8783F2-9E36-8722-3B83-79BDC3F7D32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FC1B5A6-02A9-85FC-9ABF-83D6E6BBB34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FBA0680-B2D8-7DBB-C767-7E965E2A8D1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F4157A5-02C5-65E8-E31D-E94BBB1F1BB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74CC27E-7EB1-F0FF-9294-CE2BA2F04C4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74474A2-E172-1570-3B89-975F1B6554D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0AEC783-8901-3B48-3751-F7F30D2DFE9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BF0AB51A-C957-D2CE-F08C-F64543594871}"/>
              </a:ext>
            </a:extLst>
          </p:cNvPr>
          <p:cNvSpPr txBox="1"/>
          <p:nvPr/>
        </p:nvSpPr>
        <p:spPr>
          <a:xfrm>
            <a:off x="1574276" y="930448"/>
            <a:ext cx="4799712" cy="769441"/>
          </a:xfrm>
          <a:prstGeom prst="rect">
            <a:avLst/>
          </a:prstGeom>
          <a:noFill/>
        </p:spPr>
        <p:txBody>
          <a:bodyPr wrap="none" rtlCol="0">
            <a:spAutoFit/>
          </a:bodyPr>
          <a:lstStyle/>
          <a:p>
            <a:r>
              <a:rPr lang="es-CO" sz="4400" dirty="0"/>
              <a:t>Caso de Estudio 3</a:t>
            </a:r>
          </a:p>
        </p:txBody>
      </p:sp>
      <p:sp>
        <p:nvSpPr>
          <p:cNvPr id="15" name="CuadroTexto 14">
            <a:extLst>
              <a:ext uri="{FF2B5EF4-FFF2-40B4-BE49-F238E27FC236}">
                <a16:creationId xmlns:a16="http://schemas.microsoft.com/office/drawing/2014/main" id="{9BD5C6D8-0A56-1C21-3FA0-9E18997C2577}"/>
              </a:ext>
            </a:extLst>
          </p:cNvPr>
          <p:cNvSpPr txBox="1"/>
          <p:nvPr/>
        </p:nvSpPr>
        <p:spPr>
          <a:xfrm>
            <a:off x="1847654" y="2917968"/>
            <a:ext cx="14027084" cy="5693866"/>
          </a:xfrm>
          <a:prstGeom prst="rect">
            <a:avLst/>
          </a:prstGeom>
          <a:noFill/>
        </p:spPr>
        <p:txBody>
          <a:bodyPr wrap="square">
            <a:spAutoFit/>
          </a:bodyPr>
          <a:lstStyle/>
          <a:p>
            <a:r>
              <a:rPr lang="es-ES" sz="2800" dirty="0"/>
              <a:t>El secretario académico de un pequeño colegio/universidad quiere una aplicación que ayude a su departamento a llevar el registro de las clases programadas, los cursos y docentes que aparecen en el horario, y los estudiantes que se inscriben en los cursos de acuerdo con dicho horario.</a:t>
            </a:r>
          </a:p>
          <a:p>
            <a:endParaRPr lang="es-ES" sz="2800" dirty="0"/>
          </a:p>
          <a:p>
            <a:r>
              <a:rPr lang="es-ES" sz="2800" dirty="0"/>
              <a:t>Los cursos se programan cada semestre y esto se documenta en el horario de clases, que también registra los docentes asignados a cada clase programada. Los estudiantes se inscriben en los cursos según la lista de clases programadas.</a:t>
            </a:r>
          </a:p>
          <a:p>
            <a:endParaRPr lang="es-ES" sz="2800" dirty="0"/>
          </a:p>
          <a:p>
            <a:r>
              <a:rPr lang="es-ES" sz="2800" dirty="0"/>
              <a:t>Los usuarios (estudiantes, docentes y demás personal del colegio) deben iniciar sesión en la aplicación para poder acceder, y la aplicación debe llevar un registro de los inicios y cierres de sesión de los usuarios. Además, los usuarios deben tener diferentes niveles de acceso, lo que determinará a qué partes de la aplicación pueden acceder.</a:t>
            </a:r>
          </a:p>
        </p:txBody>
      </p:sp>
    </p:spTree>
    <p:extLst>
      <p:ext uri="{BB962C8B-B14F-4D97-AF65-F5344CB8AC3E}">
        <p14:creationId xmlns:p14="http://schemas.microsoft.com/office/powerpoint/2010/main" val="1433263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57EA-AB2A-D230-8269-26A12105E4DB}"/>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763BEABA-6A1E-0588-6E8E-B829C74E8AAA}"/>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74725FA9-DB41-09A5-DF03-37153937910A}"/>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912FEF42-0636-3E17-8A6D-0E140C7E4274}"/>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70C63301-6F78-06FB-FAD1-BFAE730F4912}"/>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52FFCCEB-96B9-EDFB-AFD6-2797FA7C98E5}"/>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62AE8F99-2121-ACCC-DE87-9D8E38E2B656}"/>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137C37D5-46E2-C18B-B79F-62EFE65E0F7C}"/>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927D3582-B0C4-6E41-AA2D-FD73D127DDD6}"/>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D7A6C202-C67A-41DC-7499-D28D188D03E6}"/>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D0807688-3D2E-8BBD-9C7C-BB692B82F405}"/>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EDE14CBD-71F3-CE58-1900-5B5A694C35F2}"/>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53F83F89-F8AE-E23F-84E0-1F8B85266321}"/>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B5508332-E396-C457-41BD-15EA1B9FF668}"/>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DD42C7D6-C634-986E-F8A7-A484451609BF}"/>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59870950-ABBE-D8A5-2B21-D00D299B06CB}"/>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BFD7014C-AF4D-9A3F-E1E4-F6B10D57103A}"/>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26C0743B-319B-BDC5-A2EC-A281764244F5}"/>
                </a:ext>
              </a:extLst>
            </p:cNvPr>
            <p:cNvSpPr txBox="1"/>
            <p:nvPr/>
          </p:nvSpPr>
          <p:spPr>
            <a:xfrm>
              <a:off x="355297" y="1180058"/>
              <a:ext cx="7868385" cy="4243802"/>
            </a:xfrm>
            <a:prstGeom prst="rect">
              <a:avLst/>
            </a:prstGeom>
          </p:spPr>
          <p:txBody>
            <a:bodyPr lIns="0" tIns="0" rIns="0" bIns="0" rtlCol="0" anchor="t">
              <a:spAutoFit/>
            </a:bodyPr>
            <a:lstStyle/>
            <a:p>
              <a:r>
                <a:rPr lang="es-CO" sz="2400" dirty="0"/>
                <a:t>Paso 1: Descubrir entidades y asignar atributos</a:t>
              </a:r>
            </a:p>
            <a:p>
              <a:pPr marL="285750" indent="-285750">
                <a:buFont typeface="Arial" panose="020B0604020202020204" pitchFamily="34" charset="0"/>
                <a:buChar char="•"/>
              </a:pPr>
              <a:r>
                <a:rPr lang="es-CO" sz="2400" dirty="0"/>
                <a:t>Paso 1-1: Descubrir las entidades</a:t>
              </a:r>
            </a:p>
            <a:p>
              <a:pPr marL="285750" indent="-285750">
                <a:buFont typeface="Arial" panose="020B0604020202020204" pitchFamily="34" charset="0"/>
                <a:buChar char="•"/>
              </a:pPr>
              <a:r>
                <a:rPr lang="es-CO" sz="2400" dirty="0"/>
                <a:t>Paso 1-2: Asignar atributos a cada entidad descubierta</a:t>
              </a:r>
            </a:p>
            <a:p>
              <a:pPr marL="285750" indent="-285750">
                <a:buFont typeface="Arial" panose="020B0604020202020204" pitchFamily="34" charset="0"/>
                <a:buChar char="•"/>
              </a:pPr>
              <a:r>
                <a:rPr lang="es-CO" sz="2400" dirty="0"/>
                <a:t>Paso 1-3: Seleccionar identificadores, claves y claves primarias de los atributos de cada entidad</a:t>
              </a:r>
            </a:p>
          </p:txBody>
        </p:sp>
      </p:grpSp>
    </p:spTree>
    <p:extLst>
      <p:ext uri="{BB962C8B-B14F-4D97-AF65-F5344CB8AC3E}">
        <p14:creationId xmlns:p14="http://schemas.microsoft.com/office/powerpoint/2010/main" val="29381318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3078C-DE50-D0CD-BB5B-7D0C782D486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421F0FF-BC02-6C7D-417C-93F829C68C3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3E8C6B8-99D7-2914-1B54-47270AABED1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1798C99D-DC3C-2C2C-D7C0-D411B64D3AA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5752F03-1DC8-9788-90E0-A629A010971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C881F6F-9A75-4C66-259B-FBD8311FA6A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E050FCC-B448-7F3A-6317-5BF9435C269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7C49959-779D-C0B3-FEC3-1440DBB05A3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F561E8B-A3AA-3AB0-7D17-7868C7026E30}"/>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157891A-63A7-6538-6948-848C08150AE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CA87E2B-2F7D-A323-17CF-1C8DCA03267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C3A8311-AB44-2130-8433-D38B520D0B70}"/>
              </a:ext>
            </a:extLst>
          </p:cNvPr>
          <p:cNvSpPr txBox="1"/>
          <p:nvPr/>
        </p:nvSpPr>
        <p:spPr>
          <a:xfrm>
            <a:off x="2123388" y="968983"/>
            <a:ext cx="13828522" cy="7478970"/>
          </a:xfrm>
          <a:prstGeom prst="rect">
            <a:avLst/>
          </a:prstGeom>
          <a:noFill/>
        </p:spPr>
        <p:txBody>
          <a:bodyPr wrap="square">
            <a:spAutoFit/>
          </a:bodyPr>
          <a:lstStyle/>
          <a:p>
            <a:pPr>
              <a:buNone/>
            </a:pPr>
            <a:r>
              <a:rPr lang="es-ES" sz="3200" b="1" dirty="0"/>
              <a:t>El Concepto de "Identificador Único" (</a:t>
            </a:r>
            <a:r>
              <a:rPr lang="es-ES" sz="3200" b="1" dirty="0" err="1"/>
              <a:t>Primary</a:t>
            </a:r>
            <a:r>
              <a:rPr lang="es-ES" sz="3200" b="1" dirty="0"/>
              <a:t> Key)</a:t>
            </a:r>
          </a:p>
          <a:p>
            <a:pPr>
              <a:buNone/>
            </a:pPr>
            <a:endParaRPr lang="es-ES" sz="3200" b="1" dirty="0"/>
          </a:p>
          <a:p>
            <a:pPr>
              <a:buNone/>
            </a:pPr>
            <a:r>
              <a:rPr lang="es-ES" sz="3200" b="1" dirty="0"/>
              <a:t>La Regla de Oro de la Identidad</a:t>
            </a:r>
          </a:p>
          <a:p>
            <a:pPr>
              <a:buNone/>
            </a:pPr>
            <a:r>
              <a:rPr lang="es-ES" sz="3200" dirty="0"/>
              <a:t>Para que una base de datos sea relacional, cada fila debe ser única e inconfundible.</a:t>
            </a:r>
          </a:p>
          <a:p>
            <a:pPr>
              <a:buNone/>
            </a:pPr>
            <a:endParaRPr lang="es-ES" sz="3200" dirty="0"/>
          </a:p>
          <a:p>
            <a:pPr>
              <a:buFont typeface="Arial" panose="020B0604020202020204" pitchFamily="34" charset="0"/>
              <a:buChar char="•"/>
            </a:pPr>
            <a:r>
              <a:rPr lang="es-ES" sz="3200" b="1" dirty="0"/>
              <a:t>El Problema:</a:t>
            </a:r>
            <a:r>
              <a:rPr lang="es-ES" sz="3200" dirty="0"/>
              <a:t> Los nombres se repiten, las fechas se repiten.</a:t>
            </a:r>
          </a:p>
          <a:p>
            <a:pPr>
              <a:buFont typeface="Arial" panose="020B0604020202020204" pitchFamily="34" charset="0"/>
              <a:buChar char="•"/>
            </a:pPr>
            <a:r>
              <a:rPr lang="es-ES" sz="3200" b="1" dirty="0"/>
              <a:t>La Solución Técnica:</a:t>
            </a:r>
            <a:r>
              <a:rPr lang="es-ES" sz="3200" dirty="0"/>
              <a:t> Crear un atributo artificial (ID).</a:t>
            </a:r>
          </a:p>
          <a:p>
            <a:pPr>
              <a:buFont typeface="Arial" panose="020B0604020202020204" pitchFamily="34" charset="0"/>
              <a:buChar char="•"/>
            </a:pPr>
            <a:endParaRPr lang="es-ES" sz="3200" dirty="0"/>
          </a:p>
          <a:p>
            <a:pPr>
              <a:buFont typeface="Arial" panose="020B0604020202020204" pitchFamily="34" charset="0"/>
              <a:buChar char="•"/>
            </a:pPr>
            <a:r>
              <a:rPr lang="es-ES" sz="3200" b="1" dirty="0"/>
              <a:t>Caso de Estudio </a:t>
            </a:r>
            <a:r>
              <a:rPr lang="es-ES" sz="3200" b="1" dirty="0" err="1"/>
              <a:t>Olist</a:t>
            </a:r>
            <a:r>
              <a:rPr lang="es-ES" sz="3200" b="1" dirty="0"/>
              <a:t>:</a:t>
            </a:r>
            <a:endParaRPr lang="es-ES" sz="3200" dirty="0"/>
          </a:p>
          <a:p>
            <a:pPr marL="742950" lvl="1" indent="-285750">
              <a:buFont typeface="Arial" panose="020B0604020202020204" pitchFamily="34" charset="0"/>
              <a:buChar char="•"/>
            </a:pPr>
            <a:r>
              <a:rPr lang="es-ES" sz="3200" dirty="0"/>
              <a:t>Observamos el uso de </a:t>
            </a:r>
            <a:r>
              <a:rPr lang="es-ES" sz="3200" b="1" dirty="0" err="1"/>
              <a:t>UUIDs</a:t>
            </a:r>
            <a:r>
              <a:rPr lang="es-ES" sz="3200" dirty="0"/>
              <a:t> (</a:t>
            </a:r>
            <a:r>
              <a:rPr lang="es-ES" sz="3200" dirty="0" err="1"/>
              <a:t>Ej</a:t>
            </a:r>
            <a:r>
              <a:rPr lang="es-ES" sz="3200" dirty="0"/>
              <a:t>: </a:t>
            </a:r>
            <a:r>
              <a:rPr lang="es-ES" sz="3200" dirty="0">
                <a:latin typeface="Courier New" panose="02070309020205020404" pitchFamily="49" charset="0"/>
              </a:rPr>
              <a:t>e481f5...</a:t>
            </a:r>
            <a:r>
              <a:rPr lang="es-ES" sz="3200" dirty="0"/>
              <a:t>) en lugar de </a:t>
            </a:r>
            <a:r>
              <a:rPr lang="es-ES" sz="3200" dirty="0" err="1"/>
              <a:t>IDs</a:t>
            </a:r>
            <a:r>
              <a:rPr lang="es-ES" sz="3200" dirty="0"/>
              <a:t> numéricos (</a:t>
            </a:r>
            <a:r>
              <a:rPr lang="es-ES" sz="3200" dirty="0">
                <a:latin typeface="Courier New" panose="02070309020205020404" pitchFamily="49" charset="0"/>
              </a:rPr>
              <a:t>1, 2, 3</a:t>
            </a:r>
            <a:r>
              <a:rPr lang="es-ES" sz="3200" dirty="0"/>
              <a:t>).</a:t>
            </a:r>
          </a:p>
          <a:p>
            <a:pPr marL="742950" lvl="1" indent="-285750">
              <a:buFont typeface="Arial" panose="020B0604020202020204" pitchFamily="34" charset="0"/>
              <a:buChar char="•"/>
            </a:pPr>
            <a:r>
              <a:rPr lang="es-ES" sz="3200" i="1" dirty="0"/>
              <a:t>Análisis:</a:t>
            </a:r>
            <a:r>
              <a:rPr lang="es-ES" sz="3200" dirty="0"/>
              <a:t> Esto sugiere un sistema distribuido donde múltiples servidores generan pedidos simultáneamente y no pueden esperar a un contador centralizado.</a:t>
            </a:r>
          </a:p>
        </p:txBody>
      </p:sp>
    </p:spTree>
    <p:extLst>
      <p:ext uri="{BB962C8B-B14F-4D97-AF65-F5344CB8AC3E}">
        <p14:creationId xmlns:p14="http://schemas.microsoft.com/office/powerpoint/2010/main" val="9334172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126D7-25FE-362B-1D3A-2A8BB95FBDB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81CC5DE-CB8A-CA1C-FB8E-5F3CFA98AC0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24E1BCD-3F50-2DD4-43AD-23AAD662BEE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26CDFB7-98C0-BCB9-73E8-D19F5B323F7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CA0EFEB-FC71-7829-880B-6C59C4B4266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3DEA410-2A7D-51A3-B6FF-38C635381C0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8EC96BE-79B2-8A51-4E52-A61AF30B7FB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F65B321-B01F-9A4D-1E5F-A64B9D9B025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1DF937D-A862-DE4C-9E97-28348ACDE8D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A19A765-C69C-D9B0-BDB4-45D0FCAA903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2D75AE0-D144-8F1F-B1D5-7A508E693A2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4D43B30-87F2-1DB7-353E-06E15DE6469C}"/>
              </a:ext>
            </a:extLst>
          </p:cNvPr>
          <p:cNvSpPr txBox="1"/>
          <p:nvPr/>
        </p:nvSpPr>
        <p:spPr>
          <a:xfrm>
            <a:off x="1067584" y="474835"/>
            <a:ext cx="16579393" cy="8863965"/>
          </a:xfrm>
          <a:prstGeom prst="rect">
            <a:avLst/>
          </a:prstGeom>
          <a:noFill/>
        </p:spPr>
        <p:txBody>
          <a:bodyPr wrap="square">
            <a:spAutoFit/>
          </a:bodyPr>
          <a:lstStyle/>
          <a:p>
            <a:pPr>
              <a:buNone/>
            </a:pPr>
            <a:r>
              <a:rPr lang="es-ES" sz="2800" b="1" dirty="0"/>
              <a:t>Guía rápida para elegir llaves primarias (PK)</a:t>
            </a:r>
          </a:p>
          <a:p>
            <a:pPr>
              <a:buNone/>
            </a:pPr>
            <a:endParaRPr lang="es-ES" b="1" dirty="0"/>
          </a:p>
          <a:p>
            <a:pPr>
              <a:buNone/>
            </a:pPr>
            <a:endParaRPr lang="es-ES" b="1" dirty="0"/>
          </a:p>
          <a:p>
            <a:pPr>
              <a:buNone/>
            </a:pPr>
            <a:endParaRPr lang="es-ES" dirty="0"/>
          </a:p>
          <a:p>
            <a:pPr>
              <a:buNone/>
            </a:pPr>
            <a:r>
              <a:rPr lang="es-ES" sz="2000" b="1" dirty="0"/>
              <a:t>1. Qué debe cumplir una PK</a:t>
            </a:r>
            <a:endParaRPr lang="es-ES" sz="2000" dirty="0"/>
          </a:p>
          <a:p>
            <a:pPr marL="342900" indent="-342900">
              <a:buFont typeface="Arial" panose="020B0604020202020204" pitchFamily="34" charset="0"/>
              <a:buChar char="•"/>
            </a:pPr>
            <a:r>
              <a:rPr lang="es-ES" sz="2000" dirty="0"/>
              <a:t>Debe </a:t>
            </a:r>
            <a:r>
              <a:rPr lang="es-ES" sz="2000" b="1" dirty="0"/>
              <a:t>identificar de forma única</a:t>
            </a:r>
            <a:r>
              <a:rPr lang="es-ES" sz="2000" dirty="0"/>
              <a:t> cada fila.</a:t>
            </a:r>
          </a:p>
          <a:p>
            <a:pPr marL="342900" indent="-342900">
              <a:buFont typeface="Arial" panose="020B0604020202020204" pitchFamily="34" charset="0"/>
              <a:buChar char="•"/>
            </a:pPr>
            <a:r>
              <a:rPr lang="es-ES" sz="2000" dirty="0"/>
              <a:t>Debe ser </a:t>
            </a:r>
            <a:r>
              <a:rPr lang="es-ES" sz="2000" b="1" dirty="0"/>
              <a:t>NOT NULL</a:t>
            </a:r>
            <a:r>
              <a:rPr lang="es-ES" sz="2000" dirty="0"/>
              <a:t> y </a:t>
            </a:r>
            <a:r>
              <a:rPr lang="es-ES" sz="2000" b="1" dirty="0"/>
              <a:t>no cambiar en el tiempo</a:t>
            </a:r>
            <a:r>
              <a:rPr lang="es-ES" sz="2000" dirty="0"/>
              <a:t>.</a:t>
            </a:r>
          </a:p>
          <a:p>
            <a:pPr marL="342900" indent="-342900">
              <a:buFont typeface="Arial" panose="020B0604020202020204" pitchFamily="34" charset="0"/>
              <a:buChar char="•"/>
            </a:pPr>
            <a:r>
              <a:rPr lang="es-ES" sz="2000" dirty="0"/>
              <a:t>Mejor si es </a:t>
            </a:r>
            <a:r>
              <a:rPr lang="es-ES" sz="2000" b="1" dirty="0"/>
              <a:t>corta y simple</a:t>
            </a:r>
            <a:r>
              <a:rPr lang="es-ES" sz="2000" dirty="0"/>
              <a:t> (idealmente 1 columna, numérica).</a:t>
            </a:r>
          </a:p>
          <a:p>
            <a:pPr marL="342900" indent="-342900">
              <a:buFont typeface="Arial" panose="020B0604020202020204" pitchFamily="34" charset="0"/>
              <a:buChar char="•"/>
            </a:pPr>
            <a:r>
              <a:rPr lang="es-ES" sz="2000" dirty="0"/>
              <a:t>Debe ser </a:t>
            </a:r>
            <a:r>
              <a:rPr lang="es-ES" sz="2000" b="1" dirty="0"/>
              <a:t>independiente de reglas de negocio cambiantes</a:t>
            </a:r>
            <a:r>
              <a:rPr lang="es-ES" sz="2000" dirty="0"/>
              <a:t>.</a:t>
            </a:r>
          </a:p>
          <a:p>
            <a:pPr marL="342900" indent="-342900">
              <a:buFont typeface="Arial" panose="020B0604020202020204" pitchFamily="34" charset="0"/>
              <a:buChar char="•"/>
            </a:pPr>
            <a:endParaRPr lang="es-ES" sz="2000" dirty="0"/>
          </a:p>
          <a:p>
            <a:pPr>
              <a:buNone/>
            </a:pPr>
            <a:r>
              <a:rPr lang="es-ES" sz="2000" b="1" dirty="0"/>
              <a:t>2. Qué evitar como PK</a:t>
            </a:r>
            <a:endParaRPr lang="es-ES" sz="2000" dirty="0"/>
          </a:p>
          <a:p>
            <a:pPr marL="342900" indent="-342900">
              <a:buFont typeface="Arial" panose="020B0604020202020204" pitchFamily="34" charset="0"/>
              <a:buChar char="•"/>
            </a:pPr>
            <a:r>
              <a:rPr lang="es-ES" sz="2000" dirty="0"/>
              <a:t>Campos que puedan </a:t>
            </a:r>
            <a:r>
              <a:rPr lang="es-ES" sz="2000" b="1" dirty="0"/>
              <a:t>cambiar</a:t>
            </a:r>
            <a:r>
              <a:rPr lang="es-ES" sz="2000" dirty="0"/>
              <a:t>: correo, teléfono, dirección, estado del pedido.</a:t>
            </a:r>
          </a:p>
          <a:p>
            <a:pPr marL="342900" indent="-342900">
              <a:buFont typeface="Arial" panose="020B0604020202020204" pitchFamily="34" charset="0"/>
              <a:buChar char="•"/>
            </a:pPr>
            <a:r>
              <a:rPr lang="es-ES" sz="2000" dirty="0"/>
              <a:t>Campos </a:t>
            </a:r>
            <a:r>
              <a:rPr lang="es-ES" sz="2000" b="1" dirty="0"/>
              <a:t>largos</a:t>
            </a:r>
            <a:r>
              <a:rPr lang="es-ES" sz="2000" dirty="0"/>
              <a:t> o poco eficientes: descripciones, nombres completos, textos.</a:t>
            </a:r>
          </a:p>
          <a:p>
            <a:pPr marL="342900" indent="-342900">
              <a:buFont typeface="Arial" panose="020B0604020202020204" pitchFamily="34" charset="0"/>
              <a:buChar char="•"/>
            </a:pPr>
            <a:r>
              <a:rPr lang="es-ES" sz="2000" dirty="0"/>
              <a:t>Datos </a:t>
            </a:r>
            <a:r>
              <a:rPr lang="es-ES" sz="2000" b="1" dirty="0"/>
              <a:t>sensibles</a:t>
            </a:r>
            <a:r>
              <a:rPr lang="es-ES" sz="2000" dirty="0"/>
              <a:t>: número de documento, SSN, tarjeta de crédito, etc.</a:t>
            </a:r>
          </a:p>
          <a:p>
            <a:pPr marL="342900" indent="-342900">
              <a:buFont typeface="Arial" panose="020B0604020202020204" pitchFamily="34" charset="0"/>
              <a:buChar char="•"/>
            </a:pPr>
            <a:endParaRPr lang="es-ES" sz="2000" dirty="0"/>
          </a:p>
          <a:p>
            <a:pPr>
              <a:buNone/>
            </a:pPr>
            <a:r>
              <a:rPr lang="es-ES" sz="2000" b="1" dirty="0"/>
              <a:t>3. Natural </a:t>
            </a:r>
            <a:r>
              <a:rPr lang="es-ES" sz="2000" b="1" dirty="0" err="1"/>
              <a:t>key</a:t>
            </a:r>
            <a:r>
              <a:rPr lang="es-ES" sz="2000" b="1" dirty="0"/>
              <a:t> vs. </a:t>
            </a:r>
            <a:r>
              <a:rPr lang="es-ES" sz="2000" b="1" dirty="0" err="1"/>
              <a:t>Surrogate</a:t>
            </a:r>
            <a:r>
              <a:rPr lang="es-ES" sz="2000" b="1" dirty="0"/>
              <a:t> </a:t>
            </a:r>
            <a:r>
              <a:rPr lang="es-ES" sz="2000" b="1" dirty="0" err="1"/>
              <a:t>key</a:t>
            </a:r>
            <a:endParaRPr lang="es-ES" sz="2000" dirty="0"/>
          </a:p>
          <a:p>
            <a:pPr marL="342900" indent="-342900">
              <a:buFont typeface="Arial" panose="020B0604020202020204" pitchFamily="34" charset="0"/>
              <a:buChar char="•"/>
            </a:pPr>
            <a:r>
              <a:rPr lang="es-ES" sz="2000" b="1" dirty="0"/>
              <a:t>Natural </a:t>
            </a:r>
            <a:r>
              <a:rPr lang="es-ES" sz="2000" b="1" dirty="0" err="1"/>
              <a:t>key</a:t>
            </a:r>
            <a:endParaRPr lang="es-ES" sz="2000" dirty="0"/>
          </a:p>
          <a:p>
            <a:pPr marL="800100" lvl="1" indent="-342900">
              <a:buFont typeface="Arial" panose="020B0604020202020204" pitchFamily="34" charset="0"/>
              <a:buChar char="•"/>
            </a:pPr>
            <a:r>
              <a:rPr lang="es-ES" sz="2000" dirty="0"/>
              <a:t>Viene del negocio: NIT, código de producto, placa del vehículo.</a:t>
            </a:r>
          </a:p>
          <a:p>
            <a:pPr marL="800100" lvl="1" indent="-342900">
              <a:buFont typeface="Arial" panose="020B0604020202020204" pitchFamily="34" charset="0"/>
              <a:buChar char="•"/>
            </a:pPr>
            <a:r>
              <a:rPr lang="es-ES" sz="2000" dirty="0"/>
              <a:t>Úsala cuando sea realmente </a:t>
            </a:r>
            <a:r>
              <a:rPr lang="es-ES" sz="2000" b="1" dirty="0"/>
              <a:t>única, estable y conocida por los usuarios</a:t>
            </a:r>
            <a:r>
              <a:rPr lang="es-ES" sz="2000" dirty="0"/>
              <a:t>.</a:t>
            </a:r>
          </a:p>
          <a:p>
            <a:pPr marL="342900" indent="-342900">
              <a:buFont typeface="Arial" panose="020B0604020202020204" pitchFamily="34" charset="0"/>
              <a:buChar char="•"/>
            </a:pPr>
            <a:r>
              <a:rPr lang="es-ES" sz="2000" b="1" dirty="0" err="1"/>
              <a:t>Surrogate</a:t>
            </a:r>
            <a:r>
              <a:rPr lang="es-ES" sz="2000" b="1" dirty="0"/>
              <a:t> </a:t>
            </a:r>
            <a:r>
              <a:rPr lang="es-ES" sz="2000" b="1" dirty="0" err="1"/>
              <a:t>key</a:t>
            </a:r>
            <a:r>
              <a:rPr lang="es-ES" sz="2000" dirty="0"/>
              <a:t> (artificial: </a:t>
            </a:r>
            <a:r>
              <a:rPr lang="es-ES" sz="2000" dirty="0">
                <a:latin typeface="Courier New" panose="02070309020205020404" pitchFamily="49" charset="0"/>
              </a:rPr>
              <a:t>id</a:t>
            </a:r>
            <a:r>
              <a:rPr lang="es-ES" sz="2000" dirty="0"/>
              <a:t> </a:t>
            </a:r>
            <a:r>
              <a:rPr lang="es-ES" sz="2000" dirty="0" err="1"/>
              <a:t>autoincremental</a:t>
            </a:r>
            <a:r>
              <a:rPr lang="es-ES" sz="2000" dirty="0"/>
              <a:t> o UUID)</a:t>
            </a:r>
          </a:p>
          <a:p>
            <a:pPr marL="800100" lvl="1" indent="-342900">
              <a:buFont typeface="Arial" panose="020B0604020202020204" pitchFamily="34" charset="0"/>
              <a:buChar char="•"/>
            </a:pPr>
            <a:r>
              <a:rPr lang="es-ES" sz="2000" dirty="0"/>
              <a:t>No tiene significado de negocio.</a:t>
            </a:r>
          </a:p>
          <a:p>
            <a:pPr marL="800100" lvl="1" indent="-342900">
              <a:buFont typeface="Arial" panose="020B0604020202020204" pitchFamily="34" charset="0"/>
              <a:buChar char="•"/>
            </a:pPr>
            <a:r>
              <a:rPr lang="es-ES" sz="2000" dirty="0"/>
              <a:t>Ideal cuando </a:t>
            </a:r>
            <a:r>
              <a:rPr lang="es-ES" sz="2000" b="1" dirty="0"/>
              <a:t>no hay</a:t>
            </a:r>
            <a:r>
              <a:rPr lang="es-ES" sz="2000" dirty="0"/>
              <a:t> un identificador de negocio perfecto o cuando sería muy complejo.</a:t>
            </a:r>
          </a:p>
          <a:p>
            <a:pPr marL="800100" lvl="1" indent="-342900">
              <a:buFont typeface="Arial" panose="020B0604020202020204" pitchFamily="34" charset="0"/>
              <a:buChar char="•"/>
            </a:pPr>
            <a:endParaRPr lang="es-ES" sz="2000" dirty="0"/>
          </a:p>
          <a:p>
            <a:pPr>
              <a:buNone/>
            </a:pPr>
            <a:r>
              <a:rPr lang="es-ES" sz="2000" b="1" dirty="0"/>
              <a:t>4. Reglas prácticas</a:t>
            </a:r>
            <a:endParaRPr lang="es-ES" sz="2000" dirty="0"/>
          </a:p>
          <a:p>
            <a:pPr marL="342900" indent="-342900">
              <a:buFont typeface="Arial" panose="020B0604020202020204" pitchFamily="34" charset="0"/>
              <a:buChar char="•"/>
            </a:pPr>
            <a:r>
              <a:rPr lang="es-ES" sz="2000" dirty="0"/>
              <a:t>Si existe un identificador de negocio </a:t>
            </a:r>
            <a:r>
              <a:rPr lang="es-ES" sz="2000" b="1" dirty="0"/>
              <a:t>único, estable y no sensible</a:t>
            </a:r>
            <a:r>
              <a:rPr lang="es-ES" sz="2000" dirty="0"/>
              <a:t>, puede ser PK.</a:t>
            </a:r>
          </a:p>
          <a:p>
            <a:pPr marL="342900" indent="-342900">
              <a:buFont typeface="Arial" panose="020B0604020202020204" pitchFamily="34" charset="0"/>
              <a:buChar char="•"/>
            </a:pPr>
            <a:r>
              <a:rPr lang="es-ES" sz="2000" dirty="0"/>
              <a:t>Si hay dudas, crea una PK artificial (</a:t>
            </a:r>
            <a:r>
              <a:rPr lang="es-ES" sz="2000" dirty="0" err="1">
                <a:latin typeface="Courier New" panose="02070309020205020404" pitchFamily="49" charset="0"/>
              </a:rPr>
              <a:t>EmployeeID</a:t>
            </a:r>
            <a:r>
              <a:rPr lang="es-ES" sz="2000" dirty="0"/>
              <a:t>, </a:t>
            </a:r>
            <a:r>
              <a:rPr lang="es-ES" sz="2000" dirty="0" err="1">
                <a:latin typeface="Courier New" panose="02070309020205020404" pitchFamily="49" charset="0"/>
              </a:rPr>
              <a:t>CourseID</a:t>
            </a:r>
            <a:r>
              <a:rPr lang="es-ES" sz="2000" dirty="0"/>
              <a:t>, </a:t>
            </a:r>
            <a:r>
              <a:rPr lang="es-ES" sz="2000" dirty="0" err="1">
                <a:latin typeface="Courier New" panose="02070309020205020404" pitchFamily="49" charset="0"/>
              </a:rPr>
              <a:t>RepairJobID</a:t>
            </a:r>
            <a:r>
              <a:rPr lang="es-ES" sz="2000" dirty="0"/>
              <a:t>) y deja el identificador de negocio como </a:t>
            </a:r>
            <a:r>
              <a:rPr lang="es-ES" sz="2000" dirty="0">
                <a:latin typeface="Courier New" panose="02070309020205020404" pitchFamily="49" charset="0"/>
              </a:rPr>
              <a:t>UNIQUE</a:t>
            </a:r>
            <a:r>
              <a:rPr lang="es-ES" sz="2000" dirty="0"/>
              <a:t>.</a:t>
            </a:r>
          </a:p>
          <a:p>
            <a:pPr marL="342900" indent="-342900">
              <a:buFont typeface="Arial" panose="020B0604020202020204" pitchFamily="34" charset="0"/>
              <a:buChar char="•"/>
            </a:pPr>
            <a:r>
              <a:rPr lang="es-ES" sz="2000" dirty="0"/>
              <a:t>En tablas de relación muchos-a-muchos, usa:</a:t>
            </a:r>
          </a:p>
          <a:p>
            <a:pPr marL="800100" lvl="1" indent="-342900">
              <a:buFont typeface="Arial" panose="020B0604020202020204" pitchFamily="34" charset="0"/>
              <a:buChar char="•"/>
            </a:pPr>
            <a:r>
              <a:rPr lang="es-ES" sz="2000" dirty="0"/>
              <a:t>PK compuesta (</a:t>
            </a:r>
            <a:r>
              <a:rPr lang="es-ES" sz="2000" dirty="0" err="1">
                <a:latin typeface="Courier New" panose="02070309020205020404" pitchFamily="49" charset="0"/>
              </a:rPr>
              <a:t>StudentID</a:t>
            </a:r>
            <a:r>
              <a:rPr lang="es-ES" sz="2000" dirty="0"/>
              <a:t>, </a:t>
            </a:r>
            <a:r>
              <a:rPr lang="es-ES" sz="2000" dirty="0" err="1">
                <a:latin typeface="Courier New" panose="02070309020205020404" pitchFamily="49" charset="0"/>
              </a:rPr>
              <a:t>CourseID</a:t>
            </a:r>
            <a:r>
              <a:rPr lang="es-ES" sz="2000" dirty="0"/>
              <a:t>)</a:t>
            </a:r>
          </a:p>
          <a:p>
            <a:pPr marL="800100" lvl="1" indent="-342900">
              <a:buFont typeface="Arial" panose="020B0604020202020204" pitchFamily="34" charset="0"/>
              <a:buChar char="•"/>
            </a:pPr>
            <a:r>
              <a:rPr lang="es-ES" sz="2000" dirty="0"/>
              <a:t>o un </a:t>
            </a:r>
            <a:r>
              <a:rPr lang="es-ES" sz="2000" dirty="0">
                <a:latin typeface="Courier New" panose="02070309020205020404" pitchFamily="49" charset="0"/>
              </a:rPr>
              <a:t>ID</a:t>
            </a:r>
            <a:r>
              <a:rPr lang="es-ES" sz="2000" dirty="0"/>
              <a:t> artificial y un índice </a:t>
            </a:r>
            <a:r>
              <a:rPr lang="es-ES" sz="2000" dirty="0">
                <a:latin typeface="Courier New" panose="02070309020205020404" pitchFamily="49" charset="0"/>
              </a:rPr>
              <a:t>UNIQUE (</a:t>
            </a:r>
            <a:r>
              <a:rPr lang="es-ES" sz="2000" dirty="0" err="1">
                <a:latin typeface="Courier New" panose="02070309020205020404" pitchFamily="49" charset="0"/>
              </a:rPr>
              <a:t>StudentID</a:t>
            </a:r>
            <a:r>
              <a:rPr lang="es-ES" sz="2000" dirty="0">
                <a:latin typeface="Courier New" panose="02070309020205020404" pitchFamily="49" charset="0"/>
              </a:rPr>
              <a:t>, </a:t>
            </a:r>
            <a:r>
              <a:rPr lang="es-ES" sz="2000" dirty="0" err="1">
                <a:latin typeface="Courier New" panose="02070309020205020404" pitchFamily="49" charset="0"/>
              </a:rPr>
              <a:t>CourseID</a:t>
            </a:r>
            <a:r>
              <a:rPr lang="es-ES" sz="2000" dirty="0">
                <a:latin typeface="Courier New" panose="02070309020205020404" pitchFamily="49" charset="0"/>
              </a:rPr>
              <a:t>)</a:t>
            </a:r>
            <a:r>
              <a:rPr lang="es-ES" sz="2000" dirty="0"/>
              <a:t>.</a:t>
            </a:r>
            <a:endParaRPr lang="es-ES" sz="2400" dirty="0"/>
          </a:p>
        </p:txBody>
      </p:sp>
    </p:spTree>
    <p:extLst>
      <p:ext uri="{BB962C8B-B14F-4D97-AF65-F5344CB8AC3E}">
        <p14:creationId xmlns:p14="http://schemas.microsoft.com/office/powerpoint/2010/main" val="38992456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7FF-D3D7-F0FA-6154-159EA09D1D1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269D96-8835-8AEB-D4FC-51197EA8DD8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7625E06-7CDE-688B-7AA3-316DB9C2351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CA894A9-E801-83B7-D483-ADA9644296E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813D324-4795-380E-0EED-BCED75E0ED2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BE726CD-2A37-3913-C5D8-AC1DE3D7055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D4E9D7A-9F46-6B85-1DB6-E15915B9C2F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BD1BC39-ECD8-D466-701B-6A691CEF653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E18D8E0-0D43-E2AC-957A-1FDC2F14969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E4E1FD4-BA31-1741-6D3C-E49687093F9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C742859-4694-8CD7-3675-A0BFAF9B980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92E8A85-9D7D-25C9-7103-64A4C8CC48E7}"/>
              </a:ext>
            </a:extLst>
          </p:cNvPr>
          <p:cNvSpPr txBox="1"/>
          <p:nvPr/>
        </p:nvSpPr>
        <p:spPr>
          <a:xfrm>
            <a:off x="4508369" y="4917732"/>
            <a:ext cx="9186420" cy="2585323"/>
          </a:xfrm>
          <a:prstGeom prst="rect">
            <a:avLst/>
          </a:prstGeom>
          <a:noFill/>
        </p:spPr>
        <p:txBody>
          <a:bodyPr wrap="square">
            <a:spAutoFit/>
          </a:bodyPr>
          <a:lstStyle/>
          <a:p>
            <a:pPr algn="ctr"/>
            <a:r>
              <a:rPr lang="es-CO" sz="5400" b="1" dirty="0"/>
              <a:t>Paso 2:</a:t>
            </a:r>
          </a:p>
          <a:p>
            <a:pPr algn="ctr"/>
            <a:r>
              <a:rPr lang="es-CO" sz="5400" b="1" dirty="0"/>
              <a:t>Derivar relaciones unarias y binarias</a:t>
            </a:r>
          </a:p>
        </p:txBody>
      </p:sp>
    </p:spTree>
    <p:extLst>
      <p:ext uri="{BB962C8B-B14F-4D97-AF65-F5344CB8AC3E}">
        <p14:creationId xmlns:p14="http://schemas.microsoft.com/office/powerpoint/2010/main" val="710583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670E-BC6E-629A-BA98-1531FEE8388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A6D7063-8C48-620C-79BE-479DD7EB8BF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7A580F0-C7F9-F65C-9FCF-0129C5830DF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22B548E-EB49-655C-2A0B-93E585B588D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72599E9-CC9D-FC95-8508-944E6CDB1B4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7EC5A85-191D-3D40-B391-5B70FC4EE7A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FD5E078-3E97-9717-4A5B-D81BBAA68BC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7A7F884-36A4-079A-7A99-65D96BAE87E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56A6370-F58C-1DD6-BAC4-8ECF0E2031A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FF6D44D-52EF-0232-165B-FAE5AB849F3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D45E710-533C-4A12-7712-C8383A27CE5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2B532605-7B4E-5C54-17EC-7DFA62D8BA67}"/>
              </a:ext>
            </a:extLst>
          </p:cNvPr>
          <p:cNvGraphicFramePr>
            <a:graphicFrameLocks noGrp="1"/>
          </p:cNvGraphicFramePr>
          <p:nvPr>
            <p:extLst>
              <p:ext uri="{D42A27DB-BD31-4B8C-83A1-F6EECF244321}">
                <p14:modId xmlns:p14="http://schemas.microsoft.com/office/powerpoint/2010/main" val="956816788"/>
              </p:ext>
            </p:extLst>
          </p:nvPr>
        </p:nvGraphicFramePr>
        <p:xfrm>
          <a:off x="2205872" y="2563850"/>
          <a:ext cx="13876255" cy="5646897"/>
        </p:xfrm>
        <a:graphic>
          <a:graphicData uri="http://schemas.openxmlformats.org/drawingml/2006/table">
            <a:tbl>
              <a:tblPr/>
              <a:tblGrid>
                <a:gridCol w="2775251">
                  <a:extLst>
                    <a:ext uri="{9D8B030D-6E8A-4147-A177-3AD203B41FA5}">
                      <a16:colId xmlns:a16="http://schemas.microsoft.com/office/drawing/2014/main" val="1881698810"/>
                    </a:ext>
                  </a:extLst>
                </a:gridCol>
                <a:gridCol w="2775251">
                  <a:extLst>
                    <a:ext uri="{9D8B030D-6E8A-4147-A177-3AD203B41FA5}">
                      <a16:colId xmlns:a16="http://schemas.microsoft.com/office/drawing/2014/main" val="1948886594"/>
                    </a:ext>
                  </a:extLst>
                </a:gridCol>
                <a:gridCol w="2775251">
                  <a:extLst>
                    <a:ext uri="{9D8B030D-6E8A-4147-A177-3AD203B41FA5}">
                      <a16:colId xmlns:a16="http://schemas.microsoft.com/office/drawing/2014/main" val="2042585261"/>
                    </a:ext>
                  </a:extLst>
                </a:gridCol>
                <a:gridCol w="2775251">
                  <a:extLst>
                    <a:ext uri="{9D8B030D-6E8A-4147-A177-3AD203B41FA5}">
                      <a16:colId xmlns:a16="http://schemas.microsoft.com/office/drawing/2014/main" val="853299245"/>
                    </a:ext>
                  </a:extLst>
                </a:gridCol>
                <a:gridCol w="2775251">
                  <a:extLst>
                    <a:ext uri="{9D8B030D-6E8A-4147-A177-3AD203B41FA5}">
                      <a16:colId xmlns:a16="http://schemas.microsoft.com/office/drawing/2014/main" val="626683672"/>
                    </a:ext>
                  </a:extLst>
                </a:gridCol>
              </a:tblGrid>
              <a:tr h="1549149">
                <a:tc>
                  <a:txBody>
                    <a:bodyPr/>
                    <a:lstStyle/>
                    <a:p>
                      <a:pPr>
                        <a:buNone/>
                      </a:pPr>
                      <a:r>
                        <a:rPr lang="es-CO" sz="2800" dirty="0"/>
                        <a:t>ENTIDAD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err="1"/>
                        <a:t>Customer</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Product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Seller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02549566"/>
                  </a:ext>
                </a:extLst>
              </a:tr>
              <a:tr h="1549149">
                <a:tc>
                  <a:txBody>
                    <a:bodyPr/>
                    <a:lstStyle/>
                    <a:p>
                      <a:pPr>
                        <a:buNone/>
                      </a:pPr>
                      <a:r>
                        <a:rPr lang="es-CO" sz="2800" b="1"/>
                        <a:t>Customer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39772883"/>
                  </a:ext>
                </a:extLst>
              </a:tr>
              <a:tr h="849533">
                <a:tc>
                  <a:txBody>
                    <a:bodyPr/>
                    <a:lstStyle/>
                    <a:p>
                      <a:pPr>
                        <a:buNone/>
                      </a:pPr>
                      <a:r>
                        <a:rPr lang="es-CO" sz="2800" b="1"/>
                        <a:t>Order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7537255"/>
                  </a:ext>
                </a:extLst>
              </a:tr>
              <a:tr h="849533">
                <a:tc>
                  <a:txBody>
                    <a:bodyPr/>
                    <a:lstStyle/>
                    <a:p>
                      <a:pPr>
                        <a:buNone/>
                      </a:pPr>
                      <a:r>
                        <a:rPr lang="es-CO" sz="2800" b="1"/>
                        <a:t>Product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60183457"/>
                  </a:ext>
                </a:extLst>
              </a:tr>
              <a:tr h="849533">
                <a:tc>
                  <a:txBody>
                    <a:bodyPr/>
                    <a:lstStyle/>
                    <a:p>
                      <a:pPr>
                        <a:buNone/>
                      </a:pPr>
                      <a:r>
                        <a:rPr lang="es-CO" sz="2800" b="1"/>
                        <a:t>Seller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5398139"/>
                  </a:ext>
                </a:extLst>
              </a:tr>
            </a:tbl>
          </a:graphicData>
        </a:graphic>
      </p:graphicFrame>
      <p:sp>
        <p:nvSpPr>
          <p:cNvPr id="13" name="Rectangle 1">
            <a:extLst>
              <a:ext uri="{FF2B5EF4-FFF2-40B4-BE49-F238E27FC236}">
                <a16:creationId xmlns:a16="http://schemas.microsoft.com/office/drawing/2014/main" id="{730E3269-B07D-AED4-45AC-D4F13BAA4326}"/>
              </a:ext>
            </a:extLst>
          </p:cNvPr>
          <p:cNvSpPr>
            <a:spLocks noChangeArrowheads="1"/>
          </p:cNvSpPr>
          <p:nvPr/>
        </p:nvSpPr>
        <p:spPr bwMode="auto">
          <a:xfrm>
            <a:off x="1300278" y="760385"/>
            <a:ext cx="14241399"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600" b="1" i="0" u="none" strike="noStrike" cap="none" normalizeH="0" baseline="0" dirty="0">
                <a:ln>
                  <a:noFill/>
                </a:ln>
                <a:solidFill>
                  <a:schemeClr val="tx1"/>
                </a:solidFill>
                <a:effectLst/>
                <a:latin typeface="Arial" panose="020B0604020202020204" pitchFamily="34" charset="0"/>
              </a:rPr>
              <a:t>La Matriz de Relaciones (El </a:t>
            </a:r>
            <a:r>
              <a:rPr kumimoji="0" lang="es-CO" altLang="es-CO" sz="3600" b="1" i="0" u="none" strike="noStrike" cap="none" normalizeH="0" baseline="0" dirty="0" err="1">
                <a:ln>
                  <a:noFill/>
                </a:ln>
                <a:solidFill>
                  <a:schemeClr val="tx1"/>
                </a:solidFill>
                <a:effectLst/>
                <a:latin typeface="Arial" panose="020B0604020202020204" pitchFamily="34" charset="0"/>
              </a:rPr>
              <a:t>Grid</a:t>
            </a:r>
            <a:r>
              <a:rPr kumimoji="0" lang="es-CO" altLang="es-CO" sz="36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Arial" panose="020B0604020202020204" pitchFamily="34" charset="0"/>
              </a:rPr>
              <a:t>Construimos una tabla con las entidades en ambos ejes (X e Y) para asegurar que no olvidamos nada.</a:t>
            </a:r>
            <a:endParaRPr kumimoji="0" lang="es-CO" altLang="es-CO" sz="5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44573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0BC66-ACF4-BA62-7BE8-15E2D8FF115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20F8EE1-651C-B7CD-BDCC-2269182C03D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A2899F8-C884-BE77-618E-39E04200664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9C41886-5158-9A4B-0434-A6FD053BD5C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4D2C17E-59C9-94B3-D38F-390BECA7CB2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808FC4A-95A0-7CA0-1931-3987700F6C3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730C57F-9F55-7470-6620-C2477A240E7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E02DDC5-99BE-4F15-03C2-D05984A0B27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7AA00EC-BA37-8548-33ED-B09A1F767D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6F2E5F5-56CB-C497-3147-3D9033690BE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173D3B-BC73-814D-749B-F2E900E9AD1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7F9CDCD-8CE8-5050-D7BF-0CC3B87978D7}"/>
              </a:ext>
            </a:extLst>
          </p:cNvPr>
          <p:cNvSpPr txBox="1"/>
          <p:nvPr/>
        </p:nvSpPr>
        <p:spPr>
          <a:xfrm>
            <a:off x="1501218" y="763222"/>
            <a:ext cx="14844859" cy="7848302"/>
          </a:xfrm>
          <a:prstGeom prst="rect">
            <a:avLst/>
          </a:prstGeom>
          <a:noFill/>
        </p:spPr>
        <p:txBody>
          <a:bodyPr wrap="square">
            <a:spAutoFit/>
          </a:bodyPr>
          <a:lstStyle/>
          <a:p>
            <a:pPr>
              <a:buNone/>
            </a:pPr>
            <a:r>
              <a:rPr lang="es-ES" sz="2800" b="1" dirty="0"/>
              <a:t>Llenando la Matriz: Análisis del Caso </a:t>
            </a:r>
            <a:r>
              <a:rPr lang="es-ES" sz="2800" b="1" dirty="0" err="1"/>
              <a:t>Olist</a:t>
            </a:r>
            <a:endParaRPr lang="es-ES" sz="2800" b="1" dirty="0"/>
          </a:p>
          <a:p>
            <a:pPr>
              <a:buNone/>
            </a:pPr>
            <a:endParaRPr lang="es-ES" sz="2800" b="1" dirty="0"/>
          </a:p>
          <a:p>
            <a:pPr>
              <a:buNone/>
            </a:pPr>
            <a:endParaRPr lang="es-ES" sz="2800" dirty="0"/>
          </a:p>
          <a:p>
            <a:pPr>
              <a:buNone/>
            </a:pPr>
            <a:r>
              <a:rPr lang="es-ES" sz="2800" b="1" dirty="0"/>
              <a:t>Cruce 1: </a:t>
            </a:r>
            <a:r>
              <a:rPr lang="es-ES" sz="2800" b="1" dirty="0" err="1"/>
              <a:t>Customer</a:t>
            </a:r>
            <a:r>
              <a:rPr lang="es-ES" sz="2800" b="1" dirty="0"/>
              <a:t> vs </a:t>
            </a:r>
            <a:r>
              <a:rPr lang="es-ES" sz="2800" b="1" dirty="0" err="1"/>
              <a:t>Order</a:t>
            </a:r>
            <a:endParaRPr lang="es-ES" sz="2800" b="1" dirty="0"/>
          </a:p>
          <a:p>
            <a:pPr>
              <a:buFont typeface="Arial" panose="020B0604020202020204" pitchFamily="34" charset="0"/>
              <a:buChar char="•"/>
            </a:pPr>
            <a:r>
              <a:rPr lang="es-ES" sz="2800" i="1" dirty="0"/>
              <a:t>Pregunta:</a:t>
            </a:r>
            <a:r>
              <a:rPr lang="es-ES" sz="2800" dirty="0"/>
              <a:t> ¿Un cliente puede tener órdenes? </a:t>
            </a:r>
            <a:r>
              <a:rPr lang="es-ES" sz="2800" b="1" dirty="0"/>
              <a:t>SÍ</a:t>
            </a:r>
            <a:r>
              <a:rPr lang="es-ES" sz="2800" dirty="0"/>
              <a:t>.</a:t>
            </a:r>
          </a:p>
          <a:p>
            <a:pPr>
              <a:buFont typeface="Arial" panose="020B0604020202020204" pitchFamily="34" charset="0"/>
              <a:buChar char="•"/>
            </a:pPr>
            <a:r>
              <a:rPr lang="es-ES" sz="2800" i="1" dirty="0"/>
              <a:t>Pregunta:</a:t>
            </a:r>
            <a:r>
              <a:rPr lang="es-ES" sz="2800" dirty="0"/>
              <a:t> ¿Una orden es de muchos clientes? </a:t>
            </a:r>
            <a:r>
              <a:rPr lang="es-ES" sz="2800" b="1" dirty="0"/>
              <a:t>NO</a:t>
            </a:r>
            <a:r>
              <a:rPr lang="es-ES" sz="2800" dirty="0"/>
              <a:t>.</a:t>
            </a:r>
          </a:p>
          <a:p>
            <a:pPr>
              <a:buFont typeface="Arial" panose="020B0604020202020204" pitchFamily="34" charset="0"/>
              <a:buChar char="•"/>
            </a:pPr>
            <a:r>
              <a:rPr lang="es-ES" sz="2800" b="1" dirty="0"/>
              <a:t>Resultado:</a:t>
            </a:r>
            <a:r>
              <a:rPr lang="es-ES" sz="2800" dirty="0"/>
              <a:t> Relación </a:t>
            </a:r>
            <a:r>
              <a:rPr lang="es-ES" sz="2800" b="1" dirty="0"/>
              <a:t>1:N</a:t>
            </a:r>
            <a:r>
              <a:rPr lang="es-ES" sz="2800" dirty="0"/>
              <a:t> (Uno a Muchos).</a:t>
            </a:r>
          </a:p>
          <a:p>
            <a:pPr>
              <a:buFont typeface="Arial" panose="020B0604020202020204" pitchFamily="34" charset="0"/>
              <a:buChar char="•"/>
            </a:pPr>
            <a:endParaRPr lang="es-ES" sz="2800" dirty="0"/>
          </a:p>
          <a:p>
            <a:pPr>
              <a:buNone/>
            </a:pPr>
            <a:r>
              <a:rPr lang="es-ES" sz="2800" b="1" dirty="0"/>
              <a:t>Cruce 2: </a:t>
            </a:r>
            <a:r>
              <a:rPr lang="es-ES" sz="2800" b="1" dirty="0" err="1"/>
              <a:t>Order</a:t>
            </a:r>
            <a:r>
              <a:rPr lang="es-ES" sz="2800" b="1" dirty="0"/>
              <a:t> vs </a:t>
            </a:r>
            <a:r>
              <a:rPr lang="es-ES" sz="2800" b="1" dirty="0" err="1"/>
              <a:t>Product</a:t>
            </a:r>
            <a:endParaRPr lang="es-ES" sz="2800" b="1" dirty="0"/>
          </a:p>
          <a:p>
            <a:pPr>
              <a:buFont typeface="Arial" panose="020B0604020202020204" pitchFamily="34" charset="0"/>
              <a:buChar char="•"/>
            </a:pPr>
            <a:r>
              <a:rPr lang="es-ES" sz="2800" i="1" dirty="0"/>
              <a:t>Pregunta:</a:t>
            </a:r>
            <a:r>
              <a:rPr lang="es-ES" sz="2800" dirty="0"/>
              <a:t> ¿Una orden tiene productos? </a:t>
            </a:r>
            <a:r>
              <a:rPr lang="es-ES" sz="2800" b="1" dirty="0"/>
              <a:t>SÍ</a:t>
            </a:r>
            <a:r>
              <a:rPr lang="es-ES" sz="2800" dirty="0"/>
              <a:t> (Muchos).</a:t>
            </a:r>
          </a:p>
          <a:p>
            <a:pPr>
              <a:buFont typeface="Arial" panose="020B0604020202020204" pitchFamily="34" charset="0"/>
              <a:buChar char="•"/>
            </a:pPr>
            <a:r>
              <a:rPr lang="es-ES" sz="2800" i="1" dirty="0"/>
              <a:t>Pregunta:</a:t>
            </a:r>
            <a:r>
              <a:rPr lang="es-ES" sz="2800" dirty="0"/>
              <a:t> ¿Un producto (</a:t>
            </a:r>
            <a:r>
              <a:rPr lang="es-ES" sz="2800" dirty="0" err="1"/>
              <a:t>ej</a:t>
            </a:r>
            <a:r>
              <a:rPr lang="es-ES" sz="2800" dirty="0"/>
              <a:t>: "Reloj X") está en muchas órdenes? </a:t>
            </a:r>
            <a:r>
              <a:rPr lang="es-ES" sz="2800" b="1" dirty="0"/>
              <a:t>SÍ</a:t>
            </a:r>
            <a:r>
              <a:rPr lang="es-ES" sz="2800" dirty="0"/>
              <a:t>.</a:t>
            </a:r>
          </a:p>
          <a:p>
            <a:pPr>
              <a:buFont typeface="Arial" panose="020B0604020202020204" pitchFamily="34" charset="0"/>
              <a:buChar char="•"/>
            </a:pPr>
            <a:r>
              <a:rPr lang="es-ES" sz="2800" b="1" dirty="0"/>
              <a:t>Resultado:</a:t>
            </a:r>
            <a:r>
              <a:rPr lang="es-ES" sz="2800" dirty="0"/>
              <a:t> Relación </a:t>
            </a:r>
            <a:r>
              <a:rPr lang="es-ES" sz="2800" b="1" dirty="0"/>
              <a:t>M:N</a:t>
            </a:r>
            <a:r>
              <a:rPr lang="es-ES" sz="2800" dirty="0"/>
              <a:t> (Muchos a Muchos).</a:t>
            </a:r>
          </a:p>
          <a:p>
            <a:pPr>
              <a:buFont typeface="Arial" panose="020B0604020202020204" pitchFamily="34" charset="0"/>
              <a:buChar char="•"/>
            </a:pPr>
            <a:endParaRPr lang="es-ES" sz="2800" dirty="0"/>
          </a:p>
          <a:p>
            <a:pPr>
              <a:buNone/>
            </a:pPr>
            <a:r>
              <a:rPr lang="es-ES" sz="2800" b="1" dirty="0"/>
              <a:t>Cruce 3: </a:t>
            </a:r>
            <a:r>
              <a:rPr lang="es-ES" sz="2800" b="1" dirty="0" err="1"/>
              <a:t>Customer</a:t>
            </a:r>
            <a:r>
              <a:rPr lang="es-ES" sz="2800" b="1" dirty="0"/>
              <a:t> vs </a:t>
            </a:r>
            <a:r>
              <a:rPr lang="es-ES" sz="2800" b="1" dirty="0" err="1"/>
              <a:t>Seller</a:t>
            </a:r>
            <a:endParaRPr lang="es-ES" sz="2800" b="1" dirty="0"/>
          </a:p>
          <a:p>
            <a:pPr>
              <a:buFont typeface="Arial" panose="020B0604020202020204" pitchFamily="34" charset="0"/>
              <a:buChar char="•"/>
            </a:pPr>
            <a:r>
              <a:rPr lang="es-ES" sz="2800" i="1" dirty="0"/>
              <a:t>Pregunta:</a:t>
            </a:r>
            <a:r>
              <a:rPr lang="es-ES" sz="2800" dirty="0"/>
              <a:t> ¿Un cliente compra directamente al vendedor?</a:t>
            </a:r>
          </a:p>
          <a:p>
            <a:pPr>
              <a:buFont typeface="Arial" panose="020B0604020202020204" pitchFamily="34" charset="0"/>
              <a:buChar char="•"/>
            </a:pPr>
            <a:r>
              <a:rPr lang="es-ES" sz="2800" i="1" dirty="0"/>
              <a:t>Análisis:</a:t>
            </a:r>
            <a:r>
              <a:rPr lang="es-ES" sz="2800" dirty="0"/>
              <a:t> En </a:t>
            </a:r>
            <a:r>
              <a:rPr lang="es-ES" sz="2800" dirty="0" err="1"/>
              <a:t>Olist</a:t>
            </a:r>
            <a:r>
              <a:rPr lang="es-ES" sz="2800" dirty="0"/>
              <a:t>, el cliente compra un </a:t>
            </a:r>
            <a:r>
              <a:rPr lang="es-ES" sz="2800" i="1" dirty="0"/>
              <a:t>Producto</a:t>
            </a:r>
            <a:r>
              <a:rPr lang="es-ES" sz="2800" dirty="0"/>
              <a:t> que </a:t>
            </a:r>
            <a:r>
              <a:rPr lang="es-ES" sz="2800" i="1" dirty="0"/>
              <a:t>pertenece</a:t>
            </a:r>
            <a:r>
              <a:rPr lang="es-ES" sz="2800" dirty="0"/>
              <a:t> a un vendedor, pero no hay un contrato directo "Cliente-Vendedor" fuera de la orden.</a:t>
            </a:r>
          </a:p>
          <a:p>
            <a:pPr>
              <a:buFont typeface="Arial" panose="020B0604020202020204" pitchFamily="34" charset="0"/>
              <a:buChar char="•"/>
            </a:pPr>
            <a:r>
              <a:rPr lang="es-ES" sz="2800" b="1" dirty="0"/>
              <a:t>Resultado:</a:t>
            </a:r>
            <a:r>
              <a:rPr lang="es-ES" sz="2800" dirty="0"/>
              <a:t> </a:t>
            </a:r>
            <a:r>
              <a:rPr lang="es-ES" sz="2800" b="1" dirty="0"/>
              <a:t>Sin Relación Directa</a:t>
            </a:r>
            <a:r>
              <a:rPr lang="es-ES" sz="2800" dirty="0"/>
              <a:t> (Se conectan a través de </a:t>
            </a:r>
            <a:r>
              <a:rPr lang="es-ES" sz="2800" dirty="0" err="1">
                <a:latin typeface="Courier New" panose="02070309020205020404" pitchFamily="49" charset="0"/>
              </a:rPr>
              <a:t>Order</a:t>
            </a:r>
            <a:r>
              <a:rPr lang="es-ES" sz="2800" dirty="0"/>
              <a:t> y </a:t>
            </a:r>
            <a:r>
              <a:rPr lang="es-ES" sz="2800" dirty="0" err="1">
                <a:latin typeface="Courier New" panose="02070309020205020404" pitchFamily="49" charset="0"/>
              </a:rPr>
              <a:t>Order_Items</a:t>
            </a:r>
            <a:r>
              <a:rPr lang="es-ES" sz="2800" dirty="0"/>
              <a:t>).</a:t>
            </a:r>
          </a:p>
        </p:txBody>
      </p:sp>
    </p:spTree>
    <p:extLst>
      <p:ext uri="{BB962C8B-B14F-4D97-AF65-F5344CB8AC3E}">
        <p14:creationId xmlns:p14="http://schemas.microsoft.com/office/powerpoint/2010/main" val="9401235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8D015-6B71-0D69-2983-F63D8DA5E5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5DCD14-ADA6-E9EA-DB28-458D1672295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63F7039-3315-AD73-BE29-85A401453BDB}"/>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4DCF87E-8DEB-F46E-3633-3AF704193A9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4A3D6D6-DA6D-800F-216D-F85128E2E7F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2A050A9-AEFF-1A80-E557-0706404E91A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90012A-89AA-369B-3C9D-3BCDBC288E9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0D128EF-3428-A84D-A69E-34FD77F1755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FE7F313-071B-487E-6C8E-CA5F9FFC75D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8DE04C2-D926-0EA9-E44F-CFBC48093E6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2287D30-BF23-E101-9922-60A97BCE505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BF98EB3E-B25A-A8B7-BBCA-18A1FD2A53F9}"/>
              </a:ext>
            </a:extLst>
          </p:cNvPr>
          <p:cNvGraphicFramePr>
            <a:graphicFrameLocks noGrp="1"/>
          </p:cNvGraphicFramePr>
          <p:nvPr>
            <p:extLst>
              <p:ext uri="{D42A27DB-BD31-4B8C-83A1-F6EECF244321}">
                <p14:modId xmlns:p14="http://schemas.microsoft.com/office/powerpoint/2010/main" val="1012069705"/>
              </p:ext>
            </p:extLst>
          </p:nvPr>
        </p:nvGraphicFramePr>
        <p:xfrm>
          <a:off x="2964730" y="2658121"/>
          <a:ext cx="11863630" cy="4160965"/>
        </p:xfrm>
        <a:graphic>
          <a:graphicData uri="http://schemas.openxmlformats.org/drawingml/2006/table">
            <a:tbl>
              <a:tblPr/>
              <a:tblGrid>
                <a:gridCol w="2372726">
                  <a:extLst>
                    <a:ext uri="{9D8B030D-6E8A-4147-A177-3AD203B41FA5}">
                      <a16:colId xmlns:a16="http://schemas.microsoft.com/office/drawing/2014/main" val="1440396324"/>
                    </a:ext>
                  </a:extLst>
                </a:gridCol>
                <a:gridCol w="2372726">
                  <a:extLst>
                    <a:ext uri="{9D8B030D-6E8A-4147-A177-3AD203B41FA5}">
                      <a16:colId xmlns:a16="http://schemas.microsoft.com/office/drawing/2014/main" val="3611656687"/>
                    </a:ext>
                  </a:extLst>
                </a:gridCol>
                <a:gridCol w="2372726">
                  <a:extLst>
                    <a:ext uri="{9D8B030D-6E8A-4147-A177-3AD203B41FA5}">
                      <a16:colId xmlns:a16="http://schemas.microsoft.com/office/drawing/2014/main" val="1582652915"/>
                    </a:ext>
                  </a:extLst>
                </a:gridCol>
                <a:gridCol w="2372726">
                  <a:extLst>
                    <a:ext uri="{9D8B030D-6E8A-4147-A177-3AD203B41FA5}">
                      <a16:colId xmlns:a16="http://schemas.microsoft.com/office/drawing/2014/main" val="220071222"/>
                    </a:ext>
                  </a:extLst>
                </a:gridCol>
                <a:gridCol w="2372726">
                  <a:extLst>
                    <a:ext uri="{9D8B030D-6E8A-4147-A177-3AD203B41FA5}">
                      <a16:colId xmlns:a16="http://schemas.microsoft.com/office/drawing/2014/main" val="1405358658"/>
                    </a:ext>
                  </a:extLst>
                </a:gridCol>
              </a:tblGrid>
              <a:tr h="1027759">
                <a:tc>
                  <a:txBody>
                    <a:bodyPr/>
                    <a:lstStyle/>
                    <a:p>
                      <a:pPr>
                        <a:buNone/>
                      </a:pP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err="1"/>
                        <a:t>Customer</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Product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Seller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6401715"/>
                  </a:ext>
                </a:extLst>
              </a:tr>
              <a:tr h="1184505">
                <a:tc>
                  <a:txBody>
                    <a:bodyPr/>
                    <a:lstStyle/>
                    <a:p>
                      <a:pPr>
                        <a:buNone/>
                      </a:pPr>
                      <a:r>
                        <a:rPr lang="es-CO" sz="2800" b="1"/>
                        <a:t>Customer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1:N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1953478"/>
                  </a:ext>
                </a:extLst>
              </a:tr>
              <a:tr h="649567">
                <a:tc>
                  <a:txBody>
                    <a:bodyPr/>
                    <a:lstStyle/>
                    <a:p>
                      <a:pPr>
                        <a:buNone/>
                      </a:pPr>
                      <a:r>
                        <a:rPr lang="es-CO" sz="2800" b="1"/>
                        <a:t>Order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M:N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1371335"/>
                  </a:ext>
                </a:extLst>
              </a:tr>
              <a:tr h="649567">
                <a:tc>
                  <a:txBody>
                    <a:bodyPr/>
                    <a:lstStyle/>
                    <a:p>
                      <a:pPr>
                        <a:buNone/>
                      </a:pPr>
                      <a:r>
                        <a:rPr lang="es-CO" sz="2800" b="1"/>
                        <a:t>Product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M:N</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7062001"/>
                  </a:ext>
                </a:extLst>
              </a:tr>
              <a:tr h="649567">
                <a:tc>
                  <a:txBody>
                    <a:bodyPr/>
                    <a:lstStyle/>
                    <a:p>
                      <a:pPr>
                        <a:buNone/>
                      </a:pPr>
                      <a:r>
                        <a:rPr lang="es-CO" sz="2800" b="1"/>
                        <a:t>Seller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1:N</a:t>
                      </a: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1:N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90237387"/>
                  </a:ext>
                </a:extLst>
              </a:tr>
            </a:tbl>
          </a:graphicData>
        </a:graphic>
      </p:graphicFrame>
      <p:sp>
        <p:nvSpPr>
          <p:cNvPr id="13" name="Rectangle 1">
            <a:extLst>
              <a:ext uri="{FF2B5EF4-FFF2-40B4-BE49-F238E27FC236}">
                <a16:creationId xmlns:a16="http://schemas.microsoft.com/office/drawing/2014/main" id="{814C4B72-6C2A-E5D1-795E-8519830EC283}"/>
              </a:ext>
            </a:extLst>
          </p:cNvPr>
          <p:cNvSpPr>
            <a:spLocks noChangeArrowheads="1"/>
          </p:cNvSpPr>
          <p:nvPr/>
        </p:nvSpPr>
        <p:spPr bwMode="auto">
          <a:xfrm>
            <a:off x="1356201" y="910899"/>
            <a:ext cx="1518785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Arial" panose="020B0604020202020204" pitchFamily="34" charset="0"/>
              </a:rPr>
              <a:t>La Matriz Resuelta (Versión Simplificada)</a:t>
            </a:r>
          </a:p>
        </p:txBody>
      </p:sp>
      <p:sp>
        <p:nvSpPr>
          <p:cNvPr id="15" name="CuadroTexto 14">
            <a:extLst>
              <a:ext uri="{FF2B5EF4-FFF2-40B4-BE49-F238E27FC236}">
                <a16:creationId xmlns:a16="http://schemas.microsoft.com/office/drawing/2014/main" id="{9070CF4B-D1C0-D3D6-B090-70AB84CC7988}"/>
              </a:ext>
            </a:extLst>
          </p:cNvPr>
          <p:cNvSpPr txBox="1"/>
          <p:nvPr/>
        </p:nvSpPr>
        <p:spPr>
          <a:xfrm>
            <a:off x="1919533" y="8114993"/>
            <a:ext cx="14448934"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1" u="none" strike="noStrike" cap="none" normalizeH="0" baseline="0" dirty="0">
                <a:ln>
                  <a:noFill/>
                </a:ln>
                <a:solidFill>
                  <a:schemeClr val="tx1"/>
                </a:solidFill>
                <a:effectLst/>
                <a:latin typeface="Arial" panose="020B0604020202020204" pitchFamily="34" charset="0"/>
              </a:rPr>
              <a:t>*Nota sobre </a:t>
            </a:r>
            <a:r>
              <a:rPr kumimoji="0" lang="es-CO" altLang="es-CO" sz="2000" b="0" i="1" u="none" strike="noStrike" cap="none" normalizeH="0" baseline="0" dirty="0" err="1">
                <a:ln>
                  <a:noFill/>
                </a:ln>
                <a:solidFill>
                  <a:schemeClr val="tx1"/>
                </a:solidFill>
                <a:effectLst/>
                <a:latin typeface="Arial" panose="020B0604020202020204" pitchFamily="34" charset="0"/>
              </a:rPr>
              <a:t>Seller</a:t>
            </a:r>
            <a:r>
              <a:rPr kumimoji="0" lang="es-CO" altLang="es-CO" sz="2000" b="0" i="1" u="none" strike="noStrike" cap="none" normalizeH="0" baseline="0" dirty="0">
                <a:ln>
                  <a:noFill/>
                </a:ln>
                <a:solidFill>
                  <a:schemeClr val="tx1"/>
                </a:solidFill>
                <a:effectLst/>
                <a:latin typeface="Arial" panose="020B0604020202020204" pitchFamily="34" charset="0"/>
              </a:rPr>
              <a:t> y </a:t>
            </a:r>
            <a:r>
              <a:rPr kumimoji="0" lang="es-CO" altLang="es-CO" sz="2000" b="0" i="1" u="none" strike="noStrike" cap="none" normalizeH="0" baseline="0" dirty="0" err="1">
                <a:ln>
                  <a:noFill/>
                </a:ln>
                <a:solidFill>
                  <a:schemeClr val="tx1"/>
                </a:solidFill>
                <a:effectLst/>
                <a:latin typeface="Arial" panose="020B0604020202020204" pitchFamily="34" charset="0"/>
              </a:rPr>
              <a:t>Order</a:t>
            </a:r>
            <a:r>
              <a:rPr kumimoji="0" lang="es-CO" altLang="es-CO" sz="2000" b="0" i="1" u="none" strike="noStrike" cap="none" normalizeH="0" baseline="0" dirty="0">
                <a:ln>
                  <a:noFill/>
                </a:ln>
                <a:solidFill>
                  <a:schemeClr val="tx1"/>
                </a:solidFill>
                <a:effectLst/>
                <a:latin typeface="Arial" panose="020B0604020202020204" pitchFamily="34" charset="0"/>
              </a:rPr>
              <a:t>: En </a:t>
            </a:r>
            <a:r>
              <a:rPr kumimoji="0" lang="es-CO" altLang="es-CO" sz="2000" b="0" i="1" u="none" strike="noStrike" cap="none" normalizeH="0" baseline="0" dirty="0" err="1">
                <a:ln>
                  <a:noFill/>
                </a:ln>
                <a:solidFill>
                  <a:schemeClr val="tx1"/>
                </a:solidFill>
                <a:effectLst/>
                <a:latin typeface="Arial" panose="020B0604020202020204" pitchFamily="34" charset="0"/>
              </a:rPr>
              <a:t>Olist</a:t>
            </a:r>
            <a:r>
              <a:rPr kumimoji="0" lang="es-CO" altLang="es-CO" sz="2000" b="0" i="1" u="none" strike="noStrike" cap="none" normalizeH="0" baseline="0" dirty="0">
                <a:ln>
                  <a:noFill/>
                </a:ln>
                <a:solidFill>
                  <a:schemeClr val="tx1"/>
                </a:solidFill>
                <a:effectLst/>
                <a:latin typeface="Arial" panose="020B0604020202020204" pitchFamily="34" charset="0"/>
              </a:rPr>
              <a:t>, técnicamente un vendedor se relaciona con los ítems de la orden, no con la orden completa (porque una orden puede tener </a:t>
            </a:r>
            <a:r>
              <a:rPr kumimoji="0" lang="es-CO" altLang="es-CO" sz="2000" b="0" i="1" u="none" strike="noStrike" cap="none" normalizeH="0" baseline="0" dirty="0" err="1">
                <a:ln>
                  <a:noFill/>
                </a:ln>
                <a:solidFill>
                  <a:schemeClr val="tx1"/>
                </a:solidFill>
                <a:effectLst/>
                <a:latin typeface="Arial" panose="020B0604020202020204" pitchFamily="34" charset="0"/>
              </a:rPr>
              <a:t>items</a:t>
            </a:r>
            <a:r>
              <a:rPr kumimoji="0" lang="es-CO" altLang="es-CO" sz="2000" b="0" i="1" u="none" strike="noStrike" cap="none" normalizeH="0" baseline="0" dirty="0">
                <a:ln>
                  <a:noFill/>
                </a:ln>
                <a:solidFill>
                  <a:schemeClr val="tx1"/>
                </a:solidFill>
                <a:effectLst/>
                <a:latin typeface="Arial" panose="020B0604020202020204" pitchFamily="34" charset="0"/>
              </a:rPr>
              <a:t> de vendedores distintos). Por ahora, lo marcamos como relación indirecta o compleja.</a:t>
            </a:r>
            <a:endParaRPr kumimoji="0" lang="es-CO" altLang="es-CO"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884935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531AB-3AC1-B9D3-CF37-1E0644AE5D8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CAD8722-5588-209A-EB2D-24B505CF1B1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6B107FC-F521-D4AE-E057-68E185841A6B}"/>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D2446BC-9953-9A54-9269-40EA86B6395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D6E9B152-6EE8-6232-1948-517369764ED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A3553E9-7317-B64A-AACC-ABDA8DE5826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000D428-2C36-70BD-B728-C1395D7E87A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493295-0ED1-A378-78AD-148B590F445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AB79C09-B6FE-3DE3-B471-7F12D2F13B2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0607C8F-2FB9-9DC9-BFF5-3A8726D3041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9BA864-5F93-069F-2FB6-9DBFD3FEAE5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135B361E-2833-09F2-EA6A-2C4D79433341}"/>
              </a:ext>
            </a:extLst>
          </p:cNvPr>
          <p:cNvSpPr txBox="1"/>
          <p:nvPr/>
        </p:nvSpPr>
        <p:spPr>
          <a:xfrm>
            <a:off x="1286758" y="1331684"/>
            <a:ext cx="15714483" cy="7478970"/>
          </a:xfrm>
          <a:prstGeom prst="rect">
            <a:avLst/>
          </a:prstGeom>
          <a:noFill/>
        </p:spPr>
        <p:txBody>
          <a:bodyPr wrap="square">
            <a:spAutoFit/>
          </a:bodyPr>
          <a:lstStyle/>
          <a:p>
            <a:pPr>
              <a:buNone/>
            </a:pPr>
            <a:r>
              <a:rPr lang="es-ES" sz="3200" b="1" dirty="0"/>
              <a:t>Descubrimiento Crítico: La "Entidad Asociativa“</a:t>
            </a:r>
          </a:p>
          <a:p>
            <a:pPr>
              <a:buNone/>
            </a:pPr>
            <a:endParaRPr lang="es-ES" sz="3200" b="1" dirty="0"/>
          </a:p>
          <a:p>
            <a:pPr>
              <a:buNone/>
            </a:pPr>
            <a:r>
              <a:rPr lang="es-ES" sz="3200" dirty="0"/>
              <a:t>Al encontrar la relación </a:t>
            </a:r>
            <a:r>
              <a:rPr lang="es-ES" sz="3200" b="1" dirty="0"/>
              <a:t>M:N</a:t>
            </a:r>
            <a:r>
              <a:rPr lang="es-ES" sz="3200" dirty="0"/>
              <a:t> entre </a:t>
            </a:r>
            <a:r>
              <a:rPr lang="es-ES" sz="3200" dirty="0" err="1">
                <a:latin typeface="Courier New" panose="02070309020205020404" pitchFamily="49" charset="0"/>
              </a:rPr>
              <a:t>Order</a:t>
            </a:r>
            <a:r>
              <a:rPr lang="es-ES" sz="3200" dirty="0"/>
              <a:t> y </a:t>
            </a:r>
            <a:r>
              <a:rPr lang="es-ES" sz="3200" dirty="0" err="1">
                <a:latin typeface="Courier New" panose="02070309020205020404" pitchFamily="49" charset="0"/>
              </a:rPr>
              <a:t>Product</a:t>
            </a:r>
            <a:r>
              <a:rPr lang="es-ES" sz="3200" dirty="0"/>
              <a:t>, la metodología nos obliga a crear una nueva entidad intermedia.</a:t>
            </a:r>
          </a:p>
          <a:p>
            <a:pPr>
              <a:buNone/>
            </a:pPr>
            <a:endParaRPr lang="es-ES" sz="3200" dirty="0"/>
          </a:p>
          <a:p>
            <a:pPr marL="457200" indent="-457200">
              <a:buFont typeface="Arial" panose="020B0604020202020204" pitchFamily="34" charset="0"/>
              <a:buChar char="•"/>
            </a:pPr>
            <a:r>
              <a:rPr lang="es-ES" sz="3200" b="1" dirty="0"/>
              <a:t>El Problema:</a:t>
            </a:r>
            <a:r>
              <a:rPr lang="es-ES" sz="3200" dirty="0"/>
              <a:t> No puedo guardar una lista de productos en una celda de la tabla </a:t>
            </a:r>
            <a:r>
              <a:rPr lang="es-ES" sz="3200" dirty="0" err="1">
                <a:latin typeface="Courier New" panose="02070309020205020404" pitchFamily="49" charset="0"/>
              </a:rPr>
              <a:t>Order</a:t>
            </a:r>
            <a:r>
              <a:rPr lang="es-ES" sz="3200" dirty="0"/>
              <a:t>.</a:t>
            </a:r>
          </a:p>
          <a:p>
            <a:pPr marL="457200" indent="-457200">
              <a:buFont typeface="Arial" panose="020B0604020202020204" pitchFamily="34" charset="0"/>
              <a:buChar char="•"/>
            </a:pPr>
            <a:r>
              <a:rPr lang="es-ES" sz="3200" b="1" dirty="0"/>
              <a:t>La Solución:</a:t>
            </a:r>
            <a:r>
              <a:rPr lang="es-ES" sz="3200" dirty="0"/>
              <a:t> Nace </a:t>
            </a:r>
            <a:r>
              <a:rPr lang="es-ES" sz="3200" dirty="0" err="1">
                <a:latin typeface="Courier New" panose="02070309020205020404" pitchFamily="49" charset="0"/>
              </a:rPr>
              <a:t>Order_Items</a:t>
            </a:r>
            <a:r>
              <a:rPr lang="es-ES" sz="3200" dirty="0"/>
              <a:t>.</a:t>
            </a:r>
          </a:p>
          <a:p>
            <a:pPr marL="457200" indent="-457200">
              <a:buFont typeface="Arial" panose="020B0604020202020204" pitchFamily="34" charset="0"/>
              <a:buChar char="•"/>
            </a:pPr>
            <a:endParaRPr lang="es-ES" sz="3200" dirty="0"/>
          </a:p>
          <a:p>
            <a:pPr>
              <a:buNone/>
            </a:pPr>
            <a:r>
              <a:rPr lang="es-ES" sz="3200" b="1" dirty="0"/>
              <a:t>Nueva Relación:</a:t>
            </a:r>
          </a:p>
          <a:p>
            <a:pPr>
              <a:buNone/>
            </a:pPr>
            <a:endParaRPr lang="es-ES" sz="3200" dirty="0"/>
          </a:p>
          <a:p>
            <a:pPr marL="514350" indent="-514350">
              <a:buFont typeface="+mj-lt"/>
              <a:buAutoNum type="arabicPeriod"/>
            </a:pPr>
            <a:r>
              <a:rPr lang="es-ES" sz="3200" dirty="0" err="1"/>
              <a:t>Order</a:t>
            </a:r>
            <a:r>
              <a:rPr lang="es-ES" sz="3200" dirty="0"/>
              <a:t> </a:t>
            </a:r>
            <a:r>
              <a:rPr lang="es-ES" sz="3200" b="1" dirty="0"/>
              <a:t>1 : N</a:t>
            </a:r>
            <a:r>
              <a:rPr lang="es-ES" sz="3200" dirty="0"/>
              <a:t> </a:t>
            </a:r>
            <a:r>
              <a:rPr lang="es-ES" sz="3200" dirty="0" err="1"/>
              <a:t>Order_Items</a:t>
            </a:r>
            <a:endParaRPr lang="es-ES" sz="3200" dirty="0"/>
          </a:p>
          <a:p>
            <a:pPr marL="514350" indent="-514350">
              <a:buFont typeface="+mj-lt"/>
              <a:buAutoNum type="arabicPeriod"/>
            </a:pPr>
            <a:r>
              <a:rPr lang="es-ES" sz="3200" dirty="0" err="1"/>
              <a:t>Product</a:t>
            </a:r>
            <a:r>
              <a:rPr lang="es-ES" sz="3200" dirty="0"/>
              <a:t> </a:t>
            </a:r>
            <a:r>
              <a:rPr lang="es-ES" sz="3200" b="1" dirty="0"/>
              <a:t>1 : N</a:t>
            </a:r>
            <a:r>
              <a:rPr lang="es-ES" sz="3200" dirty="0"/>
              <a:t> </a:t>
            </a:r>
            <a:r>
              <a:rPr lang="es-ES" sz="3200" dirty="0" err="1"/>
              <a:t>Order_Items</a:t>
            </a:r>
            <a:endParaRPr lang="es-ES" sz="3200" dirty="0"/>
          </a:p>
          <a:p>
            <a:pPr>
              <a:buFont typeface="+mj-lt"/>
              <a:buAutoNum type="arabicPeriod"/>
            </a:pPr>
            <a:endParaRPr lang="es-ES" sz="3200" dirty="0"/>
          </a:p>
          <a:p>
            <a:pPr>
              <a:buNone/>
            </a:pPr>
            <a:r>
              <a:rPr lang="es-ES" sz="3200" i="1" dirty="0"/>
              <a:t>Ahora </a:t>
            </a:r>
            <a:r>
              <a:rPr lang="es-ES" sz="3200" i="1" dirty="0" err="1">
                <a:latin typeface="Courier New" panose="02070309020205020404" pitchFamily="49" charset="0"/>
              </a:rPr>
              <a:t>Order_Items</a:t>
            </a:r>
            <a:r>
              <a:rPr lang="es-ES" sz="3200" i="1" dirty="0"/>
              <a:t> se convierte en el "hijo" de ambos.</a:t>
            </a:r>
            <a:endParaRPr lang="es-ES" sz="3200" dirty="0"/>
          </a:p>
        </p:txBody>
      </p:sp>
    </p:spTree>
    <p:extLst>
      <p:ext uri="{BB962C8B-B14F-4D97-AF65-F5344CB8AC3E}">
        <p14:creationId xmlns:p14="http://schemas.microsoft.com/office/powerpoint/2010/main" val="21885309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8A2E-B134-114C-0294-F105BC92E631}"/>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1CAA0377-AB38-922F-DD31-229BC989C9E2}"/>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EB88EE6F-D06B-D095-DC71-5B67E27E71E5}"/>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24510801-8903-DF33-A59D-B15EAE990B14}"/>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BFC8E835-4E9D-7B35-A8A1-38E4F3B61C94}"/>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69137522-2EBF-AA03-BA69-5EBCBAB6964C}"/>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BE93A83B-81AF-3060-4B40-408B83EF718A}"/>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CD2F8443-1DE0-8175-0DAA-FB321F7EF400}"/>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BEDD097D-F27C-F4C5-48F9-5443ECDFC13E}"/>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B9A32E0B-CED8-24BE-34F2-DE8191F272D4}"/>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2EA4013A-107D-3EBA-8C1A-2AC1AAF86AA1}"/>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36ECDE5A-D5BF-10C3-78CD-882F01718AC4}"/>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D5E578D3-02FD-B462-9236-06EA1D6DD04F}"/>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2AB0F8EA-AEF3-A475-F4A7-894947D01192}"/>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4945509B-C3C9-A4AB-1A7C-1188A3810057}"/>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1D047091-6226-6D5A-A634-6BC9F5E14216}"/>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18445748-31A5-2339-CD83-939D0515C625}"/>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02165A0E-3897-B7CB-3129-AA263509EC89}"/>
                </a:ext>
              </a:extLst>
            </p:cNvPr>
            <p:cNvSpPr txBox="1"/>
            <p:nvPr/>
          </p:nvSpPr>
          <p:spPr>
            <a:xfrm>
              <a:off x="355297" y="1180058"/>
              <a:ext cx="7868385" cy="2652376"/>
            </a:xfrm>
            <a:prstGeom prst="rect">
              <a:avLst/>
            </a:prstGeom>
          </p:spPr>
          <p:txBody>
            <a:bodyPr lIns="0" tIns="0" rIns="0" bIns="0" rtlCol="0" anchor="t">
              <a:spAutoFit/>
            </a:bodyPr>
            <a:lstStyle/>
            <a:p>
              <a:r>
                <a:rPr lang="es-CO" sz="2400" dirty="0"/>
                <a:t>En Grupos y por cada caso de estudio</a:t>
              </a:r>
            </a:p>
            <a:p>
              <a:endParaRPr lang="es-CO" sz="2400" dirty="0"/>
            </a:p>
            <a:p>
              <a:pPr marL="285750" indent="-285750">
                <a:buFont typeface="Arial" panose="020B0604020202020204" pitchFamily="34" charset="0"/>
                <a:buChar char="•"/>
              </a:pPr>
              <a:r>
                <a:rPr lang="es-CO" sz="2400" dirty="0"/>
                <a:t>Paso 2-1: Construir la matriz</a:t>
              </a:r>
            </a:p>
            <a:p>
              <a:pPr marL="285750" indent="-285750">
                <a:buFont typeface="Arial" panose="020B0604020202020204" pitchFamily="34" charset="0"/>
                <a:buChar char="•"/>
              </a:pPr>
              <a:r>
                <a:rPr lang="es-CO" sz="2400" dirty="0"/>
                <a:t>Paso 2-2: Completar la matriz</a:t>
              </a:r>
            </a:p>
            <a:p>
              <a:endParaRPr lang="es-CO" sz="2400" dirty="0"/>
            </a:p>
          </p:txBody>
        </p:sp>
      </p:grpSp>
    </p:spTree>
    <p:extLst>
      <p:ext uri="{BB962C8B-B14F-4D97-AF65-F5344CB8AC3E}">
        <p14:creationId xmlns:p14="http://schemas.microsoft.com/office/powerpoint/2010/main" val="35350623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74B36-FD69-B9F1-879D-6BDA871EFAB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72B9D7-A353-13DE-9DC8-8BD73222CAD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CEF3BA4-50F4-8DF2-1AF7-9F3B3796CBC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799E304-BE56-09BB-BCAD-019796007A9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B5597EE-525D-E25D-36C3-F49C125997F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8AAF8C4-1B06-E03E-8979-9FC6135DEA9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F603F43-56DA-3871-547F-A74758995F8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327629A-B9A6-6A29-E317-689E505D8FD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67F937A-B514-FDB7-CD50-6C0E31F75A5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B5A5094-B895-9D6C-04E9-8D06DEFC0B2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ED92A39-98BF-6A03-2667-C87C8395569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A030351-CDFA-4134-5C91-46A8FE6841EB}"/>
              </a:ext>
            </a:extLst>
          </p:cNvPr>
          <p:cNvSpPr txBox="1"/>
          <p:nvPr/>
        </p:nvSpPr>
        <p:spPr>
          <a:xfrm>
            <a:off x="4508369" y="4917732"/>
            <a:ext cx="9186420" cy="2123658"/>
          </a:xfrm>
          <a:prstGeom prst="rect">
            <a:avLst/>
          </a:prstGeom>
          <a:noFill/>
        </p:spPr>
        <p:txBody>
          <a:bodyPr wrap="square">
            <a:spAutoFit/>
          </a:bodyPr>
          <a:lstStyle/>
          <a:p>
            <a:pPr algn="ctr"/>
            <a:r>
              <a:rPr lang="es-CO" sz="4400" b="1" dirty="0"/>
              <a:t>Paso 3: </a:t>
            </a:r>
          </a:p>
          <a:p>
            <a:pPr algn="ctr"/>
            <a:r>
              <a:rPr lang="es-CO" sz="4400" b="1" dirty="0"/>
              <a:t>Crear un diagrama de entidad-relación simplificado</a:t>
            </a:r>
          </a:p>
        </p:txBody>
      </p:sp>
    </p:spTree>
    <p:extLst>
      <p:ext uri="{BB962C8B-B14F-4D97-AF65-F5344CB8AC3E}">
        <p14:creationId xmlns:p14="http://schemas.microsoft.com/office/powerpoint/2010/main" val="27228853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5CCD0-DBB0-4DE3-FF91-FFE438A7D8A8}"/>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B4C6A28C-C600-1181-C330-16CD4F284E58}"/>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37C37EC5-4DBE-C038-687C-EA1BCCE606FC}"/>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C888540F-DD81-7133-6CEC-967EF869A228}"/>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2BEB1C73-F2CD-3FED-C127-119FAD498B21}"/>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1F943575-7AD4-99D8-6E86-415E537F5C32}"/>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162C02E5-B591-4374-2DE4-A71620F44320}"/>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E88016C9-BD37-B9B6-A7BC-6C01D067FA32}"/>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E67AD847-B348-D796-87D4-A44738E6FFA4}"/>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025A555E-51E2-CE47-1411-ADDB43D8B469}"/>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9FE535F1-CB35-664C-484F-C518D5BA12C0}"/>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CD903F14-0D96-9A30-B45B-809B5B11395B}"/>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0BF4EB19-7301-5B70-69E5-AE2B40BDCC42}"/>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AB731042-EC7C-4CB2-73BA-A6F6F1067557}"/>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56184086-BB31-4E1D-2835-CC063FCD85D4}"/>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C058F019-A24A-57AB-9A71-675AEC87D587}"/>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7512B3C1-15EC-598F-A099-3E877B3042D8}"/>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615F1866-E3E7-97AF-B6CF-4F9D615F83AA}"/>
                </a:ext>
              </a:extLst>
            </p:cNvPr>
            <p:cNvSpPr txBox="1"/>
            <p:nvPr/>
          </p:nvSpPr>
          <p:spPr>
            <a:xfrm>
              <a:off x="355297" y="1180058"/>
              <a:ext cx="7868385" cy="3182851"/>
            </a:xfrm>
            <a:prstGeom prst="rect">
              <a:avLst/>
            </a:prstGeom>
          </p:spPr>
          <p:txBody>
            <a:bodyPr lIns="0" tIns="0" rIns="0" bIns="0" rtlCol="0" anchor="t">
              <a:spAutoFit/>
            </a:bodyPr>
            <a:lstStyle/>
            <a:p>
              <a:r>
                <a:rPr lang="es-CO" sz="2400" dirty="0"/>
                <a:t>En Grupos y por cada caso de estudio</a:t>
              </a:r>
            </a:p>
            <a:p>
              <a:endParaRPr lang="es-CO" sz="2400" dirty="0"/>
            </a:p>
            <a:p>
              <a:pPr algn="ctr"/>
              <a:r>
                <a:rPr lang="es-CO" sz="2400" b="1" dirty="0"/>
                <a:t>Paso 3: </a:t>
              </a:r>
            </a:p>
            <a:p>
              <a:pPr algn="ctr"/>
              <a:r>
                <a:rPr lang="es-CO" sz="2400" b="1" dirty="0"/>
                <a:t>Crear un diagrama de entidad-relación simplificado</a:t>
              </a:r>
            </a:p>
            <a:p>
              <a:endParaRPr lang="es-CO" sz="2400" dirty="0"/>
            </a:p>
          </p:txBody>
        </p:sp>
      </p:grpSp>
    </p:spTree>
    <p:extLst>
      <p:ext uri="{BB962C8B-B14F-4D97-AF65-F5344CB8AC3E}">
        <p14:creationId xmlns:p14="http://schemas.microsoft.com/office/powerpoint/2010/main" val="274150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77383-CC1A-E23F-9FD8-D257982E63F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D175A2-E660-E913-8EF2-E7CE017AE77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2E90512-13E6-59CD-6D53-31AD29A95FC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6BD956D-D448-A519-C632-784B72B76F5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FE3712F-52A4-4CEE-085A-7C949DF8A87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25B3B1F-333C-9079-333C-63315B9B080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06613B1-D8A4-FF03-12EB-BFDD1C8FF66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0AF57D9-BE87-2A8A-7A65-BF59E774C08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D79892E-6F5B-9C87-0D04-F62D6F9400D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A1452C0-6737-96A4-28E4-4B015F6CF1E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61F3D85-4169-0FBC-ADFF-F68E786B4C2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10B2CFB-01D0-A45F-C910-988D86D28D5C}"/>
              </a:ext>
            </a:extLst>
          </p:cNvPr>
          <p:cNvSpPr txBox="1"/>
          <p:nvPr/>
        </p:nvSpPr>
        <p:spPr>
          <a:xfrm>
            <a:off x="3048972" y="8196408"/>
            <a:ext cx="12525866" cy="707886"/>
          </a:xfrm>
          <a:prstGeom prst="rect">
            <a:avLst/>
          </a:prstGeom>
          <a:noFill/>
        </p:spPr>
        <p:txBody>
          <a:bodyPr wrap="square">
            <a:spAutoFit/>
          </a:bodyPr>
          <a:lstStyle/>
          <a:p>
            <a:r>
              <a:rPr lang="es-CO" sz="2000" dirty="0">
                <a:hlinkClick r:id="rId5"/>
              </a:rPr>
              <a:t>https://drive.google.com/file/d/1HIq7TgyTC39MFYDWEfhXrwqwkl-YwvKt/view?usp=sharing</a:t>
            </a:r>
            <a:endParaRPr lang="es-CO" sz="2000" dirty="0"/>
          </a:p>
          <a:p>
            <a:endParaRPr lang="es-CO" sz="2000" dirty="0"/>
          </a:p>
        </p:txBody>
      </p:sp>
      <p:sp>
        <p:nvSpPr>
          <p:cNvPr id="14" name="TextBox 15">
            <a:extLst>
              <a:ext uri="{FF2B5EF4-FFF2-40B4-BE49-F238E27FC236}">
                <a16:creationId xmlns:a16="http://schemas.microsoft.com/office/drawing/2014/main" id="{1DA277C9-4F8C-5C09-95B4-A6A0FC78ACA7}"/>
              </a:ext>
            </a:extLst>
          </p:cNvPr>
          <p:cNvSpPr txBox="1"/>
          <p:nvPr/>
        </p:nvSpPr>
        <p:spPr>
          <a:xfrm>
            <a:off x="2297606" y="2090592"/>
            <a:ext cx="10645396" cy="3693319"/>
          </a:xfrm>
          <a:prstGeom prst="rect">
            <a:avLst/>
          </a:prstGeom>
        </p:spPr>
        <p:txBody>
          <a:bodyPr wrap="square" lIns="0" tIns="0" rIns="0" bIns="0" rtlCol="0" anchor="t">
            <a:spAutoFit/>
          </a:bodyPr>
          <a:lstStyle/>
          <a:p>
            <a:endParaRPr lang="es-CO" sz="2400" dirty="0"/>
          </a:p>
          <a:p>
            <a:pPr algn="ctr"/>
            <a:endParaRPr lang="es-CO" sz="2400" b="1" dirty="0"/>
          </a:p>
          <a:p>
            <a:pPr algn="ctr"/>
            <a:r>
              <a:rPr lang="es-CO" sz="2400" b="1" dirty="0"/>
              <a:t>Paso 3: </a:t>
            </a:r>
          </a:p>
          <a:p>
            <a:pPr algn="ctr"/>
            <a:r>
              <a:rPr lang="es-CO" sz="2400" b="1" dirty="0"/>
              <a:t>Crear un diagrama de entidad-relación simplificado</a:t>
            </a:r>
          </a:p>
          <a:p>
            <a:pPr algn="ctr"/>
            <a:endParaRPr lang="es-CO" sz="2400" b="1" dirty="0"/>
          </a:p>
          <a:p>
            <a:r>
              <a:rPr lang="es-CO" sz="2400" b="1" dirty="0"/>
              <a:t>3.1 Listar las entidades</a:t>
            </a:r>
          </a:p>
          <a:p>
            <a:r>
              <a:rPr lang="es-CO" sz="2400" b="1" dirty="0"/>
              <a:t>3.2 Agregar las relación de las entidades</a:t>
            </a:r>
          </a:p>
          <a:p>
            <a:endParaRPr lang="es-CO" sz="2400" b="1" dirty="0"/>
          </a:p>
          <a:p>
            <a:r>
              <a:rPr lang="es-CO" sz="2400" b="1" dirty="0" err="1"/>
              <a:t>Ej</a:t>
            </a:r>
            <a:r>
              <a:rPr lang="es-CO" sz="2400" b="1" dirty="0"/>
              <a:t>:</a:t>
            </a:r>
          </a:p>
          <a:p>
            <a:endParaRPr lang="es-CO" sz="2400" dirty="0"/>
          </a:p>
        </p:txBody>
      </p:sp>
      <p:pic>
        <p:nvPicPr>
          <p:cNvPr id="16" name="Imagen 15">
            <a:extLst>
              <a:ext uri="{FF2B5EF4-FFF2-40B4-BE49-F238E27FC236}">
                <a16:creationId xmlns:a16="http://schemas.microsoft.com/office/drawing/2014/main" id="{AE2C19A4-8EF7-94CA-8CBC-47AF93F6881C}"/>
              </a:ext>
            </a:extLst>
          </p:cNvPr>
          <p:cNvPicPr>
            <a:picLocks noChangeAspect="1"/>
          </p:cNvPicPr>
          <p:nvPr/>
        </p:nvPicPr>
        <p:blipFill>
          <a:blip r:embed="rId6"/>
          <a:stretch>
            <a:fillRect/>
          </a:stretch>
        </p:blipFill>
        <p:spPr>
          <a:xfrm>
            <a:off x="10737130" y="4466594"/>
            <a:ext cx="7094272" cy="3089441"/>
          </a:xfrm>
          <a:prstGeom prst="rect">
            <a:avLst/>
          </a:prstGeom>
        </p:spPr>
      </p:pic>
    </p:spTree>
    <p:extLst>
      <p:ext uri="{BB962C8B-B14F-4D97-AF65-F5344CB8AC3E}">
        <p14:creationId xmlns:p14="http://schemas.microsoft.com/office/powerpoint/2010/main" val="25106422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A56B3-424E-8585-ED8D-F2988B908F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56C8827-A3B5-6216-7C26-6403707C68B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CB76A93-C4DF-1EB5-D466-004C943FA02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53F1B6D-F973-66CE-39C1-EF67469A1D3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C509478-8B34-BF46-138B-CBA562FA0E3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5D0A4B9-A3E7-3F72-A344-A1498652BAA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E0798E8-55F0-7F85-D136-5D2F1919A53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03A777A-C951-FBF1-7C46-93811C6E5C8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2728127-68C2-F9F4-5321-FEEACC07F81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E4B0E42-F853-EA80-73B7-81A1339C8CD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FD94E7B0-C77E-9505-692A-FE66C2CF0F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21183D0-FE06-AFEA-8E1A-60BC19796954}"/>
              </a:ext>
            </a:extLst>
          </p:cNvPr>
          <p:cNvSpPr txBox="1"/>
          <p:nvPr/>
        </p:nvSpPr>
        <p:spPr>
          <a:xfrm>
            <a:off x="4640344" y="4436965"/>
            <a:ext cx="9186420" cy="2308324"/>
          </a:xfrm>
          <a:prstGeom prst="rect">
            <a:avLst/>
          </a:prstGeom>
          <a:noFill/>
        </p:spPr>
        <p:txBody>
          <a:bodyPr wrap="square">
            <a:spAutoFit/>
          </a:bodyPr>
          <a:lstStyle/>
          <a:p>
            <a:pPr algn="ctr"/>
            <a:r>
              <a:rPr lang="es-CO" sz="4800" b="1" dirty="0"/>
              <a:t>Paso 4: </a:t>
            </a:r>
          </a:p>
          <a:p>
            <a:pPr algn="ctr"/>
            <a:r>
              <a:rPr lang="es-CO" sz="4800" b="1" dirty="0"/>
              <a:t>Enumerar las aserciones para todas las relaciones</a:t>
            </a:r>
          </a:p>
        </p:txBody>
      </p:sp>
    </p:spTree>
    <p:extLst>
      <p:ext uri="{BB962C8B-B14F-4D97-AF65-F5344CB8AC3E}">
        <p14:creationId xmlns:p14="http://schemas.microsoft.com/office/powerpoint/2010/main" val="14672346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0D44C-1B52-9326-1E97-83EBBD138C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70A338-786A-6AC7-931E-36F675CF288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45E4AEA-9945-766F-89A7-8C73F339104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217F534-A603-12B6-8677-42481D94BF9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78F32B-ADEE-FF9B-6566-6F4F24839C9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42E8B34-FC1F-83D3-F274-AC0613543D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3AFA60D-2040-A6E1-A9BA-60FE9CFA0EA8}"/>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922D1E7-6AD8-37A3-F07E-B9E6657EECC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3E4BA83-50E2-FF34-BA68-424C49B77320}"/>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84AF8C6-442E-B494-1E67-99B6178DA4F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F98FEB9-491C-8F23-BD22-2D696F6BA3B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C0F20182-D7A1-98CC-45C4-071B652ABBA5}"/>
              </a:ext>
            </a:extLst>
          </p:cNvPr>
          <p:cNvSpPr txBox="1"/>
          <p:nvPr/>
        </p:nvSpPr>
        <p:spPr>
          <a:xfrm>
            <a:off x="1529497" y="763222"/>
            <a:ext cx="15401041" cy="8894743"/>
          </a:xfrm>
          <a:prstGeom prst="rect">
            <a:avLst/>
          </a:prstGeom>
          <a:noFill/>
        </p:spPr>
        <p:txBody>
          <a:bodyPr wrap="square">
            <a:spAutoFit/>
          </a:bodyPr>
          <a:lstStyle/>
          <a:p>
            <a:pPr>
              <a:buNone/>
            </a:pPr>
            <a:r>
              <a:rPr lang="es-ES" sz="4400" b="1" dirty="0"/>
              <a:t>Aseveraciones del modelo (</a:t>
            </a:r>
            <a:r>
              <a:rPr lang="es-ES" sz="4400" b="1" dirty="0" err="1"/>
              <a:t>Assertions</a:t>
            </a:r>
            <a:r>
              <a:rPr lang="es-ES" sz="4400" b="1" dirty="0"/>
              <a:t>)</a:t>
            </a:r>
            <a:endParaRPr lang="es-ES" sz="4400" dirty="0"/>
          </a:p>
          <a:p>
            <a:pPr>
              <a:buFont typeface="Arial" panose="020B0604020202020204" pitchFamily="34" charset="0"/>
              <a:buChar char="•"/>
            </a:pPr>
            <a:r>
              <a:rPr lang="es-ES" sz="4400" dirty="0"/>
              <a:t>Objetivo:</a:t>
            </a:r>
          </a:p>
          <a:p>
            <a:pPr marL="742950" lvl="1" indent="-285750">
              <a:buFont typeface="Arial" panose="020B0604020202020204" pitchFamily="34" charset="0"/>
              <a:buChar char="•"/>
            </a:pPr>
            <a:r>
              <a:rPr lang="es-ES" sz="4400" dirty="0"/>
              <a:t>Convertir cada relación del diagrama E-R simplificado en </a:t>
            </a:r>
            <a:r>
              <a:rPr lang="es-ES" sz="4400" b="1" dirty="0"/>
              <a:t>frases claras</a:t>
            </a:r>
            <a:r>
              <a:rPr lang="es-ES" sz="4400" dirty="0"/>
              <a:t> que describan la regla de negocio.</a:t>
            </a:r>
          </a:p>
          <a:p>
            <a:pPr marL="742950" lvl="1" indent="-285750">
              <a:buFont typeface="Arial" panose="020B0604020202020204" pitchFamily="34" charset="0"/>
              <a:buChar char="•"/>
            </a:pPr>
            <a:endParaRPr lang="es-ES" sz="4400" dirty="0"/>
          </a:p>
          <a:p>
            <a:pPr>
              <a:buFont typeface="Arial" panose="020B0604020202020204" pitchFamily="34" charset="0"/>
              <a:buChar char="•"/>
            </a:pPr>
            <a:r>
              <a:rPr lang="es-ES" sz="4400" dirty="0"/>
              <a:t>¿Por qué?</a:t>
            </a:r>
          </a:p>
          <a:p>
            <a:pPr marL="742950" lvl="1" indent="-285750">
              <a:buFont typeface="Arial" panose="020B0604020202020204" pitchFamily="34" charset="0"/>
              <a:buChar char="•"/>
            </a:pPr>
            <a:r>
              <a:rPr lang="es-ES" sz="4400" dirty="0"/>
              <a:t>Para verificar con el cliente que el modelo refleja </a:t>
            </a:r>
            <a:r>
              <a:rPr lang="es-ES" sz="4400" b="1" dirty="0"/>
              <a:t>exactamente</a:t>
            </a:r>
            <a:r>
              <a:rPr lang="es-ES" sz="4400" dirty="0"/>
              <a:t> lo que puede y debe pasar en la base de datos.</a:t>
            </a:r>
          </a:p>
          <a:p>
            <a:pPr marL="742950" lvl="1" indent="-285750">
              <a:buFont typeface="Arial" panose="020B0604020202020204" pitchFamily="34" charset="0"/>
              <a:buChar char="•"/>
            </a:pPr>
            <a:endParaRPr lang="es-ES" sz="4400" dirty="0"/>
          </a:p>
          <a:p>
            <a:pPr>
              <a:buFont typeface="Arial" panose="020B0604020202020204" pitchFamily="34" charset="0"/>
              <a:buChar char="•"/>
            </a:pPr>
            <a:r>
              <a:rPr lang="es-ES" sz="4400" dirty="0"/>
              <a:t>Se usan dos ideas clave:</a:t>
            </a:r>
          </a:p>
          <a:p>
            <a:pPr marL="742950" lvl="1" indent="-285750">
              <a:buFont typeface="Arial" panose="020B0604020202020204" pitchFamily="34" charset="0"/>
              <a:buChar char="•"/>
            </a:pPr>
            <a:r>
              <a:rPr lang="es-ES" sz="4400" b="1" dirty="0" err="1"/>
              <a:t>Optionality</a:t>
            </a:r>
            <a:r>
              <a:rPr lang="es-ES" sz="4400" b="1" dirty="0"/>
              <a:t> (opcionalidad)</a:t>
            </a:r>
            <a:endParaRPr lang="es-ES" sz="4400" dirty="0"/>
          </a:p>
          <a:p>
            <a:pPr marL="742950" lvl="1" indent="-285750">
              <a:buFont typeface="Arial" panose="020B0604020202020204" pitchFamily="34" charset="0"/>
              <a:buChar char="•"/>
            </a:pPr>
            <a:r>
              <a:rPr lang="es-ES" sz="4400" b="1" dirty="0" err="1"/>
              <a:t>Cardinality</a:t>
            </a:r>
            <a:r>
              <a:rPr lang="es-ES" sz="4400" b="1" dirty="0"/>
              <a:t> (cardinalidad)</a:t>
            </a:r>
            <a:endParaRPr lang="es-ES" sz="4400" dirty="0"/>
          </a:p>
        </p:txBody>
      </p:sp>
    </p:spTree>
    <p:extLst>
      <p:ext uri="{BB962C8B-B14F-4D97-AF65-F5344CB8AC3E}">
        <p14:creationId xmlns:p14="http://schemas.microsoft.com/office/powerpoint/2010/main" val="3711967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A06F6-4B36-1582-09EB-A4C4B57F5BF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124E842-1D69-6E0D-23AF-F695932551F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37FE3C6-D642-5B61-1392-51A64FD4CA7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8E91E5F-90C7-7786-5BA0-C8B1BDA1414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B6CE3D2-7A30-067D-1A30-F54F0EB47F1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C1ACEDE-E2E5-C2F4-0BBF-E33001028E4D}"/>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E3DF3B8-BA33-041B-A2DC-F210DCE011A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B943CDCA-FD30-05AC-47EC-12235B6AA36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6F893E6-823D-BE92-6464-3DD773A503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530B5DB-C599-92BA-A525-1091617B916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8D43440-9581-0623-2C9A-97962473DE2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ABE4545-52C0-F4AD-16BB-9E1308253D97}"/>
              </a:ext>
            </a:extLst>
          </p:cNvPr>
          <p:cNvSpPr txBox="1"/>
          <p:nvPr/>
        </p:nvSpPr>
        <p:spPr>
          <a:xfrm>
            <a:off x="1718034" y="1331684"/>
            <a:ext cx="15089958" cy="7478970"/>
          </a:xfrm>
          <a:prstGeom prst="rect">
            <a:avLst/>
          </a:prstGeom>
          <a:noFill/>
        </p:spPr>
        <p:txBody>
          <a:bodyPr wrap="square">
            <a:spAutoFit/>
          </a:bodyPr>
          <a:lstStyle/>
          <a:p>
            <a:pPr>
              <a:buNone/>
            </a:pPr>
            <a:r>
              <a:rPr lang="es-ES" sz="3200" b="1" dirty="0" err="1"/>
              <a:t>Optionality</a:t>
            </a:r>
            <a:r>
              <a:rPr lang="es-ES" sz="3200" b="1" dirty="0"/>
              <a:t> (Opcionalidad)</a:t>
            </a:r>
          </a:p>
          <a:p>
            <a:pPr>
              <a:buNone/>
            </a:pPr>
            <a:endParaRPr lang="es-ES" sz="3200" dirty="0"/>
          </a:p>
          <a:p>
            <a:r>
              <a:rPr lang="es-ES" sz="3200" dirty="0"/>
              <a:t>Responde: </a:t>
            </a:r>
            <a:r>
              <a:rPr lang="es-ES" sz="3200" b="1" dirty="0"/>
              <a:t>qué puede</a:t>
            </a:r>
            <a:r>
              <a:rPr lang="es-ES" sz="3200" dirty="0"/>
              <a:t> y </a:t>
            </a:r>
            <a:r>
              <a:rPr lang="es-ES" sz="3200" b="1" dirty="0"/>
              <a:t>qué debe</a:t>
            </a:r>
            <a:r>
              <a:rPr lang="es-ES" sz="3200" dirty="0"/>
              <a:t> pasar en una relación.</a:t>
            </a:r>
          </a:p>
          <a:p>
            <a:r>
              <a:rPr lang="es-ES" sz="3200" dirty="0"/>
              <a:t>Valores posibles:</a:t>
            </a:r>
          </a:p>
          <a:p>
            <a:endParaRPr lang="es-ES" sz="3200" dirty="0"/>
          </a:p>
          <a:p>
            <a:pPr marL="742950" lvl="1" indent="-285750">
              <a:buFont typeface="Arial" panose="020B0604020202020204" pitchFamily="34" charset="0"/>
              <a:buChar char="•"/>
            </a:pPr>
            <a:r>
              <a:rPr lang="es-ES" sz="3200" dirty="0">
                <a:latin typeface="Courier New" panose="02070309020205020404" pitchFamily="49" charset="0"/>
              </a:rPr>
              <a:t>0</a:t>
            </a:r>
            <a:r>
              <a:rPr lang="es-ES" sz="3200" dirty="0"/>
              <a:t> → </a:t>
            </a:r>
            <a:r>
              <a:rPr lang="es-ES" sz="3200" b="1" dirty="0"/>
              <a:t>Puede</a:t>
            </a:r>
            <a:r>
              <a:rPr lang="es-ES" sz="3200" dirty="0"/>
              <a:t> ocurrir o no (relación opcional).</a:t>
            </a:r>
          </a:p>
          <a:p>
            <a:pPr marL="1143000" lvl="2" indent="-228600">
              <a:buFont typeface="Arial" panose="020B0604020202020204" pitchFamily="34" charset="0"/>
              <a:buChar char="•"/>
            </a:pPr>
            <a:r>
              <a:rPr lang="es-ES" sz="3200" dirty="0"/>
              <a:t>Ej.: </a:t>
            </a:r>
            <a:r>
              <a:rPr lang="es-ES" sz="3200" i="1" dirty="0"/>
              <a:t>Un cliente </a:t>
            </a:r>
            <a:r>
              <a:rPr lang="es-ES" sz="3200" b="1" i="1" dirty="0"/>
              <a:t>puede</a:t>
            </a:r>
            <a:r>
              <a:rPr lang="es-ES" sz="3200" i="1" dirty="0"/>
              <a:t> tener cero o más pedidos.</a:t>
            </a:r>
            <a:endParaRPr lang="es-ES" sz="3200" dirty="0"/>
          </a:p>
          <a:p>
            <a:pPr marL="742950" lvl="1" indent="-285750">
              <a:buFont typeface="Arial" panose="020B0604020202020204" pitchFamily="34" charset="0"/>
              <a:buChar char="•"/>
            </a:pPr>
            <a:r>
              <a:rPr lang="es-ES" sz="3200" dirty="0">
                <a:latin typeface="Courier New" panose="02070309020205020404" pitchFamily="49" charset="0"/>
              </a:rPr>
              <a:t>1</a:t>
            </a:r>
            <a:r>
              <a:rPr lang="es-ES" sz="3200" dirty="0"/>
              <a:t> → </a:t>
            </a:r>
            <a:r>
              <a:rPr lang="es-ES" sz="3200" b="1" dirty="0"/>
              <a:t>Debe</a:t>
            </a:r>
            <a:r>
              <a:rPr lang="es-ES" sz="3200" dirty="0"/>
              <a:t> ocurrir (relación obligatoria).</a:t>
            </a:r>
          </a:p>
          <a:p>
            <a:pPr marL="1143000" lvl="2" indent="-228600">
              <a:buFont typeface="Arial" panose="020B0604020202020204" pitchFamily="34" charset="0"/>
              <a:buChar char="•"/>
            </a:pPr>
            <a:r>
              <a:rPr lang="es-ES" sz="3200" dirty="0"/>
              <a:t>Ej.: </a:t>
            </a:r>
            <a:r>
              <a:rPr lang="es-ES" sz="3200" i="1" dirty="0"/>
              <a:t>Cada pedido </a:t>
            </a:r>
            <a:r>
              <a:rPr lang="es-ES" sz="3200" b="1" i="1" dirty="0"/>
              <a:t>debe</a:t>
            </a:r>
            <a:r>
              <a:rPr lang="es-ES" sz="3200" i="1" dirty="0"/>
              <a:t> pertenecer a un cliente.</a:t>
            </a:r>
          </a:p>
          <a:p>
            <a:pPr marL="1143000" lvl="2" indent="-228600">
              <a:buFont typeface="Arial" panose="020B0604020202020204" pitchFamily="34" charset="0"/>
              <a:buChar char="•"/>
            </a:pPr>
            <a:endParaRPr lang="es-ES" sz="3200" dirty="0"/>
          </a:p>
          <a:p>
            <a:r>
              <a:rPr lang="es-ES" sz="3200" dirty="0"/>
              <a:t>Matiz importante:</a:t>
            </a:r>
          </a:p>
          <a:p>
            <a:pPr marL="742950" lvl="1" indent="-285750">
              <a:buFont typeface="Arial" panose="020B0604020202020204" pitchFamily="34" charset="0"/>
              <a:buChar char="•"/>
            </a:pPr>
            <a:r>
              <a:rPr lang="es-ES" sz="3200" dirty="0"/>
              <a:t>Un </a:t>
            </a:r>
            <a:r>
              <a:rPr lang="es-ES" sz="3200" dirty="0">
                <a:latin typeface="Courier New" panose="02070309020205020404" pitchFamily="49" charset="0"/>
              </a:rPr>
              <a:t>0</a:t>
            </a:r>
            <a:r>
              <a:rPr lang="es-ES" sz="3200" dirty="0"/>
              <a:t> implica también la posibilidad de que la relación </a:t>
            </a:r>
            <a:r>
              <a:rPr lang="es-ES" sz="3200" b="1" dirty="0"/>
              <a:t>no ocurra nunca</a:t>
            </a:r>
            <a:r>
              <a:rPr lang="es-ES" sz="3200" dirty="0"/>
              <a:t>.</a:t>
            </a:r>
          </a:p>
          <a:p>
            <a:pPr marL="742950" lvl="1" indent="-285750">
              <a:buFont typeface="Arial" panose="020B0604020202020204" pitchFamily="34" charset="0"/>
              <a:buChar char="•"/>
            </a:pPr>
            <a:r>
              <a:rPr lang="es-ES" sz="3200" dirty="0"/>
              <a:t>Siempre confirmar con el cliente:</a:t>
            </a:r>
          </a:p>
          <a:p>
            <a:pPr marL="1143000" lvl="2" indent="-228600">
              <a:buFont typeface="Arial" panose="020B0604020202020204" pitchFamily="34" charset="0"/>
              <a:buChar char="•"/>
            </a:pPr>
            <a:r>
              <a:rPr lang="es-ES" sz="3200" dirty="0"/>
              <a:t>¿Esto es obligatorio?</a:t>
            </a:r>
          </a:p>
          <a:p>
            <a:pPr marL="1143000" lvl="2" indent="-228600">
              <a:buFont typeface="Arial" panose="020B0604020202020204" pitchFamily="34" charset="0"/>
              <a:buChar char="•"/>
            </a:pPr>
            <a:r>
              <a:rPr lang="es-ES" sz="3200" dirty="0"/>
              <a:t>¿Puede no suceder?</a:t>
            </a:r>
          </a:p>
        </p:txBody>
      </p:sp>
    </p:spTree>
    <p:extLst>
      <p:ext uri="{BB962C8B-B14F-4D97-AF65-F5344CB8AC3E}">
        <p14:creationId xmlns:p14="http://schemas.microsoft.com/office/powerpoint/2010/main" val="26146679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1E7E-118F-2765-8175-C5F3F7186D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BECD77-86A0-EBDF-EEDC-DE1541C47A9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A71C6FD-314F-1E44-FF54-E05BEBE2766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20EF82E-BA98-6109-37AC-CE8C664D3DC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9D3ABC9-08BD-FD97-52EF-1EF3B93093C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63186B7-F760-4AB0-3DEF-CAE62A74FF6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41A207B-B8DA-2E1A-EC68-71D30C8691E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BE6539EB-3634-31F7-779A-9E14F5F8C00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B04C28A-4F32-F1AD-FB3C-394128A4AE7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A9C0F7C-4AD5-C717-A685-9E3388844F0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86010A67-7452-5A8B-456C-BF9B71E3A00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5CB5710-504B-DEB3-CFBA-BBFC5AAC040B}"/>
              </a:ext>
            </a:extLst>
          </p:cNvPr>
          <p:cNvSpPr txBox="1"/>
          <p:nvPr/>
        </p:nvSpPr>
        <p:spPr>
          <a:xfrm>
            <a:off x="1564849" y="1065308"/>
            <a:ext cx="15158301" cy="7540526"/>
          </a:xfrm>
          <a:prstGeom prst="rect">
            <a:avLst/>
          </a:prstGeom>
          <a:noFill/>
        </p:spPr>
        <p:txBody>
          <a:bodyPr wrap="square">
            <a:spAutoFit/>
          </a:bodyPr>
          <a:lstStyle/>
          <a:p>
            <a:pPr>
              <a:buNone/>
            </a:pPr>
            <a:r>
              <a:rPr lang="es-ES" sz="4400" b="1" dirty="0" err="1"/>
              <a:t>Cardinality</a:t>
            </a:r>
            <a:r>
              <a:rPr lang="es-ES" sz="4400" b="1" dirty="0"/>
              <a:t> (Cardinalidad)</a:t>
            </a:r>
          </a:p>
          <a:p>
            <a:pPr>
              <a:buNone/>
            </a:pPr>
            <a:endParaRPr lang="es-ES" sz="4400" dirty="0"/>
          </a:p>
          <a:p>
            <a:r>
              <a:rPr lang="es-ES" sz="4400" dirty="0"/>
              <a:t>Responde: </a:t>
            </a:r>
            <a:r>
              <a:rPr lang="es-ES" sz="4400" b="1" dirty="0"/>
              <a:t>cuántas ocurrencias</a:t>
            </a:r>
            <a:r>
              <a:rPr lang="es-ES" sz="4400" dirty="0"/>
              <a:t> de una entidad pueden participar en la relación.</a:t>
            </a:r>
          </a:p>
          <a:p>
            <a:endParaRPr lang="es-ES" sz="4400" dirty="0"/>
          </a:p>
          <a:p>
            <a:pPr marL="742950" lvl="1" indent="-285750">
              <a:buFont typeface="Arial" panose="020B0604020202020204" pitchFamily="34" charset="0"/>
              <a:buChar char="•"/>
            </a:pPr>
            <a:r>
              <a:rPr lang="es-ES" sz="4400" dirty="0">
                <a:latin typeface="Courier New" panose="02070309020205020404" pitchFamily="49" charset="0"/>
              </a:rPr>
              <a:t>1</a:t>
            </a:r>
            <a:r>
              <a:rPr lang="es-ES" sz="4400" dirty="0"/>
              <a:t> → </a:t>
            </a:r>
            <a:r>
              <a:rPr lang="es-ES" sz="4400" b="1" dirty="0"/>
              <a:t>Solo una</a:t>
            </a:r>
            <a:r>
              <a:rPr lang="es-ES" sz="4400" dirty="0"/>
              <a:t> ocurrencia.</a:t>
            </a:r>
          </a:p>
          <a:p>
            <a:pPr marL="742950" lvl="1" indent="-285750">
              <a:buFont typeface="Arial" panose="020B0604020202020204" pitchFamily="34" charset="0"/>
              <a:buChar char="•"/>
            </a:pPr>
            <a:r>
              <a:rPr lang="es-ES" sz="4400" dirty="0">
                <a:latin typeface="Courier New" panose="02070309020205020404" pitchFamily="49" charset="0"/>
              </a:rPr>
              <a:t>N</a:t>
            </a:r>
            <a:r>
              <a:rPr lang="es-ES" sz="4400" dirty="0"/>
              <a:t> → </a:t>
            </a:r>
            <a:r>
              <a:rPr lang="es-ES" sz="4400" b="1" dirty="0"/>
              <a:t>Muchas / al menos una</a:t>
            </a:r>
            <a:r>
              <a:rPr lang="es-ES" sz="4400" dirty="0"/>
              <a:t> ocurrencia.</a:t>
            </a:r>
          </a:p>
          <a:p>
            <a:pPr marL="742950" lvl="1" indent="-285750">
              <a:buFont typeface="Arial" panose="020B0604020202020204" pitchFamily="34" charset="0"/>
              <a:buChar char="•"/>
            </a:pPr>
            <a:endParaRPr lang="es-ES" sz="4400" dirty="0"/>
          </a:p>
          <a:p>
            <a:r>
              <a:rPr lang="es-ES" sz="4400" dirty="0"/>
              <a:t>Ejemplos:</a:t>
            </a:r>
          </a:p>
          <a:p>
            <a:pPr marL="742950" lvl="1" indent="-285750">
              <a:buFont typeface="Arial" panose="020B0604020202020204" pitchFamily="34" charset="0"/>
              <a:buChar char="•"/>
            </a:pPr>
            <a:r>
              <a:rPr lang="es-ES" sz="4400" i="1" dirty="0"/>
              <a:t>Un cliente puede hacer N pagos.</a:t>
            </a:r>
            <a:endParaRPr lang="es-ES" sz="4400" dirty="0"/>
          </a:p>
          <a:p>
            <a:pPr marL="742950" lvl="1" indent="-285750">
              <a:buFont typeface="Arial" panose="020B0604020202020204" pitchFamily="34" charset="0"/>
              <a:buChar char="•"/>
            </a:pPr>
            <a:r>
              <a:rPr lang="es-ES" sz="4400" i="1" dirty="0"/>
              <a:t>Cada pago está asociado a 1 cliente.</a:t>
            </a:r>
            <a:endParaRPr lang="es-ES" sz="4400" dirty="0"/>
          </a:p>
        </p:txBody>
      </p:sp>
    </p:spTree>
    <p:extLst>
      <p:ext uri="{BB962C8B-B14F-4D97-AF65-F5344CB8AC3E}">
        <p14:creationId xmlns:p14="http://schemas.microsoft.com/office/powerpoint/2010/main" val="15752241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8104A-B11A-2EEC-BC8D-4AE4EB7896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4F59759-6845-5033-00AD-7DF642271ED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1DFA977-D45E-7A72-63AA-56D349D4D1C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A417BB8-2E94-01CE-2DD3-86E15A2A611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7B6DF93-BA83-3C01-4937-0B668C28EFF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87E824C-4965-C8DF-A08F-14F3258C52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2D07401-B4B9-6171-AC1F-D37BC14828A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CCE3CB9-63ED-2A69-A1F8-67EB7FC4250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BFE20D5-A5F7-82C5-6F42-5157FD97E21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D33F88CA-A4CC-B405-8543-5EA9C08BFE0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5E52770-4012-92C9-A1C5-54583890BA6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738DE51-CC63-753B-4632-BB609B42869B}"/>
              </a:ext>
            </a:extLst>
          </p:cNvPr>
          <p:cNvSpPr txBox="1"/>
          <p:nvPr/>
        </p:nvSpPr>
        <p:spPr>
          <a:xfrm>
            <a:off x="1418734" y="968983"/>
            <a:ext cx="15450532" cy="6494085"/>
          </a:xfrm>
          <a:prstGeom prst="rect">
            <a:avLst/>
          </a:prstGeom>
          <a:noFill/>
        </p:spPr>
        <p:txBody>
          <a:bodyPr wrap="square">
            <a:spAutoFit/>
          </a:bodyPr>
          <a:lstStyle/>
          <a:p>
            <a:pPr>
              <a:buNone/>
            </a:pPr>
            <a:r>
              <a:rPr lang="es-ES" sz="3200" b="1" dirty="0"/>
              <a:t>Estructura de una </a:t>
            </a:r>
            <a:r>
              <a:rPr lang="es-ES" sz="3200" b="1" dirty="0" err="1"/>
              <a:t>Assertion</a:t>
            </a:r>
            <a:endParaRPr lang="es-ES" sz="3200" b="1" dirty="0"/>
          </a:p>
          <a:p>
            <a:pPr>
              <a:buNone/>
            </a:pPr>
            <a:endParaRPr lang="es-ES" sz="3200" b="1" dirty="0"/>
          </a:p>
          <a:p>
            <a:pPr>
              <a:buNone/>
            </a:pPr>
            <a:endParaRPr lang="es-ES" sz="3200" dirty="0"/>
          </a:p>
          <a:p>
            <a:pPr>
              <a:buNone/>
            </a:pPr>
            <a:r>
              <a:rPr lang="es-ES" sz="3200" dirty="0"/>
              <a:t>Las </a:t>
            </a:r>
            <a:r>
              <a:rPr lang="es-ES" sz="3200" dirty="0" err="1"/>
              <a:t>assertions</a:t>
            </a:r>
            <a:r>
              <a:rPr lang="es-ES" sz="3200" dirty="0"/>
              <a:t> se escriben como una frase en lenguaje natural:</a:t>
            </a:r>
          </a:p>
          <a:p>
            <a:pPr>
              <a:buNone/>
            </a:pPr>
            <a:endParaRPr lang="es-ES" sz="3200" dirty="0"/>
          </a:p>
          <a:p>
            <a:pPr>
              <a:buNone/>
            </a:pPr>
            <a:r>
              <a:rPr lang="es-ES" sz="3200" b="1" dirty="0"/>
              <a:t>Entidad (A)</a:t>
            </a:r>
            <a:r>
              <a:rPr lang="es-ES" sz="3200" dirty="0"/>
              <a:t> + </a:t>
            </a:r>
            <a:r>
              <a:rPr lang="es-ES" sz="3200" i="1" dirty="0"/>
              <a:t>opcionalidad</a:t>
            </a:r>
            <a:r>
              <a:rPr lang="es-ES" sz="3200" dirty="0"/>
              <a:t> + </a:t>
            </a:r>
            <a:r>
              <a:rPr lang="es-ES" sz="3200" b="1" dirty="0"/>
              <a:t>verbo de la relación</a:t>
            </a:r>
            <a:r>
              <a:rPr lang="es-ES" sz="3200" dirty="0"/>
              <a:t> + </a:t>
            </a:r>
            <a:r>
              <a:rPr lang="es-ES" sz="3200" i="1" dirty="0"/>
              <a:t>cardinalidad</a:t>
            </a:r>
            <a:r>
              <a:rPr lang="es-ES" sz="3200" dirty="0"/>
              <a:t> + </a:t>
            </a:r>
            <a:r>
              <a:rPr lang="es-ES" sz="3200" b="1" dirty="0"/>
              <a:t>Entidad (B)</a:t>
            </a:r>
          </a:p>
          <a:p>
            <a:pPr>
              <a:buNone/>
            </a:pPr>
            <a:endParaRPr lang="es-ES" sz="3200" dirty="0"/>
          </a:p>
          <a:p>
            <a:pPr marL="457200" indent="-457200">
              <a:buFont typeface="Arial" panose="020B0604020202020204" pitchFamily="34" charset="0"/>
              <a:buChar char="•"/>
            </a:pPr>
            <a:r>
              <a:rPr lang="es-ES" sz="3200" dirty="0"/>
              <a:t>La relación (verbo) va en el medio.</a:t>
            </a:r>
          </a:p>
          <a:p>
            <a:pPr marL="457200" indent="-457200">
              <a:buFont typeface="Arial" panose="020B0604020202020204" pitchFamily="34" charset="0"/>
              <a:buChar char="•"/>
            </a:pPr>
            <a:r>
              <a:rPr lang="es-ES" sz="3200" dirty="0"/>
              <a:t>La opcionalidad se indica con “puede / debe”.</a:t>
            </a:r>
          </a:p>
          <a:p>
            <a:pPr marL="457200" indent="-457200">
              <a:buFont typeface="Arial" panose="020B0604020202020204" pitchFamily="34" charset="0"/>
              <a:buChar char="•"/>
            </a:pPr>
            <a:r>
              <a:rPr lang="es-ES" sz="3200" dirty="0"/>
              <a:t>La cardinalidad se indica con “uno / muchos”.</a:t>
            </a:r>
          </a:p>
          <a:p>
            <a:pPr marL="457200" indent="-457200">
              <a:buFont typeface="Arial" panose="020B0604020202020204" pitchFamily="34" charset="0"/>
              <a:buChar char="•"/>
            </a:pPr>
            <a:endParaRPr lang="es-ES" sz="3200" dirty="0"/>
          </a:p>
          <a:p>
            <a:r>
              <a:rPr lang="es-ES" sz="3200" dirty="0"/>
              <a:t>Ejemplo patrón:</a:t>
            </a:r>
          </a:p>
          <a:p>
            <a:pPr marL="457200" indent="-457200">
              <a:buFont typeface="Arial" panose="020B0604020202020204" pitchFamily="34" charset="0"/>
              <a:buChar char="•"/>
            </a:pPr>
            <a:r>
              <a:rPr lang="es-ES" sz="3200" i="1" dirty="0"/>
              <a:t>Un Cliente </a:t>
            </a:r>
            <a:r>
              <a:rPr lang="es-ES" sz="3200" b="1" i="1" dirty="0"/>
              <a:t>puede</a:t>
            </a:r>
            <a:r>
              <a:rPr lang="es-ES" sz="3200" i="1" dirty="0"/>
              <a:t> hacer </a:t>
            </a:r>
            <a:r>
              <a:rPr lang="es-ES" sz="3200" b="1" i="1" dirty="0"/>
              <a:t>muchos</a:t>
            </a:r>
            <a:r>
              <a:rPr lang="es-ES" sz="3200" i="1" dirty="0"/>
              <a:t> Pagos.</a:t>
            </a:r>
            <a:endParaRPr lang="es-ES" sz="3200" dirty="0"/>
          </a:p>
        </p:txBody>
      </p:sp>
    </p:spTree>
    <p:extLst>
      <p:ext uri="{BB962C8B-B14F-4D97-AF65-F5344CB8AC3E}">
        <p14:creationId xmlns:p14="http://schemas.microsoft.com/office/powerpoint/2010/main" val="18528861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56921-B9EF-D704-1236-9D8CF5D42C8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5D1AE5-5580-C10E-5360-A4931AD7745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517A164-57C1-8668-27FD-C0F90CD362A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1EED085-641C-D2FB-A5C8-4A9230EFA297}"/>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CA275B9-A219-C999-84A1-7F53A27E234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C21F8D7-B1E5-BCFB-0EF4-420629D3390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C8B66F-0CAD-435A-54C6-0D921DDA13C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DC3B197-B22F-5E03-6ECD-F6AA1AA029A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69EBF1E-1B8B-9D8D-B2C7-8E76374F382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765DA1B-2F33-878A-C726-7F890A8398D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F75FEBA-D3FF-8D70-35BA-E4075C754D7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36F59A6-E8CE-AB2F-4241-AA1AA9000606}"/>
              </a:ext>
            </a:extLst>
          </p:cNvPr>
          <p:cNvSpPr txBox="1"/>
          <p:nvPr/>
        </p:nvSpPr>
        <p:spPr>
          <a:xfrm>
            <a:off x="1127681" y="1591152"/>
            <a:ext cx="16032637" cy="7294305"/>
          </a:xfrm>
          <a:prstGeom prst="rect">
            <a:avLst/>
          </a:prstGeom>
          <a:noFill/>
        </p:spPr>
        <p:txBody>
          <a:bodyPr wrap="square">
            <a:spAutoFit/>
          </a:bodyPr>
          <a:lstStyle/>
          <a:p>
            <a:pPr>
              <a:buNone/>
            </a:pPr>
            <a:r>
              <a:rPr lang="es-ES" sz="3600" b="1" dirty="0"/>
              <a:t>Paso 4-1 (A -&gt; B): Listar </a:t>
            </a:r>
            <a:r>
              <a:rPr lang="es-ES" sz="3600" b="1" dirty="0" err="1"/>
              <a:t>assertions</a:t>
            </a:r>
            <a:r>
              <a:rPr lang="es-ES" sz="3600" b="1" dirty="0"/>
              <a:t> (dirección 1)</a:t>
            </a:r>
          </a:p>
          <a:p>
            <a:pPr>
              <a:buNone/>
            </a:pPr>
            <a:endParaRPr lang="es-ES" sz="3600" dirty="0"/>
          </a:p>
          <a:p>
            <a:r>
              <a:rPr lang="es-ES" sz="3600" dirty="0"/>
              <a:t>Tomar una relación del E-R simplificado entre </a:t>
            </a:r>
            <a:r>
              <a:rPr lang="es-ES" sz="3600" b="1" dirty="0"/>
              <a:t>Entidad A</a:t>
            </a:r>
            <a:r>
              <a:rPr lang="es-ES" sz="3600" dirty="0"/>
              <a:t> y </a:t>
            </a:r>
            <a:r>
              <a:rPr lang="es-ES" sz="3600" b="1" dirty="0"/>
              <a:t>Entidad B</a:t>
            </a:r>
            <a:r>
              <a:rPr lang="es-ES" sz="3600" dirty="0"/>
              <a:t>.</a:t>
            </a:r>
          </a:p>
          <a:p>
            <a:endParaRPr lang="es-ES" sz="3600" dirty="0"/>
          </a:p>
          <a:p>
            <a:r>
              <a:rPr lang="es-ES" sz="3600" dirty="0"/>
              <a:t>Escribir la frase desde A hacia B:</a:t>
            </a:r>
          </a:p>
          <a:p>
            <a:endParaRPr lang="es-ES" sz="3600" dirty="0"/>
          </a:p>
          <a:p>
            <a:pPr marL="742950" lvl="1" indent="-285750">
              <a:buFont typeface="+mj-lt"/>
              <a:buAutoNum type="arabicPeriod"/>
            </a:pPr>
            <a:r>
              <a:rPr lang="es-ES" sz="3600" dirty="0"/>
              <a:t>Empezar con </a:t>
            </a:r>
            <a:r>
              <a:rPr lang="es-ES" sz="3600" b="1" dirty="0"/>
              <a:t>“Un/Una [A] …”</a:t>
            </a:r>
            <a:endParaRPr lang="es-ES" sz="3600" dirty="0"/>
          </a:p>
          <a:p>
            <a:pPr marL="742950" lvl="1" indent="-285750">
              <a:buFont typeface="+mj-lt"/>
              <a:buAutoNum type="arabicPeriod"/>
            </a:pPr>
            <a:r>
              <a:rPr lang="es-ES" sz="3600" dirty="0"/>
              <a:t>Indicar </a:t>
            </a:r>
            <a:r>
              <a:rPr lang="es-ES" sz="3600" b="1" dirty="0" err="1"/>
              <a:t>optionalidad</a:t>
            </a:r>
            <a:r>
              <a:rPr lang="es-ES" sz="3600" dirty="0"/>
              <a:t> (puede / debe).</a:t>
            </a:r>
          </a:p>
          <a:p>
            <a:pPr marL="742950" lvl="1" indent="-285750">
              <a:buFont typeface="+mj-lt"/>
              <a:buAutoNum type="arabicPeriod"/>
            </a:pPr>
            <a:r>
              <a:rPr lang="es-ES" sz="3600" dirty="0"/>
              <a:t>Usar el </a:t>
            </a:r>
            <a:r>
              <a:rPr lang="es-ES" sz="3600" b="1" dirty="0"/>
              <a:t>verbo de la relación</a:t>
            </a:r>
            <a:r>
              <a:rPr lang="es-ES" sz="3600" dirty="0"/>
              <a:t> (hacer, tener, realizar, etc.).</a:t>
            </a:r>
          </a:p>
          <a:p>
            <a:pPr marL="742950" lvl="1" indent="-285750">
              <a:buFont typeface="+mj-lt"/>
              <a:buAutoNum type="arabicPeriod"/>
            </a:pPr>
            <a:r>
              <a:rPr lang="es-ES" sz="3600" dirty="0"/>
              <a:t>Indicar la </a:t>
            </a:r>
            <a:r>
              <a:rPr lang="es-ES" sz="3600" b="1" dirty="0"/>
              <a:t>cardinalidad</a:t>
            </a:r>
            <a:r>
              <a:rPr lang="es-ES" sz="3600" dirty="0"/>
              <a:t> hacia B (uno / muchos).</a:t>
            </a:r>
          </a:p>
          <a:p>
            <a:pPr marL="742950" lvl="1" indent="-285750">
              <a:buFont typeface="+mj-lt"/>
              <a:buAutoNum type="arabicPeriod"/>
            </a:pPr>
            <a:endParaRPr lang="es-ES" sz="3600" dirty="0"/>
          </a:p>
          <a:p>
            <a:r>
              <a:rPr lang="es-ES" sz="3600" dirty="0"/>
              <a:t>Ejemplo:</a:t>
            </a:r>
          </a:p>
          <a:p>
            <a:pPr marL="742950" lvl="1" indent="-285750">
              <a:buFont typeface="+mj-lt"/>
              <a:buAutoNum type="arabicPeriod"/>
            </a:pPr>
            <a:r>
              <a:rPr lang="es-ES" sz="3600" i="1" dirty="0"/>
              <a:t>Un Cliente </a:t>
            </a:r>
            <a:r>
              <a:rPr lang="es-ES" sz="3600" b="1" i="1" dirty="0"/>
              <a:t>puede</a:t>
            </a:r>
            <a:r>
              <a:rPr lang="es-ES" sz="3600" i="1" dirty="0"/>
              <a:t> hacer </a:t>
            </a:r>
            <a:r>
              <a:rPr lang="es-ES" sz="3600" b="1" i="1" dirty="0"/>
              <a:t>muchos</a:t>
            </a:r>
            <a:r>
              <a:rPr lang="es-ES" sz="3600" i="1" dirty="0"/>
              <a:t> Pagos.</a:t>
            </a:r>
            <a:endParaRPr lang="es-ES" sz="3600" dirty="0"/>
          </a:p>
        </p:txBody>
      </p:sp>
    </p:spTree>
    <p:extLst>
      <p:ext uri="{BB962C8B-B14F-4D97-AF65-F5344CB8AC3E}">
        <p14:creationId xmlns:p14="http://schemas.microsoft.com/office/powerpoint/2010/main" val="35454234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0218F-3D52-128E-6F8C-E5A941E5647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CAF604-5743-3533-3FF7-7EBF49E68ED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D9E06CC-20A7-8C2C-9F56-F7A095062CF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6019B37-AE68-7761-03EC-62CB9AA7943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2EB43BA-6BEB-2B14-20F2-40EF7D788DF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55B64A7-5EDE-DF60-AF29-7ECA8CEEEC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E2810D9D-5573-1EAD-992B-79833BFB1BF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0991392-8313-EB34-57A3-5DDA61DD9A4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FEE5C2D-E705-A808-F222-9714D568CD4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F95E709-0BD3-0A92-A00E-64D345686D2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6D86DD1-47E1-A0F5-25BC-AF520D83CEA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51C19A8-FF7F-330C-65C3-9E78898027C3}"/>
              </a:ext>
            </a:extLst>
          </p:cNvPr>
          <p:cNvSpPr txBox="1"/>
          <p:nvPr/>
        </p:nvSpPr>
        <p:spPr>
          <a:xfrm>
            <a:off x="1740423" y="968983"/>
            <a:ext cx="14807153" cy="7848302"/>
          </a:xfrm>
          <a:prstGeom prst="rect">
            <a:avLst/>
          </a:prstGeom>
          <a:noFill/>
        </p:spPr>
        <p:txBody>
          <a:bodyPr wrap="square">
            <a:spAutoFit/>
          </a:bodyPr>
          <a:lstStyle/>
          <a:p>
            <a:pPr>
              <a:buNone/>
            </a:pPr>
            <a:r>
              <a:rPr lang="es-ES" sz="3600" b="1" dirty="0"/>
              <a:t>Paso 4-1 (B → A): Listar </a:t>
            </a:r>
            <a:r>
              <a:rPr lang="es-ES" sz="3600" b="1" dirty="0" err="1"/>
              <a:t>assertions</a:t>
            </a:r>
            <a:r>
              <a:rPr lang="es-ES" sz="3600" b="1" dirty="0"/>
              <a:t> (dirección 2)</a:t>
            </a:r>
          </a:p>
          <a:p>
            <a:pPr>
              <a:buNone/>
            </a:pPr>
            <a:endParaRPr lang="es-ES" sz="3600" dirty="0"/>
          </a:p>
          <a:p>
            <a:r>
              <a:rPr lang="es-ES" sz="3600" dirty="0"/>
              <a:t>Tomar la misma relación, pero ahora desde </a:t>
            </a:r>
            <a:r>
              <a:rPr lang="es-ES" sz="3600" b="1" dirty="0"/>
              <a:t>Entidad B</a:t>
            </a:r>
            <a:r>
              <a:rPr lang="es-ES" sz="3600" dirty="0"/>
              <a:t> hacia </a:t>
            </a:r>
            <a:r>
              <a:rPr lang="es-ES" sz="3600" b="1" dirty="0"/>
              <a:t>Entidad A</a:t>
            </a:r>
            <a:r>
              <a:rPr lang="es-ES" sz="3600" dirty="0"/>
              <a:t>.</a:t>
            </a:r>
          </a:p>
          <a:p>
            <a:endParaRPr lang="es-ES" sz="3600" dirty="0"/>
          </a:p>
          <a:p>
            <a:r>
              <a:rPr lang="es-ES" sz="3600" dirty="0"/>
              <a:t>Escribir la frase en sentido inverso:</a:t>
            </a:r>
          </a:p>
          <a:p>
            <a:endParaRPr lang="es-ES" sz="3600" dirty="0"/>
          </a:p>
          <a:p>
            <a:pPr marL="742950" lvl="1" indent="-285750">
              <a:buFont typeface="+mj-lt"/>
              <a:buAutoNum type="arabicPeriod"/>
            </a:pPr>
            <a:r>
              <a:rPr lang="es-ES" sz="3600" dirty="0"/>
              <a:t>Empezar con </a:t>
            </a:r>
            <a:r>
              <a:rPr lang="es-ES" sz="3600" b="1" dirty="0"/>
              <a:t>“Cada [B] …”</a:t>
            </a:r>
            <a:r>
              <a:rPr lang="es-ES" sz="3600" dirty="0"/>
              <a:t> para dejar claro que se habla de la ocurrencia.</a:t>
            </a:r>
          </a:p>
          <a:p>
            <a:pPr marL="742950" lvl="1" indent="-285750">
              <a:buFont typeface="+mj-lt"/>
              <a:buAutoNum type="arabicPeriod"/>
            </a:pPr>
            <a:r>
              <a:rPr lang="es-ES" sz="3600" dirty="0"/>
              <a:t>Indicar si </a:t>
            </a:r>
            <a:r>
              <a:rPr lang="es-ES" sz="3600" b="1" dirty="0"/>
              <a:t>debe</a:t>
            </a:r>
            <a:r>
              <a:rPr lang="es-ES" sz="3600" dirty="0"/>
              <a:t> o </a:t>
            </a:r>
            <a:r>
              <a:rPr lang="es-ES" sz="3600" b="1" dirty="0"/>
              <a:t>puede</a:t>
            </a:r>
            <a:r>
              <a:rPr lang="es-ES" sz="3600" dirty="0"/>
              <a:t> existir la relación.</a:t>
            </a:r>
          </a:p>
          <a:p>
            <a:pPr marL="742950" lvl="1" indent="-285750">
              <a:buFont typeface="+mj-lt"/>
              <a:buAutoNum type="arabicPeriod"/>
            </a:pPr>
            <a:r>
              <a:rPr lang="es-ES" sz="3600" dirty="0"/>
              <a:t>Indicar la </a:t>
            </a:r>
            <a:r>
              <a:rPr lang="es-ES" sz="3600" b="1" dirty="0"/>
              <a:t>cardinalidad</a:t>
            </a:r>
            <a:r>
              <a:rPr lang="es-ES" sz="3600" dirty="0"/>
              <a:t> hacia A.</a:t>
            </a:r>
          </a:p>
          <a:p>
            <a:pPr marL="742950" lvl="1" indent="-285750">
              <a:buFont typeface="+mj-lt"/>
              <a:buAutoNum type="arabicPeriod"/>
            </a:pPr>
            <a:endParaRPr lang="es-ES" sz="3600" dirty="0"/>
          </a:p>
          <a:p>
            <a:r>
              <a:rPr lang="es-ES" sz="3600" dirty="0"/>
              <a:t>Mismo ejemplo en reversa:</a:t>
            </a:r>
          </a:p>
          <a:p>
            <a:pPr marL="742950" lvl="1" indent="-285750">
              <a:buFont typeface="+mj-lt"/>
              <a:buAutoNum type="arabicPeriod"/>
            </a:pPr>
            <a:r>
              <a:rPr lang="es-ES" sz="3600" i="1" dirty="0"/>
              <a:t>Cada Pago </a:t>
            </a:r>
            <a:r>
              <a:rPr lang="es-ES" sz="3600" b="1" i="1" dirty="0"/>
              <a:t>debe</a:t>
            </a:r>
            <a:r>
              <a:rPr lang="es-ES" sz="3600" i="1" dirty="0"/>
              <a:t> ser realizado por </a:t>
            </a:r>
            <a:r>
              <a:rPr lang="es-ES" sz="3600" b="1" i="1" dirty="0"/>
              <a:t>un solo</a:t>
            </a:r>
            <a:r>
              <a:rPr lang="es-ES" sz="3600" i="1" dirty="0"/>
              <a:t> Cliente.</a:t>
            </a:r>
            <a:endParaRPr lang="es-ES" sz="3600" dirty="0"/>
          </a:p>
        </p:txBody>
      </p:sp>
    </p:spTree>
    <p:extLst>
      <p:ext uri="{BB962C8B-B14F-4D97-AF65-F5344CB8AC3E}">
        <p14:creationId xmlns:p14="http://schemas.microsoft.com/office/powerpoint/2010/main" val="12152311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C2842-FAE3-10BA-F86A-545EE96CD02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F85DC28-C9E9-C3C4-9F40-869B87705F0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FE525BA-1BC7-ADB5-D5F4-126EB7E15D8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F2DD5A9-4FD8-5974-3F33-A978F5B7F36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E3F873A-86DD-69A9-DBBB-DAF1D2EA577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5BADEB3-3C3D-F8B8-4CDA-3D75456CF09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6661201-1F1D-7992-243B-7FD43EEF1B7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EF1268A-607B-1598-BBDF-D04223E5380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6A98439-CA48-8FFA-943A-11FA8601755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4AA2DBE-FC67-E2B7-4013-C1B0667CEAC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651D5E3-56E5-3118-7EC0-AB926B3A3AC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D5C2955-E212-2B5D-8742-F6A4057A9610}"/>
              </a:ext>
            </a:extLst>
          </p:cNvPr>
          <p:cNvSpPr txBox="1"/>
          <p:nvPr/>
        </p:nvSpPr>
        <p:spPr>
          <a:xfrm>
            <a:off x="1039789" y="1304393"/>
            <a:ext cx="7381188" cy="7971413"/>
          </a:xfrm>
          <a:prstGeom prst="rect">
            <a:avLst/>
          </a:prstGeom>
          <a:noFill/>
        </p:spPr>
        <p:txBody>
          <a:bodyPr wrap="square">
            <a:spAutoFit/>
          </a:bodyPr>
          <a:lstStyle/>
          <a:p>
            <a:pPr>
              <a:buNone/>
            </a:pPr>
            <a:r>
              <a:rPr lang="es-ES" sz="3200" b="1" dirty="0"/>
              <a:t>Ejemplo completo: Cliente – Pago</a:t>
            </a:r>
          </a:p>
          <a:p>
            <a:pPr>
              <a:buNone/>
            </a:pPr>
            <a:endParaRPr lang="es-ES" sz="3200" dirty="0"/>
          </a:p>
          <a:p>
            <a:r>
              <a:rPr lang="es-ES" sz="3200" dirty="0"/>
              <a:t>Desde Cliente a Pago:</a:t>
            </a:r>
          </a:p>
          <a:p>
            <a:pPr marL="742950" lvl="1" indent="-285750">
              <a:buFont typeface="Arial" panose="020B0604020202020204" pitchFamily="34" charset="0"/>
              <a:buChar char="•"/>
            </a:pPr>
            <a:r>
              <a:rPr lang="es-ES" sz="3200" i="1" dirty="0"/>
              <a:t>Un Cliente </a:t>
            </a:r>
            <a:r>
              <a:rPr lang="es-ES" sz="3200" b="1" i="1" dirty="0"/>
              <a:t>puede</a:t>
            </a:r>
            <a:r>
              <a:rPr lang="es-ES" sz="3200" i="1" dirty="0"/>
              <a:t> hacer </a:t>
            </a:r>
            <a:r>
              <a:rPr lang="es-ES" sz="3200" b="1" i="1" dirty="0"/>
              <a:t>muchos</a:t>
            </a:r>
            <a:r>
              <a:rPr lang="es-ES" sz="3200" i="1" dirty="0"/>
              <a:t> Pagos.</a:t>
            </a:r>
            <a:endParaRPr lang="es-ES" sz="3200" dirty="0"/>
          </a:p>
          <a:p>
            <a:pPr marL="742950" lvl="1" indent="-285750">
              <a:buFont typeface="Arial" panose="020B0604020202020204" pitchFamily="34" charset="0"/>
              <a:buChar char="•"/>
            </a:pPr>
            <a:r>
              <a:rPr lang="es-ES" sz="3200" dirty="0" err="1"/>
              <a:t>Optionality</a:t>
            </a:r>
            <a:r>
              <a:rPr lang="es-ES" sz="3200" dirty="0"/>
              <a:t>: 0 (puede no hacer pagos).</a:t>
            </a:r>
          </a:p>
          <a:p>
            <a:pPr marL="742950" lvl="1" indent="-285750">
              <a:buFont typeface="Arial" panose="020B0604020202020204" pitchFamily="34" charset="0"/>
              <a:buChar char="•"/>
            </a:pPr>
            <a:r>
              <a:rPr lang="es-ES" sz="3200" dirty="0"/>
              <a:t>Cardinalidad: N (muchos pagos).</a:t>
            </a:r>
          </a:p>
          <a:p>
            <a:pPr marL="742950" lvl="1" indent="-285750">
              <a:buFont typeface="Arial" panose="020B0604020202020204" pitchFamily="34" charset="0"/>
              <a:buChar char="•"/>
            </a:pPr>
            <a:endParaRPr lang="es-ES" sz="3200" dirty="0"/>
          </a:p>
          <a:p>
            <a:r>
              <a:rPr lang="es-ES" sz="3200" dirty="0"/>
              <a:t>Desde Pago a Cliente:</a:t>
            </a:r>
          </a:p>
          <a:p>
            <a:pPr marL="742950" lvl="1" indent="-285750">
              <a:buFont typeface="Arial" panose="020B0604020202020204" pitchFamily="34" charset="0"/>
              <a:buChar char="•"/>
            </a:pPr>
            <a:r>
              <a:rPr lang="es-ES" sz="3200" i="1" dirty="0"/>
              <a:t>Cada Pago </a:t>
            </a:r>
            <a:r>
              <a:rPr lang="es-ES" sz="3200" b="1" i="1" dirty="0"/>
              <a:t>debe</a:t>
            </a:r>
            <a:r>
              <a:rPr lang="es-ES" sz="3200" i="1" dirty="0"/>
              <a:t> ser realizado por </a:t>
            </a:r>
            <a:r>
              <a:rPr lang="es-ES" sz="3200" b="1" i="1" dirty="0"/>
              <a:t>un solo</a:t>
            </a:r>
            <a:r>
              <a:rPr lang="es-ES" sz="3200" i="1" dirty="0"/>
              <a:t> Cliente.</a:t>
            </a:r>
            <a:endParaRPr lang="es-ES" sz="3200" dirty="0"/>
          </a:p>
          <a:p>
            <a:pPr marL="742950" lvl="1" indent="-285750">
              <a:buFont typeface="Arial" panose="020B0604020202020204" pitchFamily="34" charset="0"/>
              <a:buChar char="•"/>
            </a:pPr>
            <a:r>
              <a:rPr lang="es-ES" sz="3200" dirty="0" err="1"/>
              <a:t>Optionality</a:t>
            </a:r>
            <a:r>
              <a:rPr lang="es-ES" sz="3200" dirty="0"/>
              <a:t>: 1 (obligatorio que tenga cliente).</a:t>
            </a:r>
          </a:p>
          <a:p>
            <a:pPr marL="742950" lvl="1" indent="-285750">
              <a:buFont typeface="Arial" panose="020B0604020202020204" pitchFamily="34" charset="0"/>
              <a:buChar char="•"/>
            </a:pPr>
            <a:r>
              <a:rPr lang="es-ES" sz="3200" dirty="0"/>
              <a:t>Cardinalidad: 1 (solo un cliente por pago).</a:t>
            </a:r>
          </a:p>
        </p:txBody>
      </p:sp>
      <p:sp>
        <p:nvSpPr>
          <p:cNvPr id="15" name="CuadroTexto 14">
            <a:extLst>
              <a:ext uri="{FF2B5EF4-FFF2-40B4-BE49-F238E27FC236}">
                <a16:creationId xmlns:a16="http://schemas.microsoft.com/office/drawing/2014/main" id="{DDE45744-FE41-F315-49C4-7CDE404C5F20}"/>
              </a:ext>
            </a:extLst>
          </p:cNvPr>
          <p:cNvSpPr txBox="1"/>
          <p:nvPr/>
        </p:nvSpPr>
        <p:spPr>
          <a:xfrm>
            <a:off x="9775595" y="1389234"/>
            <a:ext cx="7871381" cy="6986528"/>
          </a:xfrm>
          <a:prstGeom prst="rect">
            <a:avLst/>
          </a:prstGeom>
          <a:noFill/>
        </p:spPr>
        <p:txBody>
          <a:bodyPr wrap="square">
            <a:spAutoFit/>
          </a:bodyPr>
          <a:lstStyle/>
          <a:p>
            <a:pPr>
              <a:buNone/>
            </a:pPr>
            <a:r>
              <a:rPr lang="es-ES" sz="3200" b="1" dirty="0"/>
              <a:t>Validación con el cliente</a:t>
            </a:r>
          </a:p>
          <a:p>
            <a:pPr>
              <a:buNone/>
            </a:pPr>
            <a:endParaRPr lang="es-ES" sz="3200" dirty="0"/>
          </a:p>
          <a:p>
            <a:r>
              <a:rPr lang="es-ES" sz="3200" dirty="0"/>
              <a:t>Para </a:t>
            </a:r>
            <a:r>
              <a:rPr lang="es-ES" sz="3200" b="1" dirty="0"/>
              <a:t>cada relación</a:t>
            </a:r>
            <a:r>
              <a:rPr lang="es-ES" sz="3200" dirty="0"/>
              <a:t> habrá </a:t>
            </a:r>
            <a:r>
              <a:rPr lang="es-ES" sz="3200" b="1" dirty="0"/>
              <a:t>dos </a:t>
            </a:r>
            <a:r>
              <a:rPr lang="es-ES" sz="3200" b="1" dirty="0" err="1"/>
              <a:t>assertions</a:t>
            </a:r>
            <a:r>
              <a:rPr lang="es-ES" sz="3200" dirty="0"/>
              <a:t> (A → B y B → A).</a:t>
            </a:r>
          </a:p>
          <a:p>
            <a:endParaRPr lang="es-ES" sz="3200" dirty="0"/>
          </a:p>
          <a:p>
            <a:r>
              <a:rPr lang="es-ES" sz="3200" dirty="0"/>
              <a:t>Revisar la lista completa con el cliente:</a:t>
            </a:r>
          </a:p>
          <a:p>
            <a:endParaRPr lang="es-ES" sz="3200" dirty="0"/>
          </a:p>
          <a:p>
            <a:pPr marL="742950" lvl="1" indent="-285750">
              <a:buFont typeface="Arial" panose="020B0604020202020204" pitchFamily="34" charset="0"/>
              <a:buChar char="•"/>
            </a:pPr>
            <a:r>
              <a:rPr lang="es-ES" sz="3200" dirty="0"/>
              <a:t>¿Alguna frase es falsa o incompleta?</a:t>
            </a:r>
          </a:p>
          <a:p>
            <a:pPr marL="742950" lvl="1" indent="-285750">
              <a:buFont typeface="Arial" panose="020B0604020202020204" pitchFamily="34" charset="0"/>
              <a:buChar char="•"/>
            </a:pPr>
            <a:r>
              <a:rPr lang="es-ES" sz="3200" dirty="0"/>
              <a:t>¿Faltan casos de negocio?</a:t>
            </a:r>
          </a:p>
          <a:p>
            <a:pPr marL="457200" lvl="1"/>
            <a:endParaRPr lang="es-ES" sz="3200" dirty="0"/>
          </a:p>
          <a:p>
            <a:r>
              <a:rPr lang="es-ES" sz="3200" dirty="0"/>
              <a:t>Solo después de que todas las </a:t>
            </a:r>
            <a:r>
              <a:rPr lang="es-ES" sz="3200" dirty="0" err="1"/>
              <a:t>assertions</a:t>
            </a:r>
            <a:r>
              <a:rPr lang="es-ES" sz="3200" dirty="0"/>
              <a:t> sean correctas:</a:t>
            </a:r>
          </a:p>
          <a:p>
            <a:pPr marL="742950" lvl="1" indent="-285750">
              <a:buFont typeface="Arial" panose="020B0604020202020204" pitchFamily="34" charset="0"/>
              <a:buChar char="•"/>
            </a:pPr>
            <a:r>
              <a:rPr lang="es-ES" sz="3200" dirty="0"/>
              <a:t>El modelo conceptual está listo para avanzar a los siguientes pasos.</a:t>
            </a:r>
          </a:p>
        </p:txBody>
      </p:sp>
    </p:spTree>
    <p:extLst>
      <p:ext uri="{BB962C8B-B14F-4D97-AF65-F5344CB8AC3E}">
        <p14:creationId xmlns:p14="http://schemas.microsoft.com/office/powerpoint/2010/main" val="4147290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99BF2-E3D0-EC73-8FDE-233713C62F8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5A916AF-84A0-BF7C-22E0-95FA24BF367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86AF18E-CA80-67A7-44B8-FD7FAAB67B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1F1E92C1-E459-AF68-DFFE-1505CEFAF37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7A31736-8BD5-68AB-DB48-F29A60AEC9E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3AB241F-276D-55FB-FA1B-29182548615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EE26308-CC9F-92AA-1793-38D1DE9EA7B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0996A92-5293-F3B9-6926-B81F6B2B0D4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B90670E-8519-05BC-9E5B-1C40EA2D5CC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D831B74-73B0-3A4C-15A9-A5B56B27E5C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9160EEF-504B-8788-FD7A-47801C6D146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6" name="Imagen 15">
            <a:extLst>
              <a:ext uri="{FF2B5EF4-FFF2-40B4-BE49-F238E27FC236}">
                <a16:creationId xmlns:a16="http://schemas.microsoft.com/office/drawing/2014/main" id="{E325F0DB-37DC-3A70-DDA9-79093C8207BD}"/>
              </a:ext>
            </a:extLst>
          </p:cNvPr>
          <p:cNvPicPr>
            <a:picLocks noChangeAspect="1"/>
          </p:cNvPicPr>
          <p:nvPr/>
        </p:nvPicPr>
        <p:blipFill>
          <a:blip r:embed="rId5"/>
          <a:stretch>
            <a:fillRect/>
          </a:stretch>
        </p:blipFill>
        <p:spPr>
          <a:xfrm>
            <a:off x="6165129" y="791452"/>
            <a:ext cx="6720741" cy="2325488"/>
          </a:xfrm>
          <a:prstGeom prst="rect">
            <a:avLst/>
          </a:prstGeom>
        </p:spPr>
      </p:pic>
      <p:pic>
        <p:nvPicPr>
          <p:cNvPr id="18" name="Imagen 17">
            <a:extLst>
              <a:ext uri="{FF2B5EF4-FFF2-40B4-BE49-F238E27FC236}">
                <a16:creationId xmlns:a16="http://schemas.microsoft.com/office/drawing/2014/main" id="{8C4D4D3F-9633-709D-F320-C412EE08066D}"/>
              </a:ext>
            </a:extLst>
          </p:cNvPr>
          <p:cNvPicPr>
            <a:picLocks noChangeAspect="1"/>
          </p:cNvPicPr>
          <p:nvPr/>
        </p:nvPicPr>
        <p:blipFill>
          <a:blip r:embed="rId5"/>
          <a:stretch>
            <a:fillRect/>
          </a:stretch>
        </p:blipFill>
        <p:spPr>
          <a:xfrm>
            <a:off x="1952918" y="5829786"/>
            <a:ext cx="6720741" cy="2325488"/>
          </a:xfrm>
          <a:prstGeom prst="rect">
            <a:avLst/>
          </a:prstGeom>
        </p:spPr>
      </p:pic>
      <p:pic>
        <p:nvPicPr>
          <p:cNvPr id="19" name="Imagen 18">
            <a:extLst>
              <a:ext uri="{FF2B5EF4-FFF2-40B4-BE49-F238E27FC236}">
                <a16:creationId xmlns:a16="http://schemas.microsoft.com/office/drawing/2014/main" id="{702203CF-297E-1DA9-96A6-E0A0BFFCD38A}"/>
              </a:ext>
            </a:extLst>
          </p:cNvPr>
          <p:cNvPicPr>
            <a:picLocks noChangeAspect="1"/>
          </p:cNvPicPr>
          <p:nvPr/>
        </p:nvPicPr>
        <p:blipFill>
          <a:blip r:embed="rId5"/>
          <a:stretch>
            <a:fillRect/>
          </a:stretch>
        </p:blipFill>
        <p:spPr>
          <a:xfrm>
            <a:off x="11012549" y="5679038"/>
            <a:ext cx="6720741" cy="2325488"/>
          </a:xfrm>
          <a:prstGeom prst="rect">
            <a:avLst/>
          </a:prstGeom>
        </p:spPr>
      </p:pic>
      <p:sp>
        <p:nvSpPr>
          <p:cNvPr id="20" name="Flecha: a la derecha 19">
            <a:extLst>
              <a:ext uri="{FF2B5EF4-FFF2-40B4-BE49-F238E27FC236}">
                <a16:creationId xmlns:a16="http://schemas.microsoft.com/office/drawing/2014/main" id="{CA21C147-F01A-134E-A58D-0FC6F1B85D36}"/>
              </a:ext>
            </a:extLst>
          </p:cNvPr>
          <p:cNvSpPr/>
          <p:nvPr/>
        </p:nvSpPr>
        <p:spPr>
          <a:xfrm>
            <a:off x="3159261" y="4888749"/>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CuadroTexto 20">
            <a:extLst>
              <a:ext uri="{FF2B5EF4-FFF2-40B4-BE49-F238E27FC236}">
                <a16:creationId xmlns:a16="http://schemas.microsoft.com/office/drawing/2014/main" id="{EABA5271-B049-638E-6006-DB75A7721392}"/>
              </a:ext>
            </a:extLst>
          </p:cNvPr>
          <p:cNvSpPr txBox="1"/>
          <p:nvPr/>
        </p:nvSpPr>
        <p:spPr>
          <a:xfrm>
            <a:off x="2848509" y="4377005"/>
            <a:ext cx="4929555" cy="369332"/>
          </a:xfrm>
          <a:prstGeom prst="rect">
            <a:avLst/>
          </a:prstGeom>
          <a:noFill/>
        </p:spPr>
        <p:txBody>
          <a:bodyPr wrap="none" rtlCol="0">
            <a:spAutoFit/>
          </a:bodyPr>
          <a:lstStyle/>
          <a:p>
            <a:r>
              <a:rPr lang="es-CO" sz="1800" dirty="0"/>
              <a:t>Un Cliente </a:t>
            </a:r>
            <a:r>
              <a:rPr lang="es-CO" sz="1800" b="1" i="1" dirty="0"/>
              <a:t>puede</a:t>
            </a:r>
            <a:r>
              <a:rPr lang="es-CO" sz="1800" dirty="0"/>
              <a:t> hacer </a:t>
            </a:r>
            <a:r>
              <a:rPr lang="es-CO" sz="1800" b="1" i="1" dirty="0"/>
              <a:t>muchos</a:t>
            </a:r>
            <a:r>
              <a:rPr lang="es-CO" sz="1800" dirty="0"/>
              <a:t> pagos </a:t>
            </a:r>
            <a:r>
              <a:rPr lang="es-CO" sz="1800" b="1" i="1" dirty="0"/>
              <a:t>(0:N) </a:t>
            </a:r>
          </a:p>
        </p:txBody>
      </p:sp>
      <p:sp>
        <p:nvSpPr>
          <p:cNvPr id="23" name="CuadroTexto 22">
            <a:extLst>
              <a:ext uri="{FF2B5EF4-FFF2-40B4-BE49-F238E27FC236}">
                <a16:creationId xmlns:a16="http://schemas.microsoft.com/office/drawing/2014/main" id="{D2EE2460-660B-2603-A1E2-911205CF076D}"/>
              </a:ext>
            </a:extLst>
          </p:cNvPr>
          <p:cNvSpPr txBox="1"/>
          <p:nvPr/>
        </p:nvSpPr>
        <p:spPr>
          <a:xfrm>
            <a:off x="4187857" y="6689383"/>
            <a:ext cx="657520" cy="307777"/>
          </a:xfrm>
          <a:prstGeom prst="rect">
            <a:avLst/>
          </a:prstGeom>
          <a:noFill/>
        </p:spPr>
        <p:txBody>
          <a:bodyPr wrap="square">
            <a:spAutoFit/>
          </a:bodyPr>
          <a:lstStyle/>
          <a:p>
            <a:r>
              <a:rPr lang="es-CO" sz="1400" b="1" i="1" dirty="0"/>
              <a:t>(0:N) </a:t>
            </a:r>
            <a:endParaRPr lang="es-CO" dirty="0"/>
          </a:p>
        </p:txBody>
      </p:sp>
      <p:sp>
        <p:nvSpPr>
          <p:cNvPr id="24" name="Flecha: a la derecha 23">
            <a:extLst>
              <a:ext uri="{FF2B5EF4-FFF2-40B4-BE49-F238E27FC236}">
                <a16:creationId xmlns:a16="http://schemas.microsoft.com/office/drawing/2014/main" id="{40E206AA-DEA3-A684-E06B-D8DC930ECEA6}"/>
              </a:ext>
            </a:extLst>
          </p:cNvPr>
          <p:cNvSpPr/>
          <p:nvPr/>
        </p:nvSpPr>
        <p:spPr>
          <a:xfrm rot="10800000">
            <a:off x="12218896" y="4888750"/>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85929658-E277-DC84-D4E9-C9B1ECBA1201}"/>
              </a:ext>
            </a:extLst>
          </p:cNvPr>
          <p:cNvSpPr txBox="1"/>
          <p:nvPr/>
        </p:nvSpPr>
        <p:spPr>
          <a:xfrm>
            <a:off x="11908142" y="4324776"/>
            <a:ext cx="5545108" cy="369332"/>
          </a:xfrm>
          <a:prstGeom prst="rect">
            <a:avLst/>
          </a:prstGeom>
          <a:noFill/>
        </p:spPr>
        <p:txBody>
          <a:bodyPr wrap="none" rtlCol="0">
            <a:spAutoFit/>
          </a:bodyPr>
          <a:lstStyle/>
          <a:p>
            <a:r>
              <a:rPr lang="es-CO" sz="1800" dirty="0"/>
              <a:t>Cada pago </a:t>
            </a:r>
            <a:r>
              <a:rPr lang="es-CO" sz="1800" b="1" i="1" dirty="0"/>
              <a:t>debe</a:t>
            </a:r>
            <a:r>
              <a:rPr lang="es-CO" sz="1800" dirty="0"/>
              <a:t> se hecho por </a:t>
            </a:r>
            <a:r>
              <a:rPr lang="es-CO" sz="1800" b="1" i="1" dirty="0"/>
              <a:t>solo un </a:t>
            </a:r>
            <a:r>
              <a:rPr lang="es-CO" sz="1800" dirty="0"/>
              <a:t>cliente </a:t>
            </a:r>
            <a:r>
              <a:rPr lang="es-CO" sz="1800" b="1" i="1" dirty="0"/>
              <a:t>(1:1) </a:t>
            </a:r>
          </a:p>
        </p:txBody>
      </p:sp>
      <p:sp>
        <p:nvSpPr>
          <p:cNvPr id="27" name="CuadroTexto 26">
            <a:extLst>
              <a:ext uri="{FF2B5EF4-FFF2-40B4-BE49-F238E27FC236}">
                <a16:creationId xmlns:a16="http://schemas.microsoft.com/office/drawing/2014/main" id="{E90292BC-A58C-D637-57ED-8FFDC1FA4789}"/>
              </a:ext>
            </a:extLst>
          </p:cNvPr>
          <p:cNvSpPr txBox="1"/>
          <p:nvPr/>
        </p:nvSpPr>
        <p:spPr>
          <a:xfrm>
            <a:off x="10129315" y="1646419"/>
            <a:ext cx="771212" cy="307777"/>
          </a:xfrm>
          <a:prstGeom prst="rect">
            <a:avLst/>
          </a:prstGeom>
          <a:noFill/>
        </p:spPr>
        <p:txBody>
          <a:bodyPr wrap="square">
            <a:spAutoFit/>
          </a:bodyPr>
          <a:lstStyle/>
          <a:p>
            <a:r>
              <a:rPr lang="es-CO" sz="1400" b="1" i="1" dirty="0"/>
              <a:t>(1:1) </a:t>
            </a:r>
            <a:endParaRPr lang="es-CO" dirty="0"/>
          </a:p>
        </p:txBody>
      </p:sp>
      <p:sp>
        <p:nvSpPr>
          <p:cNvPr id="28" name="CuadroTexto 27">
            <a:extLst>
              <a:ext uri="{FF2B5EF4-FFF2-40B4-BE49-F238E27FC236}">
                <a16:creationId xmlns:a16="http://schemas.microsoft.com/office/drawing/2014/main" id="{6EB76349-6E7B-EC7D-F771-F97068899D7F}"/>
              </a:ext>
            </a:extLst>
          </p:cNvPr>
          <p:cNvSpPr txBox="1"/>
          <p:nvPr/>
        </p:nvSpPr>
        <p:spPr>
          <a:xfrm>
            <a:off x="15008472" y="6687894"/>
            <a:ext cx="771212" cy="307777"/>
          </a:xfrm>
          <a:prstGeom prst="rect">
            <a:avLst/>
          </a:prstGeom>
          <a:noFill/>
        </p:spPr>
        <p:txBody>
          <a:bodyPr wrap="square">
            <a:spAutoFit/>
          </a:bodyPr>
          <a:lstStyle/>
          <a:p>
            <a:r>
              <a:rPr lang="es-CO" sz="1400" b="1" i="1" dirty="0"/>
              <a:t>(1:1) </a:t>
            </a:r>
            <a:endParaRPr lang="es-CO" dirty="0"/>
          </a:p>
        </p:txBody>
      </p:sp>
      <p:sp>
        <p:nvSpPr>
          <p:cNvPr id="29" name="CuadroTexto 28">
            <a:extLst>
              <a:ext uri="{FF2B5EF4-FFF2-40B4-BE49-F238E27FC236}">
                <a16:creationId xmlns:a16="http://schemas.microsoft.com/office/drawing/2014/main" id="{31874FD7-F971-4583-7276-E0A593F92FCB}"/>
              </a:ext>
            </a:extLst>
          </p:cNvPr>
          <p:cNvSpPr txBox="1"/>
          <p:nvPr/>
        </p:nvSpPr>
        <p:spPr>
          <a:xfrm>
            <a:off x="8344899" y="1646419"/>
            <a:ext cx="657520" cy="307777"/>
          </a:xfrm>
          <a:prstGeom prst="rect">
            <a:avLst/>
          </a:prstGeom>
          <a:noFill/>
        </p:spPr>
        <p:txBody>
          <a:bodyPr wrap="square">
            <a:spAutoFit/>
          </a:bodyPr>
          <a:lstStyle/>
          <a:p>
            <a:r>
              <a:rPr lang="es-CO" sz="1400" b="1" i="1" dirty="0"/>
              <a:t>(0:N) </a:t>
            </a:r>
            <a:endParaRPr lang="es-CO" dirty="0"/>
          </a:p>
        </p:txBody>
      </p:sp>
    </p:spTree>
    <p:extLst>
      <p:ext uri="{BB962C8B-B14F-4D97-AF65-F5344CB8AC3E}">
        <p14:creationId xmlns:p14="http://schemas.microsoft.com/office/powerpoint/2010/main" val="23824725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3253C-051C-A00C-0279-10797FEFE5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CFA6A41-C6A7-896A-F80C-62FF4BC1250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5393071-CAAF-F5E5-EB5E-73D83C456DD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094C0CC-766A-9AA1-621D-DC218F03701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16A8915-6DE2-8BF2-85EE-550C426A502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4176A02-DCB9-0A1E-64A8-6C9A8F6863F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028CCFC-34B6-18E8-AE52-912B3408E3F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6B5E11-51A8-6479-B284-7275E3FA28D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464A174-FB38-327D-6C22-992121F66F3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8628356-C450-F5F2-DC19-0C808375B8D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FC0C61B-F49F-B64B-D42E-5FA4DD879E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6" name="Imagen 15">
            <a:extLst>
              <a:ext uri="{FF2B5EF4-FFF2-40B4-BE49-F238E27FC236}">
                <a16:creationId xmlns:a16="http://schemas.microsoft.com/office/drawing/2014/main" id="{6A28757B-9EF6-29D5-875E-8569E8A77AE0}"/>
              </a:ext>
            </a:extLst>
          </p:cNvPr>
          <p:cNvPicPr>
            <a:picLocks noChangeAspect="1"/>
          </p:cNvPicPr>
          <p:nvPr/>
        </p:nvPicPr>
        <p:blipFill>
          <a:blip r:embed="rId5"/>
          <a:stretch>
            <a:fillRect/>
          </a:stretch>
        </p:blipFill>
        <p:spPr>
          <a:xfrm>
            <a:off x="6165129" y="791452"/>
            <a:ext cx="6720741" cy="2325488"/>
          </a:xfrm>
          <a:prstGeom prst="rect">
            <a:avLst/>
          </a:prstGeom>
        </p:spPr>
      </p:pic>
      <p:pic>
        <p:nvPicPr>
          <p:cNvPr id="18" name="Imagen 17">
            <a:extLst>
              <a:ext uri="{FF2B5EF4-FFF2-40B4-BE49-F238E27FC236}">
                <a16:creationId xmlns:a16="http://schemas.microsoft.com/office/drawing/2014/main" id="{BD3C8887-1AC9-0AA2-98F4-3AE3EC96ADDE}"/>
              </a:ext>
            </a:extLst>
          </p:cNvPr>
          <p:cNvPicPr>
            <a:picLocks noChangeAspect="1"/>
          </p:cNvPicPr>
          <p:nvPr/>
        </p:nvPicPr>
        <p:blipFill>
          <a:blip r:embed="rId5"/>
          <a:stretch>
            <a:fillRect/>
          </a:stretch>
        </p:blipFill>
        <p:spPr>
          <a:xfrm>
            <a:off x="1952918" y="5829786"/>
            <a:ext cx="6720741" cy="2325488"/>
          </a:xfrm>
          <a:prstGeom prst="rect">
            <a:avLst/>
          </a:prstGeom>
        </p:spPr>
      </p:pic>
      <p:pic>
        <p:nvPicPr>
          <p:cNvPr id="19" name="Imagen 18">
            <a:extLst>
              <a:ext uri="{FF2B5EF4-FFF2-40B4-BE49-F238E27FC236}">
                <a16:creationId xmlns:a16="http://schemas.microsoft.com/office/drawing/2014/main" id="{2FBC59E3-472D-D372-7E1B-A64129D84DCD}"/>
              </a:ext>
            </a:extLst>
          </p:cNvPr>
          <p:cNvPicPr>
            <a:picLocks noChangeAspect="1"/>
          </p:cNvPicPr>
          <p:nvPr/>
        </p:nvPicPr>
        <p:blipFill>
          <a:blip r:embed="rId5"/>
          <a:stretch>
            <a:fillRect/>
          </a:stretch>
        </p:blipFill>
        <p:spPr>
          <a:xfrm>
            <a:off x="11012549" y="5679038"/>
            <a:ext cx="6720741" cy="2325488"/>
          </a:xfrm>
          <a:prstGeom prst="rect">
            <a:avLst/>
          </a:prstGeom>
        </p:spPr>
      </p:pic>
      <p:sp>
        <p:nvSpPr>
          <p:cNvPr id="20" name="Flecha: a la derecha 19">
            <a:extLst>
              <a:ext uri="{FF2B5EF4-FFF2-40B4-BE49-F238E27FC236}">
                <a16:creationId xmlns:a16="http://schemas.microsoft.com/office/drawing/2014/main" id="{54F1CCC7-F80E-2F1C-EE6D-C075310DE07A}"/>
              </a:ext>
            </a:extLst>
          </p:cNvPr>
          <p:cNvSpPr/>
          <p:nvPr/>
        </p:nvSpPr>
        <p:spPr>
          <a:xfrm>
            <a:off x="3159261" y="4888749"/>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3E53B086-27D8-DE8A-8A56-4F2E8478FB71}"/>
              </a:ext>
            </a:extLst>
          </p:cNvPr>
          <p:cNvSpPr txBox="1"/>
          <p:nvPr/>
        </p:nvSpPr>
        <p:spPr>
          <a:xfrm>
            <a:off x="4187857" y="6689383"/>
            <a:ext cx="657520" cy="307777"/>
          </a:xfrm>
          <a:prstGeom prst="rect">
            <a:avLst/>
          </a:prstGeom>
          <a:noFill/>
        </p:spPr>
        <p:txBody>
          <a:bodyPr wrap="square">
            <a:spAutoFit/>
          </a:bodyPr>
          <a:lstStyle/>
          <a:p>
            <a:r>
              <a:rPr lang="es-CO" sz="1400" b="1" i="1" dirty="0"/>
              <a:t>(0:N) </a:t>
            </a:r>
            <a:endParaRPr lang="es-CO" dirty="0"/>
          </a:p>
        </p:txBody>
      </p:sp>
      <p:sp>
        <p:nvSpPr>
          <p:cNvPr id="24" name="Flecha: a la derecha 23">
            <a:extLst>
              <a:ext uri="{FF2B5EF4-FFF2-40B4-BE49-F238E27FC236}">
                <a16:creationId xmlns:a16="http://schemas.microsoft.com/office/drawing/2014/main" id="{AB018ACA-D42C-7EC8-D36D-CCC48F4F9A31}"/>
              </a:ext>
            </a:extLst>
          </p:cNvPr>
          <p:cNvSpPr/>
          <p:nvPr/>
        </p:nvSpPr>
        <p:spPr>
          <a:xfrm rot="10800000">
            <a:off x="12218896" y="4888750"/>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AC2B1DCF-0D16-257F-9F12-20A53195D6B9}"/>
              </a:ext>
            </a:extLst>
          </p:cNvPr>
          <p:cNvSpPr txBox="1"/>
          <p:nvPr/>
        </p:nvSpPr>
        <p:spPr>
          <a:xfrm>
            <a:off x="10129315" y="1646419"/>
            <a:ext cx="771212" cy="307777"/>
          </a:xfrm>
          <a:prstGeom prst="rect">
            <a:avLst/>
          </a:prstGeom>
          <a:noFill/>
        </p:spPr>
        <p:txBody>
          <a:bodyPr wrap="square">
            <a:spAutoFit/>
          </a:bodyPr>
          <a:lstStyle/>
          <a:p>
            <a:r>
              <a:rPr lang="es-CO" sz="1400" b="1" i="1" dirty="0"/>
              <a:t>(1:1) </a:t>
            </a:r>
            <a:endParaRPr lang="es-CO" dirty="0"/>
          </a:p>
        </p:txBody>
      </p:sp>
      <p:sp>
        <p:nvSpPr>
          <p:cNvPr id="28" name="CuadroTexto 27">
            <a:extLst>
              <a:ext uri="{FF2B5EF4-FFF2-40B4-BE49-F238E27FC236}">
                <a16:creationId xmlns:a16="http://schemas.microsoft.com/office/drawing/2014/main" id="{74B4E220-B4FB-1D6E-6998-C428B766CFC1}"/>
              </a:ext>
            </a:extLst>
          </p:cNvPr>
          <p:cNvSpPr txBox="1"/>
          <p:nvPr/>
        </p:nvSpPr>
        <p:spPr>
          <a:xfrm>
            <a:off x="15008472" y="6687894"/>
            <a:ext cx="771212" cy="307777"/>
          </a:xfrm>
          <a:prstGeom prst="rect">
            <a:avLst/>
          </a:prstGeom>
          <a:noFill/>
        </p:spPr>
        <p:txBody>
          <a:bodyPr wrap="square">
            <a:spAutoFit/>
          </a:bodyPr>
          <a:lstStyle/>
          <a:p>
            <a:r>
              <a:rPr lang="es-CO" sz="1400" b="1" i="1" dirty="0"/>
              <a:t>(1:1) </a:t>
            </a:r>
            <a:endParaRPr lang="es-CO" dirty="0"/>
          </a:p>
        </p:txBody>
      </p:sp>
      <p:sp>
        <p:nvSpPr>
          <p:cNvPr id="29" name="CuadroTexto 28">
            <a:extLst>
              <a:ext uri="{FF2B5EF4-FFF2-40B4-BE49-F238E27FC236}">
                <a16:creationId xmlns:a16="http://schemas.microsoft.com/office/drawing/2014/main" id="{73E442C4-F803-1B08-8B54-402C6F7D9EB0}"/>
              </a:ext>
            </a:extLst>
          </p:cNvPr>
          <p:cNvSpPr txBox="1"/>
          <p:nvPr/>
        </p:nvSpPr>
        <p:spPr>
          <a:xfrm>
            <a:off x="8344899" y="1646419"/>
            <a:ext cx="657520" cy="307777"/>
          </a:xfrm>
          <a:prstGeom prst="rect">
            <a:avLst/>
          </a:prstGeom>
          <a:noFill/>
        </p:spPr>
        <p:txBody>
          <a:bodyPr wrap="square">
            <a:spAutoFit/>
          </a:bodyPr>
          <a:lstStyle/>
          <a:p>
            <a:r>
              <a:rPr lang="es-CO" sz="1400" b="1" i="1" dirty="0"/>
              <a:t>(0:N) </a:t>
            </a:r>
            <a:endParaRPr lang="es-CO" dirty="0"/>
          </a:p>
        </p:txBody>
      </p:sp>
    </p:spTree>
    <p:extLst>
      <p:ext uri="{BB962C8B-B14F-4D97-AF65-F5344CB8AC3E}">
        <p14:creationId xmlns:p14="http://schemas.microsoft.com/office/powerpoint/2010/main" val="3003750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8AEF6-DD2A-5F46-8DF5-BA5BE8F2A0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6E35F2B-F647-5C80-AF1B-BE85CC3A0F9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0B045873-173D-CB18-0851-FEFC1B9A113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A329F57-EE1B-C07F-6283-17E4EE10519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470B522-0FEB-E1AC-576D-5C6C4E8309F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5C03D24-0615-AB86-DAAB-6C6FFDB400D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539E52-19C8-A5C8-BE8D-CC9AACE674D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1196EC0-B55B-0EBA-2A8A-386A36B1ADB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5F479C2-D302-A583-F75D-2B0EBAED374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3645A08-B0AD-E19E-05D3-97DCB7A83442}"/>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F6515153-F011-E851-D28C-A58C64FFB56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8C35C12E-A886-4CDE-9DD5-D314B1D8A49A}"/>
              </a:ext>
            </a:extLst>
          </p:cNvPr>
          <p:cNvSpPr txBox="1"/>
          <p:nvPr/>
        </p:nvSpPr>
        <p:spPr>
          <a:xfrm>
            <a:off x="4508369" y="4917732"/>
            <a:ext cx="9186420" cy="1446550"/>
          </a:xfrm>
          <a:prstGeom prst="rect">
            <a:avLst/>
          </a:prstGeom>
          <a:noFill/>
        </p:spPr>
        <p:txBody>
          <a:bodyPr wrap="square">
            <a:spAutoFit/>
          </a:bodyPr>
          <a:lstStyle/>
          <a:p>
            <a:pPr algn="ctr"/>
            <a:r>
              <a:rPr lang="es-CO" sz="4400" dirty="0"/>
              <a:t>Paso 5: Crear un diagrama E-R detallado utilizando aserciones</a:t>
            </a:r>
          </a:p>
        </p:txBody>
      </p:sp>
    </p:spTree>
    <p:extLst>
      <p:ext uri="{BB962C8B-B14F-4D97-AF65-F5344CB8AC3E}">
        <p14:creationId xmlns:p14="http://schemas.microsoft.com/office/powerpoint/2010/main" val="3200622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72335-B94D-97E8-0815-B40B9DC88D9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5CDA242-624B-71CD-2949-90836192AE6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D2E8199-C633-430F-AF78-C765ECFB91C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D0BACEC-3D8D-12B4-BD98-90936E7D31D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91A0A0D-0E73-7A9B-65E4-51A11B577A2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BE7A342-E7FB-5EDA-6CE3-04FD41AE03D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E48606F-D553-5AC4-0CB8-54B330DD7D3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1F50617-0360-E57F-6389-550042A16A5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746C8F5-83C8-3685-3515-1C22682A916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2365650-6AE8-4280-0C10-C32864B0ADF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4BA7C4-A888-D07F-3E06-6FADCDB335B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F6BE91B-7CFA-8C11-11AF-293C3BEC3A9C}"/>
              </a:ext>
            </a:extLst>
          </p:cNvPr>
          <p:cNvSpPr txBox="1"/>
          <p:nvPr/>
        </p:nvSpPr>
        <p:spPr>
          <a:xfrm>
            <a:off x="2387338" y="2023703"/>
            <a:ext cx="9186420" cy="769441"/>
          </a:xfrm>
          <a:prstGeom prst="rect">
            <a:avLst/>
          </a:prstGeom>
          <a:noFill/>
        </p:spPr>
        <p:txBody>
          <a:bodyPr wrap="square">
            <a:spAutoFit/>
          </a:bodyPr>
          <a:lstStyle/>
          <a:p>
            <a:pPr>
              <a:buNone/>
            </a:pPr>
            <a:r>
              <a:rPr lang="es-ES" sz="4400" b="1" dirty="0"/>
              <a:t>Ejemplo</a:t>
            </a:r>
          </a:p>
        </p:txBody>
      </p:sp>
      <p:sp>
        <p:nvSpPr>
          <p:cNvPr id="12" name="AutoShape 2">
            <a:extLst>
              <a:ext uri="{FF2B5EF4-FFF2-40B4-BE49-F238E27FC236}">
                <a16:creationId xmlns:a16="http://schemas.microsoft.com/office/drawing/2014/main" id="{52693222-6DA8-1396-C488-43E3893C4F8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4" name="Imagen 13">
            <a:extLst>
              <a:ext uri="{FF2B5EF4-FFF2-40B4-BE49-F238E27FC236}">
                <a16:creationId xmlns:a16="http://schemas.microsoft.com/office/drawing/2014/main" id="{59D98FEA-3205-1666-D44A-9EB6D8DB6F5D}"/>
              </a:ext>
            </a:extLst>
          </p:cNvPr>
          <p:cNvPicPr>
            <a:picLocks noChangeAspect="1"/>
          </p:cNvPicPr>
          <p:nvPr/>
        </p:nvPicPr>
        <p:blipFill>
          <a:blip r:embed="rId5"/>
          <a:stretch>
            <a:fillRect/>
          </a:stretch>
        </p:blipFill>
        <p:spPr>
          <a:xfrm>
            <a:off x="5574651" y="1333180"/>
            <a:ext cx="10952294" cy="7925439"/>
          </a:xfrm>
          <a:prstGeom prst="rect">
            <a:avLst/>
          </a:prstGeom>
        </p:spPr>
      </p:pic>
    </p:spTree>
    <p:extLst>
      <p:ext uri="{BB962C8B-B14F-4D97-AF65-F5344CB8AC3E}">
        <p14:creationId xmlns:p14="http://schemas.microsoft.com/office/powerpoint/2010/main" val="27800752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EE79B-6FCF-1FDC-C32E-3F08892BC9A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09C8DB3-83F8-D433-7EF9-08CBB53A31F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8257930-1FFA-57B5-9269-1091522C77C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F557F38-A763-E85F-CD90-E09774A3C1D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39DE4A1-AF6F-4096-EFAC-2EF5E7C6A21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C076BB1-5001-0EBE-ED11-9ACE73D40E9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759A9AA-31DE-82E6-3C36-8AF259987C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6F88A93-2944-E69F-7991-FED11CD963F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7F6FFD7-9378-80C1-AF3F-2B3728E9D10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338FD69-EE22-76EA-426B-C6B3235C786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460FD99-1434-FCB8-06D6-2B27CEDD80E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28FBF57-EABF-FB75-EA14-2B598578BD1F}"/>
              </a:ext>
            </a:extLst>
          </p:cNvPr>
          <p:cNvSpPr txBox="1"/>
          <p:nvPr/>
        </p:nvSpPr>
        <p:spPr>
          <a:xfrm>
            <a:off x="4550790" y="2853262"/>
            <a:ext cx="9186420" cy="2800767"/>
          </a:xfrm>
          <a:prstGeom prst="rect">
            <a:avLst/>
          </a:prstGeom>
          <a:noFill/>
        </p:spPr>
        <p:txBody>
          <a:bodyPr wrap="square">
            <a:spAutoFit/>
          </a:bodyPr>
          <a:lstStyle/>
          <a:p>
            <a:pPr algn="ctr"/>
            <a:r>
              <a:rPr lang="es-CO" sz="4400" dirty="0"/>
              <a:t>Paso 6: </a:t>
            </a:r>
          </a:p>
          <a:p>
            <a:pPr algn="ctr"/>
            <a:r>
              <a:rPr lang="es-CO" sz="4400" dirty="0"/>
              <a:t>Transformar el diagrama E-R detallado en un diagrama R-M implementable</a:t>
            </a:r>
          </a:p>
        </p:txBody>
      </p:sp>
    </p:spTree>
    <p:extLst>
      <p:ext uri="{BB962C8B-B14F-4D97-AF65-F5344CB8AC3E}">
        <p14:creationId xmlns:p14="http://schemas.microsoft.com/office/powerpoint/2010/main" val="31436138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3C12A-096D-5D4B-2475-BCB3941A6CC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07E695-CB22-7C70-F2A0-2F6A56E097D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2777E3D-7B38-B4A3-4891-D83185AE0E2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3879217-3811-AA6C-35D5-E32D58AE16F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EF628DA-974C-2D73-A174-49A44D5AB33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45DAEF9-DC85-649E-20D2-E97188C6226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AEC81D7-E1F3-D078-CF9B-E0100CF58C8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5EA7EF2-01F0-02B5-A21D-D690DE7B188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FF0FD18-5233-306A-EE5F-FB7FC9F3D83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666FDAC-1538-316B-62B1-7EEB5F85652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9CAE9D4-71B6-7EA8-54F7-9A2E78C9A18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252E2F7-7BE1-BF35-2F33-7453C4B1A577}"/>
              </a:ext>
            </a:extLst>
          </p:cNvPr>
          <p:cNvSpPr txBox="1"/>
          <p:nvPr/>
        </p:nvSpPr>
        <p:spPr>
          <a:xfrm>
            <a:off x="2825684" y="1938781"/>
            <a:ext cx="13331857" cy="6186309"/>
          </a:xfrm>
          <a:prstGeom prst="rect">
            <a:avLst/>
          </a:prstGeom>
          <a:noFill/>
        </p:spPr>
        <p:txBody>
          <a:bodyPr wrap="square">
            <a:spAutoFit/>
          </a:bodyPr>
          <a:lstStyle/>
          <a:p>
            <a:endParaRPr lang="es-CO" sz="4400" dirty="0"/>
          </a:p>
          <a:p>
            <a:pPr algn="ctr"/>
            <a:r>
              <a:rPr lang="es-CO" sz="4400" dirty="0"/>
              <a:t>Paso 6: Transformar el diagrama E-R detallado en un diagrama R-M implementable</a:t>
            </a:r>
          </a:p>
          <a:p>
            <a:endParaRPr lang="es-CO" sz="4400" dirty="0"/>
          </a:p>
          <a:p>
            <a:pPr marL="285750" indent="-285750">
              <a:buFont typeface="Arial" panose="020B0604020202020204" pitchFamily="34" charset="0"/>
              <a:buChar char="•"/>
            </a:pPr>
            <a:r>
              <a:rPr lang="es-CO" sz="4400" dirty="0"/>
              <a:t>Paso 6-1: Relaciones de muchos a muchos</a:t>
            </a:r>
          </a:p>
          <a:p>
            <a:pPr marL="285750" indent="-285750">
              <a:buFont typeface="Arial" panose="020B0604020202020204" pitchFamily="34" charset="0"/>
              <a:buChar char="•"/>
            </a:pPr>
            <a:r>
              <a:rPr lang="es-CO" sz="4400" dirty="0"/>
              <a:t>Paso 6-2: Relaciones de uno a muchos</a:t>
            </a:r>
          </a:p>
          <a:p>
            <a:pPr marL="285750" indent="-285750">
              <a:buFont typeface="Arial" panose="020B0604020202020204" pitchFamily="34" charset="0"/>
              <a:buChar char="•"/>
            </a:pPr>
            <a:r>
              <a:rPr lang="es-CO" sz="4400" dirty="0"/>
              <a:t>Paso 6-3: Relaciones uno a uno</a:t>
            </a:r>
          </a:p>
          <a:p>
            <a:pPr marL="285750" indent="-285750">
              <a:buFont typeface="Arial" panose="020B0604020202020204" pitchFamily="34" charset="0"/>
              <a:buChar char="•"/>
            </a:pPr>
            <a:r>
              <a:rPr lang="es-CO" sz="4400" dirty="0"/>
              <a:t>Paso 6-4: Combinar los resultados para crear un diagrama R-M</a:t>
            </a:r>
          </a:p>
        </p:txBody>
      </p:sp>
    </p:spTree>
    <p:extLst>
      <p:ext uri="{BB962C8B-B14F-4D97-AF65-F5344CB8AC3E}">
        <p14:creationId xmlns:p14="http://schemas.microsoft.com/office/powerpoint/2010/main" val="10520315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85754-21ED-6239-7495-05F751FB69A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16EDE3-85D0-B088-CD69-E7EBA2C202E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1A23A14-3415-D165-0881-9643DDDD4F0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96E223A-ADAB-8E23-4D63-276EE2F09CE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3BB4627-69C7-73F4-580C-6CF323B2B7E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5DD97D2-3B13-3DCE-E2BD-F12ECAE2F4C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E299553-AEAC-66B2-3969-AA0A5690131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43594FF-9765-2DD7-4FAF-C74E75FB2C0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6105402-15A6-9D60-8C93-60490DC2ECC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A027850-33EC-70F4-9968-A1FD136F4B0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F009F6B-6975-1CB9-09B0-353649F15FF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6CBD9782-E7FC-17A2-67AB-27B193233723}"/>
              </a:ext>
            </a:extLst>
          </p:cNvPr>
          <p:cNvSpPr txBox="1"/>
          <p:nvPr/>
        </p:nvSpPr>
        <p:spPr>
          <a:xfrm>
            <a:off x="1406961" y="619028"/>
            <a:ext cx="15137092" cy="8463855"/>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r>
              <a:rPr lang="es-ES" sz="3200" dirty="0"/>
              <a:t>La "Pata de Gallo" es una forma visual de dibujar los números (</a:t>
            </a:r>
            <a:r>
              <a:rPr lang="es-ES" sz="3200" dirty="0">
                <a:latin typeface="Courier New" panose="02070309020205020404" pitchFamily="49" charset="0"/>
              </a:rPr>
              <a:t>0:N</a:t>
            </a:r>
            <a:r>
              <a:rPr lang="es-ES" sz="3200" dirty="0"/>
              <a:t>, </a:t>
            </a:r>
            <a:r>
              <a:rPr lang="es-ES" sz="3200" dirty="0">
                <a:latin typeface="Courier New" panose="02070309020205020404" pitchFamily="49" charset="0"/>
              </a:rPr>
              <a:t>1:1</a:t>
            </a:r>
            <a:r>
              <a:rPr lang="es-ES" sz="3200" dirty="0"/>
              <a:t>) que ves en las líneas. </a:t>
            </a:r>
          </a:p>
          <a:p>
            <a:pPr>
              <a:buNone/>
            </a:pPr>
            <a:endParaRPr lang="es-ES" sz="3200" dirty="0"/>
          </a:p>
          <a:p>
            <a:pPr>
              <a:buNone/>
            </a:pPr>
            <a:endParaRPr lang="es-ES" sz="3200" b="1" dirty="0"/>
          </a:p>
          <a:p>
            <a:pPr>
              <a:buFont typeface="+mj-lt"/>
              <a:buAutoNum type="arabicPeriod"/>
            </a:pPr>
            <a:r>
              <a:rPr lang="es-ES" sz="3200" b="1" dirty="0"/>
              <a:t>Muchos (La Pata de Gallo):</a:t>
            </a:r>
            <a:r>
              <a:rPr lang="es-ES" sz="3200" dirty="0"/>
              <a:t> </a:t>
            </a:r>
            <a:r>
              <a:rPr lang="es-ES" sz="3200" dirty="0">
                <a:latin typeface="Courier New" panose="02070309020205020404" pitchFamily="49" charset="0"/>
              </a:rPr>
              <a:t>&lt;</a:t>
            </a:r>
            <a:endParaRPr lang="es-ES" sz="3200" dirty="0"/>
          </a:p>
          <a:p>
            <a:pPr marL="742950" lvl="1" indent="-285750">
              <a:buFont typeface="+mj-lt"/>
              <a:buAutoNum type="arabicPeriod"/>
            </a:pPr>
            <a:r>
              <a:rPr lang="es-ES" sz="3200" dirty="0"/>
              <a:t>Significa: "Aquí caben muchos registros".</a:t>
            </a:r>
          </a:p>
          <a:p>
            <a:pPr marL="742950" lvl="1" indent="-285750">
              <a:buFont typeface="+mj-lt"/>
              <a:buAutoNum type="arabicPeriod"/>
            </a:pPr>
            <a:r>
              <a:rPr lang="es-ES" sz="3200" dirty="0"/>
              <a:t>Equivale a la </a:t>
            </a:r>
            <a:r>
              <a:rPr lang="es-ES" sz="3200" b="1" dirty="0"/>
              <a:t>N</a:t>
            </a:r>
            <a:r>
              <a:rPr lang="es-ES" sz="3200" dirty="0"/>
              <a:t>.</a:t>
            </a:r>
          </a:p>
          <a:p>
            <a:pPr marL="742950" lvl="1" indent="-285750">
              <a:buFont typeface="+mj-lt"/>
              <a:buAutoNum type="arabicPeriod"/>
            </a:pPr>
            <a:endParaRPr lang="es-ES" sz="3200" dirty="0"/>
          </a:p>
          <a:p>
            <a:pPr>
              <a:buFont typeface="+mj-lt"/>
              <a:buAutoNum type="arabicPeriod"/>
            </a:pPr>
            <a:r>
              <a:rPr lang="es-ES" sz="3200" b="1" dirty="0"/>
              <a:t>Uno (La Rayita):</a:t>
            </a:r>
            <a:r>
              <a:rPr lang="es-ES" sz="3200" dirty="0"/>
              <a:t> </a:t>
            </a:r>
            <a:r>
              <a:rPr lang="es-ES" sz="3200" dirty="0">
                <a:latin typeface="Courier New" panose="02070309020205020404" pitchFamily="49" charset="0"/>
              </a:rPr>
              <a:t>|</a:t>
            </a:r>
            <a:endParaRPr lang="es-ES" sz="3200" dirty="0"/>
          </a:p>
          <a:p>
            <a:pPr marL="742950" lvl="1" indent="-285750">
              <a:buFont typeface="+mj-lt"/>
              <a:buAutoNum type="arabicPeriod"/>
            </a:pPr>
            <a:r>
              <a:rPr lang="es-ES" sz="3200" dirty="0"/>
              <a:t>Significa: "Aquí solo cabe uno".</a:t>
            </a:r>
          </a:p>
          <a:p>
            <a:pPr marL="742950" lvl="1" indent="-285750">
              <a:buFont typeface="+mj-lt"/>
              <a:buAutoNum type="arabicPeriod"/>
            </a:pPr>
            <a:r>
              <a:rPr lang="es-ES" sz="3200" dirty="0"/>
              <a:t>Equivale al </a:t>
            </a:r>
            <a:r>
              <a:rPr lang="es-ES" sz="3200" b="1" dirty="0"/>
              <a:t>1</a:t>
            </a:r>
            <a:r>
              <a:rPr lang="es-ES" sz="3200" dirty="0"/>
              <a:t>.</a:t>
            </a:r>
          </a:p>
          <a:p>
            <a:pPr marL="742950" lvl="1" indent="-285750">
              <a:buFont typeface="+mj-lt"/>
              <a:buAutoNum type="arabicPeriod"/>
            </a:pPr>
            <a:endParaRPr lang="es-ES" sz="3200" dirty="0"/>
          </a:p>
          <a:p>
            <a:pPr>
              <a:buFont typeface="+mj-lt"/>
              <a:buAutoNum type="arabicPeriod"/>
            </a:pPr>
            <a:r>
              <a:rPr lang="es-ES" sz="3200" b="1" dirty="0"/>
              <a:t>Cero (El Círculo):</a:t>
            </a:r>
            <a:r>
              <a:rPr lang="es-ES" sz="3200" dirty="0"/>
              <a:t> </a:t>
            </a:r>
            <a:r>
              <a:rPr lang="es-ES" sz="3200" dirty="0">
                <a:latin typeface="Courier New" panose="02070309020205020404" pitchFamily="49" charset="0"/>
              </a:rPr>
              <a:t>O</a:t>
            </a:r>
            <a:endParaRPr lang="es-ES" sz="3200" dirty="0"/>
          </a:p>
          <a:p>
            <a:pPr marL="742950" lvl="1" indent="-285750">
              <a:buFont typeface="+mj-lt"/>
              <a:buAutoNum type="arabicPeriod"/>
            </a:pPr>
            <a:r>
              <a:rPr lang="es-ES" sz="3200" dirty="0"/>
              <a:t>Significa: "Es opcional" (puede no haber nada).</a:t>
            </a:r>
          </a:p>
          <a:p>
            <a:pPr marL="742950" lvl="1" indent="-285750">
              <a:buFont typeface="+mj-lt"/>
              <a:buAutoNum type="arabicPeriod"/>
            </a:pPr>
            <a:r>
              <a:rPr lang="es-ES" sz="3200" dirty="0"/>
              <a:t>Equivale al </a:t>
            </a:r>
            <a:r>
              <a:rPr lang="es-ES" sz="3200" b="1" dirty="0"/>
              <a:t>0</a:t>
            </a:r>
            <a:r>
              <a:rPr lang="es-ES" sz="3200" dirty="0"/>
              <a:t>.</a:t>
            </a:r>
          </a:p>
        </p:txBody>
      </p:sp>
    </p:spTree>
    <p:extLst>
      <p:ext uri="{BB962C8B-B14F-4D97-AF65-F5344CB8AC3E}">
        <p14:creationId xmlns:p14="http://schemas.microsoft.com/office/powerpoint/2010/main" val="18523710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63307-5E5A-A026-CF4B-7DEDB73F63F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B324FDD-605C-7793-C285-57B4856D341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D490176-2FDC-1718-D23B-7B146E81C7E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5B75EF2-837F-35CB-51F5-792940947A9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BC29CA6-C358-DB89-C4A2-5258F904CD2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35E7F14-A53C-364C-18AC-8A6A54C97D3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B77129-2EA2-D9F4-7B0E-C6F8949F8E0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9059F46-42EF-5C04-5C76-731058E861D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3CD2B31-B369-09DA-BA94-7FEE772860C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124E335-9D39-2D10-CE66-C4894DEB0A0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173F115-FDE8-B433-A034-5E46A2752FC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C9AFF1AE-74F9-A30A-B50D-D856D66092C9}"/>
              </a:ext>
            </a:extLst>
          </p:cNvPr>
          <p:cNvSpPr txBox="1"/>
          <p:nvPr/>
        </p:nvSpPr>
        <p:spPr>
          <a:xfrm>
            <a:off x="1501217" y="387680"/>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7C50E4DD-B60D-2B87-D5CF-3A756EA8FDE3}"/>
              </a:ext>
            </a:extLst>
          </p:cNvPr>
          <p:cNvSpPr txBox="1"/>
          <p:nvPr/>
        </p:nvSpPr>
        <p:spPr>
          <a:xfrm>
            <a:off x="1679056" y="1513225"/>
            <a:ext cx="15234688" cy="3477875"/>
          </a:xfrm>
          <a:prstGeom prst="rect">
            <a:avLst/>
          </a:prstGeom>
          <a:noFill/>
        </p:spPr>
        <p:txBody>
          <a:bodyPr wrap="square">
            <a:spAutoFit/>
          </a:bodyPr>
          <a:lstStyle/>
          <a:p>
            <a:r>
              <a:rPr lang="es-CO" sz="2000" dirty="0"/>
              <a:t>Las relaciones ilustran la asociación entre dos entidades. Se representan como una línea recta. Normalmente, cada relación tiene un nombre, expresado como un verbo, escrito en la línea de relación. Este describe el tipo de relación que conecta los objetos.</a:t>
            </a:r>
          </a:p>
          <a:p>
            <a:endParaRPr lang="es-CO" sz="2000" dirty="0"/>
          </a:p>
          <a:p>
            <a:r>
              <a:rPr lang="es-CO" sz="2000" dirty="0"/>
              <a:t>Tenga en cuenta que el tipo de relación mencionado es binario. En el modelo Entidad-Relación, representar una relación ternaria o de orden superior es problemático.</a:t>
            </a:r>
          </a:p>
          <a:p>
            <a:endParaRPr lang="es-CO" sz="2000" dirty="0"/>
          </a:p>
          <a:p>
            <a:r>
              <a:rPr lang="es-CO" sz="2000" dirty="0"/>
              <a:t>Cardinalidad</a:t>
            </a:r>
          </a:p>
          <a:p>
            <a:r>
              <a:rPr lang="es-CO" sz="2000" dirty="0"/>
              <a:t>Las relaciones tienen dos indicadores. Estos se muestran a ambos lados de la línea.</a:t>
            </a:r>
          </a:p>
          <a:p>
            <a:pPr marL="285750" indent="-285750">
              <a:buFont typeface="Arial" panose="020B0604020202020204" pitchFamily="34" charset="0"/>
              <a:buChar char="•"/>
            </a:pPr>
            <a:endParaRPr lang="es-CO" sz="2000" dirty="0"/>
          </a:p>
          <a:p>
            <a:pPr marL="285750" indent="-285750">
              <a:buFont typeface="Arial" panose="020B0604020202020204" pitchFamily="34" charset="0"/>
              <a:buChar char="•"/>
            </a:pPr>
            <a:r>
              <a:rPr lang="es-CO" sz="2000" dirty="0"/>
              <a:t>El primero (a menudo llamado multiplicidad) se refiere al número máximo de veces que una instancia de una entidad puede asociarse con instancias de la entidad relacionada. Puede ser una o muchas.</a:t>
            </a:r>
          </a:p>
        </p:txBody>
      </p:sp>
      <p:sp>
        <p:nvSpPr>
          <p:cNvPr id="14" name="AutoShape 2" descr="Imagen de ">
            <a:extLst>
              <a:ext uri="{FF2B5EF4-FFF2-40B4-BE49-F238E27FC236}">
                <a16:creationId xmlns:a16="http://schemas.microsoft.com/office/drawing/2014/main" id="{BF5E7C9D-55DC-FD9C-5170-CA9264BE69F6}"/>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5" name="Imagen 14">
            <a:extLst>
              <a:ext uri="{FF2B5EF4-FFF2-40B4-BE49-F238E27FC236}">
                <a16:creationId xmlns:a16="http://schemas.microsoft.com/office/drawing/2014/main" id="{ED36BEE1-180E-4FB0-2C0D-F58DE5DC79A7}"/>
              </a:ext>
            </a:extLst>
          </p:cNvPr>
          <p:cNvPicPr>
            <a:picLocks noChangeAspect="1"/>
          </p:cNvPicPr>
          <p:nvPr/>
        </p:nvPicPr>
        <p:blipFill>
          <a:blip r:embed="rId5"/>
          <a:stretch>
            <a:fillRect/>
          </a:stretch>
        </p:blipFill>
        <p:spPr>
          <a:xfrm>
            <a:off x="4894082" y="5737035"/>
            <a:ext cx="8195035" cy="4145535"/>
          </a:xfrm>
          <a:prstGeom prst="rect">
            <a:avLst/>
          </a:prstGeom>
        </p:spPr>
      </p:pic>
    </p:spTree>
    <p:extLst>
      <p:ext uri="{BB962C8B-B14F-4D97-AF65-F5344CB8AC3E}">
        <p14:creationId xmlns:p14="http://schemas.microsoft.com/office/powerpoint/2010/main" val="7782055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7642-EA18-7135-50B2-DA9B29655C1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91BE7DE-F059-E50F-961C-178EA0475E4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D2E1144-35A2-ECCD-7B50-E4D72AD79E4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4D270B0-FB71-C38B-9E8F-3B7D7F6D386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FB6A5A-DF87-9810-5602-81C90B31CAE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B1D6B34-AF3E-B1CD-94F9-BBF5720BBA1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46C78E5-F96F-F348-57C8-61540D2627F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56565B2-69E5-CA41-0AC8-A581CB5F015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941523E-D1A3-EE35-266F-1896FD8235F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6667906-6559-39D3-A74C-F5B7B65BE86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AA2E6E6-D20C-A5BA-6AB1-EE952C64006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85820456-3CF0-7371-810C-AD5758902B42}"/>
              </a:ext>
            </a:extLst>
          </p:cNvPr>
          <p:cNvSpPr txBox="1"/>
          <p:nvPr/>
        </p:nvSpPr>
        <p:spPr>
          <a:xfrm>
            <a:off x="1708607" y="1172510"/>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8705B3ED-8BB4-B390-74C4-3707D7726EE5}"/>
              </a:ext>
            </a:extLst>
          </p:cNvPr>
          <p:cNvSpPr txBox="1"/>
          <p:nvPr/>
        </p:nvSpPr>
        <p:spPr>
          <a:xfrm>
            <a:off x="1865236" y="2388227"/>
            <a:ext cx="13781388" cy="707886"/>
          </a:xfrm>
          <a:prstGeom prst="rect">
            <a:avLst/>
          </a:prstGeom>
          <a:noFill/>
        </p:spPr>
        <p:txBody>
          <a:bodyPr wrap="square">
            <a:spAutoFit/>
          </a:bodyPr>
          <a:lstStyle/>
          <a:p>
            <a:r>
              <a:rPr lang="es-ES" sz="2000" dirty="0"/>
              <a:t>El segundo describe el número mínimo de veces que una instancia puede relacionarse con otras. Puede ser cero o uno, y, en consecuencia, describe la relación como opcional u obligatoria.</a:t>
            </a:r>
            <a:endParaRPr lang="es-CO" sz="2000" dirty="0"/>
          </a:p>
        </p:txBody>
      </p:sp>
      <p:sp>
        <p:nvSpPr>
          <p:cNvPr id="14" name="AutoShape 2" descr="Imagen de ">
            <a:extLst>
              <a:ext uri="{FF2B5EF4-FFF2-40B4-BE49-F238E27FC236}">
                <a16:creationId xmlns:a16="http://schemas.microsoft.com/office/drawing/2014/main" id="{5FA4EF96-798C-30C0-3A9D-A250FA0337A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2" name="AutoShape 2" descr="Imagen de ">
            <a:extLst>
              <a:ext uri="{FF2B5EF4-FFF2-40B4-BE49-F238E27FC236}">
                <a16:creationId xmlns:a16="http://schemas.microsoft.com/office/drawing/2014/main" id="{8DE59870-0E51-E77D-CEDC-86FA976F4AF4}"/>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8" name="AutoShape 4" descr="Imagen de ">
            <a:extLst>
              <a:ext uri="{FF2B5EF4-FFF2-40B4-BE49-F238E27FC236}">
                <a16:creationId xmlns:a16="http://schemas.microsoft.com/office/drawing/2014/main" id="{86B4DB1D-60C1-70D6-C47B-B5F0ACA17A93}"/>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9" name="Imagen 18">
            <a:extLst>
              <a:ext uri="{FF2B5EF4-FFF2-40B4-BE49-F238E27FC236}">
                <a16:creationId xmlns:a16="http://schemas.microsoft.com/office/drawing/2014/main" id="{1392BF0D-537F-BF07-A328-252EF45F2D51}"/>
              </a:ext>
            </a:extLst>
          </p:cNvPr>
          <p:cNvPicPr>
            <a:picLocks noChangeAspect="1"/>
          </p:cNvPicPr>
          <p:nvPr/>
        </p:nvPicPr>
        <p:blipFill>
          <a:blip r:embed="rId5"/>
          <a:stretch>
            <a:fillRect/>
          </a:stretch>
        </p:blipFill>
        <p:spPr>
          <a:xfrm>
            <a:off x="4572000" y="4046995"/>
            <a:ext cx="9753600" cy="5153025"/>
          </a:xfrm>
          <a:prstGeom prst="rect">
            <a:avLst/>
          </a:prstGeom>
        </p:spPr>
      </p:pic>
    </p:spTree>
    <p:extLst>
      <p:ext uri="{BB962C8B-B14F-4D97-AF65-F5344CB8AC3E}">
        <p14:creationId xmlns:p14="http://schemas.microsoft.com/office/powerpoint/2010/main" val="232790380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137D-1A82-C0FA-AA81-CAAE1904F7A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98023AE-07E4-FD92-C6A6-3615FF83C10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F5C84B6-B3CA-3706-6369-147F87C7664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9D35B46-E353-CC75-B27D-A3B8DD70E56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F2EAA4-C590-D5E3-4263-89C6CB04CFB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2B624AB-D7E8-2D7D-40EC-097C17E757C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B240A76-1BBD-A436-2AAC-7E088D5A095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FC2E0AD-B9F2-2275-D977-B976FA0CE8D3}"/>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FF43AD5-593C-2C33-2E0E-5BF3DF09BB8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9F2E541-0CBA-99B4-766B-1B529CA4F0B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AB743DA-189C-5D4C-2D9A-68D860F230C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580D020-633E-74C3-7BBA-4E5909CD2D05}"/>
              </a:ext>
            </a:extLst>
          </p:cNvPr>
          <p:cNvSpPr txBox="1"/>
          <p:nvPr/>
        </p:nvSpPr>
        <p:spPr>
          <a:xfrm>
            <a:off x="1284401" y="252974"/>
            <a:ext cx="15570725" cy="9079409"/>
          </a:xfrm>
          <a:prstGeom prst="rect">
            <a:avLst/>
          </a:prstGeom>
          <a:noFill/>
        </p:spPr>
        <p:txBody>
          <a:bodyPr wrap="square">
            <a:spAutoFit/>
          </a:bodyPr>
          <a:lstStyle/>
          <a:p>
            <a:pPr>
              <a:buNone/>
            </a:pPr>
            <a:r>
              <a:rPr lang="es-ES" sz="2400" b="1" dirty="0"/>
              <a:t>Conceptos Clave: Tipos de Relaciones (Cardinalidad)</a:t>
            </a:r>
          </a:p>
          <a:p>
            <a:pPr>
              <a:buNone/>
            </a:pPr>
            <a:endParaRPr lang="es-ES" sz="2400" b="1" dirty="0"/>
          </a:p>
          <a:p>
            <a:pPr>
              <a:buNone/>
            </a:pPr>
            <a:endParaRPr lang="es-ES" sz="2400" dirty="0"/>
          </a:p>
          <a:p>
            <a:pPr marL="457200" indent="-457200">
              <a:buAutoNum type="arabicPeriod"/>
            </a:pPr>
            <a:r>
              <a:rPr lang="es-ES" sz="2400" b="1" dirty="0"/>
              <a:t>Uno a Uno (1:1)</a:t>
            </a:r>
          </a:p>
          <a:p>
            <a:pPr marL="457200" indent="-457200">
              <a:buAutoNum type="arabicPeriod"/>
            </a:pPr>
            <a:endParaRPr lang="es-ES" sz="2400" b="1" dirty="0"/>
          </a:p>
          <a:p>
            <a:pPr>
              <a:buFont typeface="Arial" panose="020B0604020202020204" pitchFamily="34" charset="0"/>
              <a:buChar char="•"/>
            </a:pPr>
            <a:r>
              <a:rPr lang="es-ES" sz="2400" b="1" dirty="0"/>
              <a:t>Definición:</a:t>
            </a:r>
            <a:r>
              <a:rPr lang="es-ES" sz="2400" dirty="0"/>
              <a:t> Una instancia de A se relaciona con </a:t>
            </a:r>
            <a:r>
              <a:rPr lang="es-ES" sz="2400" i="1" dirty="0"/>
              <a:t>máximo</a:t>
            </a:r>
            <a:r>
              <a:rPr lang="es-ES" sz="2400" dirty="0"/>
              <a:t> una de B.</a:t>
            </a:r>
          </a:p>
          <a:p>
            <a:pPr>
              <a:buFont typeface="Arial" panose="020B0604020202020204" pitchFamily="34" charset="0"/>
              <a:buChar char="•"/>
            </a:pPr>
            <a:r>
              <a:rPr lang="es-ES" sz="2400" b="1" dirty="0"/>
              <a:t>Ejemplo </a:t>
            </a:r>
            <a:r>
              <a:rPr lang="es-ES" sz="2400" b="1" dirty="0" err="1"/>
              <a:t>Olist</a:t>
            </a:r>
            <a:r>
              <a:rPr lang="es-ES" sz="2400" b="1" dirty="0"/>
              <a:t>:</a:t>
            </a:r>
            <a:r>
              <a:rPr lang="es-ES" sz="2400" dirty="0"/>
              <a:t> ¿Una </a:t>
            </a:r>
            <a:r>
              <a:rPr lang="es-ES" sz="2400" i="1" dirty="0"/>
              <a:t>Orden</a:t>
            </a:r>
            <a:r>
              <a:rPr lang="es-ES" sz="2400" dirty="0"/>
              <a:t> tiene una </a:t>
            </a:r>
            <a:r>
              <a:rPr lang="es-ES" sz="2400" i="1" dirty="0"/>
              <a:t>Geolocalización</a:t>
            </a:r>
            <a:r>
              <a:rPr lang="es-ES" sz="2400" dirty="0"/>
              <a:t>? No exactamente (usa Zip </a:t>
            </a:r>
            <a:r>
              <a:rPr lang="es-ES" sz="2400" dirty="0" err="1"/>
              <a:t>Code</a:t>
            </a:r>
            <a:r>
              <a:rPr lang="es-ES" sz="2400" dirty="0"/>
              <a:t>), pero conceptualmente, un envío va a un solo lugar.</a:t>
            </a:r>
          </a:p>
          <a:p>
            <a:pPr>
              <a:buFont typeface="Arial" panose="020B0604020202020204" pitchFamily="34" charset="0"/>
              <a:buChar char="•"/>
            </a:pPr>
            <a:endParaRPr lang="es-ES" sz="2400" dirty="0"/>
          </a:p>
          <a:p>
            <a:pPr>
              <a:buNone/>
            </a:pPr>
            <a:r>
              <a:rPr lang="es-ES" sz="2400" b="1" dirty="0"/>
              <a:t>2. Uno a Muchos (1:N) - </a:t>
            </a:r>
            <a:r>
              <a:rPr lang="es-ES" sz="2800" b="1" i="1" dirty="0"/>
              <a:t>La más común</a:t>
            </a:r>
          </a:p>
          <a:p>
            <a:pPr>
              <a:buNone/>
            </a:pPr>
            <a:endParaRPr lang="es-ES" sz="2800" b="1" dirty="0"/>
          </a:p>
          <a:p>
            <a:pPr>
              <a:buFont typeface="Arial" panose="020B0604020202020204" pitchFamily="34" charset="0"/>
              <a:buChar char="•"/>
            </a:pPr>
            <a:r>
              <a:rPr lang="es-ES" sz="2400" b="1" dirty="0"/>
              <a:t>Definición:</a:t>
            </a:r>
            <a:r>
              <a:rPr lang="es-ES" sz="2400" dirty="0"/>
              <a:t> Una instancia de A se relaciona con muchas de B, pero B solo con una de A.</a:t>
            </a:r>
          </a:p>
          <a:p>
            <a:pPr>
              <a:buFont typeface="Arial" panose="020B0604020202020204" pitchFamily="34" charset="0"/>
              <a:buChar char="•"/>
            </a:pPr>
            <a:r>
              <a:rPr lang="es-ES" sz="2400" b="1" dirty="0"/>
              <a:t>Ejemplo </a:t>
            </a:r>
            <a:r>
              <a:rPr lang="es-ES" sz="2400" b="1" dirty="0" err="1"/>
              <a:t>Olist</a:t>
            </a:r>
            <a:r>
              <a:rPr lang="es-ES" sz="2400" b="1" dirty="0"/>
              <a:t>:</a:t>
            </a:r>
            <a:endParaRPr lang="es-ES" sz="2400" dirty="0"/>
          </a:p>
          <a:p>
            <a:pPr marL="742950" lvl="1" indent="-285750">
              <a:buFont typeface="Arial" panose="020B0604020202020204" pitchFamily="34" charset="0"/>
              <a:buChar char="•"/>
            </a:pPr>
            <a:r>
              <a:rPr lang="es-ES" sz="2400" dirty="0"/>
              <a:t>Un </a:t>
            </a:r>
            <a:r>
              <a:rPr lang="es-ES" sz="2400" b="1" dirty="0"/>
              <a:t>Cliente</a:t>
            </a:r>
            <a:r>
              <a:rPr lang="es-ES" sz="2400" dirty="0"/>
              <a:t> hace muchas </a:t>
            </a:r>
            <a:r>
              <a:rPr lang="es-ES" sz="2400" b="1" dirty="0"/>
              <a:t>Órdenes</a:t>
            </a:r>
            <a:r>
              <a:rPr lang="es-ES" sz="2400" dirty="0"/>
              <a:t>.</a:t>
            </a:r>
          </a:p>
          <a:p>
            <a:pPr marL="742950" lvl="1" indent="-285750">
              <a:buFont typeface="Arial" panose="020B0604020202020204" pitchFamily="34" charset="0"/>
              <a:buChar char="•"/>
            </a:pPr>
            <a:r>
              <a:rPr lang="es-ES" sz="2400" dirty="0"/>
              <a:t>Una </a:t>
            </a:r>
            <a:r>
              <a:rPr lang="es-ES" sz="2400" b="1" dirty="0"/>
              <a:t>Orden</a:t>
            </a:r>
            <a:r>
              <a:rPr lang="es-ES" sz="2400" dirty="0"/>
              <a:t> pertenece a un solo </a:t>
            </a:r>
            <a:r>
              <a:rPr lang="es-ES" sz="2400" b="1" dirty="0"/>
              <a:t>Cliente</a:t>
            </a:r>
            <a:r>
              <a:rPr lang="es-ES" sz="2400" dirty="0"/>
              <a:t>.</a:t>
            </a:r>
          </a:p>
          <a:p>
            <a:pPr marL="742950" lvl="1" indent="-285750">
              <a:buFont typeface="Arial" panose="020B0604020202020204" pitchFamily="34" charset="0"/>
              <a:buChar char="•"/>
            </a:pPr>
            <a:endParaRPr lang="es-ES" sz="2400" dirty="0"/>
          </a:p>
          <a:p>
            <a:pPr>
              <a:buNone/>
            </a:pPr>
            <a:r>
              <a:rPr lang="es-ES" sz="2400" b="1" dirty="0"/>
              <a:t>3. Muchos a Muchos (M:N) - </a:t>
            </a:r>
            <a:r>
              <a:rPr lang="es-ES" sz="2400" b="1" i="1" dirty="0"/>
              <a:t>El problema a resolver</a:t>
            </a:r>
            <a:endParaRPr lang="es-ES" sz="2400" b="1" dirty="0"/>
          </a:p>
          <a:p>
            <a:pPr>
              <a:buFont typeface="Arial" panose="020B0604020202020204" pitchFamily="34" charset="0"/>
              <a:buChar char="•"/>
            </a:pPr>
            <a:r>
              <a:rPr lang="es-ES" sz="2400" b="1" dirty="0"/>
              <a:t>Definición:</a:t>
            </a:r>
            <a:r>
              <a:rPr lang="es-ES" sz="2400" dirty="0"/>
              <a:t> A se relaciona con muchas B, y B con muchas A.</a:t>
            </a:r>
          </a:p>
          <a:p>
            <a:pPr>
              <a:buFont typeface="Arial" panose="020B0604020202020204" pitchFamily="34" charset="0"/>
              <a:buChar char="•"/>
            </a:pPr>
            <a:r>
              <a:rPr lang="es-ES" sz="2400" b="1" dirty="0"/>
              <a:t>Ejemplo </a:t>
            </a:r>
            <a:r>
              <a:rPr lang="es-ES" sz="2400" b="1" dirty="0" err="1"/>
              <a:t>Olist</a:t>
            </a:r>
            <a:r>
              <a:rPr lang="es-ES" sz="2400" b="1" dirty="0"/>
              <a:t>:</a:t>
            </a:r>
            <a:endParaRPr lang="es-ES" sz="2400" dirty="0"/>
          </a:p>
          <a:p>
            <a:pPr marL="742950" lvl="1" indent="-285750">
              <a:buFont typeface="Arial" panose="020B0604020202020204" pitchFamily="34" charset="0"/>
              <a:buChar char="•"/>
            </a:pPr>
            <a:r>
              <a:rPr lang="es-ES" sz="2400" dirty="0"/>
              <a:t>Una </a:t>
            </a:r>
            <a:r>
              <a:rPr lang="es-ES" sz="2400" b="1" dirty="0"/>
              <a:t>Orden</a:t>
            </a:r>
            <a:r>
              <a:rPr lang="es-ES" sz="2400" dirty="0"/>
              <a:t> contiene muchos </a:t>
            </a:r>
            <a:r>
              <a:rPr lang="es-ES" sz="2400" b="1" dirty="0"/>
              <a:t>Productos</a:t>
            </a:r>
            <a:r>
              <a:rPr lang="es-ES" sz="2400" dirty="0"/>
              <a:t>.</a:t>
            </a:r>
          </a:p>
          <a:p>
            <a:pPr marL="742950" lvl="1" indent="-285750">
              <a:buFont typeface="Arial" panose="020B0604020202020204" pitchFamily="34" charset="0"/>
              <a:buChar char="•"/>
            </a:pPr>
            <a:r>
              <a:rPr lang="es-ES" sz="2400" dirty="0"/>
              <a:t>Un </a:t>
            </a:r>
            <a:r>
              <a:rPr lang="es-ES" sz="2400" b="1" dirty="0"/>
              <a:t>Producto</a:t>
            </a:r>
            <a:r>
              <a:rPr lang="es-ES" sz="2400" dirty="0"/>
              <a:t> aparece en muchas </a:t>
            </a:r>
            <a:r>
              <a:rPr lang="es-ES" sz="2400" b="1" dirty="0"/>
              <a:t>Órdenes</a:t>
            </a:r>
            <a:r>
              <a:rPr lang="es-ES" sz="2400" dirty="0"/>
              <a:t>.</a:t>
            </a:r>
          </a:p>
          <a:p>
            <a:pPr marL="742950" lvl="1" indent="-285750">
              <a:buFont typeface="Arial" panose="020B0604020202020204" pitchFamily="34" charset="0"/>
              <a:buChar char="•"/>
            </a:pPr>
            <a:endParaRPr lang="es-ES" sz="2400" dirty="0"/>
          </a:p>
          <a:p>
            <a:r>
              <a:rPr lang="es-ES" sz="2400" b="1" i="1" u="sng" dirty="0"/>
              <a:t>Nota Técnica:</a:t>
            </a:r>
            <a:r>
              <a:rPr lang="es-ES" sz="2400" i="1" u="sng" dirty="0"/>
              <a:t> Las bases de datos relacionales NO soportan esto directamente. Necesitaremos una "Tabla Puente" más adelante.</a:t>
            </a:r>
          </a:p>
        </p:txBody>
      </p:sp>
    </p:spTree>
    <p:extLst>
      <p:ext uri="{BB962C8B-B14F-4D97-AF65-F5344CB8AC3E}">
        <p14:creationId xmlns:p14="http://schemas.microsoft.com/office/powerpoint/2010/main" val="19091823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643E5-7E19-D205-6401-7DC77E603AC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2394AA6-A23E-A28C-7AC0-28A6314F77C3}"/>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D527C18-251B-3F1C-EA1E-1549E259CC0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B5ABA78-EF98-E009-723F-EFC091DD895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2E0AD81-71B2-5473-1C79-9631A3F7575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3DE4C58-5DB3-6E46-2E49-C021B9288D8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8838C4E-79E8-0EB5-0A70-615046EC0B4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B91C9AE-D881-F5F3-EE43-89BC74D897E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BB4ACEB-3A84-DBDD-EFD9-447C19AFD7A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95B59E1-9DE4-C9C1-86B5-9760C9D2B2F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885083D-4FE0-88E6-5050-29F4A92F4E98}"/>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4FCBFFA6-F142-214E-921D-505D89670446}"/>
              </a:ext>
            </a:extLst>
          </p:cNvPr>
          <p:cNvSpPr txBox="1"/>
          <p:nvPr/>
        </p:nvSpPr>
        <p:spPr>
          <a:xfrm>
            <a:off x="1548352" y="31238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4" name="AutoShape 2" descr="Imagen de ">
            <a:extLst>
              <a:ext uri="{FF2B5EF4-FFF2-40B4-BE49-F238E27FC236}">
                <a16:creationId xmlns:a16="http://schemas.microsoft.com/office/drawing/2014/main" id="{D5B10E84-79F0-91DE-AA3D-323E0A46140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5" name="CuadroTexto 14">
            <a:extLst>
              <a:ext uri="{FF2B5EF4-FFF2-40B4-BE49-F238E27FC236}">
                <a16:creationId xmlns:a16="http://schemas.microsoft.com/office/drawing/2014/main" id="{16A78132-7835-72C9-F09B-AAE8062331AE}"/>
              </a:ext>
            </a:extLst>
          </p:cNvPr>
          <p:cNvSpPr txBox="1"/>
          <p:nvPr/>
        </p:nvSpPr>
        <p:spPr>
          <a:xfrm>
            <a:off x="1485340" y="1394589"/>
            <a:ext cx="11498344" cy="6678751"/>
          </a:xfrm>
          <a:prstGeom prst="rect">
            <a:avLst/>
          </a:prstGeom>
          <a:noFill/>
        </p:spPr>
        <p:txBody>
          <a:bodyPr wrap="square">
            <a:spAutoFit/>
          </a:bodyPr>
          <a:lstStyle/>
          <a:p>
            <a:r>
              <a:rPr lang="es-ES" sz="2000" dirty="0"/>
              <a:t>Finalmente, la relación tiene cuatro posibles aristas, ilustradas aquí:</a:t>
            </a:r>
          </a:p>
          <a:p>
            <a:endParaRPr lang="es-ES" sz="2000" dirty="0"/>
          </a:p>
          <a:p>
            <a:r>
              <a:rPr lang="es-ES" sz="3600" dirty="0"/>
              <a:t>Cero o muchos</a:t>
            </a:r>
          </a:p>
          <a:p>
            <a:endParaRPr lang="es-ES" sz="3600" dirty="0"/>
          </a:p>
          <a:p>
            <a:endParaRPr lang="es-ES" sz="3600" dirty="0"/>
          </a:p>
          <a:p>
            <a:endParaRPr lang="es-ES" sz="3600" dirty="0"/>
          </a:p>
          <a:p>
            <a:endParaRPr lang="es-ES" sz="3600" dirty="0"/>
          </a:p>
          <a:p>
            <a:endParaRPr lang="es-ES" sz="3600" dirty="0"/>
          </a:p>
          <a:p>
            <a:endParaRPr lang="es-ES" sz="3600" dirty="0"/>
          </a:p>
          <a:p>
            <a:r>
              <a:rPr lang="es-ES" sz="3600" dirty="0"/>
              <a:t>Uno o muchos</a:t>
            </a:r>
          </a:p>
          <a:p>
            <a:endParaRPr lang="es-ES" sz="2000" dirty="0"/>
          </a:p>
          <a:p>
            <a:endParaRPr lang="es-ES" sz="2000" dirty="0"/>
          </a:p>
          <a:p>
            <a:endParaRPr lang="es-ES" sz="2000" dirty="0"/>
          </a:p>
          <a:p>
            <a:endParaRPr lang="es-ES" sz="2000" dirty="0"/>
          </a:p>
          <a:p>
            <a:endParaRPr lang="es-ES" sz="2000" dirty="0"/>
          </a:p>
        </p:txBody>
      </p:sp>
      <p:pic>
        <p:nvPicPr>
          <p:cNvPr id="3074" name="Picture 2" descr="Zero or many relationship in crow’s foot notation">
            <a:extLst>
              <a:ext uri="{FF2B5EF4-FFF2-40B4-BE49-F238E27FC236}">
                <a16:creationId xmlns:a16="http://schemas.microsoft.com/office/drawing/2014/main" id="{147E50F9-BE86-6C4B-798A-FC06B47B61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13462" y="3277506"/>
            <a:ext cx="6586339" cy="2018394"/>
          </a:xfrm>
          <a:prstGeom prst="rect">
            <a:avLst/>
          </a:prstGeom>
          <a:noFill/>
          <a:extLst>
            <a:ext uri="{909E8E84-426E-40DD-AFC4-6F175D3DCCD1}">
              <a14:hiddenFill xmlns:a14="http://schemas.microsoft.com/office/drawing/2010/main">
                <a:solidFill>
                  <a:srgbClr val="FFFFFF"/>
                </a:solidFill>
              </a14:hiddenFill>
            </a:ext>
          </a:extLst>
        </p:spPr>
      </p:pic>
      <p:pic>
        <p:nvPicPr>
          <p:cNvPr id="18" name="Imagen 17">
            <a:extLst>
              <a:ext uri="{FF2B5EF4-FFF2-40B4-BE49-F238E27FC236}">
                <a16:creationId xmlns:a16="http://schemas.microsoft.com/office/drawing/2014/main" id="{E3B7AEA0-9988-68A1-3C28-D1457A1EA311}"/>
              </a:ext>
            </a:extLst>
          </p:cNvPr>
          <p:cNvPicPr>
            <a:picLocks noChangeAspect="1"/>
          </p:cNvPicPr>
          <p:nvPr/>
        </p:nvPicPr>
        <p:blipFill>
          <a:blip r:embed="rId6"/>
          <a:stretch>
            <a:fillRect/>
          </a:stretch>
        </p:blipFill>
        <p:spPr>
          <a:xfrm>
            <a:off x="1361263" y="6979691"/>
            <a:ext cx="7090736" cy="2290854"/>
          </a:xfrm>
          <a:prstGeom prst="rect">
            <a:avLst/>
          </a:prstGeom>
        </p:spPr>
      </p:pic>
      <p:pic>
        <p:nvPicPr>
          <p:cNvPr id="20" name="Imagen 19">
            <a:extLst>
              <a:ext uri="{FF2B5EF4-FFF2-40B4-BE49-F238E27FC236}">
                <a16:creationId xmlns:a16="http://schemas.microsoft.com/office/drawing/2014/main" id="{C773F051-877A-2403-B1D2-A039F7B731DC}"/>
              </a:ext>
            </a:extLst>
          </p:cNvPr>
          <p:cNvPicPr>
            <a:picLocks noChangeAspect="1"/>
          </p:cNvPicPr>
          <p:nvPr/>
        </p:nvPicPr>
        <p:blipFill>
          <a:blip r:embed="rId7"/>
          <a:stretch>
            <a:fillRect/>
          </a:stretch>
        </p:blipFill>
        <p:spPr>
          <a:xfrm>
            <a:off x="10513930" y="3060514"/>
            <a:ext cx="5934498" cy="2164059"/>
          </a:xfrm>
          <a:prstGeom prst="rect">
            <a:avLst/>
          </a:prstGeom>
        </p:spPr>
      </p:pic>
      <p:pic>
        <p:nvPicPr>
          <p:cNvPr id="22" name="Imagen 21">
            <a:extLst>
              <a:ext uri="{FF2B5EF4-FFF2-40B4-BE49-F238E27FC236}">
                <a16:creationId xmlns:a16="http://schemas.microsoft.com/office/drawing/2014/main" id="{2F07560E-61E0-5099-0588-0DA5F6999F71}"/>
              </a:ext>
            </a:extLst>
          </p:cNvPr>
          <p:cNvPicPr>
            <a:picLocks noChangeAspect="1"/>
          </p:cNvPicPr>
          <p:nvPr/>
        </p:nvPicPr>
        <p:blipFill>
          <a:blip r:embed="rId8"/>
          <a:stretch>
            <a:fillRect/>
          </a:stretch>
        </p:blipFill>
        <p:spPr>
          <a:xfrm>
            <a:off x="10050308" y="6927913"/>
            <a:ext cx="7018344" cy="2290854"/>
          </a:xfrm>
          <a:prstGeom prst="rect">
            <a:avLst/>
          </a:prstGeom>
        </p:spPr>
      </p:pic>
      <p:sp>
        <p:nvSpPr>
          <p:cNvPr id="24" name="CuadroTexto 23">
            <a:extLst>
              <a:ext uri="{FF2B5EF4-FFF2-40B4-BE49-F238E27FC236}">
                <a16:creationId xmlns:a16="http://schemas.microsoft.com/office/drawing/2014/main" id="{8FBB391E-C61E-9EBB-6DE3-83F0461E584F}"/>
              </a:ext>
            </a:extLst>
          </p:cNvPr>
          <p:cNvSpPr txBox="1"/>
          <p:nvPr/>
        </p:nvSpPr>
        <p:spPr>
          <a:xfrm>
            <a:off x="10513930" y="1962290"/>
            <a:ext cx="9186420" cy="646331"/>
          </a:xfrm>
          <a:prstGeom prst="rect">
            <a:avLst/>
          </a:prstGeom>
          <a:noFill/>
        </p:spPr>
        <p:txBody>
          <a:bodyPr wrap="square">
            <a:spAutoFit/>
          </a:bodyPr>
          <a:lstStyle/>
          <a:p>
            <a:r>
              <a:rPr lang="es-ES" sz="3600" dirty="0"/>
              <a:t>Uno y solo uno</a:t>
            </a:r>
          </a:p>
        </p:txBody>
      </p:sp>
      <p:sp>
        <p:nvSpPr>
          <p:cNvPr id="26" name="CuadroTexto 25">
            <a:extLst>
              <a:ext uri="{FF2B5EF4-FFF2-40B4-BE49-F238E27FC236}">
                <a16:creationId xmlns:a16="http://schemas.microsoft.com/office/drawing/2014/main" id="{714DAAA0-BB31-5BAE-AEA2-05723408BA22}"/>
              </a:ext>
            </a:extLst>
          </p:cNvPr>
          <p:cNvSpPr txBox="1"/>
          <p:nvPr/>
        </p:nvSpPr>
        <p:spPr>
          <a:xfrm>
            <a:off x="10513930" y="5878171"/>
            <a:ext cx="9997124" cy="646331"/>
          </a:xfrm>
          <a:prstGeom prst="rect">
            <a:avLst/>
          </a:prstGeom>
          <a:noFill/>
        </p:spPr>
        <p:txBody>
          <a:bodyPr wrap="square">
            <a:spAutoFit/>
          </a:bodyPr>
          <a:lstStyle/>
          <a:p>
            <a:r>
              <a:rPr lang="es-ES" sz="3600" dirty="0"/>
              <a:t>Cero o uno</a:t>
            </a:r>
            <a:endParaRPr lang="es-CO" sz="3600" dirty="0"/>
          </a:p>
        </p:txBody>
      </p:sp>
    </p:spTree>
    <p:extLst>
      <p:ext uri="{BB962C8B-B14F-4D97-AF65-F5344CB8AC3E}">
        <p14:creationId xmlns:p14="http://schemas.microsoft.com/office/powerpoint/2010/main" val="19926696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16F1B-79AA-DD03-F2F4-FF41E641EC9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B45C1F1-9A3D-51FA-531A-8B3BA808001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FE8C1C-993C-D671-B633-2FC440FC18F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ACB539A-DEF3-EBD7-F8A0-412A8C6B675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44F1A66-983C-FA7D-84CB-3619B85E5C1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D9694FA-8817-F319-E27C-67D309F9286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539E95D-BFBB-E68E-774C-15BA2CD1F0A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24DE3AC-5BDE-20DF-4176-206B626F23E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AEADA53-DE96-E9C4-6C0D-6B2A71AC9AB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B6FF446-FE31-8BF5-B2C6-5DF216C3C59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C49F5F8-D8F5-8E5B-FAC4-C7E24BD0C7B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B9B28399-6EC4-7315-B0A1-9CAB9CDD3012}"/>
              </a:ext>
            </a:extLst>
          </p:cNvPr>
          <p:cNvSpPr txBox="1"/>
          <p:nvPr/>
        </p:nvSpPr>
        <p:spPr>
          <a:xfrm>
            <a:off x="1736888" y="63464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7F821991-83A8-6ADB-C25A-8EF9157B92EC}"/>
              </a:ext>
            </a:extLst>
          </p:cNvPr>
          <p:cNvSpPr txBox="1"/>
          <p:nvPr/>
        </p:nvSpPr>
        <p:spPr>
          <a:xfrm>
            <a:off x="1808675" y="2356705"/>
            <a:ext cx="13781388" cy="461665"/>
          </a:xfrm>
          <a:prstGeom prst="rect">
            <a:avLst/>
          </a:prstGeom>
          <a:noFill/>
        </p:spPr>
        <p:txBody>
          <a:bodyPr wrap="square">
            <a:spAutoFit/>
          </a:bodyPr>
          <a:lstStyle/>
          <a:p>
            <a:r>
              <a:rPr lang="es-ES" sz="2400" dirty="0"/>
              <a:t>Ejemplo</a:t>
            </a:r>
            <a:endParaRPr lang="es-CO" sz="2400" dirty="0"/>
          </a:p>
        </p:txBody>
      </p:sp>
      <p:sp>
        <p:nvSpPr>
          <p:cNvPr id="14" name="AutoShape 2" descr="Imagen de ">
            <a:extLst>
              <a:ext uri="{FF2B5EF4-FFF2-40B4-BE49-F238E27FC236}">
                <a16:creationId xmlns:a16="http://schemas.microsoft.com/office/drawing/2014/main" id="{A63F4F8C-0141-503D-F5A5-C9A4EBD08DF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2" name="AutoShape 2" descr="Imagen de ">
            <a:extLst>
              <a:ext uri="{FF2B5EF4-FFF2-40B4-BE49-F238E27FC236}">
                <a16:creationId xmlns:a16="http://schemas.microsoft.com/office/drawing/2014/main" id="{13EE3E61-5444-3D1C-8395-7ED4F684B279}"/>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8" name="AutoShape 4" descr="Imagen de ">
            <a:extLst>
              <a:ext uri="{FF2B5EF4-FFF2-40B4-BE49-F238E27FC236}">
                <a16:creationId xmlns:a16="http://schemas.microsoft.com/office/drawing/2014/main" id="{28401077-8104-B8D4-185A-57B6768C70FA}"/>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5" name="Imagen 14">
            <a:extLst>
              <a:ext uri="{FF2B5EF4-FFF2-40B4-BE49-F238E27FC236}">
                <a16:creationId xmlns:a16="http://schemas.microsoft.com/office/drawing/2014/main" id="{4DA1B144-EB90-A281-96B2-6E5C76FD4225}"/>
              </a:ext>
            </a:extLst>
          </p:cNvPr>
          <p:cNvPicPr>
            <a:picLocks noChangeAspect="1"/>
          </p:cNvPicPr>
          <p:nvPr/>
        </p:nvPicPr>
        <p:blipFill>
          <a:blip r:embed="rId5"/>
          <a:stretch>
            <a:fillRect/>
          </a:stretch>
        </p:blipFill>
        <p:spPr>
          <a:xfrm>
            <a:off x="4796667" y="2179717"/>
            <a:ext cx="8772525" cy="2552700"/>
          </a:xfrm>
          <a:prstGeom prst="rect">
            <a:avLst/>
          </a:prstGeom>
        </p:spPr>
      </p:pic>
      <p:pic>
        <p:nvPicPr>
          <p:cNvPr id="22" name="Imagen 21">
            <a:extLst>
              <a:ext uri="{FF2B5EF4-FFF2-40B4-BE49-F238E27FC236}">
                <a16:creationId xmlns:a16="http://schemas.microsoft.com/office/drawing/2014/main" id="{EE8C789A-A15D-1954-94E6-2D215824DCE1}"/>
              </a:ext>
            </a:extLst>
          </p:cNvPr>
          <p:cNvPicPr>
            <a:picLocks noChangeAspect="1"/>
          </p:cNvPicPr>
          <p:nvPr/>
        </p:nvPicPr>
        <p:blipFill>
          <a:blip r:embed="rId6"/>
          <a:stretch>
            <a:fillRect/>
          </a:stretch>
        </p:blipFill>
        <p:spPr>
          <a:xfrm>
            <a:off x="5086452" y="6792723"/>
            <a:ext cx="8419895" cy="2491449"/>
          </a:xfrm>
          <a:prstGeom prst="rect">
            <a:avLst/>
          </a:prstGeom>
        </p:spPr>
      </p:pic>
      <p:sp>
        <p:nvSpPr>
          <p:cNvPr id="23" name="Flecha: a la derecha 22">
            <a:extLst>
              <a:ext uri="{FF2B5EF4-FFF2-40B4-BE49-F238E27FC236}">
                <a16:creationId xmlns:a16="http://schemas.microsoft.com/office/drawing/2014/main" id="{B40CD6EE-7650-590B-FCEE-37706FF20E71}"/>
              </a:ext>
            </a:extLst>
          </p:cNvPr>
          <p:cNvSpPr/>
          <p:nvPr/>
        </p:nvSpPr>
        <p:spPr>
          <a:xfrm rot="5400000">
            <a:off x="8397355" y="5222024"/>
            <a:ext cx="1649223" cy="10451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Elipse 23">
            <a:extLst>
              <a:ext uri="{FF2B5EF4-FFF2-40B4-BE49-F238E27FC236}">
                <a16:creationId xmlns:a16="http://schemas.microsoft.com/office/drawing/2014/main" id="{C535663C-ABAA-A0C6-1CC4-86249B9838F2}"/>
              </a:ext>
            </a:extLst>
          </p:cNvPr>
          <p:cNvSpPr/>
          <p:nvPr/>
        </p:nvSpPr>
        <p:spPr>
          <a:xfrm>
            <a:off x="10331778" y="3145428"/>
            <a:ext cx="933253" cy="8338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Elipse 24">
            <a:extLst>
              <a:ext uri="{FF2B5EF4-FFF2-40B4-BE49-F238E27FC236}">
                <a16:creationId xmlns:a16="http://schemas.microsoft.com/office/drawing/2014/main" id="{433FEEB4-1F45-67A3-263B-061ED23AC358}"/>
              </a:ext>
            </a:extLst>
          </p:cNvPr>
          <p:cNvSpPr/>
          <p:nvPr/>
        </p:nvSpPr>
        <p:spPr>
          <a:xfrm>
            <a:off x="6534347" y="7513373"/>
            <a:ext cx="933253" cy="8338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Elipse 25">
            <a:extLst>
              <a:ext uri="{FF2B5EF4-FFF2-40B4-BE49-F238E27FC236}">
                <a16:creationId xmlns:a16="http://schemas.microsoft.com/office/drawing/2014/main" id="{B1CFAB96-53FC-E1B5-E5F6-5D5655E4C759}"/>
              </a:ext>
            </a:extLst>
          </p:cNvPr>
          <p:cNvSpPr/>
          <p:nvPr/>
        </p:nvSpPr>
        <p:spPr>
          <a:xfrm>
            <a:off x="7097596" y="3039145"/>
            <a:ext cx="933253" cy="833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Elipse 26">
            <a:extLst>
              <a:ext uri="{FF2B5EF4-FFF2-40B4-BE49-F238E27FC236}">
                <a16:creationId xmlns:a16="http://schemas.microsoft.com/office/drawing/2014/main" id="{C42B8B6A-519E-FE38-F6B3-FC4ACBA7A797}"/>
              </a:ext>
            </a:extLst>
          </p:cNvPr>
          <p:cNvSpPr/>
          <p:nvPr/>
        </p:nvSpPr>
        <p:spPr>
          <a:xfrm>
            <a:off x="11305789" y="7559080"/>
            <a:ext cx="933253" cy="833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7732950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E4EE7-FCB0-336E-7F42-A6E5C54332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34E3AD3-8917-5F16-0761-075E2C101AE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025F620-3815-F155-B15E-AC82D7C9623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1B90722-3AD2-9975-4060-C7861A19C9E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F73811D-3A2D-1D59-3DB8-765CA8CB6F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6859485-9832-37E4-C898-B9BFE950AF1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2C5D405-29DE-EF3F-C43D-639E1695556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2E2CFF0-1A01-16AC-9B6E-40AB7A3D81E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DEDDDB3-B4D9-1BA4-7FF4-62CE96D87ED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698EAC2-C22D-1150-F1D5-4BA135BE941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5D6FF35-D65A-9BE5-C0A1-771CE5B785B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30" name="Diagrama 29">
            <a:extLst>
              <a:ext uri="{FF2B5EF4-FFF2-40B4-BE49-F238E27FC236}">
                <a16:creationId xmlns:a16="http://schemas.microsoft.com/office/drawing/2014/main" id="{1BFC39F7-DE60-099C-856A-727A80DA14C3}"/>
              </a:ext>
            </a:extLst>
          </p:cNvPr>
          <p:cNvGraphicFramePr/>
          <p:nvPr>
            <p:extLst>
              <p:ext uri="{D42A27DB-BD31-4B8C-83A1-F6EECF244321}">
                <p14:modId xmlns:p14="http://schemas.microsoft.com/office/powerpoint/2010/main" val="3022087443"/>
              </p:ext>
            </p:extLst>
          </p:nvPr>
        </p:nvGraphicFramePr>
        <p:xfrm>
          <a:off x="2234152" y="4503044"/>
          <a:ext cx="13970524" cy="33023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1" name="CuadroTexto 20">
            <a:extLst>
              <a:ext uri="{FF2B5EF4-FFF2-40B4-BE49-F238E27FC236}">
                <a16:creationId xmlns:a16="http://schemas.microsoft.com/office/drawing/2014/main" id="{E9E1ECDE-65CC-84C2-C5A6-D39ECED2E8B9}"/>
              </a:ext>
            </a:extLst>
          </p:cNvPr>
          <p:cNvSpPr txBox="1"/>
          <p:nvPr/>
        </p:nvSpPr>
        <p:spPr>
          <a:xfrm>
            <a:off x="1699183" y="919871"/>
            <a:ext cx="9186420" cy="1569660"/>
          </a:xfrm>
          <a:prstGeom prst="rect">
            <a:avLst/>
          </a:prstGeom>
          <a:noFill/>
        </p:spPr>
        <p:txBody>
          <a:bodyPr wrap="square">
            <a:spAutoFit/>
          </a:bodyPr>
          <a:lstStyle/>
          <a:p>
            <a:pPr>
              <a:buNone/>
            </a:pPr>
            <a:r>
              <a:rPr lang="es-ES" sz="3200" b="1" dirty="0"/>
              <a:t>Claves Foráneas</a:t>
            </a:r>
          </a:p>
          <a:p>
            <a:pPr>
              <a:buNone/>
            </a:pPr>
            <a:endParaRPr lang="es-ES" sz="3200" b="1" dirty="0"/>
          </a:p>
          <a:p>
            <a:pPr>
              <a:buNone/>
            </a:pPr>
            <a:r>
              <a:rPr lang="es-ES" sz="3200" b="1" dirty="0"/>
              <a:t>Reglas de Oro </a:t>
            </a:r>
          </a:p>
        </p:txBody>
      </p:sp>
      <p:sp>
        <p:nvSpPr>
          <p:cNvPr id="29" name="CuadroTexto 28">
            <a:extLst>
              <a:ext uri="{FF2B5EF4-FFF2-40B4-BE49-F238E27FC236}">
                <a16:creationId xmlns:a16="http://schemas.microsoft.com/office/drawing/2014/main" id="{5E1776BD-9C0D-7731-5B56-01B127F864A3}"/>
              </a:ext>
            </a:extLst>
          </p:cNvPr>
          <p:cNvSpPr txBox="1"/>
          <p:nvPr/>
        </p:nvSpPr>
        <p:spPr>
          <a:xfrm>
            <a:off x="1934853" y="3094690"/>
            <a:ext cx="9186420" cy="369332"/>
          </a:xfrm>
          <a:prstGeom prst="rect">
            <a:avLst/>
          </a:prstGeom>
          <a:noFill/>
        </p:spPr>
        <p:txBody>
          <a:bodyPr wrap="square">
            <a:spAutoFit/>
          </a:bodyPr>
          <a:lstStyle/>
          <a:p>
            <a:pPr>
              <a:buNone/>
            </a:pPr>
            <a:r>
              <a:rPr lang="es-ES" sz="1800" dirty="0"/>
              <a:t>Para que una clave foránea funcione, debes cumplir estos requisitos previos:</a:t>
            </a:r>
          </a:p>
        </p:txBody>
      </p:sp>
    </p:spTree>
    <p:extLst>
      <p:ext uri="{BB962C8B-B14F-4D97-AF65-F5344CB8AC3E}">
        <p14:creationId xmlns:p14="http://schemas.microsoft.com/office/powerpoint/2010/main" val="19795227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D99E4-6735-FAC4-C476-56731988CCB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779C4FE-A765-F4E8-8A51-B51A79FCA8D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1ADC396-616F-7E1C-7CC6-3D1F0069A35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6117E49-49BA-426F-3BD0-E21853F436B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4098DA2-3304-16E1-91C7-CB303E1997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2446F69-D17D-787C-6B37-CBD13982D3C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C998D87-B67E-145B-7E7E-B563FBC346B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56C255A-5070-F1AF-3932-13CC1BF5C5F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E0C3960F-5E38-1698-F047-E7E80A235CC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D0B1518-623B-CF3C-DEF4-12197A5E5D8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BF925D7-C396-4E56-C6AC-FEE74DF2E14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D3BC94E-07E6-F116-662A-4494CD584A72}"/>
              </a:ext>
            </a:extLst>
          </p:cNvPr>
          <p:cNvSpPr txBox="1"/>
          <p:nvPr/>
        </p:nvSpPr>
        <p:spPr>
          <a:xfrm>
            <a:off x="1424231" y="691742"/>
            <a:ext cx="15796968" cy="5693866"/>
          </a:xfrm>
          <a:prstGeom prst="rect">
            <a:avLst/>
          </a:prstGeom>
          <a:noFill/>
        </p:spPr>
        <p:txBody>
          <a:bodyPr wrap="square">
            <a:spAutoFit/>
          </a:bodyPr>
          <a:lstStyle/>
          <a:p>
            <a:pPr>
              <a:buNone/>
            </a:pPr>
            <a:r>
              <a:rPr lang="es-ES" sz="2800" b="1" dirty="0"/>
              <a:t>La Línea de Conexión (Relación)</a:t>
            </a:r>
          </a:p>
          <a:p>
            <a:pPr>
              <a:buNone/>
            </a:pPr>
            <a:endParaRPr lang="es-ES" sz="2800" b="1" dirty="0"/>
          </a:p>
          <a:p>
            <a:pPr>
              <a:buNone/>
            </a:pPr>
            <a:r>
              <a:rPr lang="es-ES" sz="2800" dirty="0"/>
              <a:t>La línea es lo que define visualmente la restricción. No basta con escribir el texto; la línea "transporta" la llave primaria de un lado para convertirla en foránea en el otro.</a:t>
            </a:r>
          </a:p>
          <a:p>
            <a:pPr>
              <a:buNone/>
            </a:pPr>
            <a:endParaRPr lang="es-ES" sz="2800" dirty="0"/>
          </a:p>
          <a:p>
            <a:pPr>
              <a:buFont typeface="Arial" panose="020B0604020202020204" pitchFamily="34" charset="0"/>
              <a:buChar char="•"/>
            </a:pPr>
            <a:r>
              <a:rPr lang="es-ES" sz="2800" b="1" dirty="0"/>
              <a:t>El lado "Uno" (Padre):</a:t>
            </a:r>
            <a:r>
              <a:rPr lang="es-ES" sz="2800" dirty="0"/>
              <a:t> La línea nace de la tabla que tiene la </a:t>
            </a:r>
            <a:r>
              <a:rPr lang="es-ES" sz="2800" b="1" dirty="0"/>
              <a:t>PK</a:t>
            </a:r>
            <a:r>
              <a:rPr lang="es-ES" sz="2800" dirty="0"/>
              <a:t>. Se representa con una línea simple o una barra cruzada </a:t>
            </a:r>
            <a:r>
              <a:rPr lang="es-ES" sz="2800" dirty="0">
                <a:latin typeface="Courier New" panose="02070309020205020404" pitchFamily="49" charset="0"/>
              </a:rPr>
              <a:t>|</a:t>
            </a:r>
            <a:r>
              <a:rPr lang="es-ES" sz="2800" dirty="0"/>
              <a:t>.</a:t>
            </a:r>
          </a:p>
          <a:p>
            <a:pPr>
              <a:buFont typeface="Arial" panose="020B0604020202020204" pitchFamily="34" charset="0"/>
              <a:buChar char="•"/>
            </a:pPr>
            <a:endParaRPr lang="es-ES" sz="2800" dirty="0"/>
          </a:p>
          <a:p>
            <a:pPr>
              <a:buFont typeface="Arial" panose="020B0604020202020204" pitchFamily="34" charset="0"/>
              <a:buChar char="•"/>
            </a:pPr>
            <a:r>
              <a:rPr lang="es-ES" sz="2800" b="1" dirty="0"/>
              <a:t>El lado "Muchos" (Hijo):</a:t>
            </a:r>
            <a:r>
              <a:rPr lang="es-ES" sz="2800" dirty="0"/>
              <a:t> La línea llega a la tabla que tiene la </a:t>
            </a:r>
            <a:r>
              <a:rPr lang="es-ES" sz="2800" b="1" dirty="0"/>
              <a:t>FK</a:t>
            </a:r>
            <a:r>
              <a:rPr lang="es-ES" sz="2800" dirty="0"/>
              <a:t>. Se representa con la "pata de gallo" (tres líneas abiertas).</a:t>
            </a:r>
          </a:p>
          <a:p>
            <a:pPr>
              <a:buFont typeface="Arial" panose="020B0604020202020204" pitchFamily="34" charset="0"/>
              <a:buChar char="•"/>
            </a:pPr>
            <a:endParaRPr lang="es-ES" sz="2800" dirty="0"/>
          </a:p>
          <a:p>
            <a:pPr>
              <a:buNone/>
            </a:pPr>
            <a:r>
              <a:rPr lang="es-ES" sz="2800" b="1" dirty="0">
                <a:highlight>
                  <a:srgbClr val="FFFF00"/>
                </a:highlight>
              </a:rPr>
              <a:t>Regla visual:</a:t>
            </a:r>
            <a:r>
              <a:rPr lang="es-ES" sz="2800" dirty="0">
                <a:highlight>
                  <a:srgbClr val="FFFF00"/>
                </a:highlight>
              </a:rPr>
              <a:t> La Clave Foránea (FK) </a:t>
            </a:r>
            <a:r>
              <a:rPr lang="es-ES" sz="2800" b="1" dirty="0">
                <a:highlight>
                  <a:srgbClr val="FFFF00"/>
                </a:highlight>
              </a:rPr>
              <a:t>SIEMPRE</a:t>
            </a:r>
            <a:r>
              <a:rPr lang="es-ES" sz="2800" dirty="0">
                <a:highlight>
                  <a:srgbClr val="FFFF00"/>
                </a:highlight>
              </a:rPr>
              <a:t> se coloca en la tabla que tiene la "Pata de Gallo" (el lado de "Muchos").</a:t>
            </a:r>
          </a:p>
        </p:txBody>
      </p:sp>
      <p:pic>
        <p:nvPicPr>
          <p:cNvPr id="14" name="Imagen 13">
            <a:extLst>
              <a:ext uri="{FF2B5EF4-FFF2-40B4-BE49-F238E27FC236}">
                <a16:creationId xmlns:a16="http://schemas.microsoft.com/office/drawing/2014/main" id="{7C807E0E-8C31-7C1F-8B95-26565AC5AC31}"/>
              </a:ext>
            </a:extLst>
          </p:cNvPr>
          <p:cNvPicPr>
            <a:picLocks noChangeAspect="1"/>
          </p:cNvPicPr>
          <p:nvPr/>
        </p:nvPicPr>
        <p:blipFill>
          <a:blip r:embed="rId5"/>
          <a:stretch>
            <a:fillRect/>
          </a:stretch>
        </p:blipFill>
        <p:spPr>
          <a:xfrm>
            <a:off x="5463523" y="6869532"/>
            <a:ext cx="8419895" cy="2491449"/>
          </a:xfrm>
          <a:prstGeom prst="rect">
            <a:avLst/>
          </a:prstGeom>
        </p:spPr>
      </p:pic>
      <p:sp>
        <p:nvSpPr>
          <p:cNvPr id="15" name="Rectángulo 14">
            <a:extLst>
              <a:ext uri="{FF2B5EF4-FFF2-40B4-BE49-F238E27FC236}">
                <a16:creationId xmlns:a16="http://schemas.microsoft.com/office/drawing/2014/main" id="{6D871FFB-11A8-CD1A-6BDC-9DC1BCDDA89A}"/>
              </a:ext>
            </a:extLst>
          </p:cNvPr>
          <p:cNvSpPr/>
          <p:nvPr/>
        </p:nvSpPr>
        <p:spPr>
          <a:xfrm>
            <a:off x="5533534" y="865380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6" name="Rectángulo 15">
            <a:extLst>
              <a:ext uri="{FF2B5EF4-FFF2-40B4-BE49-F238E27FC236}">
                <a16:creationId xmlns:a16="http://schemas.microsoft.com/office/drawing/2014/main" id="{68505C06-AD5F-7B41-918F-324CFBCFA789}"/>
              </a:ext>
            </a:extLst>
          </p:cNvPr>
          <p:cNvSpPr/>
          <p:nvPr/>
        </p:nvSpPr>
        <p:spPr>
          <a:xfrm>
            <a:off x="12246989" y="739218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7" name="Rectángulo 16">
            <a:extLst>
              <a:ext uri="{FF2B5EF4-FFF2-40B4-BE49-F238E27FC236}">
                <a16:creationId xmlns:a16="http://schemas.microsoft.com/office/drawing/2014/main" id="{C44A6F3A-0720-7F02-D14A-292BA3B23DD3}"/>
              </a:ext>
            </a:extLst>
          </p:cNvPr>
          <p:cNvSpPr/>
          <p:nvPr/>
        </p:nvSpPr>
        <p:spPr>
          <a:xfrm>
            <a:off x="7041824" y="7872954"/>
            <a:ext cx="537328" cy="482686"/>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Tree>
    <p:extLst>
      <p:ext uri="{BB962C8B-B14F-4D97-AF65-F5344CB8AC3E}">
        <p14:creationId xmlns:p14="http://schemas.microsoft.com/office/powerpoint/2010/main" val="23741479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B4450-23DF-7097-5186-7A8C407BB0F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37EE93-B367-52FC-EEEB-77F8479C53C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19372A6-9D2C-CA66-544E-043E71F339F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0A20DDB-97DA-7116-4515-D6CD4AEFE73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59209D7C-FE2F-0613-3ED0-59E9B854A27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AE82967-D4D2-E3A1-5CD1-B3D2B5BBCDC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070AB29-1C46-A049-CD9A-F041A07D25C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DD4E6DB-1B88-AFCC-8C6B-A59C3AEAA30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3DC42D9-B20D-A8FD-9FE9-5DF0A885C0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8C906D4-05FE-2CBA-8D65-E162113F92B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5773967-C86F-6849-F70A-6B54744141C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6D13E26-96BC-515B-9218-DAFA35FBCD85}"/>
              </a:ext>
            </a:extLst>
          </p:cNvPr>
          <p:cNvSpPr txBox="1"/>
          <p:nvPr/>
        </p:nvSpPr>
        <p:spPr>
          <a:xfrm>
            <a:off x="1699181" y="1444640"/>
            <a:ext cx="10979870" cy="1815882"/>
          </a:xfrm>
          <a:prstGeom prst="rect">
            <a:avLst/>
          </a:prstGeom>
          <a:noFill/>
        </p:spPr>
        <p:txBody>
          <a:bodyPr wrap="square">
            <a:spAutoFit/>
          </a:bodyPr>
          <a:lstStyle/>
          <a:p>
            <a:pPr>
              <a:buNone/>
            </a:pPr>
            <a:r>
              <a:rPr lang="es-ES" sz="2800" b="1" dirty="0"/>
              <a:t>Taller de Diagramación: Construyendo </a:t>
            </a:r>
            <a:r>
              <a:rPr lang="es-ES" sz="2800" b="1" dirty="0" err="1"/>
              <a:t>Olist</a:t>
            </a:r>
            <a:r>
              <a:rPr lang="es-ES" sz="2800" b="1" dirty="0"/>
              <a:t> Paso a Paso</a:t>
            </a:r>
          </a:p>
          <a:p>
            <a:pPr>
              <a:buNone/>
            </a:pPr>
            <a:endParaRPr lang="es-ES" sz="2800" b="1" dirty="0"/>
          </a:p>
          <a:p>
            <a:pPr>
              <a:buNone/>
            </a:pPr>
            <a:endParaRPr lang="es-ES" sz="2800" b="1" dirty="0"/>
          </a:p>
          <a:p>
            <a:pPr>
              <a:buNone/>
            </a:pPr>
            <a:r>
              <a:rPr lang="es-ES" sz="2800" b="1" dirty="0"/>
              <a:t>Usando notación "</a:t>
            </a:r>
            <a:r>
              <a:rPr lang="es-ES" sz="2800" b="1" dirty="0" err="1"/>
              <a:t>Crow's</a:t>
            </a:r>
            <a:r>
              <a:rPr lang="es-ES" sz="2800" b="1" dirty="0"/>
              <a:t> </a:t>
            </a:r>
            <a:r>
              <a:rPr lang="es-ES" sz="2800" b="1" dirty="0" err="1"/>
              <a:t>Foot</a:t>
            </a:r>
            <a:r>
              <a:rPr lang="es-ES" sz="2800" b="1" dirty="0"/>
              <a:t>" (Pata de Gallo)</a:t>
            </a:r>
          </a:p>
        </p:txBody>
      </p:sp>
      <p:pic>
        <p:nvPicPr>
          <p:cNvPr id="15" name="Imagen 14">
            <a:extLst>
              <a:ext uri="{FF2B5EF4-FFF2-40B4-BE49-F238E27FC236}">
                <a16:creationId xmlns:a16="http://schemas.microsoft.com/office/drawing/2014/main" id="{8C8E1D90-AD44-7C42-F883-1635AE89C3A9}"/>
              </a:ext>
            </a:extLst>
          </p:cNvPr>
          <p:cNvPicPr>
            <a:picLocks noChangeAspect="1"/>
          </p:cNvPicPr>
          <p:nvPr/>
        </p:nvPicPr>
        <p:blipFill>
          <a:blip r:embed="rId5"/>
          <a:stretch>
            <a:fillRect/>
          </a:stretch>
        </p:blipFill>
        <p:spPr>
          <a:xfrm>
            <a:off x="1800519" y="4815793"/>
            <a:ext cx="15485720" cy="2338543"/>
          </a:xfrm>
          <a:prstGeom prst="rect">
            <a:avLst/>
          </a:prstGeom>
        </p:spPr>
      </p:pic>
    </p:spTree>
    <p:extLst>
      <p:ext uri="{BB962C8B-B14F-4D97-AF65-F5344CB8AC3E}">
        <p14:creationId xmlns:p14="http://schemas.microsoft.com/office/powerpoint/2010/main" val="4187228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7591A-8508-F656-5FD0-8C80AF7F8C4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AC91F78-0959-3632-B656-C26D1138FDB3}"/>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CA02E2E-26AA-4CEF-C89E-514E1DFB477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FA79B3D-5B72-389C-D24D-106584853B2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8F8A7DA-80EA-9943-C232-B8C0B315E14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5F98316-58FF-1CA6-2BE2-399234ED9D1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3263CC5-FC35-6A19-53C1-4F70941F54C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010CE5E-2D89-C45F-33E5-C366891F4EB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A0B4173-F652-CBD1-5035-0418885F903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E03C6B8-1345-F8ED-9A4C-3FD237FEDB0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FA126F7-5DEC-E216-DC92-C3C78F75CAC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007C8FA2-8CCE-92E4-235A-9C3DA195C52F}"/>
              </a:ext>
            </a:extLst>
          </p:cNvPr>
          <p:cNvSpPr txBox="1"/>
          <p:nvPr/>
        </p:nvSpPr>
        <p:spPr>
          <a:xfrm>
            <a:off x="1963131" y="2671499"/>
            <a:ext cx="6832076" cy="4524315"/>
          </a:xfrm>
          <a:prstGeom prst="rect">
            <a:avLst/>
          </a:prstGeom>
          <a:noFill/>
        </p:spPr>
        <p:txBody>
          <a:bodyPr wrap="square">
            <a:spAutoFit/>
          </a:bodyPr>
          <a:lstStyle/>
          <a:p>
            <a:pPr>
              <a:buNone/>
            </a:pPr>
            <a:r>
              <a:rPr lang="es-ES" sz="3200" b="1" dirty="0"/>
              <a:t>La Primera Conexión (El Cliente)</a:t>
            </a:r>
          </a:p>
          <a:p>
            <a:pPr>
              <a:buNone/>
            </a:pPr>
            <a:endParaRPr lang="es-ES" sz="3200" b="1" dirty="0"/>
          </a:p>
          <a:p>
            <a:pPr>
              <a:buNone/>
            </a:pPr>
            <a:r>
              <a:rPr lang="es-ES" sz="3200" b="1" dirty="0"/>
              <a:t>La Lógica:</a:t>
            </a:r>
            <a:r>
              <a:rPr lang="es-ES" sz="3200" dirty="0"/>
              <a:t> Todo empieza cuando un cliente decide comprar.</a:t>
            </a:r>
          </a:p>
          <a:p>
            <a:pPr>
              <a:buNone/>
            </a:pPr>
            <a:endParaRPr lang="es-ES" sz="3200" dirty="0"/>
          </a:p>
          <a:p>
            <a:pPr marL="457200" indent="-457200">
              <a:buFont typeface="Arial" panose="020B0604020202020204" pitchFamily="34" charset="0"/>
              <a:buChar char="•"/>
            </a:pPr>
            <a:r>
              <a:rPr lang="es-ES" sz="3200" dirty="0"/>
              <a:t>Un Cliente puede hacer </a:t>
            </a:r>
            <a:r>
              <a:rPr lang="es-ES" sz="3200" b="1" dirty="0"/>
              <a:t>muchas</a:t>
            </a:r>
            <a:r>
              <a:rPr lang="es-ES" sz="3200" dirty="0"/>
              <a:t> órdenes (o ninguna).</a:t>
            </a:r>
          </a:p>
          <a:p>
            <a:pPr marL="457200" indent="-457200">
              <a:buFont typeface="Arial" panose="020B0604020202020204" pitchFamily="34" charset="0"/>
              <a:buChar char="•"/>
            </a:pPr>
            <a:r>
              <a:rPr lang="es-ES" sz="3200" dirty="0"/>
              <a:t>Una Orden pertenece obligatoriamente a </a:t>
            </a:r>
            <a:r>
              <a:rPr lang="es-ES" sz="3200" b="1" dirty="0"/>
              <a:t>un</a:t>
            </a:r>
            <a:r>
              <a:rPr lang="es-ES" sz="3200" dirty="0"/>
              <a:t> cliente.</a:t>
            </a:r>
          </a:p>
        </p:txBody>
      </p:sp>
      <p:pic>
        <p:nvPicPr>
          <p:cNvPr id="15" name="Imagen 14">
            <a:extLst>
              <a:ext uri="{FF2B5EF4-FFF2-40B4-BE49-F238E27FC236}">
                <a16:creationId xmlns:a16="http://schemas.microsoft.com/office/drawing/2014/main" id="{91F40918-0051-1EAD-DACB-5DE908257D04}"/>
              </a:ext>
            </a:extLst>
          </p:cNvPr>
          <p:cNvPicPr>
            <a:picLocks noChangeAspect="1"/>
          </p:cNvPicPr>
          <p:nvPr/>
        </p:nvPicPr>
        <p:blipFill>
          <a:blip r:embed="rId5"/>
          <a:stretch>
            <a:fillRect/>
          </a:stretch>
        </p:blipFill>
        <p:spPr>
          <a:xfrm>
            <a:off x="10811147" y="1172510"/>
            <a:ext cx="5715798" cy="7259063"/>
          </a:xfrm>
          <a:prstGeom prst="rect">
            <a:avLst/>
          </a:prstGeom>
        </p:spPr>
      </p:pic>
    </p:spTree>
    <p:extLst>
      <p:ext uri="{BB962C8B-B14F-4D97-AF65-F5344CB8AC3E}">
        <p14:creationId xmlns:p14="http://schemas.microsoft.com/office/powerpoint/2010/main" val="21559143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3BCD8-A7AF-9193-6C45-086F545B839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65F8367-7C83-668B-FB6C-81766BDCC68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0249B44-05BA-CE83-2E6B-C0CFFE1221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BD714D2-C10E-009F-D0AB-2AA9BD4F630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7C05BDE-4A4E-F509-786E-51A3B44368A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F32BAA9-0C27-0A54-E002-467ACCF22F8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6AD561B-FA8C-658E-AABF-7931B37DC9ED}"/>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28978A-7393-0E9C-E2EA-A872ABBE752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BB5A9F6-A52C-E326-E539-E734340EC19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8B79B30-79A4-6646-9FA4-9D8E24D1807A}"/>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9BEE475-590B-650E-B7E0-812214D33658}"/>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1292CAC-3050-A421-E933-CACCC237D651}"/>
              </a:ext>
            </a:extLst>
          </p:cNvPr>
          <p:cNvSpPr txBox="1"/>
          <p:nvPr/>
        </p:nvSpPr>
        <p:spPr>
          <a:xfrm>
            <a:off x="1234518" y="1268280"/>
            <a:ext cx="9389489" cy="8279190"/>
          </a:xfrm>
          <a:prstGeom prst="rect">
            <a:avLst/>
          </a:prstGeom>
          <a:noFill/>
        </p:spPr>
        <p:txBody>
          <a:bodyPr wrap="square">
            <a:spAutoFit/>
          </a:bodyPr>
          <a:lstStyle/>
          <a:p>
            <a:pPr>
              <a:buNone/>
            </a:pPr>
            <a:r>
              <a:rPr lang="es-ES" sz="2400" b="1" dirty="0"/>
              <a:t>El Conflicto (La Relación Prohibida)</a:t>
            </a:r>
          </a:p>
          <a:p>
            <a:pPr>
              <a:buNone/>
            </a:pPr>
            <a:endParaRPr lang="es-ES" sz="2400" b="1" dirty="0"/>
          </a:p>
          <a:p>
            <a:pPr>
              <a:buNone/>
            </a:pPr>
            <a:r>
              <a:rPr lang="es-ES" sz="2400" b="1" dirty="0"/>
              <a:t>El Problema:</a:t>
            </a:r>
            <a:r>
              <a:rPr lang="es-ES" sz="2400" dirty="0"/>
              <a:t> Queremos conectar </a:t>
            </a:r>
            <a:r>
              <a:rPr lang="es-ES" sz="2400" dirty="0">
                <a:latin typeface="Courier New" panose="02070309020205020404" pitchFamily="49" charset="0"/>
              </a:rPr>
              <a:t>ORDER</a:t>
            </a:r>
            <a:r>
              <a:rPr lang="es-ES" sz="2400" dirty="0"/>
              <a:t> con </a:t>
            </a:r>
            <a:r>
              <a:rPr lang="es-ES" sz="2400" dirty="0">
                <a:latin typeface="Courier New" panose="02070309020205020404" pitchFamily="49" charset="0"/>
              </a:rPr>
              <a:t>PRODUCT</a:t>
            </a:r>
            <a:r>
              <a:rPr lang="es-ES" sz="2400" dirty="0"/>
              <a:t>.</a:t>
            </a:r>
          </a:p>
          <a:p>
            <a:pPr marL="457200" indent="-457200">
              <a:buFont typeface="Arial" panose="020B0604020202020204" pitchFamily="34" charset="0"/>
              <a:buChar char="•"/>
            </a:pPr>
            <a:endParaRPr lang="es-ES" sz="2400" dirty="0"/>
          </a:p>
          <a:p>
            <a:pPr marL="457200" indent="-457200">
              <a:buFont typeface="Arial" panose="020B0604020202020204" pitchFamily="34" charset="0"/>
              <a:buChar char="•"/>
            </a:pPr>
            <a:r>
              <a:rPr lang="es-ES" sz="2400" dirty="0"/>
              <a:t>Una orden tiene muchos productos.</a:t>
            </a:r>
          </a:p>
          <a:p>
            <a:pPr marL="457200" indent="-457200">
              <a:buFont typeface="Arial" panose="020B0604020202020204" pitchFamily="34" charset="0"/>
              <a:buChar char="•"/>
            </a:pPr>
            <a:r>
              <a:rPr lang="es-ES" sz="2400" dirty="0"/>
              <a:t>Un producto está en muchas órdenes.</a:t>
            </a:r>
          </a:p>
          <a:p>
            <a:pPr marL="457200" indent="-457200">
              <a:buFont typeface="Arial" panose="020B0604020202020204" pitchFamily="34" charset="0"/>
              <a:buChar char="•"/>
            </a:pPr>
            <a:endParaRPr lang="es-ES" sz="2400" dirty="0"/>
          </a:p>
          <a:p>
            <a:pPr>
              <a:buNone/>
            </a:pPr>
            <a:r>
              <a:rPr lang="es-ES" sz="2400" b="1" dirty="0"/>
              <a:t>Visualizando el Error:</a:t>
            </a:r>
            <a:r>
              <a:rPr lang="es-ES" sz="2400" dirty="0"/>
              <a:t> Si intentamos dibujar esto directamente, creamos una relación "Muchos a Muchos" (</a:t>
            </a:r>
            <a:r>
              <a:rPr lang="es-ES" sz="2400" dirty="0" err="1">
                <a:latin typeface="Courier New" panose="02070309020205020404" pitchFamily="49" charset="0"/>
              </a:rPr>
              <a:t>Many-to-Many</a:t>
            </a:r>
            <a:r>
              <a:rPr lang="es-ES" sz="2400" dirty="0"/>
              <a:t>), que </a:t>
            </a:r>
            <a:r>
              <a:rPr lang="es-ES" sz="2400" b="1" dirty="0"/>
              <a:t>no</a:t>
            </a:r>
            <a:r>
              <a:rPr lang="es-ES" sz="2400" dirty="0"/>
              <a:t> podemos construir físicamente en la base de datos sin problemas.</a:t>
            </a:r>
          </a:p>
          <a:p>
            <a:pPr>
              <a:buNone/>
            </a:pPr>
            <a:endParaRPr lang="es-ES" sz="2400" dirty="0"/>
          </a:p>
          <a:p>
            <a:pPr>
              <a:buNone/>
            </a:pPr>
            <a:endParaRPr lang="es-ES" sz="2400" dirty="0"/>
          </a:p>
          <a:p>
            <a:r>
              <a:rPr lang="es-ES" sz="2400" b="1" dirty="0"/>
              <a:t>La Solución (La Entidad Asociativa)</a:t>
            </a:r>
          </a:p>
          <a:p>
            <a:endParaRPr lang="es-ES" sz="2400" b="1" dirty="0"/>
          </a:p>
          <a:p>
            <a:r>
              <a:rPr lang="es-ES" sz="2400" b="1" dirty="0"/>
              <a:t>La Lógica:</a:t>
            </a:r>
            <a:r>
              <a:rPr lang="es-ES" sz="2400" dirty="0"/>
              <a:t> Rompemos la relación prohibida creando una tabla intermedia: </a:t>
            </a:r>
            <a:r>
              <a:rPr lang="es-ES" sz="1200" dirty="0"/>
              <a:t>ORDER_ITEMS</a:t>
            </a:r>
            <a:r>
              <a:rPr lang="es-ES" sz="2400" dirty="0"/>
              <a:t>.</a:t>
            </a:r>
          </a:p>
          <a:p>
            <a:r>
              <a:rPr lang="es-ES" sz="2400" dirty="0"/>
              <a:t>Ahora </a:t>
            </a:r>
            <a:r>
              <a:rPr lang="es-ES" sz="1200" dirty="0"/>
              <a:t>ORDER</a:t>
            </a:r>
            <a:r>
              <a:rPr lang="es-ES" sz="2400" dirty="0"/>
              <a:t> se conecta con </a:t>
            </a:r>
            <a:r>
              <a:rPr lang="es-ES" sz="1200" dirty="0"/>
              <a:t>ITEMS</a:t>
            </a:r>
            <a:r>
              <a:rPr lang="es-ES" sz="2400" dirty="0"/>
              <a:t> (1:N).</a:t>
            </a:r>
          </a:p>
          <a:p>
            <a:r>
              <a:rPr lang="es-ES" sz="2400" dirty="0"/>
              <a:t>Y </a:t>
            </a:r>
            <a:r>
              <a:rPr lang="es-ES" sz="1200" dirty="0"/>
              <a:t>PRODUCT</a:t>
            </a:r>
            <a:r>
              <a:rPr lang="es-ES" sz="2400" dirty="0"/>
              <a:t> se conecta con </a:t>
            </a:r>
            <a:r>
              <a:rPr lang="es-ES" sz="1200" dirty="0"/>
              <a:t>ITEMS</a:t>
            </a:r>
            <a:r>
              <a:rPr lang="es-ES" sz="2400" dirty="0"/>
              <a:t> (1:N).</a:t>
            </a:r>
          </a:p>
          <a:p>
            <a:r>
              <a:rPr lang="es-ES" sz="2400" b="1" dirty="0"/>
              <a:t>El resultado:</a:t>
            </a:r>
            <a:r>
              <a:rPr lang="es-ES" sz="2400" dirty="0"/>
              <a:t> </a:t>
            </a:r>
            <a:r>
              <a:rPr lang="es-ES" sz="1200" dirty="0"/>
              <a:t>ORDER_ITEMS</a:t>
            </a:r>
            <a:r>
              <a:rPr lang="es-ES" sz="2400" dirty="0"/>
              <a:t> actúa como el puente que une ambas partes.</a:t>
            </a:r>
          </a:p>
          <a:p>
            <a:pPr>
              <a:buNone/>
            </a:pPr>
            <a:endParaRPr lang="es-ES" sz="2800" dirty="0"/>
          </a:p>
        </p:txBody>
      </p:sp>
      <p:pic>
        <p:nvPicPr>
          <p:cNvPr id="15" name="Imagen 14">
            <a:extLst>
              <a:ext uri="{FF2B5EF4-FFF2-40B4-BE49-F238E27FC236}">
                <a16:creationId xmlns:a16="http://schemas.microsoft.com/office/drawing/2014/main" id="{6B2BB813-339E-196D-E1E7-4D731A3B1645}"/>
              </a:ext>
            </a:extLst>
          </p:cNvPr>
          <p:cNvPicPr>
            <a:picLocks noChangeAspect="1"/>
          </p:cNvPicPr>
          <p:nvPr/>
        </p:nvPicPr>
        <p:blipFill>
          <a:blip r:embed="rId5"/>
          <a:stretch>
            <a:fillRect/>
          </a:stretch>
        </p:blipFill>
        <p:spPr>
          <a:xfrm>
            <a:off x="10934789" y="1428535"/>
            <a:ext cx="7097115" cy="7220958"/>
          </a:xfrm>
          <a:prstGeom prst="rect">
            <a:avLst/>
          </a:prstGeom>
        </p:spPr>
      </p:pic>
    </p:spTree>
    <p:extLst>
      <p:ext uri="{BB962C8B-B14F-4D97-AF65-F5344CB8AC3E}">
        <p14:creationId xmlns:p14="http://schemas.microsoft.com/office/powerpoint/2010/main" val="32131846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052-ECD8-7551-13F0-B2201103EDF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B30E80F-3BF0-D5F6-708F-FE9D8B42FA5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DDC247B-8D99-D675-E27F-FB93BCE89B1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7EA5788-AE2C-460D-ADBE-DEE445E49CD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85CBEB-565E-53EF-F57D-8115D9DBD87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BB0876B-18E5-635B-62A9-D853C9D0AC6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48114B7-7A56-7388-4DC5-9416DF21119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166F155-AC71-C614-F678-F7328098F4B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30182E5-1905-BBB8-E8E1-E689DB9BB40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9CD7CF2-3866-BD3A-24B0-49091860CBD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34FBE18-C403-C764-9AE3-2D7631966C8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0118837-6A90-774D-C496-6F9D14542E5D}"/>
              </a:ext>
            </a:extLst>
          </p:cNvPr>
          <p:cNvSpPr txBox="1"/>
          <p:nvPr/>
        </p:nvSpPr>
        <p:spPr>
          <a:xfrm>
            <a:off x="1300105" y="3278"/>
            <a:ext cx="14357416" cy="5447645"/>
          </a:xfrm>
          <a:prstGeom prst="rect">
            <a:avLst/>
          </a:prstGeom>
          <a:noFill/>
        </p:spPr>
        <p:txBody>
          <a:bodyPr wrap="square">
            <a:spAutoFit/>
          </a:bodyPr>
          <a:lstStyle/>
          <a:p>
            <a:endParaRPr lang="es-ES" sz="2000" b="1" dirty="0"/>
          </a:p>
          <a:p>
            <a:endParaRPr lang="es-ES" sz="2000" b="1" dirty="0"/>
          </a:p>
          <a:p>
            <a:pPr marL="514350" indent="-514350">
              <a:buAutoNum type="arabicPeriod"/>
            </a:pPr>
            <a:r>
              <a:rPr lang="es-ES" sz="2800" b="1" dirty="0"/>
              <a:t>El Problema Lógico (¿Por qué falla sin el puente?)</a:t>
            </a:r>
          </a:p>
          <a:p>
            <a:endParaRPr lang="es-ES" sz="2800" b="1" dirty="0"/>
          </a:p>
          <a:p>
            <a:endParaRPr lang="es-ES" sz="2800" dirty="0"/>
          </a:p>
          <a:p>
            <a:r>
              <a:rPr lang="es-ES" sz="2800" dirty="0"/>
              <a:t>Una orden puede contener </a:t>
            </a:r>
            <a:r>
              <a:rPr lang="es-ES" sz="2800" b="1" dirty="0"/>
              <a:t>muchos</a:t>
            </a:r>
            <a:r>
              <a:rPr lang="es-ES" sz="2800" dirty="0"/>
              <a:t> productos (un carrito de compras lleno).</a:t>
            </a:r>
          </a:p>
          <a:p>
            <a:r>
              <a:rPr lang="es-ES" sz="2800" dirty="0"/>
              <a:t>Un producto (ej. un iPhone 15) puede estar en </a:t>
            </a:r>
            <a:r>
              <a:rPr lang="es-ES" sz="2800" b="1" dirty="0"/>
              <a:t>muchas</a:t>
            </a:r>
            <a:r>
              <a:rPr lang="es-ES" sz="2800" dirty="0"/>
              <a:t> órdenes diferentes.</a:t>
            </a:r>
          </a:p>
          <a:p>
            <a:r>
              <a:rPr lang="es-ES" sz="2800" dirty="0"/>
              <a:t>Si intentas conectar esto directamente sin una tabla puente, te enfrentas a los mismos dos callejones sin salida:</a:t>
            </a:r>
          </a:p>
          <a:p>
            <a:endParaRPr lang="es-ES" sz="2800" dirty="0"/>
          </a:p>
          <a:p>
            <a:r>
              <a:rPr lang="es-ES" sz="2800" b="1" dirty="0"/>
              <a:t>Escenario A: Violar la "Atomicidad" (1ª Forma Normal)</a:t>
            </a:r>
            <a:r>
              <a:rPr lang="es-ES" sz="2800" dirty="0"/>
              <a:t> Intentas guardar la lista de productos comprados dentro de una sola celda en la orden.</a:t>
            </a:r>
          </a:p>
          <a:p>
            <a:pPr>
              <a:buNone/>
            </a:pPr>
            <a:endParaRPr lang="es-ES" sz="2800" dirty="0"/>
          </a:p>
        </p:txBody>
      </p:sp>
      <p:graphicFrame>
        <p:nvGraphicFramePr>
          <p:cNvPr id="12" name="Tabla 11">
            <a:extLst>
              <a:ext uri="{FF2B5EF4-FFF2-40B4-BE49-F238E27FC236}">
                <a16:creationId xmlns:a16="http://schemas.microsoft.com/office/drawing/2014/main" id="{FC22E6EA-ADAE-A547-8A5B-314131788004}"/>
              </a:ext>
            </a:extLst>
          </p:cNvPr>
          <p:cNvGraphicFramePr>
            <a:graphicFrameLocks noGrp="1"/>
          </p:cNvGraphicFramePr>
          <p:nvPr>
            <p:extLst>
              <p:ext uri="{D42A27DB-BD31-4B8C-83A1-F6EECF244321}">
                <p14:modId xmlns:p14="http://schemas.microsoft.com/office/powerpoint/2010/main" val="3422371113"/>
              </p:ext>
            </p:extLst>
          </p:nvPr>
        </p:nvGraphicFramePr>
        <p:xfrm>
          <a:off x="4897224" y="8979995"/>
          <a:ext cx="8229600" cy="822960"/>
        </p:xfrm>
        <a:graphic>
          <a:graphicData uri="http://schemas.openxmlformats.org/drawingml/2006/table">
            <a:tbl>
              <a:tblPr/>
              <a:tblGrid>
                <a:gridCol w="2743200">
                  <a:extLst>
                    <a:ext uri="{9D8B030D-6E8A-4147-A177-3AD203B41FA5}">
                      <a16:colId xmlns:a16="http://schemas.microsoft.com/office/drawing/2014/main" val="1258141466"/>
                    </a:ext>
                  </a:extLst>
                </a:gridCol>
                <a:gridCol w="2743200">
                  <a:extLst>
                    <a:ext uri="{9D8B030D-6E8A-4147-A177-3AD203B41FA5}">
                      <a16:colId xmlns:a16="http://schemas.microsoft.com/office/drawing/2014/main" val="3137921878"/>
                    </a:ext>
                  </a:extLst>
                </a:gridCol>
                <a:gridCol w="2743200">
                  <a:extLst>
                    <a:ext uri="{9D8B030D-6E8A-4147-A177-3AD203B41FA5}">
                      <a16:colId xmlns:a16="http://schemas.microsoft.com/office/drawing/2014/main" val="3186341004"/>
                    </a:ext>
                  </a:extLst>
                </a:gridCol>
              </a:tblGrid>
              <a:tr h="0">
                <a:tc>
                  <a:txBody>
                    <a:bodyPr/>
                    <a:lstStyle/>
                    <a:p>
                      <a:pPr>
                        <a:buNone/>
                      </a:pPr>
                      <a:r>
                        <a:rPr lang="es-CO" b="1" dirty="0">
                          <a:effectLst/>
                          <a:latin typeface="Google Sans Text"/>
                        </a:rPr>
                        <a:t>ID Orden</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dirty="0">
                          <a:effectLst/>
                          <a:latin typeface="Google Sans Text"/>
                        </a:rPr>
                        <a:t>Cliente</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Productos Comprados</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6565326"/>
                  </a:ext>
                </a:extLst>
              </a:tr>
              <a:tr h="0">
                <a:tc>
                  <a:txBody>
                    <a:bodyPr/>
                    <a:lstStyle/>
                    <a:p>
                      <a:pPr>
                        <a:buNone/>
                      </a:pPr>
                      <a:r>
                        <a:rPr lang="es-CO" dirty="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"Laptop, Mouse, Funda Protectora"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9349810"/>
                  </a:ext>
                </a:extLst>
              </a:tr>
            </a:tbl>
          </a:graphicData>
        </a:graphic>
      </p:graphicFrame>
      <p:sp>
        <p:nvSpPr>
          <p:cNvPr id="14" name="Rectangle 1">
            <a:extLst>
              <a:ext uri="{FF2B5EF4-FFF2-40B4-BE49-F238E27FC236}">
                <a16:creationId xmlns:a16="http://schemas.microsoft.com/office/drawing/2014/main" id="{166E9A41-2F84-AE01-5CDF-6575D1DF90C3}"/>
              </a:ext>
            </a:extLst>
          </p:cNvPr>
          <p:cNvSpPr>
            <a:spLocks noChangeArrowheads="1"/>
          </p:cNvSpPr>
          <p:nvPr/>
        </p:nvSpPr>
        <p:spPr bwMode="auto">
          <a:xfrm>
            <a:off x="1237093" y="5450923"/>
            <a:ext cx="151184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Google Sans Text"/>
              </a:rPr>
              <a:t>Tabla Órdenes:</a:t>
            </a:r>
            <a:endParaRPr kumimoji="0" lang="es-CO" altLang="es-CO"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Google Sans Text"/>
              </a:rPr>
              <a:t>¿Por qué está mal?</a:t>
            </a:r>
            <a:r>
              <a:rPr kumimoji="0" lang="es-CO" altLang="es-CO" sz="2800" b="0" i="0" u="none" strike="noStrike" cap="none" normalizeH="0" baseline="0" dirty="0">
                <a:ln>
                  <a:noFill/>
                </a:ln>
                <a:solidFill>
                  <a:schemeClr val="tx1"/>
                </a:solidFill>
                <a:effectLst/>
                <a:latin typeface="Google Sans Text"/>
              </a:rPr>
              <a:t> Para SQL primitivo es muy </a:t>
            </a:r>
            <a:r>
              <a:rPr kumimoji="0" lang="es-CO" altLang="es-CO" sz="2800" b="0" i="0" u="none" strike="noStrike" cap="none" normalizeH="0" baseline="0" dirty="0" err="1">
                <a:ln>
                  <a:noFill/>
                </a:ln>
                <a:solidFill>
                  <a:schemeClr val="tx1"/>
                </a:solidFill>
                <a:effectLst/>
                <a:latin typeface="Google Sans Text"/>
              </a:rPr>
              <a:t>enificient</a:t>
            </a:r>
            <a:r>
              <a:rPr lang="es-CO" altLang="es-CO" sz="2800" dirty="0" err="1">
                <a:solidFill>
                  <a:schemeClr val="tx1"/>
                </a:solidFill>
                <a:latin typeface="Google Sans Text"/>
              </a:rPr>
              <a:t>e</a:t>
            </a:r>
            <a:r>
              <a:rPr lang="es-CO" altLang="es-CO" sz="2800" dirty="0">
                <a:solidFill>
                  <a:schemeClr val="tx1"/>
                </a:solidFill>
                <a:latin typeface="Google Sans Text"/>
              </a:rPr>
              <a:t> </a:t>
            </a:r>
            <a:r>
              <a:rPr kumimoji="0" lang="es-CO" altLang="es-CO" sz="2800" b="0" i="0" u="none" strike="noStrike" cap="none" normalizeH="0" baseline="0" dirty="0">
                <a:ln>
                  <a:noFill/>
                </a:ln>
                <a:solidFill>
                  <a:schemeClr val="tx1"/>
                </a:solidFill>
                <a:effectLst/>
                <a:latin typeface="Google Sans Text"/>
              </a:rPr>
              <a:t>"leer" dentro de esa cadena de texto separada por comas.</a:t>
            </a:r>
            <a:endParaRPr kumimoji="0" lang="es-CO" altLang="es-CO"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O" altLang="es-CO" sz="2800" b="0" i="0" u="none" strike="noStrike" cap="none" normalizeH="0" baseline="0" dirty="0">
                <a:ln>
                  <a:noFill/>
                </a:ln>
                <a:solidFill>
                  <a:schemeClr val="tx1"/>
                </a:solidFill>
                <a:effectLst/>
                <a:latin typeface="Google Sans Text"/>
              </a:rPr>
              <a:t>No puedes calcular el total de ventas del "Mouse" fácilmente.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s-CO" altLang="es-CO" sz="2800" b="0" i="0" u="none" strike="noStrike" cap="none" normalizeH="0" baseline="0" dirty="0">
                <a:ln>
                  <a:noFill/>
                </a:ln>
                <a:solidFill>
                  <a:schemeClr val="tx1"/>
                </a:solidFill>
                <a:effectLst/>
                <a:latin typeface="Google Sans Text"/>
              </a:rPr>
              <a:t>No puedes restar stock automáticamente porque la base de datos no sabe qué </a:t>
            </a:r>
            <a:r>
              <a:rPr kumimoji="0" lang="es-CO" altLang="es-CO" sz="2800" b="0" i="0" u="none" strike="noStrike" cap="none" normalizeH="0" baseline="0" dirty="0" err="1">
                <a:ln>
                  <a:noFill/>
                </a:ln>
                <a:solidFill>
                  <a:schemeClr val="tx1"/>
                </a:solidFill>
                <a:effectLst/>
                <a:latin typeface="Google Sans Text"/>
              </a:rPr>
              <a:t>IDs</a:t>
            </a:r>
            <a:r>
              <a:rPr kumimoji="0" lang="es-CO" altLang="es-CO" sz="2800" b="0" i="0" u="none" strike="noStrike" cap="none" normalizeH="0" baseline="0" dirty="0">
                <a:ln>
                  <a:noFill/>
                </a:ln>
                <a:solidFill>
                  <a:schemeClr val="tx1"/>
                </a:solidFill>
                <a:effectLst/>
                <a:latin typeface="Google Sans Text"/>
              </a:rPr>
              <a:t> de productos están ahí dentro.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67786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3E210-824A-07CF-49B5-1DA655F8F4D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998A032-814F-A475-759F-AD56218B989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B332DE3-A693-19C7-0B2D-0A29F4F53DA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C2CDFA5-0DA6-73BF-49E1-F1E45DE7EF5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D243F10B-5A63-4370-1BDF-3C091EB0DB1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1AE395D-114F-FA5A-393E-FE548896C51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4328C5B-661E-4BA7-6D29-BD4F73F956D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4405B1A-53A0-1598-1B56-2358FA4EB21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A04C9ED-6196-B4E9-5D9E-FDA592263BF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026B8C0-E15F-C042-8B38-FD7416E51F4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ECCA9AF-FCE2-BE88-7302-2BF6F59F929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F5BDC5A-82CD-C623-8AFA-8AD842E78849}"/>
              </a:ext>
            </a:extLst>
          </p:cNvPr>
          <p:cNvSpPr txBox="1"/>
          <p:nvPr/>
        </p:nvSpPr>
        <p:spPr>
          <a:xfrm>
            <a:off x="1300105" y="484045"/>
            <a:ext cx="14357416" cy="2431435"/>
          </a:xfrm>
          <a:prstGeom prst="rect">
            <a:avLst/>
          </a:prstGeom>
          <a:noFill/>
        </p:spPr>
        <p:txBody>
          <a:bodyPr wrap="square">
            <a:spAutoFit/>
          </a:bodyPr>
          <a:lstStyle/>
          <a:p>
            <a:endParaRPr lang="es-ES" sz="2000" b="1" dirty="0"/>
          </a:p>
          <a:p>
            <a:endParaRPr lang="es-ES" sz="2000" b="1" dirty="0"/>
          </a:p>
          <a:p>
            <a:pPr marL="514350" indent="-514350">
              <a:buAutoNum type="arabicPeriod"/>
            </a:pPr>
            <a:r>
              <a:rPr lang="es-ES" sz="2800" b="1" dirty="0"/>
              <a:t>El Problema Lógico (¿Por qué falla sin el puente?)</a:t>
            </a:r>
          </a:p>
          <a:p>
            <a:endParaRPr lang="es-ES" sz="2800" b="1" dirty="0"/>
          </a:p>
          <a:p>
            <a:endParaRPr lang="es-ES" sz="2800" dirty="0"/>
          </a:p>
          <a:p>
            <a:pPr>
              <a:buNone/>
            </a:pPr>
            <a:endParaRPr lang="es-ES" sz="2800" dirty="0"/>
          </a:p>
        </p:txBody>
      </p:sp>
      <p:graphicFrame>
        <p:nvGraphicFramePr>
          <p:cNvPr id="15" name="Tabla 14">
            <a:extLst>
              <a:ext uri="{FF2B5EF4-FFF2-40B4-BE49-F238E27FC236}">
                <a16:creationId xmlns:a16="http://schemas.microsoft.com/office/drawing/2014/main" id="{24179DEA-0B61-9FFD-2E22-D0205EA55EA8}"/>
              </a:ext>
            </a:extLst>
          </p:cNvPr>
          <p:cNvGraphicFramePr>
            <a:graphicFrameLocks noGrp="1"/>
          </p:cNvGraphicFramePr>
          <p:nvPr>
            <p:extLst>
              <p:ext uri="{D42A27DB-BD31-4B8C-83A1-F6EECF244321}">
                <p14:modId xmlns:p14="http://schemas.microsoft.com/office/powerpoint/2010/main" val="711775045"/>
              </p:ext>
            </p:extLst>
          </p:nvPr>
        </p:nvGraphicFramePr>
        <p:xfrm>
          <a:off x="4793531" y="4309676"/>
          <a:ext cx="8229600" cy="1828800"/>
        </p:xfrm>
        <a:graphic>
          <a:graphicData uri="http://schemas.openxmlformats.org/drawingml/2006/table">
            <a:tbl>
              <a:tblPr/>
              <a:tblGrid>
                <a:gridCol w="2057400">
                  <a:extLst>
                    <a:ext uri="{9D8B030D-6E8A-4147-A177-3AD203B41FA5}">
                      <a16:colId xmlns:a16="http://schemas.microsoft.com/office/drawing/2014/main" val="1722303948"/>
                    </a:ext>
                  </a:extLst>
                </a:gridCol>
                <a:gridCol w="2057400">
                  <a:extLst>
                    <a:ext uri="{9D8B030D-6E8A-4147-A177-3AD203B41FA5}">
                      <a16:colId xmlns:a16="http://schemas.microsoft.com/office/drawing/2014/main" val="1247377529"/>
                    </a:ext>
                  </a:extLst>
                </a:gridCol>
                <a:gridCol w="2057400">
                  <a:extLst>
                    <a:ext uri="{9D8B030D-6E8A-4147-A177-3AD203B41FA5}">
                      <a16:colId xmlns:a16="http://schemas.microsoft.com/office/drawing/2014/main" val="3669336608"/>
                    </a:ext>
                  </a:extLst>
                </a:gridCol>
                <a:gridCol w="2057400">
                  <a:extLst>
                    <a:ext uri="{9D8B030D-6E8A-4147-A177-3AD203B41FA5}">
                      <a16:colId xmlns:a16="http://schemas.microsoft.com/office/drawing/2014/main" val="3432900802"/>
                    </a:ext>
                  </a:extLst>
                </a:gridCol>
              </a:tblGrid>
              <a:tr h="0">
                <a:tc>
                  <a:txBody>
                    <a:bodyPr/>
                    <a:lstStyle/>
                    <a:p>
                      <a:pPr>
                        <a:buNone/>
                      </a:pPr>
                      <a:r>
                        <a:rPr lang="es-CO" sz="2400" b="1" dirty="0">
                          <a:effectLst/>
                          <a:latin typeface="Google Sans Text"/>
                        </a:rPr>
                        <a:t>ID Orden</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Fecha</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Cliente</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Producto</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9358537"/>
                  </a:ext>
                </a:extLst>
              </a:tr>
              <a:tr h="0">
                <a:tc>
                  <a:txBody>
                    <a:bodyPr/>
                    <a:lstStyle/>
                    <a:p>
                      <a:pPr>
                        <a:buNone/>
                      </a:pPr>
                      <a:r>
                        <a:rPr lang="es-CO" sz="2400" dirty="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4766827"/>
                  </a:ext>
                </a:extLst>
              </a:tr>
              <a:tr h="0">
                <a:tc>
                  <a:txBody>
                    <a:bodyPr/>
                    <a:lstStyle/>
                    <a:p>
                      <a:pPr>
                        <a:buNone/>
                      </a:pPr>
                      <a:r>
                        <a:rPr lang="es-CO" sz="240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3137128"/>
                  </a:ext>
                </a:extLst>
              </a:tr>
              <a:tr h="0">
                <a:tc>
                  <a:txBody>
                    <a:bodyPr/>
                    <a:lstStyle/>
                    <a:p>
                      <a:pPr>
                        <a:buNone/>
                      </a:pPr>
                      <a:r>
                        <a:rPr lang="es-CO" sz="240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Funda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0636779"/>
                  </a:ext>
                </a:extLst>
              </a:tr>
            </a:tbl>
          </a:graphicData>
        </a:graphic>
      </p:graphicFrame>
      <p:sp>
        <p:nvSpPr>
          <p:cNvPr id="16" name="Rectangle 1">
            <a:extLst>
              <a:ext uri="{FF2B5EF4-FFF2-40B4-BE49-F238E27FC236}">
                <a16:creationId xmlns:a16="http://schemas.microsoft.com/office/drawing/2014/main" id="{5A0D9206-2064-82B3-C797-9C92815483C7}"/>
              </a:ext>
            </a:extLst>
          </p:cNvPr>
          <p:cNvSpPr>
            <a:spLocks noChangeArrowheads="1"/>
          </p:cNvSpPr>
          <p:nvPr/>
        </p:nvSpPr>
        <p:spPr bwMode="auto">
          <a:xfrm>
            <a:off x="1200485" y="2035123"/>
            <a:ext cx="16081646" cy="184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0" i="0" u="none" strike="noStrike" cap="none" normalizeH="0" baseline="0" dirty="0">
                <a:ln>
                  <a:noFill/>
                </a:ln>
                <a:solidFill>
                  <a:schemeClr val="tx1"/>
                </a:solidFill>
                <a:effectLst/>
                <a:latin typeface="Google Sans Text"/>
              </a:rPr>
              <a:t>Escenario B: Duplicar Datos (Redundancia)</a:t>
            </a:r>
            <a:endParaRPr kumimoji="0" lang="es-CO" altLang="es-CO" sz="4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0" i="0" u="none" strike="noStrike" cap="none" normalizeH="0" baseline="0" dirty="0">
                <a:ln>
                  <a:noFill/>
                </a:ln>
                <a:solidFill>
                  <a:schemeClr val="tx1"/>
                </a:solidFill>
                <a:effectLst/>
                <a:latin typeface="Google Sans Text"/>
              </a:rPr>
              <a:t>Intentas repetir la orden completa por cada producto que el cliente compró.</a:t>
            </a:r>
            <a:endParaRPr kumimoji="0" lang="es-CO" altLang="es-CO" sz="4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1" i="0" u="none" strike="noStrike" cap="none" normalizeH="0" baseline="0" dirty="0">
                <a:ln>
                  <a:noFill/>
                </a:ln>
                <a:solidFill>
                  <a:schemeClr val="tx1"/>
                </a:solidFill>
                <a:effectLst/>
                <a:latin typeface="Google Sans Text"/>
              </a:rPr>
              <a:t>Tabla Órdenes:</a:t>
            </a:r>
            <a:endParaRPr kumimoji="0" lang="es-CO" altLang="es-CO" sz="4000" b="0" i="0" u="none" strike="noStrike" cap="none" normalizeH="0" baseline="0" dirty="0">
              <a:ln>
                <a:noFill/>
              </a:ln>
              <a:solidFill>
                <a:schemeClr val="tx1"/>
              </a:solidFill>
              <a:effectLst/>
              <a:latin typeface="Arial" panose="020B0604020202020204" pitchFamily="34" charset="0"/>
            </a:endParaRPr>
          </a:p>
        </p:txBody>
      </p:sp>
      <p:sp>
        <p:nvSpPr>
          <p:cNvPr id="18" name="CuadroTexto 17">
            <a:extLst>
              <a:ext uri="{FF2B5EF4-FFF2-40B4-BE49-F238E27FC236}">
                <a16:creationId xmlns:a16="http://schemas.microsoft.com/office/drawing/2014/main" id="{59F60C17-BF5E-E4B6-BE70-0D6F192EDC03}"/>
              </a:ext>
            </a:extLst>
          </p:cNvPr>
          <p:cNvSpPr txBox="1"/>
          <p:nvPr/>
        </p:nvSpPr>
        <p:spPr>
          <a:xfrm>
            <a:off x="1125070" y="7169687"/>
            <a:ext cx="17087515" cy="2554545"/>
          </a:xfrm>
          <a:prstGeom prst="rect">
            <a:avLst/>
          </a:prstGeom>
          <a:noFill/>
        </p:spPr>
        <p:txBody>
          <a:bodyPr wrap="square">
            <a:spAutoFit/>
          </a:bodyPr>
          <a:lstStyle/>
          <a:p>
            <a:pPr>
              <a:buNone/>
            </a:pPr>
            <a:r>
              <a:rPr lang="es-ES" sz="3200" b="1" dirty="0"/>
              <a:t>¿Por qué está mal?</a:t>
            </a:r>
            <a:r>
              <a:rPr lang="es-ES" sz="3200" dirty="0"/>
              <a:t> Estás repitiendo la fecha y el cliente tres veces.</a:t>
            </a:r>
          </a:p>
          <a:p>
            <a:pPr>
              <a:buFont typeface="Arial" panose="020B0604020202020204" pitchFamily="34" charset="0"/>
              <a:buChar char="•"/>
            </a:pPr>
            <a:r>
              <a:rPr lang="es-ES" sz="3200" dirty="0"/>
              <a:t>Si María cambia su dirección de envío, tendrías que actualizar 3 filas (o 50, si compró 50 cosas).</a:t>
            </a:r>
          </a:p>
          <a:p>
            <a:pPr>
              <a:buFont typeface="Arial" panose="020B0604020202020204" pitchFamily="34" charset="0"/>
              <a:buChar char="•"/>
            </a:pPr>
            <a:r>
              <a:rPr lang="es-ES" sz="3200" dirty="0"/>
              <a:t>Si borras el producto "Mouse", podrías borrar accidentalmente el registro de que la orden 1001 existió</a:t>
            </a:r>
            <a:r>
              <a:rPr lang="es-ES" sz="2400" dirty="0"/>
              <a:t>.</a:t>
            </a:r>
          </a:p>
        </p:txBody>
      </p:sp>
    </p:spTree>
    <p:extLst>
      <p:ext uri="{BB962C8B-B14F-4D97-AF65-F5344CB8AC3E}">
        <p14:creationId xmlns:p14="http://schemas.microsoft.com/office/powerpoint/2010/main" val="26990230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CD0D6-B770-801B-DB82-C32EA02AED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53E4EE-6501-2FBD-5677-4F2E0646923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67A598D-1002-356B-6104-82FB253487E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59D75DC-2679-D8E5-0E38-6E391773A4E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34C39F7-F681-D4EB-98EC-3326C039CAC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3EE8DB6-0E0E-7FD2-3227-48DC861FF3B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DF0064E-46AA-B100-34A7-0340CF558B9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FC2F028-FE07-8EF3-A046-7EAE9E207B2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E43740E-A3BE-B8B5-C1A8-B4FAE11B266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BB4C6D5-8371-8EF9-FCC6-50D770C1FFF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8541E89-2453-9A31-8F1D-E5C816B31AA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6" name="CuadroTexto 15">
            <a:extLst>
              <a:ext uri="{FF2B5EF4-FFF2-40B4-BE49-F238E27FC236}">
                <a16:creationId xmlns:a16="http://schemas.microsoft.com/office/drawing/2014/main" id="{1F3FAC2E-42E6-306D-0647-08CFE3907CF4}"/>
              </a:ext>
            </a:extLst>
          </p:cNvPr>
          <p:cNvSpPr txBox="1"/>
          <p:nvPr/>
        </p:nvSpPr>
        <p:spPr>
          <a:xfrm>
            <a:off x="1538925" y="1172510"/>
            <a:ext cx="14590336" cy="7478970"/>
          </a:xfrm>
          <a:prstGeom prst="rect">
            <a:avLst/>
          </a:prstGeom>
          <a:noFill/>
        </p:spPr>
        <p:txBody>
          <a:bodyPr wrap="square">
            <a:spAutoFit/>
          </a:bodyPr>
          <a:lstStyle/>
          <a:p>
            <a:pPr>
              <a:buNone/>
            </a:pPr>
            <a:r>
              <a:rPr lang="es-ES" sz="3200" b="1" dirty="0"/>
              <a:t>2. La Solución: La Tabla Puente (Detalle de Orden)</a:t>
            </a:r>
          </a:p>
          <a:p>
            <a:pPr>
              <a:buNone/>
            </a:pPr>
            <a:endParaRPr lang="es-ES" sz="3200" b="1" dirty="0"/>
          </a:p>
          <a:p>
            <a:pPr>
              <a:buNone/>
            </a:pPr>
            <a:r>
              <a:rPr lang="es-ES" sz="3200" dirty="0"/>
              <a:t>La tabla puente resuelve esto descomponiendo la relación Muchos a Muchos (M:N) en dos relaciones Uno a Muchos (1:N). En el mundo de las ventas, esta tabla suele llamarse </a:t>
            </a:r>
            <a:r>
              <a:rPr lang="es-ES" sz="3200" b="1" dirty="0" err="1"/>
              <a:t>Detalles_Orden</a:t>
            </a:r>
            <a:r>
              <a:rPr lang="es-ES" sz="3200" dirty="0"/>
              <a:t> o </a:t>
            </a:r>
            <a:r>
              <a:rPr lang="es-ES" sz="3200" b="1" dirty="0" err="1"/>
              <a:t>Lineas_Orden</a:t>
            </a:r>
            <a:r>
              <a:rPr lang="es-ES" sz="3200" dirty="0"/>
              <a:t>.</a:t>
            </a:r>
          </a:p>
          <a:p>
            <a:pPr>
              <a:buNone/>
            </a:pPr>
            <a:endParaRPr lang="es-ES" sz="3200" dirty="0"/>
          </a:p>
          <a:p>
            <a:pPr>
              <a:buNone/>
            </a:pPr>
            <a:r>
              <a:rPr lang="es-ES" sz="3200" b="1" dirty="0"/>
              <a:t>Estructura:</a:t>
            </a:r>
          </a:p>
          <a:p>
            <a:pPr>
              <a:buNone/>
            </a:pPr>
            <a:endParaRPr lang="es-ES" sz="3200" dirty="0"/>
          </a:p>
          <a:p>
            <a:pPr marL="514350" indent="-514350">
              <a:buFont typeface="+mj-lt"/>
              <a:buAutoNum type="arabicPeriod"/>
            </a:pPr>
            <a:r>
              <a:rPr lang="es-ES" sz="3200" b="1" dirty="0"/>
              <a:t>Tabla A (Órdenes):</a:t>
            </a:r>
            <a:r>
              <a:rPr lang="es-ES" sz="3200" dirty="0"/>
              <a:t> Solo datos generales (Fecha, Cliente, Dirección, Total).</a:t>
            </a:r>
          </a:p>
          <a:p>
            <a:pPr marL="514350" indent="-514350">
              <a:buFont typeface="+mj-lt"/>
              <a:buAutoNum type="arabicPeriod"/>
            </a:pPr>
            <a:r>
              <a:rPr lang="es-ES" sz="3200" b="1" dirty="0"/>
              <a:t>Tabla B (Productos):</a:t>
            </a:r>
            <a:r>
              <a:rPr lang="es-ES" sz="3200" dirty="0"/>
              <a:t> Solo catálogo (Nombre, Descripción, Stock actual).</a:t>
            </a:r>
          </a:p>
          <a:p>
            <a:pPr marL="514350" indent="-514350">
              <a:buFont typeface="+mj-lt"/>
              <a:buAutoNum type="arabicPeriod"/>
            </a:pPr>
            <a:r>
              <a:rPr lang="es-ES" sz="3200" b="1" dirty="0"/>
              <a:t>Tabla Puente (</a:t>
            </a:r>
            <a:r>
              <a:rPr lang="es-ES" sz="3200" b="1" dirty="0" err="1"/>
              <a:t>Detalles_Orden</a:t>
            </a:r>
            <a:r>
              <a:rPr lang="es-ES" sz="3200" b="1" dirty="0"/>
              <a:t>):</a:t>
            </a:r>
            <a:r>
              <a:rPr lang="es-ES" sz="3200" dirty="0"/>
              <a:t> Solo conecta la Orden con el Producto.</a:t>
            </a:r>
          </a:p>
          <a:p>
            <a:pPr marL="514350" indent="-514350">
              <a:buFont typeface="+mj-lt"/>
              <a:buAutoNum type="arabicPeriod"/>
            </a:pPr>
            <a:endParaRPr lang="es-ES" sz="3200" dirty="0"/>
          </a:p>
          <a:p>
            <a:r>
              <a:rPr lang="es-ES" sz="3200" b="1" dirty="0"/>
              <a:t>Cómo se ve visualmente:</a:t>
            </a:r>
          </a:p>
          <a:p>
            <a:pPr>
              <a:buNone/>
            </a:pPr>
            <a:endParaRPr lang="es-ES" sz="3200" dirty="0"/>
          </a:p>
          <a:p>
            <a:pPr>
              <a:buNone/>
            </a:pPr>
            <a:r>
              <a:rPr lang="es-ES" sz="3200" dirty="0"/>
              <a:t>Órdenes </a:t>
            </a:r>
            <a:r>
              <a:rPr lang="es-ES" sz="3200" dirty="0">
                <a:latin typeface="Courier New" panose="02070309020205020404" pitchFamily="49" charset="0"/>
              </a:rPr>
              <a:t>1</a:t>
            </a:r>
            <a:r>
              <a:rPr lang="es-ES" sz="3200" dirty="0"/>
              <a:t> ----&lt; </a:t>
            </a:r>
            <a:r>
              <a:rPr lang="es-ES" sz="3200" dirty="0" err="1">
                <a:latin typeface="Courier New" panose="02070309020205020404" pitchFamily="49" charset="0"/>
              </a:rPr>
              <a:t>Detalles_Orden</a:t>
            </a:r>
            <a:r>
              <a:rPr lang="es-ES" sz="3200" dirty="0"/>
              <a:t> &gt;---- </a:t>
            </a:r>
            <a:r>
              <a:rPr lang="es-ES" sz="3200" dirty="0">
                <a:latin typeface="Courier New" panose="02070309020205020404" pitchFamily="49" charset="0"/>
              </a:rPr>
              <a:t>1</a:t>
            </a:r>
            <a:r>
              <a:rPr lang="es-ES" sz="3200" dirty="0"/>
              <a:t> Productos</a:t>
            </a:r>
          </a:p>
        </p:txBody>
      </p:sp>
    </p:spTree>
    <p:extLst>
      <p:ext uri="{BB962C8B-B14F-4D97-AF65-F5344CB8AC3E}">
        <p14:creationId xmlns:p14="http://schemas.microsoft.com/office/powerpoint/2010/main" val="16536885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32837-93F7-B441-D38B-8ACD963A604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0CEE95E-F1B6-6B07-77A4-EA31D6AB74B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4F35248-8F22-E3DC-B83E-2278730408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BA0C141-AEDA-39BC-37E2-A614DEE8733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5932B59-C49C-435B-DB5E-9CEC7DC5E29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1C4BC4C-7DE2-4DE3-52FF-2BB937858C7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101197C-AA0A-8683-AC27-B6A3C403D1E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E21559F-8C71-1D7F-2D31-67AFBB73533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224BECF-C704-B04D-9568-2B75533D877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DE2CD8D-F701-5F01-B169-1078C9AB8E0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B354509-BEF8-B240-A62A-31BEA225E1B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A5A91731-3D4B-B06D-DA0A-5E8D1C00464B}"/>
              </a:ext>
            </a:extLst>
          </p:cNvPr>
          <p:cNvGraphicFramePr>
            <a:graphicFrameLocks noGrp="1"/>
          </p:cNvGraphicFramePr>
          <p:nvPr>
            <p:extLst>
              <p:ext uri="{D42A27DB-BD31-4B8C-83A1-F6EECF244321}">
                <p14:modId xmlns:p14="http://schemas.microsoft.com/office/powerpoint/2010/main" val="478344390"/>
              </p:ext>
            </p:extLst>
          </p:nvPr>
        </p:nvGraphicFramePr>
        <p:xfrm>
          <a:off x="5029200" y="3608129"/>
          <a:ext cx="8229600" cy="1463040"/>
        </p:xfrm>
        <a:graphic>
          <a:graphicData uri="http://schemas.openxmlformats.org/drawingml/2006/table">
            <a:tbl>
              <a:tblPr/>
              <a:tblGrid>
                <a:gridCol w="4114800">
                  <a:extLst>
                    <a:ext uri="{9D8B030D-6E8A-4147-A177-3AD203B41FA5}">
                      <a16:colId xmlns:a16="http://schemas.microsoft.com/office/drawing/2014/main" val="4181243384"/>
                    </a:ext>
                  </a:extLst>
                </a:gridCol>
                <a:gridCol w="4114800">
                  <a:extLst>
                    <a:ext uri="{9D8B030D-6E8A-4147-A177-3AD203B41FA5}">
                      <a16:colId xmlns:a16="http://schemas.microsoft.com/office/drawing/2014/main" val="630970715"/>
                    </a:ext>
                  </a:extLst>
                </a:gridCol>
              </a:tblGrid>
              <a:tr h="0">
                <a:tc>
                  <a:txBody>
                    <a:bodyPr/>
                    <a:lstStyle/>
                    <a:p>
                      <a:pPr>
                        <a:buNone/>
                      </a:pPr>
                      <a:r>
                        <a:rPr lang="es-CO" sz="1800" b="1" dirty="0" err="1">
                          <a:effectLst/>
                          <a:latin typeface="Google Sans Text"/>
                        </a:rPr>
                        <a:t>Orden_ID</a:t>
                      </a:r>
                      <a:r>
                        <a:rPr lang="es-CO" sz="1800" b="1" dirty="0">
                          <a:effectLst/>
                          <a:latin typeface="Google Sans Text"/>
                        </a:rPr>
                        <a:t> (FK)</a:t>
                      </a:r>
                      <a:endParaRPr lang="es-CO" sz="18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effectLst/>
                          <a:latin typeface="Google Sans Text"/>
                        </a:rPr>
                        <a:t>Producto_ID (FK)</a:t>
                      </a:r>
                      <a:endParaRPr lang="es-CO" sz="18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455431"/>
                  </a:ext>
                </a:extLst>
              </a:tr>
              <a:tr h="0">
                <a:tc>
                  <a:txBody>
                    <a:bodyPr/>
                    <a:lstStyle/>
                    <a:p>
                      <a:pPr>
                        <a:buNone/>
                      </a:pPr>
                      <a:r>
                        <a:rPr lang="es-CO" sz="1800" dirty="0">
                          <a:effectLst/>
                          <a:latin typeface="Google Sans Text"/>
                        </a:rPr>
                        <a:t>1001 (Orden de 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effectLst/>
                          <a:latin typeface="Google Sans Text"/>
                        </a:rPr>
                        <a:t>50 (Laptop)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64347215"/>
                  </a:ext>
                </a:extLst>
              </a:tr>
              <a:tr h="0">
                <a:tc>
                  <a:txBody>
                    <a:bodyPr/>
                    <a:lstStyle/>
                    <a:p>
                      <a:pPr>
                        <a:buNone/>
                      </a:pPr>
                      <a:r>
                        <a:rPr lang="es-CO" sz="1800" dirty="0">
                          <a:effectLst/>
                          <a:latin typeface="Google Sans Text"/>
                        </a:rPr>
                        <a:t>1001 (Orden de 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effectLst/>
                          <a:latin typeface="Google Sans Text"/>
                        </a:rPr>
                        <a:t>51 (Mouse)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51959039"/>
                  </a:ext>
                </a:extLst>
              </a:tr>
              <a:tr h="0">
                <a:tc>
                  <a:txBody>
                    <a:bodyPr/>
                    <a:lstStyle/>
                    <a:p>
                      <a:pPr>
                        <a:buNone/>
                      </a:pPr>
                      <a:r>
                        <a:rPr lang="es-CO" sz="1800">
                          <a:effectLst/>
                          <a:latin typeface="Google Sans Text"/>
                        </a:rPr>
                        <a:t>1002 (Orden de Pedro)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effectLst/>
                          <a:latin typeface="Google Sans Text"/>
                        </a:rPr>
                        <a:t>50 (Laptop)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78215"/>
                  </a:ext>
                </a:extLst>
              </a:tr>
            </a:tbl>
          </a:graphicData>
        </a:graphic>
      </p:graphicFrame>
      <p:sp>
        <p:nvSpPr>
          <p:cNvPr id="15" name="CuadroTexto 14">
            <a:extLst>
              <a:ext uri="{FF2B5EF4-FFF2-40B4-BE49-F238E27FC236}">
                <a16:creationId xmlns:a16="http://schemas.microsoft.com/office/drawing/2014/main" id="{00F04236-73A7-CA69-B544-2DB629E77F8E}"/>
              </a:ext>
            </a:extLst>
          </p:cNvPr>
          <p:cNvSpPr txBox="1"/>
          <p:nvPr/>
        </p:nvSpPr>
        <p:spPr>
          <a:xfrm>
            <a:off x="1385741" y="619028"/>
            <a:ext cx="14470144" cy="230832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¿Qué contiene exactamente el puente?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j-lt"/>
              </a:rPr>
              <a:t>la clave primaria suele ser compuesta (</a:t>
            </a:r>
            <a:r>
              <a:rPr kumimoji="0" lang="es-CO" altLang="es-CO" sz="2400" b="0" i="0" u="none" strike="noStrike" cap="none" normalizeH="0" baseline="0" dirty="0" err="1">
                <a:ln>
                  <a:noFill/>
                </a:ln>
                <a:solidFill>
                  <a:schemeClr val="tx1"/>
                </a:solidFill>
                <a:effectLst/>
                <a:latin typeface="+mj-lt"/>
              </a:rPr>
              <a:t>Orden_ID</a:t>
            </a:r>
            <a:r>
              <a:rPr kumimoji="0" lang="es-CO" altLang="es-CO" sz="2400" b="0" i="0" u="none" strike="noStrike" cap="none" normalizeH="0" baseline="0" dirty="0">
                <a:ln>
                  <a:noFill/>
                </a:ln>
                <a:solidFill>
                  <a:schemeClr val="tx1"/>
                </a:solidFill>
                <a:effectLst/>
                <a:latin typeface="+mj-lt"/>
              </a:rPr>
              <a:t> + </a:t>
            </a:r>
            <a:r>
              <a:rPr kumimoji="0" lang="es-CO" altLang="es-CO" sz="2400" b="0" i="0" u="none" strike="noStrike" cap="none" normalizeH="0" baseline="0" dirty="0" err="1">
                <a:ln>
                  <a:noFill/>
                </a:ln>
                <a:solidFill>
                  <a:schemeClr val="tx1"/>
                </a:solidFill>
                <a:effectLst/>
                <a:latin typeface="+mj-lt"/>
              </a:rPr>
              <a:t>Producto_ID</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Tabla </a:t>
            </a:r>
            <a:r>
              <a:rPr kumimoji="0" lang="es-CO" altLang="es-CO" sz="2400" b="1" i="0" u="none" strike="noStrike" cap="none" normalizeH="0" baseline="0" dirty="0" err="1">
                <a:ln>
                  <a:noFill/>
                </a:ln>
                <a:solidFill>
                  <a:schemeClr val="tx1"/>
                </a:solidFill>
                <a:effectLst/>
                <a:latin typeface="+mj-lt"/>
              </a:rPr>
              <a:t>Detalles_Orden</a:t>
            </a:r>
            <a:r>
              <a:rPr kumimoji="0" lang="es-CO" altLang="es-CO" sz="2400" b="1" i="0" u="none" strike="noStrike" cap="none" normalizeH="0" baseline="0" dirty="0">
                <a:ln>
                  <a:noFill/>
                </a:ln>
                <a:solidFill>
                  <a:schemeClr val="tx1"/>
                </a:solidFill>
                <a:effectLst/>
                <a:latin typeface="+mj-lt"/>
              </a:rPr>
              <a:t>:</a:t>
            </a: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Nota:</a:t>
            </a:r>
            <a:r>
              <a:rPr kumimoji="0" lang="es-CO" altLang="es-CO" sz="2400" b="0" i="0" u="none" strike="noStrike" cap="none" normalizeH="0" baseline="0" dirty="0">
                <a:ln>
                  <a:noFill/>
                </a:ln>
                <a:solidFill>
                  <a:schemeClr val="tx1"/>
                </a:solidFill>
                <a:effectLst/>
                <a:latin typeface="+mj-lt"/>
              </a:rPr>
              <a:t> Aquí no se repite "María" ni "01-Dic". Solo referencias numéricas. Es rápido y ligero</a:t>
            </a:r>
            <a:r>
              <a:rPr kumimoji="0" lang="es-CO" altLang="es-CO" sz="1400" b="0" i="0" u="none" strike="noStrike" cap="none" normalizeH="0" baseline="0" dirty="0">
                <a:ln>
                  <a:noFill/>
                </a:ln>
                <a:solidFill>
                  <a:schemeClr val="tx1"/>
                </a:solidFill>
                <a:effectLst/>
                <a:latin typeface="+mj-lt"/>
              </a:rPr>
              <a:t>.</a:t>
            </a:r>
          </a:p>
        </p:txBody>
      </p:sp>
      <p:sp>
        <p:nvSpPr>
          <p:cNvPr id="18" name="CuadroTexto 17">
            <a:extLst>
              <a:ext uri="{FF2B5EF4-FFF2-40B4-BE49-F238E27FC236}">
                <a16:creationId xmlns:a16="http://schemas.microsoft.com/office/drawing/2014/main" id="{D7EA49FE-374F-D808-8DF8-FDE475BBCFA0}"/>
              </a:ext>
            </a:extLst>
          </p:cNvPr>
          <p:cNvSpPr txBox="1"/>
          <p:nvPr/>
        </p:nvSpPr>
        <p:spPr>
          <a:xfrm>
            <a:off x="1385741" y="5475034"/>
            <a:ext cx="15570723" cy="2308324"/>
          </a:xfrm>
          <a:prstGeom prst="rect">
            <a:avLst/>
          </a:prstGeom>
          <a:noFill/>
        </p:spPr>
        <p:txBody>
          <a:bodyPr wrap="square">
            <a:spAutoFit/>
          </a:bodyPr>
          <a:lstStyle/>
          <a:p>
            <a:pPr>
              <a:buNone/>
            </a:pPr>
            <a:r>
              <a:rPr lang="es-ES" sz="2400" dirty="0"/>
              <a:t>En el caso de Órdenes y Productos, la tabla puente es </a:t>
            </a:r>
            <a:r>
              <a:rPr lang="es-ES" sz="2400" b="1" dirty="0"/>
              <a:t>obligatoria</a:t>
            </a:r>
            <a:r>
              <a:rPr lang="es-ES" sz="2400" dirty="0"/>
              <a:t> para guardar datos que no pueden ir en ningún otro lado:</a:t>
            </a:r>
          </a:p>
          <a:p>
            <a:pPr>
              <a:buFont typeface="+mj-lt"/>
              <a:buAutoNum type="arabicPeriod"/>
            </a:pPr>
            <a:r>
              <a:rPr lang="es-ES" sz="2400" b="1" dirty="0"/>
              <a:t>Cantidad:</a:t>
            </a:r>
            <a:r>
              <a:rPr lang="es-ES" sz="2400" dirty="0"/>
              <a:t> ¿Cuántos mouses compró María? (No es un dato del producto, ni de la orden general, es de </a:t>
            </a:r>
            <a:r>
              <a:rPr lang="es-ES" sz="2400" i="1" dirty="0"/>
              <a:t>esa línea</a:t>
            </a:r>
            <a:r>
              <a:rPr lang="es-ES" sz="2400" dirty="0"/>
              <a:t> específica).</a:t>
            </a:r>
          </a:p>
          <a:p>
            <a:pPr>
              <a:buFont typeface="+mj-lt"/>
              <a:buAutoNum type="arabicPeriod"/>
            </a:pPr>
            <a:r>
              <a:rPr lang="es-ES" sz="2400" b="1" dirty="0"/>
              <a:t>Precio de Venta (Histórico):</a:t>
            </a:r>
            <a:r>
              <a:rPr lang="es-ES" sz="2400" dirty="0"/>
              <a:t> El precio de la Laptop puede subir mañana en la tabla </a:t>
            </a:r>
            <a:r>
              <a:rPr lang="es-ES" sz="2400" dirty="0">
                <a:latin typeface="Courier New" panose="02070309020205020404" pitchFamily="49" charset="0"/>
              </a:rPr>
              <a:t>Productos</a:t>
            </a:r>
            <a:r>
              <a:rPr lang="es-ES" sz="2400" dirty="0"/>
              <a:t>, pero en la tabla puente (</a:t>
            </a:r>
            <a:r>
              <a:rPr lang="es-ES" sz="2400" dirty="0" err="1">
                <a:latin typeface="Courier New" panose="02070309020205020404" pitchFamily="49" charset="0"/>
              </a:rPr>
              <a:t>Detalles_Orden</a:t>
            </a:r>
            <a:r>
              <a:rPr lang="es-ES" sz="2400" dirty="0"/>
              <a:t>) debe quedar guardado el precio </a:t>
            </a:r>
            <a:r>
              <a:rPr lang="es-ES" sz="2400" b="1" dirty="0"/>
              <a:t>al que se vendió en ese momento</a:t>
            </a:r>
            <a:r>
              <a:rPr lang="es-ES" sz="2400" dirty="0"/>
              <a:t>.</a:t>
            </a:r>
          </a:p>
        </p:txBody>
      </p:sp>
      <p:graphicFrame>
        <p:nvGraphicFramePr>
          <p:cNvPr id="19" name="Tabla 18">
            <a:extLst>
              <a:ext uri="{FF2B5EF4-FFF2-40B4-BE49-F238E27FC236}">
                <a16:creationId xmlns:a16="http://schemas.microsoft.com/office/drawing/2014/main" id="{AF2BF72D-6563-4D74-AC08-CF06AFF110E2}"/>
              </a:ext>
            </a:extLst>
          </p:cNvPr>
          <p:cNvGraphicFramePr>
            <a:graphicFrameLocks noGrp="1"/>
          </p:cNvGraphicFramePr>
          <p:nvPr>
            <p:extLst>
              <p:ext uri="{D42A27DB-BD31-4B8C-83A1-F6EECF244321}">
                <p14:modId xmlns:p14="http://schemas.microsoft.com/office/powerpoint/2010/main" val="1790817194"/>
              </p:ext>
            </p:extLst>
          </p:nvPr>
        </p:nvGraphicFramePr>
        <p:xfrm>
          <a:off x="5029200" y="8361495"/>
          <a:ext cx="8229600" cy="1127760"/>
        </p:xfrm>
        <a:graphic>
          <a:graphicData uri="http://schemas.openxmlformats.org/drawingml/2006/table">
            <a:tbl>
              <a:tblPr/>
              <a:tblGrid>
                <a:gridCol w="2057400">
                  <a:extLst>
                    <a:ext uri="{9D8B030D-6E8A-4147-A177-3AD203B41FA5}">
                      <a16:colId xmlns:a16="http://schemas.microsoft.com/office/drawing/2014/main" val="3804761283"/>
                    </a:ext>
                  </a:extLst>
                </a:gridCol>
                <a:gridCol w="2057400">
                  <a:extLst>
                    <a:ext uri="{9D8B030D-6E8A-4147-A177-3AD203B41FA5}">
                      <a16:colId xmlns:a16="http://schemas.microsoft.com/office/drawing/2014/main" val="1887852835"/>
                    </a:ext>
                  </a:extLst>
                </a:gridCol>
                <a:gridCol w="2057400">
                  <a:extLst>
                    <a:ext uri="{9D8B030D-6E8A-4147-A177-3AD203B41FA5}">
                      <a16:colId xmlns:a16="http://schemas.microsoft.com/office/drawing/2014/main" val="2690284866"/>
                    </a:ext>
                  </a:extLst>
                </a:gridCol>
                <a:gridCol w="2057400">
                  <a:extLst>
                    <a:ext uri="{9D8B030D-6E8A-4147-A177-3AD203B41FA5}">
                      <a16:colId xmlns:a16="http://schemas.microsoft.com/office/drawing/2014/main" val="2631783035"/>
                    </a:ext>
                  </a:extLst>
                </a:gridCol>
              </a:tblGrid>
              <a:tr h="0">
                <a:tc>
                  <a:txBody>
                    <a:bodyPr/>
                    <a:lstStyle/>
                    <a:p>
                      <a:pPr>
                        <a:buNone/>
                      </a:pPr>
                      <a:r>
                        <a:rPr lang="es-CO" dirty="0" err="1"/>
                        <a:t>Orden_ID</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err="1"/>
                        <a:t>Producto_ID</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Cantidad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Precio_Unitario_Acordado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3132915"/>
                  </a:ext>
                </a:extLst>
              </a:tr>
              <a:tr h="0">
                <a:tc>
                  <a:txBody>
                    <a:bodyPr/>
                    <a:lstStyle/>
                    <a:p>
                      <a:pPr>
                        <a:buNone/>
                      </a:pPr>
                      <a:r>
                        <a:rPr lang="es-CO"/>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72796126"/>
                  </a:ext>
                </a:extLst>
              </a:tr>
              <a:tr h="0">
                <a:tc>
                  <a:txBody>
                    <a:bodyPr/>
                    <a:lstStyle/>
                    <a:p>
                      <a:pPr>
                        <a:buNone/>
                      </a:pPr>
                      <a:r>
                        <a:rPr lang="es-CO" dirty="0"/>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0938889"/>
                  </a:ext>
                </a:extLst>
              </a:tr>
            </a:tbl>
          </a:graphicData>
        </a:graphic>
      </p:graphicFrame>
    </p:spTree>
    <p:extLst>
      <p:ext uri="{BB962C8B-B14F-4D97-AF65-F5344CB8AC3E}">
        <p14:creationId xmlns:p14="http://schemas.microsoft.com/office/powerpoint/2010/main" val="14285739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567CC-FDE0-3C80-FB3D-72B29C3B7BC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F5CE0FF-0666-BD86-4D65-DFC0D719B02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8A5A096-DE9C-76AB-12A9-7FB4415D919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0D93B3A-693D-3A7B-4A4D-5B53C86D593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1C9F3B3-6F97-135B-14BA-81DE46F5168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B380E8A-CC06-AC64-1F7A-B63557C0A34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A9F5F77-A1BD-35E5-5476-5C1B43D38BC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5E2B021-1348-7258-C614-00388EE15C0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76DE71D-F809-C671-52F6-87BAF185300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303E2C9-BF11-7814-2438-E5220AA2599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0D5C7F3-B6FA-40A7-4AD7-309C619416E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F056BD00-00A9-D87F-6EEC-259D8AD3971E}"/>
              </a:ext>
            </a:extLst>
          </p:cNvPr>
          <p:cNvSpPr txBox="1"/>
          <p:nvPr/>
        </p:nvSpPr>
        <p:spPr>
          <a:xfrm>
            <a:off x="1160218" y="3469063"/>
            <a:ext cx="16148973" cy="2062103"/>
          </a:xfrm>
          <a:prstGeom prst="rect">
            <a:avLst/>
          </a:prstGeom>
          <a:noFill/>
        </p:spPr>
        <p:txBody>
          <a:bodyPr wrap="none" rtlCol="0">
            <a:spAutoFit/>
          </a:bodyPr>
          <a:lstStyle/>
          <a:p>
            <a:pPr algn="ctr"/>
            <a:r>
              <a:rPr lang="es-CO" sz="3200" dirty="0"/>
              <a:t>Entrados en Gastos… </a:t>
            </a:r>
          </a:p>
          <a:p>
            <a:pPr algn="ctr"/>
            <a:endParaRPr lang="es-CO" sz="3200" dirty="0"/>
          </a:p>
          <a:p>
            <a:pPr algn="ctr"/>
            <a:endParaRPr lang="es-CO" sz="3200" dirty="0"/>
          </a:p>
          <a:p>
            <a:pPr algn="ctr"/>
            <a:r>
              <a:rPr lang="es-CO" sz="3200" dirty="0"/>
              <a:t>Expliquemos las principales formas normales del diseño de bases de datos relacionales</a:t>
            </a:r>
          </a:p>
        </p:txBody>
      </p:sp>
    </p:spTree>
    <p:extLst>
      <p:ext uri="{BB962C8B-B14F-4D97-AF65-F5344CB8AC3E}">
        <p14:creationId xmlns:p14="http://schemas.microsoft.com/office/powerpoint/2010/main" val="304946500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091E6-9F0D-5BDE-824E-267663EAB21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52E827A-4590-8BDE-06D7-F811175D93F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66DCFD1-F4E0-185E-4F39-16CA10DB375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8F68CB9-84B7-0D98-D3B4-79E9F363247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225BEA9-7904-64F7-DE87-BA1BF072DEB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892F8BE-898E-E42B-16BF-4712BA909B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45B1094-7BCF-81DF-A100-C07C0C007C5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F5F49FB-9B51-DD48-6EA1-238EC4A9FEF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4BDF6A1-C530-7186-1A75-01076415576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B279290-DD18-5036-BAF6-815F3534A7F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E40605B-C6B4-5C45-ECB2-5DB5EC001A5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2581113A-E6D6-F6B5-F986-10C70BAC3BB5}"/>
              </a:ext>
            </a:extLst>
          </p:cNvPr>
          <p:cNvSpPr txBox="1"/>
          <p:nvPr/>
        </p:nvSpPr>
        <p:spPr>
          <a:xfrm>
            <a:off x="1710366" y="3526683"/>
            <a:ext cx="15361576" cy="6494085"/>
          </a:xfrm>
          <a:prstGeom prst="rect">
            <a:avLst/>
          </a:prstGeom>
          <a:noFill/>
        </p:spPr>
        <p:txBody>
          <a:bodyPr wrap="square">
            <a:spAutoFit/>
          </a:bodyPr>
          <a:lstStyle/>
          <a:p>
            <a:pPr>
              <a:buNone/>
            </a:pPr>
            <a:r>
              <a:rPr lang="es-ES" sz="3200" b="1" dirty="0"/>
              <a:t>El Concepto Central: Dependencia Funcional Completa</a:t>
            </a:r>
          </a:p>
          <a:p>
            <a:pPr>
              <a:buNone/>
            </a:pPr>
            <a:endParaRPr lang="es-ES" sz="3200" b="1" dirty="0"/>
          </a:p>
          <a:p>
            <a:pPr>
              <a:buNone/>
            </a:pPr>
            <a:r>
              <a:rPr lang="es-ES" sz="3200" dirty="0"/>
              <a:t>Para que una tabla esté en 2FN, debe cumplir dos requisitos:</a:t>
            </a:r>
          </a:p>
          <a:p>
            <a:pPr>
              <a:buNone/>
            </a:pPr>
            <a:endParaRPr lang="es-ES" sz="3200" dirty="0"/>
          </a:p>
          <a:p>
            <a:pPr>
              <a:buFont typeface="+mj-lt"/>
              <a:buAutoNum type="arabicPeriod"/>
            </a:pPr>
            <a:r>
              <a:rPr lang="es-ES" sz="3200" b="1" dirty="0"/>
              <a:t>Ya debe estar en 1FN</a:t>
            </a:r>
            <a:r>
              <a:rPr lang="es-ES" sz="3200" dirty="0"/>
              <a:t> (sin grupos repetidos, celdas atómicas).</a:t>
            </a:r>
          </a:p>
          <a:p>
            <a:pPr>
              <a:buFont typeface="+mj-lt"/>
              <a:buAutoNum type="arabicPeriod"/>
            </a:pPr>
            <a:endParaRPr lang="es-ES" sz="3200" dirty="0"/>
          </a:p>
          <a:p>
            <a:pPr>
              <a:buFont typeface="+mj-lt"/>
              <a:buAutoNum type="arabicPeriod"/>
            </a:pPr>
            <a:r>
              <a:rPr lang="es-ES" sz="3200" b="1" dirty="0"/>
              <a:t>No debe existir Dependencia Parcial:</a:t>
            </a:r>
            <a:r>
              <a:rPr lang="es-ES" sz="3200" dirty="0"/>
              <a:t> Ninguna columna (que no sea llave) puede depender solo de una </a:t>
            </a:r>
            <a:r>
              <a:rPr lang="es-ES" sz="3200" i="1" dirty="0"/>
              <a:t>parte</a:t>
            </a:r>
            <a:r>
              <a:rPr lang="es-ES" sz="3200" dirty="0"/>
              <a:t> de la llave primaria. Debe depender de la </a:t>
            </a:r>
            <a:r>
              <a:rPr lang="es-ES" sz="3200" b="1" dirty="0"/>
              <a:t>llave entera</a:t>
            </a:r>
            <a:r>
              <a:rPr lang="es-ES" sz="3200" dirty="0"/>
              <a:t>.</a:t>
            </a:r>
          </a:p>
          <a:p>
            <a:endParaRPr lang="es-ES" sz="3200" b="1" dirty="0"/>
          </a:p>
          <a:p>
            <a:r>
              <a:rPr lang="es-ES" sz="3200" b="1" dirty="0"/>
              <a:t>Nota Clave:</a:t>
            </a:r>
            <a:r>
              <a:rPr lang="es-ES" sz="3200" dirty="0"/>
              <a:t> Si tu tabla tiene una llave primaria de una sola columna (</a:t>
            </a:r>
            <a:r>
              <a:rPr lang="es-ES" sz="3200" dirty="0" err="1"/>
              <a:t>ej</a:t>
            </a:r>
            <a:r>
              <a:rPr lang="es-ES" sz="3200" dirty="0"/>
              <a:t>: solo </a:t>
            </a:r>
            <a:r>
              <a:rPr lang="es-ES" sz="3200" dirty="0" err="1">
                <a:latin typeface="Courier New" panose="02070309020205020404" pitchFamily="49" charset="0"/>
              </a:rPr>
              <a:t>ID_Empleado</a:t>
            </a:r>
            <a:r>
              <a:rPr lang="es-ES" sz="3200" dirty="0"/>
              <a:t>), ¡automáticamente ya está en 2FN! La 2FN solo aplica cuando la llave es compuesta.</a:t>
            </a:r>
          </a:p>
        </p:txBody>
      </p:sp>
      <p:sp>
        <p:nvSpPr>
          <p:cNvPr id="17" name="CuadroTexto 16">
            <a:extLst>
              <a:ext uri="{FF2B5EF4-FFF2-40B4-BE49-F238E27FC236}">
                <a16:creationId xmlns:a16="http://schemas.microsoft.com/office/drawing/2014/main" id="{10F562DC-6CFC-528F-2D20-ACCCD5DF25E3}"/>
              </a:ext>
            </a:extLst>
          </p:cNvPr>
          <p:cNvSpPr txBox="1"/>
          <p:nvPr/>
        </p:nvSpPr>
        <p:spPr>
          <a:xfrm>
            <a:off x="1499678" y="619028"/>
            <a:ext cx="13883326" cy="1815882"/>
          </a:xfrm>
          <a:prstGeom prst="rect">
            <a:avLst/>
          </a:prstGeom>
          <a:noFill/>
        </p:spPr>
        <p:txBody>
          <a:bodyPr wrap="square">
            <a:spAutoFit/>
          </a:bodyPr>
          <a:lstStyle/>
          <a:p>
            <a:r>
              <a:rPr lang="es-ES" sz="2800" dirty="0"/>
              <a:t>La </a:t>
            </a:r>
            <a:r>
              <a:rPr lang="es-ES" sz="2800" b="1" dirty="0"/>
              <a:t>Segunda Forma Normal (2FN)</a:t>
            </a:r>
          </a:p>
          <a:p>
            <a:endParaRPr lang="es-ES" sz="2800" b="1" dirty="0"/>
          </a:p>
          <a:p>
            <a:r>
              <a:rPr lang="es-ES" sz="2800" dirty="0"/>
              <a:t> Suele ser el punto donde muchos se confunden porque introduce el concepto de </a:t>
            </a:r>
            <a:r>
              <a:rPr lang="es-ES" sz="2800" b="1" dirty="0"/>
              <a:t>Llave Primaria Compuesta</a:t>
            </a:r>
            <a:r>
              <a:rPr lang="es-ES" sz="2800" dirty="0"/>
              <a:t> (una llave formada por dos o más columnas).</a:t>
            </a:r>
            <a:endParaRPr lang="es-CO" sz="2800" dirty="0"/>
          </a:p>
        </p:txBody>
      </p:sp>
    </p:spTree>
    <p:extLst>
      <p:ext uri="{BB962C8B-B14F-4D97-AF65-F5344CB8AC3E}">
        <p14:creationId xmlns:p14="http://schemas.microsoft.com/office/powerpoint/2010/main" val="3453201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F7D83-0CFE-49B4-B208-5BA9BE4B584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CD889A4-578A-9204-4DE6-A70EFD66641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437C030-D963-1A88-6078-B2E0559FA6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CF337E0-14A2-52F9-45AF-629D8C174DF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EE4C84F-CC26-934E-1144-4F9D47F5273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E86C991-8082-B2E0-78BD-B52F4C0769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71DF6FD-6AB1-1073-513B-0F4AC90FEF0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32E038E-0EA1-540D-96CF-E4FFCB3DD583}"/>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5858DDA-1D8F-2A61-23DE-0DF991E861B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9B23262-6D05-DBB6-3F91-FA7CCE890C7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DDB95FE-BC39-C24E-8F51-6495B79086F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Rectangle 1">
            <a:extLst>
              <a:ext uri="{FF2B5EF4-FFF2-40B4-BE49-F238E27FC236}">
                <a16:creationId xmlns:a16="http://schemas.microsoft.com/office/drawing/2014/main" id="{432834CB-DCFC-DF2E-0BE2-7023B5C2300D}"/>
              </a:ext>
            </a:extLst>
          </p:cNvPr>
          <p:cNvSpPr>
            <a:spLocks noChangeArrowheads="1"/>
          </p:cNvSpPr>
          <p:nvPr/>
        </p:nvSpPr>
        <p:spPr bwMode="auto">
          <a:xfrm>
            <a:off x="1260621" y="905984"/>
            <a:ext cx="15766758" cy="7971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Caso : Consultora de Proyectos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mj-lt"/>
              </a:rPr>
              <a:t>Imagina que gestionamos empleados que trabajan en varios proyectos. Para saber cuántas horas trabaja quién en qué proyecto, creamos esta tabla.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mj-lt"/>
              </a:rPr>
              <a:t>La Llave Primaria Compuesta es: </a:t>
            </a:r>
            <a:r>
              <a:rPr kumimoji="0" lang="es-CO" altLang="es-CO" sz="2000" b="0" i="0" u="none" strike="noStrike" cap="none" normalizeH="0" baseline="0" dirty="0" err="1">
                <a:ln>
                  <a:noFill/>
                </a:ln>
                <a:solidFill>
                  <a:schemeClr val="tx1"/>
                </a:solidFill>
                <a:effectLst/>
                <a:latin typeface="+mj-lt"/>
              </a:rPr>
              <a:t>ID_Empleado</a:t>
            </a:r>
            <a:r>
              <a:rPr kumimoji="0" lang="es-CO" altLang="es-CO" sz="2000" b="0" i="0" u="none" strike="noStrike" cap="none" normalizeH="0" baseline="0" dirty="0">
                <a:ln>
                  <a:noFill/>
                </a:ln>
                <a:solidFill>
                  <a:schemeClr val="tx1"/>
                </a:solidFill>
                <a:effectLst/>
                <a:latin typeface="+mj-lt"/>
              </a:rPr>
              <a:t> + </a:t>
            </a:r>
            <a:r>
              <a:rPr kumimoji="0" lang="es-CO" altLang="es-CO" sz="2000" b="0" i="0" u="none" strike="noStrike" cap="none" normalizeH="0" baseline="0" dirty="0" err="1">
                <a:ln>
                  <a:noFill/>
                </a:ln>
                <a:solidFill>
                  <a:schemeClr val="tx1"/>
                </a:solidFill>
                <a:effectLst/>
                <a:latin typeface="+mj-lt"/>
              </a:rPr>
              <a:t>ID_Proyecto</a:t>
            </a:r>
            <a:r>
              <a:rPr kumimoji="0" lang="es-CO" altLang="es-CO" sz="2000" b="0" i="0" u="none" strike="noStrike" cap="none" normalizeH="0" baseline="0" dirty="0">
                <a:ln>
                  <a:noFill/>
                </a:ln>
                <a:solidFill>
                  <a:schemeClr val="tx1"/>
                </a:solidFill>
                <a:effectLst/>
                <a:latin typeface="+mj-lt"/>
              </a:rPr>
              <a:t>. (Necesitamos ambos para identificar un registro único).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La Tabla Incorrecta (Viola la 2FN)</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Análisis de las columnas (Detectando el problema):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000" b="1" i="0" u="none" strike="noStrike" cap="none" normalizeH="0" baseline="0" dirty="0" err="1">
                <a:ln>
                  <a:noFill/>
                </a:ln>
                <a:solidFill>
                  <a:schemeClr val="tx1"/>
                </a:solidFill>
                <a:effectLst/>
                <a:latin typeface="+mj-lt"/>
              </a:rPr>
              <a:t>Horas_Trabajadas</a:t>
            </a:r>
            <a:r>
              <a:rPr kumimoji="0" lang="es-CO" altLang="es-CO" sz="2000" b="1" i="0" u="none" strike="noStrike" cap="none" normalizeH="0" baseline="0" dirty="0">
                <a:ln>
                  <a:noFill/>
                </a:ln>
                <a:solidFill>
                  <a:schemeClr val="tx1"/>
                </a:solidFill>
                <a:effectLst/>
                <a:latin typeface="+mj-lt"/>
              </a:rPr>
              <a:t>:</a:t>
            </a:r>
            <a:r>
              <a:rPr kumimoji="0" lang="es-CO" altLang="es-CO" sz="2000" b="0" i="0" u="none" strike="noStrike" cap="none" normalizeH="0" baseline="0" dirty="0">
                <a:ln>
                  <a:noFill/>
                </a:ln>
                <a:solidFill>
                  <a:schemeClr val="tx1"/>
                </a:solidFill>
                <a:effectLst/>
                <a:latin typeface="+mj-lt"/>
              </a:rPr>
              <a:t> ¿De quién depende? Depende de </a:t>
            </a:r>
            <a:r>
              <a:rPr kumimoji="0" lang="es-CO" altLang="es-CO" sz="2000" b="1" i="0" u="none" strike="noStrike" cap="none" normalizeH="0" baseline="0" dirty="0">
                <a:ln>
                  <a:noFill/>
                </a:ln>
                <a:solidFill>
                  <a:schemeClr val="tx1"/>
                </a:solidFill>
                <a:effectLst/>
                <a:latin typeface="+mj-lt"/>
              </a:rPr>
              <a:t>ambos</a:t>
            </a:r>
            <a:r>
              <a:rPr kumimoji="0" lang="es-CO" altLang="es-CO" sz="2000" b="0" i="0" u="none" strike="noStrike" cap="none" normalizeH="0" baseline="0" dirty="0">
                <a:ln>
                  <a:noFill/>
                </a:ln>
                <a:solidFill>
                  <a:schemeClr val="tx1"/>
                </a:solidFill>
                <a:effectLst/>
                <a:latin typeface="+mj-lt"/>
              </a:rPr>
              <a:t>. Necesito saber qué empleado Y qué proyecto para saber las horas.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Dependencia Completa (Correcto).</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000" b="1" i="0" u="none" strike="noStrike" cap="none" normalizeH="0" baseline="0" dirty="0" err="1">
                <a:ln>
                  <a:noFill/>
                </a:ln>
                <a:solidFill>
                  <a:schemeClr val="tx1"/>
                </a:solidFill>
                <a:effectLst/>
                <a:latin typeface="+mj-lt"/>
              </a:rPr>
              <a:t>Nombre_Empleado</a:t>
            </a:r>
            <a:r>
              <a:rPr kumimoji="0" lang="es-CO" altLang="es-CO" sz="2000" b="1" i="0" u="none" strike="noStrike" cap="none" normalizeH="0" baseline="0" dirty="0">
                <a:ln>
                  <a:noFill/>
                </a:ln>
                <a:solidFill>
                  <a:schemeClr val="tx1"/>
                </a:solidFill>
                <a:effectLst/>
                <a:latin typeface="+mj-lt"/>
              </a:rPr>
              <a:t> ("Ana Gómez"):</a:t>
            </a:r>
            <a:r>
              <a:rPr kumimoji="0" lang="es-CO" altLang="es-CO" sz="2000" b="0" i="0" u="none" strike="noStrike" cap="none" normalizeH="0" baseline="0" dirty="0">
                <a:ln>
                  <a:noFill/>
                </a:ln>
                <a:solidFill>
                  <a:schemeClr val="tx1"/>
                </a:solidFill>
                <a:effectLst/>
                <a:latin typeface="+mj-lt"/>
              </a:rPr>
              <a:t> ¿De quién depende? Solo depende de </a:t>
            </a:r>
            <a:r>
              <a:rPr kumimoji="0" lang="es-CO" altLang="es-CO" sz="2000" b="0" i="0" u="none" strike="noStrike" cap="none" normalizeH="0" baseline="0" dirty="0" err="1">
                <a:ln>
                  <a:noFill/>
                </a:ln>
                <a:solidFill>
                  <a:schemeClr val="tx1"/>
                </a:solidFill>
                <a:effectLst/>
                <a:latin typeface="+mj-lt"/>
              </a:rPr>
              <a:t>ID_Empleado</a:t>
            </a:r>
            <a:r>
              <a:rPr kumimoji="0" lang="es-CO" altLang="es-CO" sz="2000" b="0" i="0" u="none" strike="noStrike" cap="none" normalizeH="0" baseline="0" dirty="0">
                <a:ln>
                  <a:noFill/>
                </a:ln>
                <a:solidFill>
                  <a:schemeClr val="tx1"/>
                </a:solidFill>
                <a:effectLst/>
                <a:latin typeface="+mj-lt"/>
              </a:rPr>
              <a:t>. No me importa en qué proyecto esté Ana, ella se sigue llamando Ana.</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a:t>
            </a:r>
            <a:r>
              <a:rPr kumimoji="0" lang="es-CO" altLang="es-CO" sz="2000" b="1" i="0" u="none" strike="noStrike" cap="none" normalizeH="0" baseline="0" dirty="0">
                <a:ln>
                  <a:noFill/>
                </a:ln>
                <a:solidFill>
                  <a:schemeClr val="tx1"/>
                </a:solidFill>
                <a:effectLst/>
                <a:latin typeface="+mj-lt"/>
              </a:rPr>
              <a:t>Dependencia Parcial</a:t>
            </a:r>
            <a:r>
              <a:rPr kumimoji="0" lang="es-CO" altLang="es-CO" sz="2000" b="0" i="0" u="none" strike="noStrike" cap="none" normalizeH="0" baseline="0" dirty="0">
                <a:ln>
                  <a:noFill/>
                </a:ln>
                <a:solidFill>
                  <a:schemeClr val="tx1"/>
                </a:solidFill>
                <a:effectLst/>
                <a:latin typeface="+mj-lt"/>
              </a:rPr>
              <a:t> (Viola 2FN).</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s-CO" altLang="es-CO" sz="2000" b="1" i="0" u="none" strike="noStrike" cap="none" normalizeH="0" baseline="0" dirty="0" err="1">
                <a:ln>
                  <a:noFill/>
                </a:ln>
                <a:solidFill>
                  <a:schemeClr val="tx1"/>
                </a:solidFill>
                <a:effectLst/>
                <a:latin typeface="+mj-lt"/>
              </a:rPr>
              <a:t>Ubicación_Proyecto</a:t>
            </a:r>
            <a:r>
              <a:rPr kumimoji="0" lang="es-CO" altLang="es-CO" sz="2000" b="1" i="0" u="none" strike="noStrike" cap="none" normalizeH="0" baseline="0" dirty="0">
                <a:ln>
                  <a:noFill/>
                </a:ln>
                <a:solidFill>
                  <a:schemeClr val="tx1"/>
                </a:solidFill>
                <a:effectLst/>
                <a:latin typeface="+mj-lt"/>
              </a:rPr>
              <a:t> (“Medellín"):</a:t>
            </a:r>
            <a:r>
              <a:rPr kumimoji="0" lang="es-CO" altLang="es-CO" sz="2000" b="0" i="0" u="none" strike="noStrike" cap="none" normalizeH="0" baseline="0" dirty="0">
                <a:ln>
                  <a:noFill/>
                </a:ln>
                <a:solidFill>
                  <a:schemeClr val="tx1"/>
                </a:solidFill>
                <a:effectLst/>
                <a:latin typeface="+mj-lt"/>
              </a:rPr>
              <a:t> ¿De quién depende? Solo depende de </a:t>
            </a:r>
            <a:r>
              <a:rPr kumimoji="0" lang="es-CO" altLang="es-CO" sz="2000" b="0" i="0" u="none" strike="noStrike" cap="none" normalizeH="0" baseline="0" dirty="0" err="1">
                <a:ln>
                  <a:noFill/>
                </a:ln>
                <a:solidFill>
                  <a:schemeClr val="tx1"/>
                </a:solidFill>
                <a:effectLst/>
                <a:latin typeface="+mj-lt"/>
              </a:rPr>
              <a:t>ID_Proyecto</a:t>
            </a:r>
            <a:r>
              <a:rPr kumimoji="0" lang="es-CO" altLang="es-CO" sz="2000" b="0" i="0" u="none" strike="noStrike" cap="none" normalizeH="0" baseline="0" dirty="0">
                <a:ln>
                  <a:noFill/>
                </a:ln>
                <a:solidFill>
                  <a:schemeClr val="tx1"/>
                </a:solidFill>
                <a:effectLst/>
                <a:latin typeface="+mj-lt"/>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a:t>
            </a:r>
            <a:r>
              <a:rPr kumimoji="0" lang="es-CO" altLang="es-CO" sz="2000" b="1" i="0" u="none" strike="noStrike" cap="none" normalizeH="0" baseline="0" dirty="0">
                <a:ln>
                  <a:noFill/>
                </a:ln>
                <a:solidFill>
                  <a:schemeClr val="tx1"/>
                </a:solidFill>
                <a:effectLst/>
                <a:latin typeface="+mj-lt"/>
              </a:rPr>
              <a:t>Dependencia Parcial</a:t>
            </a:r>
            <a:r>
              <a:rPr kumimoji="0" lang="es-CO" altLang="es-CO" sz="2000" b="0" i="0" u="none" strike="noStrike" cap="none" normalizeH="0" baseline="0" dirty="0">
                <a:ln>
                  <a:noFill/>
                </a:ln>
                <a:solidFill>
                  <a:schemeClr val="tx1"/>
                </a:solidFill>
                <a:effectLst/>
                <a:latin typeface="+mj-lt"/>
              </a:rPr>
              <a:t> (Viola 2FN).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graphicFrame>
        <p:nvGraphicFramePr>
          <p:cNvPr id="12" name="Tabla 11">
            <a:extLst>
              <a:ext uri="{FF2B5EF4-FFF2-40B4-BE49-F238E27FC236}">
                <a16:creationId xmlns:a16="http://schemas.microsoft.com/office/drawing/2014/main" id="{DB970329-D6F9-7473-24D2-5CD5F38F1323}"/>
              </a:ext>
            </a:extLst>
          </p:cNvPr>
          <p:cNvGraphicFramePr>
            <a:graphicFrameLocks noGrp="1"/>
          </p:cNvGraphicFramePr>
          <p:nvPr>
            <p:extLst>
              <p:ext uri="{D42A27DB-BD31-4B8C-83A1-F6EECF244321}">
                <p14:modId xmlns:p14="http://schemas.microsoft.com/office/powerpoint/2010/main" val="3000032370"/>
              </p:ext>
            </p:extLst>
          </p:nvPr>
        </p:nvGraphicFramePr>
        <p:xfrm>
          <a:off x="4689835" y="3751731"/>
          <a:ext cx="9252410" cy="1219200"/>
        </p:xfrm>
        <a:graphic>
          <a:graphicData uri="http://schemas.openxmlformats.org/drawingml/2006/table">
            <a:tbl>
              <a:tblPr/>
              <a:tblGrid>
                <a:gridCol w="1850482">
                  <a:extLst>
                    <a:ext uri="{9D8B030D-6E8A-4147-A177-3AD203B41FA5}">
                      <a16:colId xmlns:a16="http://schemas.microsoft.com/office/drawing/2014/main" val="2114891420"/>
                    </a:ext>
                  </a:extLst>
                </a:gridCol>
                <a:gridCol w="1850482">
                  <a:extLst>
                    <a:ext uri="{9D8B030D-6E8A-4147-A177-3AD203B41FA5}">
                      <a16:colId xmlns:a16="http://schemas.microsoft.com/office/drawing/2014/main" val="3727349511"/>
                    </a:ext>
                  </a:extLst>
                </a:gridCol>
                <a:gridCol w="1850482">
                  <a:extLst>
                    <a:ext uri="{9D8B030D-6E8A-4147-A177-3AD203B41FA5}">
                      <a16:colId xmlns:a16="http://schemas.microsoft.com/office/drawing/2014/main" val="1325162994"/>
                    </a:ext>
                  </a:extLst>
                </a:gridCol>
                <a:gridCol w="1850482">
                  <a:extLst>
                    <a:ext uri="{9D8B030D-6E8A-4147-A177-3AD203B41FA5}">
                      <a16:colId xmlns:a16="http://schemas.microsoft.com/office/drawing/2014/main" val="379980427"/>
                    </a:ext>
                  </a:extLst>
                </a:gridCol>
                <a:gridCol w="1850482">
                  <a:extLst>
                    <a:ext uri="{9D8B030D-6E8A-4147-A177-3AD203B41FA5}">
                      <a16:colId xmlns:a16="http://schemas.microsoft.com/office/drawing/2014/main" val="585435146"/>
                    </a:ext>
                  </a:extLst>
                </a:gridCol>
              </a:tblGrid>
              <a:tr h="0">
                <a:tc>
                  <a:txBody>
                    <a:bodyPr/>
                    <a:lstStyle/>
                    <a:p>
                      <a:pPr>
                        <a:buNone/>
                      </a:pPr>
                      <a:r>
                        <a:rPr lang="es-CO" b="1" dirty="0" err="1">
                          <a:effectLst/>
                          <a:latin typeface="Google Sans Text"/>
                        </a:rPr>
                        <a:t>ID_Empleado</a:t>
                      </a:r>
                      <a:r>
                        <a:rPr lang="es-CO" b="1" dirty="0">
                          <a:effectLst/>
                          <a:latin typeface="Google Sans Text"/>
                        </a:rPr>
                        <a:t> (PK)</a:t>
                      </a:r>
                      <a:endParaRPr lang="es-CO"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ID_Proyecto (PK)</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Horas_Trabajadas</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Nombre_Empleado</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Ubicación_Proyecto</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3152134"/>
                  </a:ext>
                </a:extLst>
              </a:tr>
              <a:tr h="0">
                <a:tc>
                  <a:txBody>
                    <a:bodyPr/>
                    <a:lstStyle/>
                    <a:p>
                      <a:pPr>
                        <a:buNone/>
                      </a:pPr>
                      <a:r>
                        <a:rPr lang="es-CO" b="1">
                          <a:effectLst/>
                          <a:latin typeface="Google Sans Text"/>
                        </a:rPr>
                        <a:t>E01</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dirty="0">
                          <a:effectLst/>
                          <a:latin typeface="Google Sans Text"/>
                        </a:rPr>
                        <a:t>P100</a:t>
                      </a:r>
                      <a:endParaRPr lang="es-CO"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20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Medellín</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55653965"/>
                  </a:ext>
                </a:extLst>
              </a:tr>
              <a:tr h="0">
                <a:tc>
                  <a:txBody>
                    <a:bodyPr/>
                    <a:lstStyle/>
                    <a:p>
                      <a:pPr>
                        <a:buNone/>
                      </a:pPr>
                      <a:r>
                        <a:rPr lang="es-CO" b="1">
                          <a:effectLst/>
                          <a:latin typeface="Google Sans Text"/>
                        </a:rPr>
                        <a:t>E01</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P200</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15</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Bogotá</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97148384"/>
                  </a:ext>
                </a:extLst>
              </a:tr>
              <a:tr h="0">
                <a:tc>
                  <a:txBody>
                    <a:bodyPr/>
                    <a:lstStyle/>
                    <a:p>
                      <a:pPr>
                        <a:buNone/>
                      </a:pPr>
                      <a:r>
                        <a:rPr lang="es-CO" b="1">
                          <a:effectLst/>
                          <a:latin typeface="Google Sans Text"/>
                        </a:rPr>
                        <a:t>E02</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P100</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30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Carlos Ruiz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Medellín</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2422258"/>
                  </a:ext>
                </a:extLst>
              </a:tr>
            </a:tbl>
          </a:graphicData>
        </a:graphic>
      </p:graphicFrame>
    </p:spTree>
    <p:extLst>
      <p:ext uri="{BB962C8B-B14F-4D97-AF65-F5344CB8AC3E}">
        <p14:creationId xmlns:p14="http://schemas.microsoft.com/office/powerpoint/2010/main" val="821207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C46AE-C1DC-9CCC-9A90-E09922C99E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3B2F5F1-28D9-D799-ED70-256CD00C559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B8EDB8C-4C0D-A9E1-C1ED-B75D8F46A3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24C5603-6CC3-1F4F-EDD4-36C7485F189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7258078-5C2B-33E7-0E6A-6C0ED96667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BCB01DA-FE43-EA39-66CB-D78BC2C5512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9A07426-64BC-9EF1-ADD8-9AB94C2FE14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F6A2E42-3BD7-A6E8-1461-77A12E323F1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596A251-6ECC-2B04-B3CF-C20D97E01C1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D22E7A6-09A6-7928-0708-E696D66F7C4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0FDAACB-AE95-4D46-D74D-F523BB80F1A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9AF032B0-2882-62A6-05A8-484A180BE912}"/>
              </a:ext>
            </a:extLst>
          </p:cNvPr>
          <p:cNvSpPr txBox="1"/>
          <p:nvPr/>
        </p:nvSpPr>
        <p:spPr>
          <a:xfrm>
            <a:off x="1850010" y="789525"/>
            <a:ext cx="13487400" cy="7048083"/>
          </a:xfrm>
          <a:prstGeom prst="rect">
            <a:avLst/>
          </a:prstGeom>
          <a:noFill/>
        </p:spPr>
        <p:txBody>
          <a:bodyPr wrap="square">
            <a:spAutoFit/>
          </a:bodyPr>
          <a:lstStyle/>
          <a:p>
            <a:r>
              <a:rPr lang="es-ES" sz="2400" b="1" dirty="0"/>
              <a:t>La Solución: Descomposición</a:t>
            </a:r>
          </a:p>
          <a:p>
            <a:endParaRPr lang="es-ES" sz="1800" b="1" dirty="0"/>
          </a:p>
          <a:p>
            <a:r>
              <a:rPr lang="es-ES" sz="1800" dirty="0"/>
              <a:t>Para arreglar esto y llegar a la 2FN, debemos sacar los datos que dependen parcialmente y ponerlos en sus propias tablas maestras.</a:t>
            </a:r>
          </a:p>
          <a:p>
            <a:endParaRPr lang="es-ES" sz="1800" dirty="0"/>
          </a:p>
          <a:p>
            <a:r>
              <a:rPr lang="es-ES" sz="1800" b="1" dirty="0"/>
              <a:t>Paso 1: Crear tablas para los datos parciales</a:t>
            </a:r>
          </a:p>
          <a:p>
            <a:endParaRPr lang="es-ES" sz="1800" b="1" dirty="0"/>
          </a:p>
          <a:p>
            <a:r>
              <a:rPr lang="es-ES" sz="1800" b="1" dirty="0"/>
              <a:t>Tabla Empleados</a:t>
            </a:r>
            <a:r>
              <a:rPr lang="es-ES" sz="1800" dirty="0"/>
              <a:t> </a:t>
            </a:r>
          </a:p>
          <a:p>
            <a:endParaRPr lang="es-ES" sz="1800" dirty="0"/>
          </a:p>
          <a:p>
            <a:endParaRPr lang="es-ES" sz="1800" dirty="0"/>
          </a:p>
          <a:p>
            <a:endParaRPr lang="es-ES" sz="1800" dirty="0"/>
          </a:p>
          <a:p>
            <a:endParaRPr lang="es-ES" sz="1800" dirty="0"/>
          </a:p>
          <a:p>
            <a:endParaRPr lang="es-ES" sz="1800" dirty="0"/>
          </a:p>
          <a:p>
            <a:endParaRPr lang="es-ES" sz="1800" dirty="0"/>
          </a:p>
          <a:p>
            <a:r>
              <a:rPr lang="es-ES" sz="1800" b="1" dirty="0"/>
              <a:t>Tabla </a:t>
            </a:r>
          </a:p>
          <a:p>
            <a:endParaRPr lang="es-ES" sz="1800" b="1" dirty="0"/>
          </a:p>
          <a:p>
            <a:endParaRPr lang="es-ES" sz="1800" b="1" dirty="0"/>
          </a:p>
          <a:p>
            <a:endParaRPr lang="es-ES" sz="1800" b="1" dirty="0"/>
          </a:p>
          <a:p>
            <a:endParaRPr lang="es-ES" sz="1800" b="1" dirty="0"/>
          </a:p>
          <a:p>
            <a:endParaRPr lang="es-ES" sz="1800" b="1" dirty="0"/>
          </a:p>
          <a:p>
            <a:r>
              <a:rPr lang="es-ES" sz="1800" b="1" dirty="0"/>
              <a:t>Paso 2: Dejar solo la relación en la tabla original</a:t>
            </a:r>
          </a:p>
          <a:p>
            <a:endParaRPr lang="es-ES" sz="1800" b="1" dirty="0"/>
          </a:p>
          <a:p>
            <a:endParaRPr lang="es-ES" sz="1800" b="1" dirty="0"/>
          </a:p>
          <a:p>
            <a:r>
              <a:rPr lang="es-ES" sz="1800" b="1" dirty="0"/>
              <a:t>Tabla Asignaciones</a:t>
            </a:r>
            <a:r>
              <a:rPr lang="es-ES" sz="1800" dirty="0"/>
              <a:t> </a:t>
            </a:r>
          </a:p>
          <a:p>
            <a:endParaRPr lang="es-ES" dirty="0"/>
          </a:p>
        </p:txBody>
      </p:sp>
      <p:graphicFrame>
        <p:nvGraphicFramePr>
          <p:cNvPr id="14" name="Tabla 13">
            <a:extLst>
              <a:ext uri="{FF2B5EF4-FFF2-40B4-BE49-F238E27FC236}">
                <a16:creationId xmlns:a16="http://schemas.microsoft.com/office/drawing/2014/main" id="{3551A2D4-1F77-7F59-66EE-37B6DB623F41}"/>
              </a:ext>
            </a:extLst>
          </p:cNvPr>
          <p:cNvGraphicFramePr>
            <a:graphicFrameLocks noGrp="1"/>
          </p:cNvGraphicFramePr>
          <p:nvPr>
            <p:extLst>
              <p:ext uri="{D42A27DB-BD31-4B8C-83A1-F6EECF244321}">
                <p14:modId xmlns:p14="http://schemas.microsoft.com/office/powerpoint/2010/main" val="2755377236"/>
              </p:ext>
            </p:extLst>
          </p:nvPr>
        </p:nvGraphicFramePr>
        <p:xfrm>
          <a:off x="5029200" y="3440868"/>
          <a:ext cx="8229600" cy="914400"/>
        </p:xfrm>
        <a:graphic>
          <a:graphicData uri="http://schemas.openxmlformats.org/drawingml/2006/table">
            <a:tbl>
              <a:tblPr/>
              <a:tblGrid>
                <a:gridCol w="4114800">
                  <a:extLst>
                    <a:ext uri="{9D8B030D-6E8A-4147-A177-3AD203B41FA5}">
                      <a16:colId xmlns:a16="http://schemas.microsoft.com/office/drawing/2014/main" val="3046116783"/>
                    </a:ext>
                  </a:extLst>
                </a:gridCol>
                <a:gridCol w="4114800">
                  <a:extLst>
                    <a:ext uri="{9D8B030D-6E8A-4147-A177-3AD203B41FA5}">
                      <a16:colId xmlns:a16="http://schemas.microsoft.com/office/drawing/2014/main" val="2954671494"/>
                    </a:ext>
                  </a:extLst>
                </a:gridCol>
              </a:tblGrid>
              <a:tr h="0">
                <a:tc>
                  <a:txBody>
                    <a:bodyPr/>
                    <a:lstStyle/>
                    <a:p>
                      <a:pPr>
                        <a:buNone/>
                      </a:pPr>
                      <a:r>
                        <a:rPr lang="es-CO"/>
                        <a:t>ID_Empleado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Nombre_Empleado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7396953"/>
                  </a:ext>
                </a:extLst>
              </a:tr>
              <a:tr h="0">
                <a:tc>
                  <a:txBody>
                    <a:bodyPr/>
                    <a:lstStyle/>
                    <a:p>
                      <a:pPr>
                        <a:buNone/>
                      </a:pPr>
                      <a:r>
                        <a:rPr lang="es-CO" b="1" dirty="0"/>
                        <a:t>E01</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4811193"/>
                  </a:ext>
                </a:extLst>
              </a:tr>
              <a:tr h="0">
                <a:tc>
                  <a:txBody>
                    <a:bodyPr/>
                    <a:lstStyle/>
                    <a:p>
                      <a:pPr>
                        <a:buNone/>
                      </a:pPr>
                      <a:r>
                        <a:rPr lang="es-CO" b="1"/>
                        <a:t>E02</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0778533"/>
                  </a:ext>
                </a:extLst>
              </a:tr>
            </a:tbl>
          </a:graphicData>
        </a:graphic>
      </p:graphicFrame>
      <p:graphicFrame>
        <p:nvGraphicFramePr>
          <p:cNvPr id="15" name="Tabla 14">
            <a:extLst>
              <a:ext uri="{FF2B5EF4-FFF2-40B4-BE49-F238E27FC236}">
                <a16:creationId xmlns:a16="http://schemas.microsoft.com/office/drawing/2014/main" id="{D2272724-D3D9-86AC-72F9-95015C2FC8F9}"/>
              </a:ext>
            </a:extLst>
          </p:cNvPr>
          <p:cNvGraphicFramePr>
            <a:graphicFrameLocks noGrp="1"/>
          </p:cNvGraphicFramePr>
          <p:nvPr>
            <p:extLst>
              <p:ext uri="{D42A27DB-BD31-4B8C-83A1-F6EECF244321}">
                <p14:modId xmlns:p14="http://schemas.microsoft.com/office/powerpoint/2010/main" val="2698142264"/>
              </p:ext>
            </p:extLst>
          </p:nvPr>
        </p:nvGraphicFramePr>
        <p:xfrm>
          <a:off x="5029200" y="5182038"/>
          <a:ext cx="8229600" cy="914400"/>
        </p:xfrm>
        <a:graphic>
          <a:graphicData uri="http://schemas.openxmlformats.org/drawingml/2006/table">
            <a:tbl>
              <a:tblPr/>
              <a:tblGrid>
                <a:gridCol w="4114800">
                  <a:extLst>
                    <a:ext uri="{9D8B030D-6E8A-4147-A177-3AD203B41FA5}">
                      <a16:colId xmlns:a16="http://schemas.microsoft.com/office/drawing/2014/main" val="3583702817"/>
                    </a:ext>
                  </a:extLst>
                </a:gridCol>
                <a:gridCol w="4114800">
                  <a:extLst>
                    <a:ext uri="{9D8B030D-6E8A-4147-A177-3AD203B41FA5}">
                      <a16:colId xmlns:a16="http://schemas.microsoft.com/office/drawing/2014/main" val="175654917"/>
                    </a:ext>
                  </a:extLst>
                </a:gridCol>
              </a:tblGrid>
              <a:tr h="0">
                <a:tc>
                  <a:txBody>
                    <a:bodyPr/>
                    <a:lstStyle/>
                    <a:p>
                      <a:pPr>
                        <a:buNone/>
                      </a:pPr>
                      <a:r>
                        <a:rPr lang="es-CO"/>
                        <a:t>ID_Proyecto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Ubicación_Proyecto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36022882"/>
                  </a:ext>
                </a:extLst>
              </a:tr>
              <a:tr h="0">
                <a:tc>
                  <a:txBody>
                    <a:bodyPr/>
                    <a:lstStyle/>
                    <a:p>
                      <a:pPr>
                        <a:buNone/>
                      </a:pPr>
                      <a:r>
                        <a:rPr lang="es-CO" b="1" dirty="0"/>
                        <a:t>P100</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6167151"/>
                  </a:ext>
                </a:extLst>
              </a:tr>
              <a:tr h="0">
                <a:tc>
                  <a:txBody>
                    <a:bodyPr/>
                    <a:lstStyle/>
                    <a:p>
                      <a:pPr>
                        <a:buNone/>
                      </a:pPr>
                      <a:r>
                        <a:rPr lang="es-CO" b="1"/>
                        <a:t>P200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836112"/>
                  </a:ext>
                </a:extLst>
              </a:tr>
            </a:tbl>
          </a:graphicData>
        </a:graphic>
      </p:graphicFrame>
      <p:graphicFrame>
        <p:nvGraphicFramePr>
          <p:cNvPr id="16" name="Tabla 15">
            <a:extLst>
              <a:ext uri="{FF2B5EF4-FFF2-40B4-BE49-F238E27FC236}">
                <a16:creationId xmlns:a16="http://schemas.microsoft.com/office/drawing/2014/main" id="{C9EFA6F8-CE3D-0274-25E4-0505E88229E9}"/>
              </a:ext>
            </a:extLst>
          </p:cNvPr>
          <p:cNvGraphicFramePr>
            <a:graphicFrameLocks noGrp="1"/>
          </p:cNvGraphicFramePr>
          <p:nvPr>
            <p:extLst>
              <p:ext uri="{D42A27DB-BD31-4B8C-83A1-F6EECF244321}">
                <p14:modId xmlns:p14="http://schemas.microsoft.com/office/powerpoint/2010/main" val="336750132"/>
              </p:ext>
            </p:extLst>
          </p:nvPr>
        </p:nvGraphicFramePr>
        <p:xfrm>
          <a:off x="5029200" y="8278275"/>
          <a:ext cx="8229600" cy="1219200"/>
        </p:xfrm>
        <a:graphic>
          <a:graphicData uri="http://schemas.openxmlformats.org/drawingml/2006/table">
            <a:tbl>
              <a:tblPr/>
              <a:tblGrid>
                <a:gridCol w="2743200">
                  <a:extLst>
                    <a:ext uri="{9D8B030D-6E8A-4147-A177-3AD203B41FA5}">
                      <a16:colId xmlns:a16="http://schemas.microsoft.com/office/drawing/2014/main" val="2227760292"/>
                    </a:ext>
                  </a:extLst>
                </a:gridCol>
                <a:gridCol w="2743200">
                  <a:extLst>
                    <a:ext uri="{9D8B030D-6E8A-4147-A177-3AD203B41FA5}">
                      <a16:colId xmlns:a16="http://schemas.microsoft.com/office/drawing/2014/main" val="3473897506"/>
                    </a:ext>
                  </a:extLst>
                </a:gridCol>
                <a:gridCol w="2743200">
                  <a:extLst>
                    <a:ext uri="{9D8B030D-6E8A-4147-A177-3AD203B41FA5}">
                      <a16:colId xmlns:a16="http://schemas.microsoft.com/office/drawing/2014/main" val="4059883850"/>
                    </a:ext>
                  </a:extLst>
                </a:gridCol>
              </a:tblGrid>
              <a:tr h="0">
                <a:tc>
                  <a:txBody>
                    <a:bodyPr/>
                    <a:lstStyle/>
                    <a:p>
                      <a:pPr>
                        <a:buNone/>
                      </a:pPr>
                      <a:r>
                        <a:rPr lang="es-CO"/>
                        <a:t>ID_Empleado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ID_Proyecto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Horas_Trabajadas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52507763"/>
                  </a:ext>
                </a:extLst>
              </a:tr>
              <a:tr h="0">
                <a:tc>
                  <a:txBody>
                    <a:bodyPr/>
                    <a:lstStyle/>
                    <a:p>
                      <a:pPr>
                        <a:buNone/>
                      </a:pPr>
                      <a:r>
                        <a:rPr lang="es-CO" b="1" dirty="0"/>
                        <a:t>E01</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dirty="0"/>
                        <a:t>P100</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8144121"/>
                  </a:ext>
                </a:extLst>
              </a:tr>
              <a:tr h="0">
                <a:tc>
                  <a:txBody>
                    <a:bodyPr/>
                    <a:lstStyle/>
                    <a:p>
                      <a:pPr>
                        <a:buNone/>
                      </a:pPr>
                      <a:r>
                        <a:rPr lang="es-CO" b="1"/>
                        <a:t>E01</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t>P200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3442479"/>
                  </a:ext>
                </a:extLst>
              </a:tr>
              <a:tr h="0">
                <a:tc>
                  <a:txBody>
                    <a:bodyPr/>
                    <a:lstStyle/>
                    <a:p>
                      <a:pPr>
                        <a:buNone/>
                      </a:pPr>
                      <a:r>
                        <a:rPr lang="es-CO" b="1"/>
                        <a:t>E02</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t>P100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96056089"/>
                  </a:ext>
                </a:extLst>
              </a:tr>
            </a:tbl>
          </a:graphicData>
        </a:graphic>
      </p:graphicFrame>
    </p:spTree>
    <p:extLst>
      <p:ext uri="{BB962C8B-B14F-4D97-AF65-F5344CB8AC3E}">
        <p14:creationId xmlns:p14="http://schemas.microsoft.com/office/powerpoint/2010/main" val="24191543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C825B-3127-110F-8D97-70FC54B94E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FD4352-85F5-B126-01FC-AEF921E44EE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38F8470-DE8D-30CD-6FA7-7636E5D6EB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C0A44FF-1406-20A9-2ED8-A1C43F12E86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F41DA2F-260A-4F48-65BD-78CB66899CB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9F564D1-C503-F7AD-3673-3916079B366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5BCA03E-543D-B075-6AD0-810346578A2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23C9DDD-ABA0-8D95-4299-2B79C5A021A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75F064D-FE3E-B558-3FCE-4906361E2E1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F9E944E-6D3F-C014-2E04-E69484ABB77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C5DC613-4F41-021C-F006-B203EF11DB0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C0DA33C-6DF2-495F-929B-D0348C758F53}"/>
              </a:ext>
            </a:extLst>
          </p:cNvPr>
          <p:cNvSpPr txBox="1"/>
          <p:nvPr/>
        </p:nvSpPr>
        <p:spPr>
          <a:xfrm>
            <a:off x="1452512" y="1798234"/>
            <a:ext cx="15768687" cy="5693866"/>
          </a:xfrm>
          <a:prstGeom prst="rect">
            <a:avLst/>
          </a:prstGeom>
          <a:noFill/>
        </p:spPr>
        <p:txBody>
          <a:bodyPr wrap="square">
            <a:spAutoFit/>
          </a:bodyPr>
          <a:lstStyle/>
          <a:p>
            <a:pPr>
              <a:buNone/>
            </a:pPr>
            <a:r>
              <a:rPr lang="es-ES" sz="2800" b="1" dirty="0"/>
              <a:t>¿Por qué hacemos esto? (El Beneficio Real)</a:t>
            </a:r>
          </a:p>
          <a:p>
            <a:pPr>
              <a:buNone/>
            </a:pPr>
            <a:endParaRPr lang="es-ES" sz="2800" b="1" dirty="0"/>
          </a:p>
          <a:p>
            <a:pPr>
              <a:buNone/>
            </a:pPr>
            <a:r>
              <a:rPr lang="es-ES" sz="2800" dirty="0"/>
              <a:t>Si no aplicamos la 2FN en el ejemplo anterior, ocurrirían estas </a:t>
            </a:r>
            <a:r>
              <a:rPr lang="es-ES" sz="2800" b="1" dirty="0"/>
              <a:t>anomalías</a:t>
            </a:r>
            <a:r>
              <a:rPr lang="es-ES" sz="2800" dirty="0"/>
              <a:t>:</a:t>
            </a:r>
          </a:p>
          <a:p>
            <a:pPr>
              <a:buNone/>
            </a:pPr>
            <a:endParaRPr lang="es-ES" sz="2800" dirty="0"/>
          </a:p>
          <a:p>
            <a:pPr marL="457200" indent="-457200">
              <a:buFont typeface="Arial" panose="020B0604020202020204" pitchFamily="34" charset="0"/>
              <a:buChar char="•"/>
            </a:pPr>
            <a:r>
              <a:rPr lang="es-ES" sz="2800" b="1" dirty="0"/>
              <a:t>Anomalía de Inserción:</a:t>
            </a:r>
            <a:r>
              <a:rPr lang="es-ES" sz="2800" dirty="0"/>
              <a:t> No podrías dar de alta un nuevo proyecto (</a:t>
            </a:r>
            <a:r>
              <a:rPr lang="es-ES" sz="2800" dirty="0" err="1"/>
              <a:t>ej</a:t>
            </a:r>
            <a:r>
              <a:rPr lang="es-ES" sz="2800" dirty="0"/>
              <a:t>: "P300 - Hila") a menos que ya tengas un empleado asignado a él, porque la llave primaria requiere un </a:t>
            </a:r>
            <a:r>
              <a:rPr lang="es-ES" sz="2800" dirty="0" err="1">
                <a:latin typeface="Courier New" panose="02070309020205020404" pitchFamily="49" charset="0"/>
              </a:rPr>
              <a:t>ID_Empleado</a:t>
            </a:r>
            <a:r>
              <a:rPr lang="es-ES" sz="2800" dirty="0"/>
              <a:t>.</a:t>
            </a:r>
          </a:p>
          <a:p>
            <a:pPr marL="457200" indent="-457200">
              <a:buFont typeface="Arial" panose="020B0604020202020204" pitchFamily="34" charset="0"/>
              <a:buChar char="•"/>
            </a:pPr>
            <a:endParaRPr lang="es-ES" sz="2800" dirty="0"/>
          </a:p>
          <a:p>
            <a:pPr marL="457200" indent="-457200">
              <a:buFont typeface="Arial" panose="020B0604020202020204" pitchFamily="34" charset="0"/>
              <a:buChar char="•"/>
            </a:pPr>
            <a:r>
              <a:rPr lang="es-ES" sz="2800" b="1" dirty="0"/>
              <a:t>Anomalía de Modificación:</a:t>
            </a:r>
            <a:r>
              <a:rPr lang="es-ES" sz="2800" dirty="0"/>
              <a:t> Si "P100" se muda de Medellín a Pasto, tendrías que actualizar cientos de filas (una por cada empleado en ese proyecto). Si se te olvida una, tendrás datos inconsistentes.</a:t>
            </a:r>
          </a:p>
          <a:p>
            <a:pPr marL="457200" indent="-457200">
              <a:buFont typeface="Arial" panose="020B0604020202020204" pitchFamily="34" charset="0"/>
              <a:buChar char="•"/>
            </a:pPr>
            <a:endParaRPr lang="es-ES" sz="2800" dirty="0"/>
          </a:p>
          <a:p>
            <a:pPr marL="457200" indent="-457200">
              <a:buFont typeface="Arial" panose="020B0604020202020204" pitchFamily="34" charset="0"/>
              <a:buChar char="•"/>
            </a:pPr>
            <a:r>
              <a:rPr lang="es-ES" sz="2800" b="1" dirty="0"/>
              <a:t>Anomalía de Borrado:</a:t>
            </a:r>
            <a:r>
              <a:rPr lang="es-ES" sz="2800" dirty="0"/>
              <a:t> Si Ana (E01) es la única empleada en el proyecto P200 y la borramos, perdemos también la información de que el proyecto P200 existe y está en Barranquilla.</a:t>
            </a:r>
          </a:p>
        </p:txBody>
      </p:sp>
    </p:spTree>
    <p:extLst>
      <p:ext uri="{BB962C8B-B14F-4D97-AF65-F5344CB8AC3E}">
        <p14:creationId xmlns:p14="http://schemas.microsoft.com/office/powerpoint/2010/main" val="64546587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A8332-2662-525E-BA82-7A32A7993C5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CAD7DE-8EF0-71A9-CFFF-55E472B074E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5D62B94-F7DE-4132-09BB-18CDCF9B426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DBF9607-B103-5C69-F1DA-D8567839966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EF16927-AA52-47E8-420E-C2A3189F1A1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E1420D9-D69D-7655-72ED-8477AED89D5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25B63D-41BD-08DF-1A99-77FBE16CF12C}"/>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CECC362-42BD-B4D8-E5E6-B0119E3588D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421E14B-FD1A-09B6-D134-812DBD61778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3CB418C-2AF0-6F01-7DDA-D09C8922F8F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E446CC5-EF66-7C63-515A-3F248585534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Rectangle 1">
            <a:extLst>
              <a:ext uri="{FF2B5EF4-FFF2-40B4-BE49-F238E27FC236}">
                <a16:creationId xmlns:a16="http://schemas.microsoft.com/office/drawing/2014/main" id="{D085BD28-6F74-2E48-6C75-B871B0444A24}"/>
              </a:ext>
            </a:extLst>
          </p:cNvPr>
          <p:cNvSpPr>
            <a:spLocks noChangeArrowheads="1"/>
          </p:cNvSpPr>
          <p:nvPr/>
        </p:nvSpPr>
        <p:spPr bwMode="auto">
          <a:xfrm>
            <a:off x="1611984" y="1172510"/>
            <a:ext cx="15271422" cy="7371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mj-lt"/>
              </a:rPr>
              <a:t>Tercera Forma Normal: Dependencia Transitiva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Para que una tabla esté en 3FN, debe cumplir dos requisitos: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800" b="1" i="0" u="none" strike="noStrike" cap="none" normalizeH="0" baseline="0" dirty="0">
                <a:ln>
                  <a:noFill/>
                </a:ln>
                <a:solidFill>
                  <a:schemeClr val="tx1"/>
                </a:solidFill>
                <a:effectLst/>
                <a:latin typeface="+mj-lt"/>
              </a:rPr>
              <a:t>Ya debe estar en 2FN.</a:t>
            </a:r>
          </a:p>
          <a:p>
            <a:pPr marL="0" marR="0" lvl="0" indent="0" algn="l" defTabSz="914400" rtl="0" eaLnBrk="0" fontAlgn="base" latinLnBrk="0" hangingPunct="0">
              <a:lnSpc>
                <a:spcPct val="100000"/>
              </a:lnSpc>
              <a:spcBef>
                <a:spcPct val="0"/>
              </a:spcBef>
              <a:spcAft>
                <a:spcPct val="0"/>
              </a:spcAft>
              <a:buClrTx/>
              <a:buSzTx/>
              <a:buFontTx/>
              <a:buAutoNum type="arabicPeriod"/>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800" b="1" i="0" u="none" strike="noStrike" cap="none" normalizeH="0" baseline="0" dirty="0">
                <a:ln>
                  <a:noFill/>
                </a:ln>
                <a:solidFill>
                  <a:schemeClr val="tx1"/>
                </a:solidFill>
                <a:effectLst/>
                <a:latin typeface="+mj-lt"/>
              </a:rPr>
              <a:t>No debe haber Dependencias Transitivas.</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¿Qué es una Dependencia Transitiva?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Ocurre cuando una columna que no es llave depende de otra columna que tampoco es llave.</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Es como el juego del "teléfono roto": El dato C depende del dato B, y el dato B depende de la llave A. (A -&gt;B -&gt;C).</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800"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mj-lt"/>
              </a:rPr>
              <a:t>La Regla de Oro (3FN):</a:t>
            </a:r>
            <a:r>
              <a:rPr kumimoji="0" lang="es-CO" altLang="es-CO" sz="2800" b="0" i="0" u="none" strike="noStrike" cap="none" normalizeH="0" baseline="0" dirty="0">
                <a:ln>
                  <a:noFill/>
                </a:ln>
                <a:solidFill>
                  <a:schemeClr val="tx1"/>
                </a:solidFill>
                <a:effectLst/>
                <a:latin typeface="+mj-lt"/>
              </a:rPr>
              <a:t> "Ninguna columna debe depender de algo que no sea la llave primaria".</a:t>
            </a:r>
          </a:p>
        </p:txBody>
      </p:sp>
    </p:spTree>
    <p:extLst>
      <p:ext uri="{BB962C8B-B14F-4D97-AF65-F5344CB8AC3E}">
        <p14:creationId xmlns:p14="http://schemas.microsoft.com/office/powerpoint/2010/main" val="307143221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7464B-6AEB-1B66-B47D-A4DD420CD4F2}"/>
            </a:ext>
          </a:extLst>
        </p:cNvPr>
        <p:cNvGrpSpPr/>
        <p:nvPr/>
      </p:nvGrpSpPr>
      <p:grpSpPr>
        <a:xfrm>
          <a:off x="0" y="0"/>
          <a:ext cx="0" cy="0"/>
          <a:chOff x="0" y="0"/>
          <a:chExt cx="0" cy="0"/>
        </a:xfrm>
      </p:grpSpPr>
      <p:sp>
        <p:nvSpPr>
          <p:cNvPr id="13" name="Rectangle 1">
            <a:extLst>
              <a:ext uri="{FF2B5EF4-FFF2-40B4-BE49-F238E27FC236}">
                <a16:creationId xmlns:a16="http://schemas.microsoft.com/office/drawing/2014/main" id="{11B6B935-7B74-0A72-4B4F-916DCE8DB0E9}"/>
              </a:ext>
            </a:extLst>
          </p:cNvPr>
          <p:cNvSpPr>
            <a:spLocks noChangeArrowheads="1"/>
          </p:cNvSpPr>
          <p:nvPr/>
        </p:nvSpPr>
        <p:spPr bwMode="auto">
          <a:xfrm>
            <a:off x="1282045" y="877243"/>
            <a:ext cx="16332916" cy="877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Caso de Estudio: Empleados y sus Oficinas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j-lt"/>
              </a:rPr>
              <a:t>Imagina que tenemos una tabla de empleados donde registramos en qué oficina trabajan y el teléfono de esa oficina.</a:t>
            </a: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La Tabla Incorrecta (Viola la 3FN)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El Análisis del Problema:</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400" b="1" i="0" u="none" strike="noStrike" cap="none" normalizeH="0" baseline="0" dirty="0">
                <a:ln>
                  <a:noFill/>
                </a:ln>
                <a:solidFill>
                  <a:schemeClr val="tx1"/>
                </a:solidFill>
                <a:effectLst/>
                <a:latin typeface="+mj-lt"/>
              </a:rPr>
              <a:t>Nombre:</a:t>
            </a:r>
            <a:r>
              <a:rPr kumimoji="0" lang="es-CO" altLang="es-CO" sz="2400" b="0" i="0" u="none" strike="noStrike" cap="none" normalizeH="0" baseline="0" dirty="0">
                <a:ln>
                  <a:noFill/>
                </a:ln>
                <a:solidFill>
                  <a:schemeClr val="tx1"/>
                </a:solidFill>
                <a:effectLst/>
                <a:latin typeface="+mj-lt"/>
              </a:rPr>
              <a:t> Depende de </a:t>
            </a:r>
            <a:r>
              <a:rPr kumimoji="0" lang="es-CO" altLang="es-CO" sz="2400" b="0" i="0" u="none" strike="noStrike" cap="none" normalizeH="0" baseline="0" dirty="0" err="1">
                <a:ln>
                  <a:noFill/>
                </a:ln>
                <a:solidFill>
                  <a:schemeClr val="tx1"/>
                </a:solidFill>
                <a:effectLst/>
                <a:latin typeface="+mj-lt"/>
              </a:rPr>
              <a:t>ID_Empleado</a:t>
            </a:r>
            <a:r>
              <a:rPr kumimoji="0" lang="es-CO" altLang="es-CO" sz="2400" b="0" i="0" u="none" strike="noStrike" cap="none" normalizeH="0" baseline="0" dirty="0">
                <a:ln>
                  <a:noFill/>
                </a:ln>
                <a:solidFill>
                  <a:schemeClr val="tx1"/>
                </a:solidFill>
                <a:effectLst/>
                <a:latin typeface="+mj-lt"/>
              </a:rPr>
              <a:t>. (Si buscas E01, obtienes Ana). </a:t>
            </a:r>
            <a:r>
              <a:rPr kumimoji="0" lang="es-CO" altLang="es-CO" sz="2400" b="1" i="0" u="none" strike="noStrike" cap="none" normalizeH="0" baseline="0" dirty="0">
                <a:ln>
                  <a:noFill/>
                </a:ln>
                <a:solidFill>
                  <a:schemeClr val="tx1"/>
                </a:solidFill>
                <a:effectLst/>
                <a:latin typeface="+mj-lt"/>
              </a:rPr>
              <a:t>Correcto</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AutoNum type="arabicPeriod"/>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400" b="1" i="0" u="none" strike="noStrike" cap="none" normalizeH="0" baseline="0" dirty="0" err="1">
                <a:ln>
                  <a:noFill/>
                </a:ln>
                <a:solidFill>
                  <a:schemeClr val="tx1"/>
                </a:solidFill>
                <a:effectLst/>
                <a:latin typeface="+mj-lt"/>
              </a:rPr>
              <a:t>ID_Oficina</a:t>
            </a:r>
            <a:r>
              <a:rPr kumimoji="0" lang="es-CO" altLang="es-CO" sz="2400" b="1" i="0" u="none" strike="noStrike" cap="none" normalizeH="0" baseline="0" dirty="0">
                <a:ln>
                  <a:noFill/>
                </a:ln>
                <a:solidFill>
                  <a:schemeClr val="tx1"/>
                </a:solidFill>
                <a:effectLst/>
                <a:latin typeface="+mj-lt"/>
              </a:rPr>
              <a:t>:</a:t>
            </a:r>
            <a:r>
              <a:rPr kumimoji="0" lang="es-CO" altLang="es-CO" sz="2400" b="0" i="0" u="none" strike="noStrike" cap="none" normalizeH="0" baseline="0" dirty="0">
                <a:ln>
                  <a:noFill/>
                </a:ln>
                <a:solidFill>
                  <a:schemeClr val="tx1"/>
                </a:solidFill>
                <a:effectLst/>
                <a:latin typeface="+mj-lt"/>
              </a:rPr>
              <a:t> Depende de </a:t>
            </a:r>
            <a:r>
              <a:rPr kumimoji="0" lang="es-CO" altLang="es-CO" sz="2400" b="0" i="0" u="none" strike="noStrike" cap="none" normalizeH="0" baseline="0" dirty="0" err="1">
                <a:ln>
                  <a:noFill/>
                </a:ln>
                <a:solidFill>
                  <a:schemeClr val="tx1"/>
                </a:solidFill>
                <a:effectLst/>
                <a:latin typeface="+mj-lt"/>
              </a:rPr>
              <a:t>ID_Empleado</a:t>
            </a:r>
            <a:r>
              <a:rPr kumimoji="0" lang="es-CO" altLang="es-CO" sz="2400" b="0" i="0" u="none" strike="noStrike" cap="none" normalizeH="0" baseline="0" dirty="0">
                <a:ln>
                  <a:noFill/>
                </a:ln>
                <a:solidFill>
                  <a:schemeClr val="tx1"/>
                </a:solidFill>
                <a:effectLst/>
                <a:latin typeface="+mj-lt"/>
              </a:rPr>
              <a:t>. (Ana está asignada a la oficina OF-10). </a:t>
            </a:r>
            <a:r>
              <a:rPr kumimoji="0" lang="es-CO" altLang="es-CO" sz="2400" b="1" i="0" u="none" strike="noStrike" cap="none" normalizeH="0" baseline="0" dirty="0">
                <a:ln>
                  <a:noFill/>
                </a:ln>
                <a:solidFill>
                  <a:schemeClr val="tx1"/>
                </a:solidFill>
                <a:effectLst/>
                <a:latin typeface="+mj-lt"/>
              </a:rPr>
              <a:t>Correcto</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s-CO" altLang="es-CO" sz="2400" b="1" i="0" u="none" strike="noStrike" cap="none" normalizeH="0" baseline="0" dirty="0" err="1">
                <a:ln>
                  <a:noFill/>
                </a:ln>
                <a:solidFill>
                  <a:schemeClr val="tx1"/>
                </a:solidFill>
                <a:effectLst/>
                <a:latin typeface="+mj-lt"/>
              </a:rPr>
              <a:t>Ciudad_Oficina</a:t>
            </a:r>
            <a:r>
              <a:rPr kumimoji="0" lang="es-CO" altLang="es-CO" sz="2400" b="1" i="0" u="none" strike="noStrike" cap="none" normalizeH="0" baseline="0" dirty="0">
                <a:ln>
                  <a:noFill/>
                </a:ln>
                <a:solidFill>
                  <a:schemeClr val="tx1"/>
                </a:solidFill>
                <a:effectLst/>
                <a:latin typeface="+mj-lt"/>
              </a:rPr>
              <a:t> (“Bogotá"):</a:t>
            </a:r>
            <a:r>
              <a:rPr kumimoji="0" lang="es-CO" altLang="es-CO" sz="2400" b="0" i="0" u="none" strike="noStrike" cap="none" normalizeH="0" baseline="0" dirty="0">
                <a:ln>
                  <a:noFill/>
                </a:ln>
                <a:solidFill>
                  <a:schemeClr val="tx1"/>
                </a:solidFill>
                <a:effectLst/>
                <a:latin typeface="+mj-lt"/>
              </a:rPr>
              <a:t> Aquí está el error.</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400" b="0" i="0" u="none" strike="noStrike" cap="none" normalizeH="0" baseline="0" dirty="0">
                <a:ln>
                  <a:noFill/>
                </a:ln>
                <a:solidFill>
                  <a:schemeClr val="tx1"/>
                </a:solidFill>
                <a:effectLst/>
                <a:latin typeface="+mj-lt"/>
              </a:rPr>
              <a:t>La ciudad </a:t>
            </a:r>
            <a:r>
              <a:rPr kumimoji="0" lang="es-CO" altLang="es-CO" sz="2400" b="0" i="1" u="none" strike="noStrike" cap="none" normalizeH="0" baseline="0" dirty="0">
                <a:ln>
                  <a:noFill/>
                </a:ln>
                <a:solidFill>
                  <a:schemeClr val="tx1"/>
                </a:solidFill>
                <a:effectLst/>
                <a:latin typeface="+mj-lt"/>
              </a:rPr>
              <a:t>realmente</a:t>
            </a:r>
            <a:r>
              <a:rPr kumimoji="0" lang="es-CO" altLang="es-CO" sz="2400" b="0" i="0" u="none" strike="noStrike" cap="none" normalizeH="0" baseline="0" dirty="0">
                <a:ln>
                  <a:noFill/>
                </a:ln>
                <a:solidFill>
                  <a:schemeClr val="tx1"/>
                </a:solidFill>
                <a:effectLst/>
                <a:latin typeface="+mj-lt"/>
              </a:rPr>
              <a:t> depende del </a:t>
            </a:r>
            <a:r>
              <a:rPr kumimoji="0" lang="es-CO" altLang="es-CO" sz="2400" b="0" i="0" u="none" strike="noStrike" cap="none" normalizeH="0" baseline="0" dirty="0" err="1">
                <a:ln>
                  <a:noFill/>
                </a:ln>
                <a:solidFill>
                  <a:schemeClr val="tx1"/>
                </a:solidFill>
                <a:effectLst/>
                <a:latin typeface="+mj-lt"/>
              </a:rPr>
              <a:t>ID_Oficina</a:t>
            </a:r>
            <a:r>
              <a:rPr kumimoji="0" lang="es-CO" altLang="es-CO" sz="2400" b="0" i="0" u="none" strike="noStrike" cap="none" normalizeH="0" baseline="0" dirty="0">
                <a:ln>
                  <a:noFill/>
                </a:ln>
                <a:solidFill>
                  <a:schemeClr val="tx1"/>
                </a:solidFill>
                <a:effectLst/>
                <a:latin typeface="+mj-lt"/>
              </a:rPr>
              <a:t>.</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400" b="0" i="0" u="none" strike="noStrike" cap="none" normalizeH="0" baseline="0" dirty="0">
                <a:ln>
                  <a:noFill/>
                </a:ln>
                <a:solidFill>
                  <a:schemeClr val="tx1"/>
                </a:solidFill>
                <a:effectLst/>
                <a:latin typeface="+mj-lt"/>
              </a:rPr>
              <a:t>No depende directamente del empleado. Si la oficina OF-10 se muda a Toledo, todos los empleados cambian de ciudad, aunque ellos no se hayan movido.</a:t>
            </a:r>
          </a:p>
          <a:p>
            <a:pPr marL="800100" lvl="1" indent="-342900" eaLnBrk="0" fontAlgn="base" hangingPunct="0">
              <a:spcBef>
                <a:spcPct val="0"/>
              </a:spcBef>
              <a:spcAft>
                <a:spcPct val="0"/>
              </a:spcAft>
              <a:buClrTx/>
              <a:buFont typeface="Arial" panose="020B0604020202020204" pitchFamily="34" charset="0"/>
              <a:buChar char="•"/>
            </a:pPr>
            <a:r>
              <a:rPr kumimoji="0" lang="es-CO" altLang="es-CO" sz="2400" b="1" i="0" u="none" strike="noStrike" cap="none" normalizeH="0" baseline="0" dirty="0">
                <a:ln>
                  <a:noFill/>
                </a:ln>
                <a:solidFill>
                  <a:schemeClr val="tx1"/>
                </a:solidFill>
                <a:effectLst/>
                <a:latin typeface="+mj-lt"/>
              </a:rPr>
              <a:t>Ruta:</a:t>
            </a:r>
            <a:r>
              <a:rPr kumimoji="0" lang="es-CO" altLang="es-CO" sz="2400" b="0" i="0" u="none" strike="noStrike" cap="none" normalizeH="0" baseline="0" dirty="0">
                <a:ln>
                  <a:noFill/>
                </a:ln>
                <a:solidFill>
                  <a:schemeClr val="tx1"/>
                </a:solidFill>
                <a:effectLst/>
                <a:latin typeface="+mj-lt"/>
              </a:rPr>
              <a:t> Empleado -&gt; Oficina </a:t>
            </a:r>
            <a:r>
              <a:rPr lang="es-CO" altLang="es-CO" sz="2400" dirty="0">
                <a:solidFill>
                  <a:schemeClr val="tx1"/>
                </a:solidFill>
              </a:rPr>
              <a:t>-&gt; </a:t>
            </a:r>
            <a:r>
              <a:rPr kumimoji="0" lang="es-CO" altLang="es-CO" sz="2400" b="0" i="0" u="none" strike="noStrike" cap="none" normalizeH="0" baseline="0" dirty="0">
                <a:ln>
                  <a:noFill/>
                </a:ln>
                <a:solidFill>
                  <a:schemeClr val="tx1"/>
                </a:solidFill>
                <a:effectLst/>
                <a:latin typeface="+mj-lt"/>
              </a:rPr>
              <a:t>Ciudad. (Esto es transitivo).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sp>
        <p:nvSpPr>
          <p:cNvPr id="2" name="Freeform 2">
            <a:extLst>
              <a:ext uri="{FF2B5EF4-FFF2-40B4-BE49-F238E27FC236}">
                <a16:creationId xmlns:a16="http://schemas.microsoft.com/office/drawing/2014/main" id="{81876B5D-2F5F-F3F1-98F3-8AFE9948A5D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F6161457-1CC5-16DC-3C2D-34273A368B6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88FC7DDD-DD6F-EACC-96A0-4E871BAB28E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2DD3CA1-7618-19DA-67B7-777D15B82C2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9983A3C-5F89-752D-3F47-408B9246797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F3A8969-FC27-74C3-C046-8E544CFC8B6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9539A31-D6C8-E1E2-3694-2B2A81A2402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AAC97C2-E4A9-034C-0037-C59091438EF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7E11487-42F6-CE83-3C51-E69A127BEB0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7C6EF34-4562-55AD-7BCC-5CF17DCD74FC}"/>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AF548108-130B-6DBD-F772-EF1BE0F32EA9}"/>
              </a:ext>
            </a:extLst>
          </p:cNvPr>
          <p:cNvGraphicFramePr>
            <a:graphicFrameLocks noGrp="1"/>
          </p:cNvGraphicFramePr>
          <p:nvPr>
            <p:extLst>
              <p:ext uri="{D42A27DB-BD31-4B8C-83A1-F6EECF244321}">
                <p14:modId xmlns:p14="http://schemas.microsoft.com/office/powerpoint/2010/main" val="223040567"/>
              </p:ext>
            </p:extLst>
          </p:nvPr>
        </p:nvGraphicFramePr>
        <p:xfrm>
          <a:off x="4680409" y="3442118"/>
          <a:ext cx="8229600" cy="1341120"/>
        </p:xfrm>
        <a:graphic>
          <a:graphicData uri="http://schemas.openxmlformats.org/drawingml/2006/table">
            <a:tbl>
              <a:tblPr/>
              <a:tblGrid>
                <a:gridCol w="2057400">
                  <a:extLst>
                    <a:ext uri="{9D8B030D-6E8A-4147-A177-3AD203B41FA5}">
                      <a16:colId xmlns:a16="http://schemas.microsoft.com/office/drawing/2014/main" val="1181400834"/>
                    </a:ext>
                  </a:extLst>
                </a:gridCol>
                <a:gridCol w="2057400">
                  <a:extLst>
                    <a:ext uri="{9D8B030D-6E8A-4147-A177-3AD203B41FA5}">
                      <a16:colId xmlns:a16="http://schemas.microsoft.com/office/drawing/2014/main" val="2088237476"/>
                    </a:ext>
                  </a:extLst>
                </a:gridCol>
                <a:gridCol w="2057400">
                  <a:extLst>
                    <a:ext uri="{9D8B030D-6E8A-4147-A177-3AD203B41FA5}">
                      <a16:colId xmlns:a16="http://schemas.microsoft.com/office/drawing/2014/main" val="793564723"/>
                    </a:ext>
                  </a:extLst>
                </a:gridCol>
                <a:gridCol w="2057400">
                  <a:extLst>
                    <a:ext uri="{9D8B030D-6E8A-4147-A177-3AD203B41FA5}">
                      <a16:colId xmlns:a16="http://schemas.microsoft.com/office/drawing/2014/main" val="146622305"/>
                    </a:ext>
                  </a:extLst>
                </a:gridCol>
              </a:tblGrid>
              <a:tr h="0">
                <a:tc>
                  <a:txBody>
                    <a:bodyPr/>
                    <a:lstStyle/>
                    <a:p>
                      <a:pPr>
                        <a:buNone/>
                      </a:pPr>
                      <a:r>
                        <a:rPr lang="es-CO" sz="1600"/>
                        <a:t>D_Empleado (PK)</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Nombre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ID_Oficina</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Ciudad_Oficina</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10432410"/>
                  </a:ext>
                </a:extLst>
              </a:tr>
              <a:tr h="0">
                <a:tc>
                  <a:txBody>
                    <a:bodyPr/>
                    <a:lstStyle/>
                    <a:p>
                      <a:pPr>
                        <a:buNone/>
                      </a:pPr>
                      <a:r>
                        <a:rPr lang="es-CO" sz="1600" b="1"/>
                        <a:t>E01</a:t>
                      </a:r>
                      <a:endParaRPr lang="es-CO" sz="1600"/>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Ana Gómez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OF-10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Bogotá</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11081218"/>
                  </a:ext>
                </a:extLst>
              </a:tr>
              <a:tr h="0">
                <a:tc>
                  <a:txBody>
                    <a:bodyPr/>
                    <a:lstStyle/>
                    <a:p>
                      <a:pPr>
                        <a:buNone/>
                      </a:pPr>
                      <a:r>
                        <a:rPr lang="es-CO" sz="1600" b="1"/>
                        <a:t>E02</a:t>
                      </a:r>
                      <a:endParaRPr lang="es-CO" sz="1600"/>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Carlos Ruiz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OF-10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Bogotá</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85193544"/>
                  </a:ext>
                </a:extLst>
              </a:tr>
              <a:tr h="0">
                <a:tc>
                  <a:txBody>
                    <a:bodyPr/>
                    <a:lstStyle/>
                    <a:p>
                      <a:pPr>
                        <a:buNone/>
                      </a:pPr>
                      <a:r>
                        <a:rPr lang="es-CO" sz="1600" b="1" dirty="0"/>
                        <a:t>E03</a:t>
                      </a:r>
                      <a:endParaRPr lang="es-CO" sz="1600" dirty="0"/>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Luis Torres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a:t>OF-20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sz="1600" dirty="0"/>
                        <a:t>Medellín</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819122"/>
                  </a:ext>
                </a:extLst>
              </a:tr>
            </a:tbl>
          </a:graphicData>
        </a:graphic>
      </p:graphicFrame>
    </p:spTree>
    <p:extLst>
      <p:ext uri="{BB962C8B-B14F-4D97-AF65-F5344CB8AC3E}">
        <p14:creationId xmlns:p14="http://schemas.microsoft.com/office/powerpoint/2010/main" val="20596969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84C84-AC6A-1242-5BAA-4E583CBD9FF7}"/>
            </a:ext>
          </a:extLst>
        </p:cNvPr>
        <p:cNvGrpSpPr/>
        <p:nvPr/>
      </p:nvGrpSpPr>
      <p:grpSpPr>
        <a:xfrm>
          <a:off x="0" y="0"/>
          <a:ext cx="0" cy="0"/>
          <a:chOff x="0" y="0"/>
          <a:chExt cx="0" cy="0"/>
        </a:xfrm>
      </p:grpSpPr>
      <p:sp>
        <p:nvSpPr>
          <p:cNvPr id="24" name="Rectangle 8">
            <a:extLst>
              <a:ext uri="{FF2B5EF4-FFF2-40B4-BE49-F238E27FC236}">
                <a16:creationId xmlns:a16="http://schemas.microsoft.com/office/drawing/2014/main" id="{A42A8C39-CCE5-5FE3-53C6-927621AE8BC6}"/>
              </a:ext>
            </a:extLst>
          </p:cNvPr>
          <p:cNvSpPr>
            <a:spLocks noChangeArrowheads="1"/>
          </p:cNvSpPr>
          <p:nvPr/>
        </p:nvSpPr>
        <p:spPr bwMode="auto">
          <a:xfrm>
            <a:off x="1607269" y="747646"/>
            <a:ext cx="14635115" cy="7017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La Solución: Descomposición</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n-lt"/>
              </a:rPr>
              <a:t>Sacamos las columnas que dependen "entre ellas" (Oficina y Ciudad) a una tabla separada.</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n-lt"/>
              </a:rPr>
              <a:t>Aquí tienes las tablas resultantes en el formato que necesitas: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1. Tabla EMPLEADOS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1" u="none" strike="noStrike" cap="none" normalizeH="0" baseline="0" dirty="0">
                <a:ln>
                  <a:noFill/>
                </a:ln>
                <a:solidFill>
                  <a:schemeClr val="tx1"/>
                </a:solidFill>
                <a:effectLst/>
                <a:latin typeface="+mn-lt"/>
              </a:rPr>
              <a:t>(Mantenemos la columna </a:t>
            </a:r>
            <a:r>
              <a:rPr kumimoji="0" lang="es-CO" altLang="es-CO" sz="2400" b="0" i="1" u="none" strike="noStrike" cap="none" normalizeH="0" baseline="0" dirty="0" err="1">
                <a:ln>
                  <a:noFill/>
                </a:ln>
                <a:solidFill>
                  <a:schemeClr val="tx1"/>
                </a:solidFill>
                <a:effectLst/>
                <a:latin typeface="+mn-lt"/>
              </a:rPr>
              <a:t>ID_Oficina</a:t>
            </a:r>
            <a:r>
              <a:rPr kumimoji="0" lang="es-CO" altLang="es-CO" sz="2400" b="0" i="1" u="none" strike="noStrike" cap="none" normalizeH="0" baseline="0" dirty="0">
                <a:ln>
                  <a:noFill/>
                </a:ln>
                <a:solidFill>
                  <a:schemeClr val="tx1"/>
                </a:solidFill>
                <a:effectLst/>
                <a:latin typeface="+mn-lt"/>
              </a:rPr>
              <a:t> como enlace o Llave Foránea, pero borramos la ciudad)</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2. Tabla OFICINAS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1" u="none" strike="noStrike" cap="none" normalizeH="0" baseline="0" dirty="0">
                <a:ln>
                  <a:noFill/>
                </a:ln>
                <a:solidFill>
                  <a:schemeClr val="tx1"/>
                </a:solidFill>
                <a:effectLst/>
                <a:latin typeface="+mn-lt"/>
              </a:rPr>
              <a:t>(Aquí guardamos los detalles de la oficina. La ciudad ahora depende directamente de su propia llave primaria)</a:t>
            </a:r>
            <a:endParaRPr kumimoji="0" lang="es-CO" altLang="es-CO" sz="2400" b="0" i="0" u="none" strike="noStrike" cap="none" normalizeH="0" baseline="0" dirty="0">
              <a:ln>
                <a:noFill/>
              </a:ln>
              <a:solidFill>
                <a:schemeClr val="tx1"/>
              </a:solidFill>
              <a:effectLst/>
              <a:latin typeface="+mn-lt"/>
            </a:endParaRPr>
          </a:p>
        </p:txBody>
      </p:sp>
      <p:sp>
        <p:nvSpPr>
          <p:cNvPr id="2" name="Freeform 2">
            <a:extLst>
              <a:ext uri="{FF2B5EF4-FFF2-40B4-BE49-F238E27FC236}">
                <a16:creationId xmlns:a16="http://schemas.microsoft.com/office/drawing/2014/main" id="{DDFA377E-B98D-F5F8-66B3-B20AC77778F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428DB5E-F03C-CFE9-0CD5-83F951549FC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5AB5324-6F2D-2ED6-9AA6-CE3B4A2F96D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066E45E-3F24-20BD-70E0-67081DF32C5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51AE01E-8C4A-5051-D9FD-26C13EED30A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2BDB61F-E8D4-D4A8-4F34-AC33D031507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057D4EB-DB5C-9A1E-D342-A59EBD0FB6A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1A7335-B432-6D11-5CE2-CA0538C1596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F2B14B3-C061-1B04-B381-8D67B6E615D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C912355-92CB-843E-9B9F-0641EEC14E0C}"/>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22" name="Tabla 21">
            <a:extLst>
              <a:ext uri="{FF2B5EF4-FFF2-40B4-BE49-F238E27FC236}">
                <a16:creationId xmlns:a16="http://schemas.microsoft.com/office/drawing/2014/main" id="{92DE11F6-0150-3D2E-8384-39741128AF4B}"/>
              </a:ext>
            </a:extLst>
          </p:cNvPr>
          <p:cNvGraphicFramePr>
            <a:graphicFrameLocks noGrp="1"/>
          </p:cNvGraphicFramePr>
          <p:nvPr>
            <p:extLst>
              <p:ext uri="{D42A27DB-BD31-4B8C-83A1-F6EECF244321}">
                <p14:modId xmlns:p14="http://schemas.microsoft.com/office/powerpoint/2010/main" val="1093017283"/>
              </p:ext>
            </p:extLst>
          </p:nvPr>
        </p:nvGraphicFramePr>
        <p:xfrm>
          <a:off x="4887797" y="4533900"/>
          <a:ext cx="8229600" cy="1219200"/>
        </p:xfrm>
        <a:graphic>
          <a:graphicData uri="http://schemas.openxmlformats.org/drawingml/2006/table">
            <a:tbl>
              <a:tblPr/>
              <a:tblGrid>
                <a:gridCol w="2743200">
                  <a:extLst>
                    <a:ext uri="{9D8B030D-6E8A-4147-A177-3AD203B41FA5}">
                      <a16:colId xmlns:a16="http://schemas.microsoft.com/office/drawing/2014/main" val="1030145101"/>
                    </a:ext>
                  </a:extLst>
                </a:gridCol>
                <a:gridCol w="2743200">
                  <a:extLst>
                    <a:ext uri="{9D8B030D-6E8A-4147-A177-3AD203B41FA5}">
                      <a16:colId xmlns:a16="http://schemas.microsoft.com/office/drawing/2014/main" val="638324252"/>
                    </a:ext>
                  </a:extLst>
                </a:gridCol>
                <a:gridCol w="2743200">
                  <a:extLst>
                    <a:ext uri="{9D8B030D-6E8A-4147-A177-3AD203B41FA5}">
                      <a16:colId xmlns:a16="http://schemas.microsoft.com/office/drawing/2014/main" val="3385287818"/>
                    </a:ext>
                  </a:extLst>
                </a:gridCol>
              </a:tblGrid>
              <a:tr h="0">
                <a:tc>
                  <a:txBody>
                    <a:bodyPr/>
                    <a:lstStyle/>
                    <a:p>
                      <a:pPr>
                        <a:buNone/>
                      </a:pPr>
                      <a:r>
                        <a:rPr lang="es-CO" b="1">
                          <a:effectLst/>
                          <a:latin typeface="Google Sans Text"/>
                        </a:rPr>
                        <a:t>ID_Empleado (PK)</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Nombre</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b="1">
                          <a:effectLst/>
                          <a:latin typeface="Google Sans Text"/>
                        </a:rPr>
                        <a:t>ID_Oficina (FK)</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85416244"/>
                  </a:ext>
                </a:extLst>
              </a:tr>
              <a:tr h="0">
                <a:tc>
                  <a:txBody>
                    <a:bodyPr/>
                    <a:lstStyle/>
                    <a:p>
                      <a:pPr>
                        <a:buNone/>
                      </a:pPr>
                      <a:r>
                        <a:rPr lang="es-CO" b="1">
                          <a:effectLst/>
                          <a:latin typeface="Google Sans Text"/>
                        </a:rPr>
                        <a:t>E01</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OF-10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084490382"/>
                  </a:ext>
                </a:extLst>
              </a:tr>
              <a:tr h="0">
                <a:tc>
                  <a:txBody>
                    <a:bodyPr/>
                    <a:lstStyle/>
                    <a:p>
                      <a:pPr>
                        <a:buNone/>
                      </a:pPr>
                      <a:r>
                        <a:rPr lang="es-CO" b="1">
                          <a:effectLst/>
                          <a:latin typeface="Google Sans Text"/>
                        </a:rPr>
                        <a:t>E02</a:t>
                      </a:r>
                      <a:endParaRPr lang="es-CO">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Carlos Ruiz</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OF-10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45481156"/>
                  </a:ext>
                </a:extLst>
              </a:tr>
              <a:tr h="0">
                <a:tc>
                  <a:txBody>
                    <a:bodyPr/>
                    <a:lstStyle/>
                    <a:p>
                      <a:pPr>
                        <a:buNone/>
                      </a:pPr>
                      <a:r>
                        <a:rPr lang="es-CO" b="1" dirty="0">
                          <a:effectLst/>
                          <a:latin typeface="Google Sans Text"/>
                        </a:rPr>
                        <a:t>E03</a:t>
                      </a:r>
                      <a:endParaRPr lang="es-CO"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a:effectLst/>
                          <a:latin typeface="Google Sans Text"/>
                        </a:rPr>
                        <a:t>Luis Torres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s-CO" dirty="0">
                          <a:effectLst/>
                          <a:latin typeface="Google Sans Text"/>
                        </a:rPr>
                        <a:t>OF-20</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9166896"/>
                  </a:ext>
                </a:extLst>
              </a:tr>
            </a:tbl>
          </a:graphicData>
        </a:graphic>
      </p:graphicFrame>
      <p:graphicFrame>
        <p:nvGraphicFramePr>
          <p:cNvPr id="25" name="Tabla 24">
            <a:extLst>
              <a:ext uri="{FF2B5EF4-FFF2-40B4-BE49-F238E27FC236}">
                <a16:creationId xmlns:a16="http://schemas.microsoft.com/office/drawing/2014/main" id="{9964F726-45EC-84EA-041E-3ED0F9F15759}"/>
              </a:ext>
            </a:extLst>
          </p:cNvPr>
          <p:cNvGraphicFramePr>
            <a:graphicFrameLocks noGrp="1"/>
          </p:cNvGraphicFramePr>
          <p:nvPr>
            <p:extLst>
              <p:ext uri="{D42A27DB-BD31-4B8C-83A1-F6EECF244321}">
                <p14:modId xmlns:p14="http://schemas.microsoft.com/office/powerpoint/2010/main" val="3786562211"/>
              </p:ext>
            </p:extLst>
          </p:nvPr>
        </p:nvGraphicFramePr>
        <p:xfrm>
          <a:off x="5029200" y="8430468"/>
          <a:ext cx="8229600" cy="914400"/>
        </p:xfrm>
        <a:graphic>
          <a:graphicData uri="http://schemas.openxmlformats.org/drawingml/2006/table">
            <a:tbl>
              <a:tblPr/>
              <a:tblGrid>
                <a:gridCol w="4114800">
                  <a:extLst>
                    <a:ext uri="{9D8B030D-6E8A-4147-A177-3AD203B41FA5}">
                      <a16:colId xmlns:a16="http://schemas.microsoft.com/office/drawing/2014/main" val="2774136166"/>
                    </a:ext>
                  </a:extLst>
                </a:gridCol>
                <a:gridCol w="4114800">
                  <a:extLst>
                    <a:ext uri="{9D8B030D-6E8A-4147-A177-3AD203B41FA5}">
                      <a16:colId xmlns:a16="http://schemas.microsoft.com/office/drawing/2014/main" val="2218617243"/>
                    </a:ext>
                  </a:extLst>
                </a:gridCol>
              </a:tblGrid>
              <a:tr h="0">
                <a:tc>
                  <a:txBody>
                    <a:bodyPr/>
                    <a:lstStyle/>
                    <a:p>
                      <a:pPr>
                        <a:buNone/>
                      </a:pPr>
                      <a:r>
                        <a:rPr lang="es-CO"/>
                        <a:t>ID_Oficina (PK)</a:t>
                      </a:r>
                    </a:p>
                  </a:txBody>
                  <a:tcPr anchor="ctr">
                    <a:lnL>
                      <a:noFill/>
                    </a:lnL>
                    <a:lnR>
                      <a:noFill/>
                    </a:lnR>
                    <a:lnT>
                      <a:noFill/>
                    </a:lnT>
                    <a:lnB>
                      <a:noFill/>
                    </a:lnB>
                    <a:noFill/>
                  </a:tcPr>
                </a:tc>
                <a:tc>
                  <a:txBody>
                    <a:bodyPr/>
                    <a:lstStyle/>
                    <a:p>
                      <a:pPr>
                        <a:buNone/>
                      </a:pPr>
                      <a:r>
                        <a:rPr lang="es-CO"/>
                        <a:t>Ciudad_Oficina</a:t>
                      </a:r>
                    </a:p>
                  </a:txBody>
                  <a:tcPr anchor="ctr">
                    <a:lnL>
                      <a:noFill/>
                    </a:lnL>
                    <a:lnR>
                      <a:noFill/>
                    </a:lnR>
                    <a:lnT>
                      <a:noFill/>
                    </a:lnT>
                    <a:lnB>
                      <a:noFill/>
                    </a:lnB>
                    <a:noFill/>
                  </a:tcPr>
                </a:tc>
                <a:extLst>
                  <a:ext uri="{0D108BD9-81ED-4DB2-BD59-A6C34878D82A}">
                    <a16:rowId xmlns:a16="http://schemas.microsoft.com/office/drawing/2014/main" val="2167253384"/>
                  </a:ext>
                </a:extLst>
              </a:tr>
              <a:tr h="0">
                <a:tc>
                  <a:txBody>
                    <a:bodyPr/>
                    <a:lstStyle/>
                    <a:p>
                      <a:pPr>
                        <a:buNone/>
                      </a:pPr>
                      <a:r>
                        <a:rPr lang="es-CO" b="1"/>
                        <a:t>OF-10</a:t>
                      </a:r>
                      <a:endParaRPr lang="es-CO"/>
                    </a:p>
                  </a:txBody>
                  <a:tcPr anchor="ctr">
                    <a:lnL>
                      <a:noFill/>
                    </a:lnL>
                    <a:lnR>
                      <a:noFill/>
                    </a:lnR>
                    <a:lnT>
                      <a:noFill/>
                    </a:lnT>
                    <a:lnB>
                      <a:noFill/>
                    </a:lnB>
                    <a:noFill/>
                  </a:tcPr>
                </a:tc>
                <a:tc>
                  <a:txBody>
                    <a:bodyPr/>
                    <a:lstStyle/>
                    <a:p>
                      <a:pPr>
                        <a:buNone/>
                      </a:pPr>
                      <a:r>
                        <a:rPr lang="es-CO"/>
                        <a:t>Bogotá</a:t>
                      </a:r>
                    </a:p>
                  </a:txBody>
                  <a:tcPr anchor="ctr">
                    <a:lnL>
                      <a:noFill/>
                    </a:lnL>
                    <a:lnR>
                      <a:noFill/>
                    </a:lnR>
                    <a:lnT>
                      <a:noFill/>
                    </a:lnT>
                    <a:lnB>
                      <a:noFill/>
                    </a:lnB>
                    <a:noFill/>
                  </a:tcPr>
                </a:tc>
                <a:extLst>
                  <a:ext uri="{0D108BD9-81ED-4DB2-BD59-A6C34878D82A}">
                    <a16:rowId xmlns:a16="http://schemas.microsoft.com/office/drawing/2014/main" val="1773837091"/>
                  </a:ext>
                </a:extLst>
              </a:tr>
              <a:tr h="0">
                <a:tc>
                  <a:txBody>
                    <a:bodyPr/>
                    <a:lstStyle/>
                    <a:p>
                      <a:pPr>
                        <a:buNone/>
                      </a:pPr>
                      <a:r>
                        <a:rPr lang="es-CO" b="1"/>
                        <a:t>OF-20</a:t>
                      </a:r>
                      <a:endParaRPr lang="es-CO"/>
                    </a:p>
                  </a:txBody>
                  <a:tcPr anchor="ctr">
                    <a:lnL>
                      <a:noFill/>
                    </a:lnL>
                    <a:lnR>
                      <a:noFill/>
                    </a:lnR>
                    <a:lnT>
                      <a:noFill/>
                    </a:lnT>
                    <a:lnB>
                      <a:noFill/>
                    </a:lnB>
                    <a:noFill/>
                  </a:tcPr>
                </a:tc>
                <a:tc>
                  <a:txBody>
                    <a:bodyPr/>
                    <a:lstStyle/>
                    <a:p>
                      <a:pPr>
                        <a:buNone/>
                      </a:pPr>
                      <a:r>
                        <a:rPr lang="es-CO" dirty="0"/>
                        <a:t>Medellín</a:t>
                      </a:r>
                    </a:p>
                  </a:txBody>
                  <a:tcPr anchor="ctr">
                    <a:lnL>
                      <a:noFill/>
                    </a:lnL>
                    <a:lnR>
                      <a:noFill/>
                    </a:lnR>
                    <a:lnT>
                      <a:noFill/>
                    </a:lnT>
                    <a:lnB>
                      <a:noFill/>
                    </a:lnB>
                    <a:noFill/>
                  </a:tcPr>
                </a:tc>
                <a:extLst>
                  <a:ext uri="{0D108BD9-81ED-4DB2-BD59-A6C34878D82A}">
                    <a16:rowId xmlns:a16="http://schemas.microsoft.com/office/drawing/2014/main" val="701983739"/>
                  </a:ext>
                </a:extLst>
              </a:tr>
            </a:tbl>
          </a:graphicData>
        </a:graphic>
      </p:graphicFrame>
    </p:spTree>
    <p:extLst>
      <p:ext uri="{BB962C8B-B14F-4D97-AF65-F5344CB8AC3E}">
        <p14:creationId xmlns:p14="http://schemas.microsoft.com/office/powerpoint/2010/main" val="41835897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D7598-4192-2BCC-AEA6-9CA2CBC5FF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356FB1C-A1FD-2C51-F82B-F303F901E3D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7165DC1-0FA4-9DB2-F9BE-4E422CCE702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2ED6EA8-A8A6-49FA-A5BF-0D7937B729B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E890417-F907-4179-2357-B3F0BD0E9A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5C7FCE8-1A35-80D9-64D0-5A0631B91DE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492DB88-9541-A901-35BD-3A029213865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EE12FFE-CAAD-5E65-E19C-995A70A248B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B8A6AAD-9FF9-9C19-6B1E-D164284E6BE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CEF211D-1E21-5995-CC2F-678BB118A8B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D2DEF1D-046F-09EE-4500-A34ECAF1384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Tree>
    <p:extLst>
      <p:ext uri="{BB962C8B-B14F-4D97-AF65-F5344CB8AC3E}">
        <p14:creationId xmlns:p14="http://schemas.microsoft.com/office/powerpoint/2010/main" val="17447459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77591-1194-81A5-E575-2FA8282F856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4C1F52F-0739-5DD5-6E22-524DAB73C4A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24CE259-75D0-3137-3B14-5B4A40443CA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1F978EB-A284-7A67-8BF3-A24D9C516E4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7378333-003C-9AC8-5945-86071CE2B58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BD001EB-80E5-8E81-9675-AF04976B50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595901B-6BC4-4C07-C73F-E7F3E8B42E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57D27F-233F-A105-E66D-3F3DCDAC12D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E7B7371-8362-79A1-B897-E674642BB29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BFD627A-91E4-81D3-5FE4-F927109BCD0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F02621E-9966-5258-DC8A-712D158E0F9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8FB9BCC-C9CF-1BC7-A17C-9BC6E2E43212}"/>
              </a:ext>
            </a:extLst>
          </p:cNvPr>
          <p:cNvSpPr txBox="1"/>
          <p:nvPr/>
        </p:nvSpPr>
        <p:spPr>
          <a:xfrm>
            <a:off x="1293829" y="2031921"/>
            <a:ext cx="7699342" cy="4154984"/>
          </a:xfrm>
          <a:prstGeom prst="rect">
            <a:avLst/>
          </a:prstGeom>
          <a:noFill/>
        </p:spPr>
        <p:txBody>
          <a:bodyPr wrap="square">
            <a:spAutoFit/>
          </a:bodyPr>
          <a:lstStyle/>
          <a:p>
            <a:pPr>
              <a:buNone/>
            </a:pPr>
            <a:r>
              <a:rPr lang="es-ES" sz="2400" b="1" dirty="0"/>
              <a:t>Integrando al Vendedor (</a:t>
            </a:r>
            <a:r>
              <a:rPr lang="es-ES" sz="2400" b="1" dirty="0" err="1"/>
              <a:t>Seller</a:t>
            </a:r>
            <a:r>
              <a:rPr lang="es-ES" sz="2400" b="1" dirty="0"/>
              <a:t>)</a:t>
            </a:r>
          </a:p>
          <a:p>
            <a:pPr>
              <a:buNone/>
            </a:pPr>
            <a:r>
              <a:rPr lang="es-ES" sz="2400" b="1" dirty="0"/>
              <a:t>Punto Clave de </a:t>
            </a:r>
            <a:r>
              <a:rPr lang="es-ES" sz="2400" b="1" dirty="0" err="1"/>
              <a:t>Olist</a:t>
            </a:r>
            <a:r>
              <a:rPr lang="es-ES" sz="2400" b="1" dirty="0"/>
              <a:t>:</a:t>
            </a:r>
            <a:r>
              <a:rPr lang="es-ES" sz="2400" dirty="0"/>
              <a:t> </a:t>
            </a:r>
          </a:p>
          <a:p>
            <a:pPr>
              <a:buNone/>
            </a:pPr>
            <a:endParaRPr lang="es-ES" sz="2400" dirty="0"/>
          </a:p>
          <a:p>
            <a:pPr>
              <a:buNone/>
            </a:pPr>
            <a:r>
              <a:rPr lang="es-ES" sz="2400" dirty="0"/>
              <a:t>En este </a:t>
            </a:r>
            <a:r>
              <a:rPr lang="es-ES" sz="2400" dirty="0" err="1"/>
              <a:t>marketplace</a:t>
            </a:r>
            <a:r>
              <a:rPr lang="es-ES" sz="2400" dirty="0"/>
              <a:t>, tú no le compras a "</a:t>
            </a:r>
            <a:r>
              <a:rPr lang="es-ES" sz="2400" dirty="0" err="1"/>
              <a:t>Olist</a:t>
            </a:r>
            <a:r>
              <a:rPr lang="es-ES" sz="2400" dirty="0"/>
              <a:t>", le compras a un Vendedor específico.</a:t>
            </a:r>
          </a:p>
          <a:p>
            <a:pPr>
              <a:buNone/>
            </a:pPr>
            <a:endParaRPr lang="es-ES" sz="2400" dirty="0"/>
          </a:p>
          <a:p>
            <a:pPr marL="342900" indent="-342900">
              <a:buFont typeface="Arial" panose="020B0604020202020204" pitchFamily="34" charset="0"/>
              <a:buChar char="•"/>
            </a:pPr>
            <a:r>
              <a:rPr lang="es-ES" sz="2400" dirty="0"/>
              <a:t>¿El Vendedor se conecta a la Orden? </a:t>
            </a:r>
            <a:r>
              <a:rPr lang="es-ES" sz="2400" b="1" dirty="0"/>
              <a:t>NO</a:t>
            </a:r>
            <a:r>
              <a:rPr lang="es-ES" sz="2400" dirty="0"/>
              <a:t>.</a:t>
            </a:r>
          </a:p>
          <a:p>
            <a:pPr marL="342900" indent="-342900">
              <a:buFont typeface="Arial" panose="020B0604020202020204" pitchFamily="34" charset="0"/>
              <a:buChar char="•"/>
            </a:pPr>
            <a:endParaRPr lang="es-ES" sz="2400" dirty="0"/>
          </a:p>
          <a:p>
            <a:pPr marL="342900" indent="-342900">
              <a:buFont typeface="Arial" panose="020B0604020202020204" pitchFamily="34" charset="0"/>
              <a:buChar char="•"/>
            </a:pPr>
            <a:r>
              <a:rPr lang="es-ES" sz="2400" dirty="0"/>
              <a:t>El Vendedor se conecta al </a:t>
            </a:r>
            <a:r>
              <a:rPr lang="es-ES" sz="2400" b="1" dirty="0" err="1"/>
              <a:t>Item</a:t>
            </a:r>
            <a:r>
              <a:rPr lang="es-ES" sz="2400" dirty="0"/>
              <a:t>, porque en una misma orden puedo tener un libro (Vendedor A) y un mouse (Vendedor B).</a:t>
            </a:r>
          </a:p>
        </p:txBody>
      </p:sp>
      <p:pic>
        <p:nvPicPr>
          <p:cNvPr id="15" name="Imagen 14">
            <a:extLst>
              <a:ext uri="{FF2B5EF4-FFF2-40B4-BE49-F238E27FC236}">
                <a16:creationId xmlns:a16="http://schemas.microsoft.com/office/drawing/2014/main" id="{EB3CA1F4-852D-3C7A-4DD9-E7ABB2B29008}"/>
              </a:ext>
            </a:extLst>
          </p:cNvPr>
          <p:cNvPicPr>
            <a:picLocks noChangeAspect="1"/>
          </p:cNvPicPr>
          <p:nvPr/>
        </p:nvPicPr>
        <p:blipFill>
          <a:blip r:embed="rId5"/>
          <a:stretch>
            <a:fillRect/>
          </a:stretch>
        </p:blipFill>
        <p:spPr>
          <a:xfrm>
            <a:off x="10180538" y="1536901"/>
            <a:ext cx="7297168" cy="7068536"/>
          </a:xfrm>
          <a:prstGeom prst="rect">
            <a:avLst/>
          </a:prstGeom>
        </p:spPr>
      </p:pic>
    </p:spTree>
    <p:extLst>
      <p:ext uri="{BB962C8B-B14F-4D97-AF65-F5344CB8AC3E}">
        <p14:creationId xmlns:p14="http://schemas.microsoft.com/office/powerpoint/2010/main" val="45605975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454AB-53EE-A87F-7262-B93AB698469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7FCC09C-BA35-8830-DB94-E03A425531AD}"/>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47EE8D2-E732-13AF-7C8E-AD8241149B2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9744F7E-8451-F819-DFD1-94F418673E0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6CFCB97C-7F26-22FC-37F2-3F846745C0B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6A0865A-0877-1167-24A0-C97FB5C75CD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B7BBFA3-E211-C3B2-74A6-3720418CEA5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E42236F-A0A7-47DC-C5B0-61A761F4627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31B4C3-C671-C339-0480-A7B779D372F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A2C31A7-5934-CD7F-5896-E98C062CE5F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AF2285D-5C0E-0681-488A-F79DCFA70BD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FC52EDC-AAE6-F55A-19DB-CE832785C06C}"/>
              </a:ext>
            </a:extLst>
          </p:cNvPr>
          <p:cNvSpPr txBox="1"/>
          <p:nvPr/>
        </p:nvSpPr>
        <p:spPr>
          <a:xfrm>
            <a:off x="935610" y="1625123"/>
            <a:ext cx="6850930" cy="7294305"/>
          </a:xfrm>
          <a:prstGeom prst="rect">
            <a:avLst/>
          </a:prstGeom>
          <a:noFill/>
        </p:spPr>
        <p:txBody>
          <a:bodyPr wrap="square">
            <a:spAutoFit/>
          </a:bodyPr>
          <a:lstStyle/>
          <a:p>
            <a:pPr>
              <a:buNone/>
            </a:pPr>
            <a:r>
              <a:rPr lang="es-ES" sz="3600" b="1" dirty="0"/>
              <a:t>Agregando Satélites (Pagos y Reseñas)</a:t>
            </a:r>
          </a:p>
          <a:p>
            <a:pPr>
              <a:buNone/>
            </a:pPr>
            <a:endParaRPr lang="es-ES" sz="3600" b="1" dirty="0"/>
          </a:p>
          <a:p>
            <a:pPr>
              <a:buNone/>
            </a:pPr>
            <a:r>
              <a:rPr lang="es-ES" sz="3600" b="1" dirty="0"/>
              <a:t>Cerrando el círculo:</a:t>
            </a:r>
            <a:r>
              <a:rPr lang="es-ES" sz="3600" dirty="0"/>
              <a:t> Finalmente, agregamos los eventos que ocurren </a:t>
            </a:r>
            <a:r>
              <a:rPr lang="es-ES" sz="3600" i="1" dirty="0"/>
              <a:t>alrededor</a:t>
            </a:r>
            <a:r>
              <a:rPr lang="es-ES" sz="3600" dirty="0"/>
              <a:t> de la orden.</a:t>
            </a:r>
          </a:p>
          <a:p>
            <a:pPr marL="342900" indent="-342900">
              <a:buFont typeface="Arial" panose="020B0604020202020204" pitchFamily="34" charset="0"/>
              <a:buChar char="•"/>
            </a:pPr>
            <a:r>
              <a:rPr lang="es-ES" sz="3600" b="1" dirty="0"/>
              <a:t>Pagos:</a:t>
            </a:r>
            <a:r>
              <a:rPr lang="es-ES" sz="3600" dirty="0"/>
              <a:t> Una orden se paga (1:N, porque pueden ser múltiples tarjetas).</a:t>
            </a:r>
          </a:p>
          <a:p>
            <a:pPr marL="342900" indent="-342900">
              <a:buFont typeface="Arial" panose="020B0604020202020204" pitchFamily="34" charset="0"/>
              <a:buChar char="•"/>
            </a:pPr>
            <a:r>
              <a:rPr lang="es-ES" sz="3600" b="1" dirty="0"/>
              <a:t>Reseñas:</a:t>
            </a:r>
            <a:r>
              <a:rPr lang="es-ES" sz="3600" dirty="0"/>
              <a:t> Una orden se califica (0:N, porque es opcional).</a:t>
            </a:r>
          </a:p>
        </p:txBody>
      </p:sp>
      <p:pic>
        <p:nvPicPr>
          <p:cNvPr id="15" name="Imagen 14">
            <a:extLst>
              <a:ext uri="{FF2B5EF4-FFF2-40B4-BE49-F238E27FC236}">
                <a16:creationId xmlns:a16="http://schemas.microsoft.com/office/drawing/2014/main" id="{1909E55E-C7F2-336A-DC1F-68978E86EC27}"/>
              </a:ext>
            </a:extLst>
          </p:cNvPr>
          <p:cNvPicPr>
            <a:picLocks noChangeAspect="1"/>
          </p:cNvPicPr>
          <p:nvPr/>
        </p:nvPicPr>
        <p:blipFill>
          <a:blip r:embed="rId5"/>
          <a:stretch>
            <a:fillRect/>
          </a:stretch>
        </p:blipFill>
        <p:spPr>
          <a:xfrm>
            <a:off x="8031637" y="1155847"/>
            <a:ext cx="9745435" cy="7830643"/>
          </a:xfrm>
          <a:prstGeom prst="rect">
            <a:avLst/>
          </a:prstGeom>
        </p:spPr>
      </p:pic>
    </p:spTree>
    <p:extLst>
      <p:ext uri="{BB962C8B-B14F-4D97-AF65-F5344CB8AC3E}">
        <p14:creationId xmlns:p14="http://schemas.microsoft.com/office/powerpoint/2010/main" val="13925878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DDE58-526F-2A15-6D3C-539B509EC0E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0AE9DA2-9CEF-D4E1-5B08-43CEC0E5700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614711D-0146-39A7-2BA1-9FE766CD798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A3DDA54-2547-732A-B3EC-849100F4FF8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1E44363-C32D-4147-DA41-EF9AFC3B653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FB9B5EF-F2DB-6DA5-EE73-02BF9CAFEF3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6EE514-38EE-6145-EDF4-E9573B7FA44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AACCB2F-E7B9-7261-0120-77F68B205E1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51B21FF-05DA-286F-06DA-4F0BDD67E70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7491332-6CDD-3A3E-F157-42A67CECA8D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EB6B839-CC9A-7187-67CC-6CE5B128C47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3" name="Imagen 12">
            <a:extLst>
              <a:ext uri="{FF2B5EF4-FFF2-40B4-BE49-F238E27FC236}">
                <a16:creationId xmlns:a16="http://schemas.microsoft.com/office/drawing/2014/main" id="{9D1636E2-7DA1-E575-D6FB-E80C1E1DEDDC}"/>
              </a:ext>
            </a:extLst>
          </p:cNvPr>
          <p:cNvPicPr>
            <a:picLocks noChangeAspect="1"/>
          </p:cNvPicPr>
          <p:nvPr/>
        </p:nvPicPr>
        <p:blipFill>
          <a:blip r:embed="rId5"/>
          <a:stretch>
            <a:fillRect/>
          </a:stretch>
        </p:blipFill>
        <p:spPr>
          <a:xfrm>
            <a:off x="1613373" y="1778885"/>
            <a:ext cx="15450901" cy="7895865"/>
          </a:xfrm>
          <a:prstGeom prst="rect">
            <a:avLst/>
          </a:prstGeom>
        </p:spPr>
      </p:pic>
      <p:sp>
        <p:nvSpPr>
          <p:cNvPr id="15" name="CuadroTexto 14">
            <a:extLst>
              <a:ext uri="{FF2B5EF4-FFF2-40B4-BE49-F238E27FC236}">
                <a16:creationId xmlns:a16="http://schemas.microsoft.com/office/drawing/2014/main" id="{84109D11-BE3B-83DE-5390-1F5BE233A4A2}"/>
              </a:ext>
            </a:extLst>
          </p:cNvPr>
          <p:cNvSpPr txBox="1"/>
          <p:nvPr/>
        </p:nvSpPr>
        <p:spPr>
          <a:xfrm>
            <a:off x="1433659" y="763222"/>
            <a:ext cx="15787540" cy="1015663"/>
          </a:xfrm>
          <a:prstGeom prst="rect">
            <a:avLst/>
          </a:prstGeom>
          <a:noFill/>
        </p:spPr>
        <p:txBody>
          <a:bodyPr wrap="square">
            <a:spAutoFit/>
          </a:bodyPr>
          <a:lstStyle/>
          <a:p>
            <a:pPr>
              <a:buNone/>
            </a:pPr>
            <a:r>
              <a:rPr lang="es-ES" sz="2000" b="1" dirty="0"/>
              <a:t>El Diagrama Final Completo</a:t>
            </a:r>
          </a:p>
          <a:p>
            <a:pPr>
              <a:buNone/>
            </a:pPr>
            <a:r>
              <a:rPr lang="es-ES" sz="2000" b="1" dirty="0"/>
              <a:t>Visión Global:</a:t>
            </a:r>
            <a:r>
              <a:rPr lang="es-ES" sz="2000" dirty="0"/>
              <a:t> Así se ve el sistema </a:t>
            </a:r>
            <a:r>
              <a:rPr lang="es-ES" sz="2000" dirty="0" err="1"/>
              <a:t>Olist</a:t>
            </a:r>
            <a:r>
              <a:rPr lang="es-ES" sz="2000" dirty="0"/>
              <a:t> completo cuando unimos todas las piezas. Es un esquema "centrado en la Orden" (</a:t>
            </a:r>
            <a:r>
              <a:rPr lang="es-ES" sz="2000" dirty="0" err="1"/>
              <a:t>Order-Centric</a:t>
            </a:r>
            <a:r>
              <a:rPr lang="es-ES" sz="2000" dirty="0"/>
              <a:t>).</a:t>
            </a:r>
          </a:p>
        </p:txBody>
      </p:sp>
    </p:spTree>
    <p:extLst>
      <p:ext uri="{BB962C8B-B14F-4D97-AF65-F5344CB8AC3E}">
        <p14:creationId xmlns:p14="http://schemas.microsoft.com/office/powerpoint/2010/main" val="15803872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072BF-C52B-2307-EA51-CD8B5DF9A2A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861F7D-3FBD-A5ED-08FE-2165AC46429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545B7B6-80D3-A88B-6654-5A5656F5396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D85AA5F-3D6D-869F-96A8-635B7BB46CA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6690BE-88C6-9191-5B51-C84835AB6FC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76FE7F2-F5C0-AF3E-2F3D-8B7E6184D1B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5EC7572-DECB-C6A4-9196-310C844739E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A6AF057-23A8-2C56-5AA1-B95D322D0E1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9238A19-FE25-F68F-AC9C-9650EC29DEA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BFCD251-E8FC-A40B-9E86-DA6A4982498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675661E-164C-8F62-2964-596787E0D23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4BFCB4DF-1A13-BC52-E33D-9F21A37A248F}"/>
              </a:ext>
            </a:extLst>
          </p:cNvPr>
          <p:cNvSpPr txBox="1"/>
          <p:nvPr/>
        </p:nvSpPr>
        <p:spPr>
          <a:xfrm>
            <a:off x="3989894" y="2853262"/>
            <a:ext cx="9186420" cy="2862322"/>
          </a:xfrm>
          <a:prstGeom prst="rect">
            <a:avLst/>
          </a:prstGeom>
          <a:noFill/>
        </p:spPr>
        <p:txBody>
          <a:bodyPr wrap="square">
            <a:spAutoFit/>
          </a:bodyPr>
          <a:lstStyle/>
          <a:p>
            <a:pPr algn="ctr">
              <a:buNone/>
            </a:pPr>
            <a:r>
              <a:rPr lang="es-ES" sz="6000" b="1" dirty="0"/>
              <a:t>Paso 7: Diseño para la implementación del Modelo </a:t>
            </a:r>
            <a:r>
              <a:rPr lang="es-ES" sz="6000" b="1" dirty="0" err="1"/>
              <a:t>Fisico</a:t>
            </a:r>
            <a:r>
              <a:rPr lang="es-ES" sz="6000" b="1" dirty="0"/>
              <a:t> </a:t>
            </a:r>
          </a:p>
        </p:txBody>
      </p:sp>
    </p:spTree>
    <p:extLst>
      <p:ext uri="{BB962C8B-B14F-4D97-AF65-F5344CB8AC3E}">
        <p14:creationId xmlns:p14="http://schemas.microsoft.com/office/powerpoint/2010/main" val="224203824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B08A0-C7BD-0E39-D675-CECF287400C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247F8CA-619F-B5CE-F4C7-C3C654D3EAC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2D0812B-EC44-DD44-6FEC-1FE07BD572E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5CABB53-BD32-6CCE-021E-F3AE98612D1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503A2400-7E91-4EBC-D0E7-2096AEF84FE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7F95315-5477-1CC9-BDC7-A2FC0F8F47A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AE103DB-62F6-F4AE-8185-14FC878D0EA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C2868E7-97EC-6820-FF36-C3960369458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79C0ED4-5B81-B695-771D-82E55E1EF52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FDFB617-5D0B-A43D-2FD9-029A809806B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96E061B-0793-0BCB-9DC0-848D5441320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10C61D5-60E1-3955-0C1B-070BCD45F6B1}"/>
              </a:ext>
            </a:extLst>
          </p:cNvPr>
          <p:cNvSpPr txBox="1"/>
          <p:nvPr/>
        </p:nvSpPr>
        <p:spPr>
          <a:xfrm>
            <a:off x="1274975" y="280518"/>
            <a:ext cx="16136332" cy="8956298"/>
          </a:xfrm>
          <a:prstGeom prst="rect">
            <a:avLst/>
          </a:prstGeom>
          <a:noFill/>
        </p:spPr>
        <p:txBody>
          <a:bodyPr wrap="square">
            <a:spAutoFit/>
          </a:bodyPr>
          <a:lstStyle/>
          <a:p>
            <a:pPr>
              <a:buNone/>
            </a:pPr>
            <a:r>
              <a:rPr lang="es-ES" sz="3600" b="1" dirty="0"/>
              <a:t>De "Concepto" a "Código“</a:t>
            </a:r>
          </a:p>
          <a:p>
            <a:pPr>
              <a:buNone/>
            </a:pPr>
            <a:endParaRPr lang="es-ES" sz="3600" b="1" dirty="0"/>
          </a:p>
          <a:p>
            <a:pPr>
              <a:buNone/>
            </a:pPr>
            <a:r>
              <a:rPr lang="es-ES" sz="3600" b="1" dirty="0"/>
              <a:t>El Salto de Nivel</a:t>
            </a:r>
          </a:p>
          <a:p>
            <a:pPr>
              <a:buNone/>
            </a:pPr>
            <a:endParaRPr lang="es-ES" sz="3600" dirty="0"/>
          </a:p>
          <a:p>
            <a:pPr>
              <a:buNone/>
            </a:pPr>
            <a:r>
              <a:rPr lang="es-ES" sz="3600" dirty="0"/>
              <a:t>Hasta ahora, nuestras cajas eran abstractas. Para que la base de datos funcione, necesitamos ser específicos.</a:t>
            </a:r>
          </a:p>
          <a:p>
            <a:pPr>
              <a:buNone/>
            </a:pPr>
            <a:endParaRPr lang="es-ES" sz="3600" dirty="0"/>
          </a:p>
          <a:p>
            <a:pPr>
              <a:buNone/>
            </a:pPr>
            <a:r>
              <a:rPr lang="es-ES" sz="3600" b="1" dirty="0"/>
              <a:t>Las 3 Reglas del Modelo Detallado:</a:t>
            </a:r>
          </a:p>
          <a:p>
            <a:pPr>
              <a:buNone/>
            </a:pPr>
            <a:endParaRPr lang="es-ES" sz="3600" dirty="0"/>
          </a:p>
          <a:p>
            <a:pPr marL="742950" indent="-742950">
              <a:buFont typeface="+mj-lt"/>
              <a:buAutoNum type="arabicPeriod"/>
            </a:pPr>
            <a:r>
              <a:rPr lang="es-ES" sz="3600" b="1" dirty="0"/>
              <a:t>Cada atributo debe tener un tipo de dato</a:t>
            </a:r>
            <a:r>
              <a:rPr lang="es-ES" sz="3600" dirty="0"/>
              <a:t> (¿Texto? ¿Número? ¿Fecha?).</a:t>
            </a:r>
          </a:p>
          <a:p>
            <a:pPr marL="742950" indent="-742950">
              <a:buFont typeface="+mj-lt"/>
              <a:buAutoNum type="arabicPeriod"/>
            </a:pPr>
            <a:r>
              <a:rPr lang="es-ES" sz="3600" b="1" dirty="0"/>
              <a:t>Las PK (Llaves Primarias) deben estar definidas.</a:t>
            </a:r>
            <a:endParaRPr lang="es-ES" sz="3600" dirty="0"/>
          </a:p>
          <a:p>
            <a:pPr marL="742950" indent="-742950">
              <a:buFont typeface="+mj-lt"/>
              <a:buAutoNum type="arabicPeriod"/>
            </a:pPr>
            <a:r>
              <a:rPr lang="es-ES" sz="3600" b="1" dirty="0"/>
              <a:t>Las FK (Llaves Foráneas) deben ser explícitas</a:t>
            </a:r>
            <a:r>
              <a:rPr lang="es-ES" sz="3600" dirty="0"/>
              <a:t> (son el pegamento del sistema).</a:t>
            </a:r>
          </a:p>
          <a:p>
            <a:pPr>
              <a:buFont typeface="+mj-lt"/>
              <a:buAutoNum type="arabicPeriod"/>
            </a:pPr>
            <a:endParaRPr lang="es-ES" sz="3600" dirty="0"/>
          </a:p>
          <a:p>
            <a:pPr>
              <a:buNone/>
            </a:pPr>
            <a:r>
              <a:rPr lang="es-ES" sz="3600" i="1" dirty="0"/>
              <a:t>"El diablo está en los detalles (y en los tipos de datos)."</a:t>
            </a:r>
            <a:endParaRPr lang="es-ES" sz="3600" dirty="0"/>
          </a:p>
        </p:txBody>
      </p:sp>
    </p:spTree>
    <p:extLst>
      <p:ext uri="{BB962C8B-B14F-4D97-AF65-F5344CB8AC3E}">
        <p14:creationId xmlns:p14="http://schemas.microsoft.com/office/powerpoint/2010/main" val="8055083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8A64D-291D-51A5-422C-C797FD7BAF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CCE9FE5-1AD6-6875-4C8F-7569E8E5A95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B2E80B4-1D18-EBD6-D7F6-5592C3C5E33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3B0764A-E427-B2E8-1EAF-77963628D77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BDF3F57-431B-684E-3DA8-2E5FD0CDD3C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9B52C04-64FD-E8F5-13B7-A8E94D9FA96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0A44414-A292-CFFE-56C2-48D6AAC1E28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6AC46AA-01CA-BB6D-3BB1-4B3F624F2A2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28AE141-B234-C46E-1FF6-EEFE7ACFDAD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50FF735-95C6-891A-EE8E-C3D4098DF86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44D561D-7829-179B-DB72-46235E62C15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920479C8-0BB9-3F25-AF4A-1593BED93F1A}"/>
              </a:ext>
            </a:extLst>
          </p:cNvPr>
          <p:cNvSpPr txBox="1"/>
          <p:nvPr/>
        </p:nvSpPr>
        <p:spPr>
          <a:xfrm>
            <a:off x="2375555" y="484045"/>
            <a:ext cx="15120594" cy="2308324"/>
          </a:xfrm>
          <a:prstGeom prst="rect">
            <a:avLst/>
          </a:prstGeom>
          <a:noFill/>
        </p:spPr>
        <p:txBody>
          <a:bodyPr wrap="square">
            <a:spAutoFit/>
          </a:bodyPr>
          <a:lstStyle/>
          <a:p>
            <a:pPr>
              <a:buNone/>
            </a:pPr>
            <a:r>
              <a:rPr lang="es-ES" sz="2400" b="1" dirty="0"/>
              <a:t>Detallando al Cliente (El Reto de Identidad)</a:t>
            </a:r>
          </a:p>
          <a:p>
            <a:pPr>
              <a:buNone/>
            </a:pPr>
            <a:r>
              <a:rPr lang="es-ES" sz="2400" b="1" dirty="0"/>
              <a:t>Análisis de </a:t>
            </a:r>
            <a:r>
              <a:rPr lang="es-ES" sz="2400" b="1" dirty="0">
                <a:latin typeface="Courier New" panose="02070309020205020404" pitchFamily="49" charset="0"/>
              </a:rPr>
              <a:t>olist_customers_dataset.csv</a:t>
            </a:r>
            <a:endParaRPr lang="es-ES" sz="2400" dirty="0"/>
          </a:p>
          <a:p>
            <a:pPr>
              <a:buNone/>
            </a:pPr>
            <a:r>
              <a:rPr lang="es-ES" sz="2400" dirty="0" err="1"/>
              <a:t>Olist</a:t>
            </a:r>
            <a:r>
              <a:rPr lang="es-ES" sz="2400" dirty="0"/>
              <a:t> tiene una peculiaridad:</a:t>
            </a:r>
          </a:p>
          <a:p>
            <a:pPr>
              <a:buNone/>
            </a:pPr>
            <a:endParaRPr lang="es-ES" sz="2400" dirty="0"/>
          </a:p>
          <a:p>
            <a:pPr marL="457200" indent="-457200">
              <a:buFont typeface="Arial" panose="020B0604020202020204" pitchFamily="34" charset="0"/>
              <a:buChar char="•"/>
            </a:pPr>
            <a:r>
              <a:rPr lang="es-ES" sz="2400" dirty="0" err="1">
                <a:latin typeface="Courier New" panose="02070309020205020404" pitchFamily="49" charset="0"/>
              </a:rPr>
              <a:t>customer_id</a:t>
            </a:r>
            <a:r>
              <a:rPr lang="es-ES" sz="2400" dirty="0"/>
              <a:t>: Es un ID temporal generado </a:t>
            </a:r>
            <a:r>
              <a:rPr lang="es-ES" sz="2400" i="1" dirty="0"/>
              <a:t>para cada pedido</a:t>
            </a:r>
            <a:r>
              <a:rPr lang="es-ES" sz="2400" dirty="0"/>
              <a:t>.</a:t>
            </a:r>
          </a:p>
          <a:p>
            <a:pPr marL="457200" indent="-457200">
              <a:buFont typeface="Arial" panose="020B0604020202020204" pitchFamily="34" charset="0"/>
              <a:buChar char="•"/>
            </a:pPr>
            <a:r>
              <a:rPr lang="es-ES" sz="2400" dirty="0" err="1">
                <a:latin typeface="Courier New" panose="02070309020205020404" pitchFamily="49" charset="0"/>
              </a:rPr>
              <a:t>customer_unique_id</a:t>
            </a:r>
            <a:r>
              <a:rPr lang="es-ES" sz="2400" dirty="0"/>
              <a:t>: Es el ID real del usuario humano.</a:t>
            </a:r>
          </a:p>
        </p:txBody>
      </p:sp>
      <p:graphicFrame>
        <p:nvGraphicFramePr>
          <p:cNvPr id="16" name="Tabla 15">
            <a:extLst>
              <a:ext uri="{FF2B5EF4-FFF2-40B4-BE49-F238E27FC236}">
                <a16:creationId xmlns:a16="http://schemas.microsoft.com/office/drawing/2014/main" id="{86FEAAF7-6B33-3ADF-AAA1-D0DEDD312EF7}"/>
              </a:ext>
            </a:extLst>
          </p:cNvPr>
          <p:cNvGraphicFramePr>
            <a:graphicFrameLocks noGrp="1"/>
          </p:cNvGraphicFramePr>
          <p:nvPr>
            <p:extLst>
              <p:ext uri="{D42A27DB-BD31-4B8C-83A1-F6EECF244321}">
                <p14:modId xmlns:p14="http://schemas.microsoft.com/office/powerpoint/2010/main" val="1999585241"/>
              </p:ext>
            </p:extLst>
          </p:nvPr>
        </p:nvGraphicFramePr>
        <p:xfrm>
          <a:off x="2795048" y="3846288"/>
          <a:ext cx="12529135" cy="5199323"/>
        </p:xfrm>
        <a:graphic>
          <a:graphicData uri="http://schemas.openxmlformats.org/drawingml/2006/table">
            <a:tbl>
              <a:tblPr/>
              <a:tblGrid>
                <a:gridCol w="2505827">
                  <a:extLst>
                    <a:ext uri="{9D8B030D-6E8A-4147-A177-3AD203B41FA5}">
                      <a16:colId xmlns:a16="http://schemas.microsoft.com/office/drawing/2014/main" val="890442694"/>
                    </a:ext>
                  </a:extLst>
                </a:gridCol>
                <a:gridCol w="2505827">
                  <a:extLst>
                    <a:ext uri="{9D8B030D-6E8A-4147-A177-3AD203B41FA5}">
                      <a16:colId xmlns:a16="http://schemas.microsoft.com/office/drawing/2014/main" val="1413941069"/>
                    </a:ext>
                  </a:extLst>
                </a:gridCol>
                <a:gridCol w="2505827">
                  <a:extLst>
                    <a:ext uri="{9D8B030D-6E8A-4147-A177-3AD203B41FA5}">
                      <a16:colId xmlns:a16="http://schemas.microsoft.com/office/drawing/2014/main" val="1213128917"/>
                    </a:ext>
                  </a:extLst>
                </a:gridCol>
                <a:gridCol w="2505827">
                  <a:extLst>
                    <a:ext uri="{9D8B030D-6E8A-4147-A177-3AD203B41FA5}">
                      <a16:colId xmlns:a16="http://schemas.microsoft.com/office/drawing/2014/main" val="3768673374"/>
                    </a:ext>
                  </a:extLst>
                </a:gridCol>
                <a:gridCol w="2505827">
                  <a:extLst>
                    <a:ext uri="{9D8B030D-6E8A-4147-A177-3AD203B41FA5}">
                      <a16:colId xmlns:a16="http://schemas.microsoft.com/office/drawing/2014/main" val="432732811"/>
                    </a:ext>
                  </a:extLst>
                </a:gridCol>
              </a:tblGrid>
              <a:tr h="474947">
                <a:tc>
                  <a:txBody>
                    <a:bodyPr/>
                    <a:lstStyle/>
                    <a:p>
                      <a:pPr>
                        <a:buNone/>
                      </a:pPr>
                      <a:r>
                        <a:rPr lang="es-CO" sz="1800" dirty="0"/>
                        <a:t>Campo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Tipo Sugerido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¿Requerido?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¿Indexado?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Justificación Técnica</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399745"/>
                  </a:ext>
                </a:extLst>
              </a:tr>
              <a:tr h="1061646">
                <a:tc>
                  <a:txBody>
                    <a:bodyPr/>
                    <a:lstStyle/>
                    <a:p>
                      <a:pPr>
                        <a:buNone/>
                      </a:pPr>
                      <a:r>
                        <a:rPr lang="es-CO" sz="1800" b="1" dirty="0" err="1"/>
                        <a:t>customer_id</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latin typeface="Courier New" panose="02070309020205020404" pitchFamily="49" charset="0"/>
                        </a:rPr>
                        <a:t>CHAR(32)</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(PK)</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(Auto)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a:t>Es un hash fijo (hexadecimal). Usar </a:t>
                      </a:r>
                      <a:r>
                        <a:rPr lang="es-ES" sz="1800">
                          <a:latin typeface="Courier New" panose="02070309020205020404" pitchFamily="49" charset="0"/>
                        </a:rPr>
                        <a:t>VARCHAR</a:t>
                      </a:r>
                      <a:r>
                        <a:rPr lang="es-ES" sz="1800"/>
                        <a:t> desperdiciaría CPU.</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6929776"/>
                  </a:ext>
                </a:extLst>
              </a:tr>
              <a:tr h="866079">
                <a:tc>
                  <a:txBody>
                    <a:bodyPr/>
                    <a:lstStyle/>
                    <a:p>
                      <a:pPr>
                        <a:buNone/>
                      </a:pPr>
                      <a:r>
                        <a:rPr lang="es-CO" sz="1800" b="1"/>
                        <a:t>customer_unique_id</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CHAR(32)</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t>Vital para análisis de recurrencia (</a:t>
                      </a:r>
                      <a:r>
                        <a:rPr lang="es-CO" sz="1800" dirty="0" err="1"/>
                        <a:t>Cohort</a:t>
                      </a:r>
                      <a:r>
                        <a:rPr lang="es-CO" sz="1800" dirty="0"/>
                        <a:t> </a:t>
                      </a:r>
                      <a:r>
                        <a:rPr lang="es-CO" sz="1800" dirty="0" err="1"/>
                        <a:t>Analysis</a:t>
                      </a:r>
                      <a:r>
                        <a:rPr lang="es-CO" sz="1800" dirty="0"/>
                        <a:t>). Cardinalidad alta.</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448435"/>
                  </a:ext>
                </a:extLst>
              </a:tr>
              <a:tr h="1061646">
                <a:tc>
                  <a:txBody>
                    <a:bodyPr/>
                    <a:lstStyle/>
                    <a:p>
                      <a:pPr>
                        <a:buNone/>
                      </a:pPr>
                      <a:r>
                        <a:rPr lang="es-CO" sz="1800" b="1"/>
                        <a:t>zip_code_prefix</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VARCHAR(5)</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dirty="0"/>
                        <a:t>Se usará frecuentemente en </a:t>
                      </a:r>
                      <a:r>
                        <a:rPr lang="es-ES" sz="1800" dirty="0" err="1"/>
                        <a:t>JOINs</a:t>
                      </a:r>
                      <a:r>
                        <a:rPr lang="es-ES" sz="1800" dirty="0"/>
                        <a:t> con la tabla de Geolocalización.</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08336218"/>
                  </a:ext>
                </a:extLst>
              </a:tr>
              <a:tr h="1061646">
                <a:tc>
                  <a:txBody>
                    <a:bodyPr/>
                    <a:lstStyle/>
                    <a:p>
                      <a:pPr>
                        <a:buNone/>
                      </a:pPr>
                      <a:r>
                        <a:rPr lang="es-CO" sz="1800" b="1"/>
                        <a:t>city</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VARCHAR(50)</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No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dirty="0"/>
                        <a:t>Cardinalidad media. Rara vez se busca por ciudad exacta sin estado.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66670865"/>
                  </a:ext>
                </a:extLst>
              </a:tr>
            </a:tbl>
          </a:graphicData>
        </a:graphic>
      </p:graphicFrame>
    </p:spTree>
    <p:extLst>
      <p:ext uri="{BB962C8B-B14F-4D97-AF65-F5344CB8AC3E}">
        <p14:creationId xmlns:p14="http://schemas.microsoft.com/office/powerpoint/2010/main" val="32191521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408F-703A-70B0-83DC-B34E3B78DE3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4776FC-2F53-5E0F-0F15-19446EE7B12A}"/>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01F88C7-93C5-AB48-6BBD-528F5EA5624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52F0A97-C682-F162-DF35-38AF6CB1B7C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C7E167-C60C-2377-EFF0-978309AB87B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7BDFA9F-927B-B035-1D0B-FCFA18D2415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63F0211-7E5F-1BC6-1453-D8CE105E06E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E9C5F0A-A457-678A-B5B6-1D2A041FC92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A8DCA8D-07CF-D16B-242C-0D9E2C6053E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A543DAE-9D31-4338-A99E-4BBBA07B05B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FC2A86B-B776-5C99-0550-C38AF9EAA0F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4" name="Imagen 13">
            <a:extLst>
              <a:ext uri="{FF2B5EF4-FFF2-40B4-BE49-F238E27FC236}">
                <a16:creationId xmlns:a16="http://schemas.microsoft.com/office/drawing/2014/main" id="{940942C0-022C-5D63-ECF7-E7F92F30784B}"/>
              </a:ext>
            </a:extLst>
          </p:cNvPr>
          <p:cNvPicPr>
            <a:picLocks noChangeAspect="1"/>
          </p:cNvPicPr>
          <p:nvPr/>
        </p:nvPicPr>
        <p:blipFill>
          <a:blip r:embed="rId5"/>
          <a:stretch>
            <a:fillRect/>
          </a:stretch>
        </p:blipFill>
        <p:spPr>
          <a:xfrm>
            <a:off x="4284178" y="2299007"/>
            <a:ext cx="9983593" cy="5544324"/>
          </a:xfrm>
          <a:prstGeom prst="rect">
            <a:avLst/>
          </a:prstGeom>
        </p:spPr>
      </p:pic>
    </p:spTree>
    <p:extLst>
      <p:ext uri="{BB962C8B-B14F-4D97-AF65-F5344CB8AC3E}">
        <p14:creationId xmlns:p14="http://schemas.microsoft.com/office/powerpoint/2010/main" val="33906445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0F299-8CD1-660A-96B6-1542F22029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77D3A3B-5037-0936-B10A-DCE246CA7A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27852E8-B8F4-C478-E749-97044D3EE4D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BDED500-7720-836B-4E0F-D740D826177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B6D7200-5A79-9FDC-8320-CE5F838F389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72BE93B-187D-4E17-0A8B-EAC6DDF4F94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50DE2AB-503A-19D5-04F1-A52EC6E04F2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F3A714B-5E64-11F6-227C-B41B50074ED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BD91D86-A40C-4FFE-F9AA-2F5C34B5390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DCA89EC-F28F-1177-4A8B-9D8000E10192}"/>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12D14D3-F8E0-ABAE-0D85-B58666A72FA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40EBE69D-0824-F371-8A2A-1648B441EEA9}"/>
              </a:ext>
            </a:extLst>
          </p:cNvPr>
          <p:cNvSpPr txBox="1"/>
          <p:nvPr/>
        </p:nvSpPr>
        <p:spPr>
          <a:xfrm>
            <a:off x="1059238" y="3066008"/>
            <a:ext cx="5863473" cy="4154984"/>
          </a:xfrm>
          <a:prstGeom prst="rect">
            <a:avLst/>
          </a:prstGeom>
          <a:noFill/>
        </p:spPr>
        <p:txBody>
          <a:bodyPr wrap="square">
            <a:spAutoFit/>
          </a:bodyPr>
          <a:lstStyle/>
          <a:p>
            <a:pPr>
              <a:buNone/>
            </a:pPr>
            <a:r>
              <a:rPr lang="es-ES" sz="3200" b="1" dirty="0"/>
              <a:t>La Orden y sus Tiempos</a:t>
            </a:r>
          </a:p>
          <a:p>
            <a:pPr>
              <a:buNone/>
            </a:pPr>
            <a:r>
              <a:rPr lang="es-ES" sz="3200" b="1" dirty="0"/>
              <a:t>Análisis de </a:t>
            </a:r>
            <a:r>
              <a:rPr lang="es-ES" sz="3200" b="1" dirty="0" err="1">
                <a:latin typeface="Courier New" panose="02070309020205020404" pitchFamily="49" charset="0"/>
              </a:rPr>
              <a:t>olist_orders</a:t>
            </a:r>
            <a:endParaRPr lang="es-ES" sz="3200" b="1" dirty="0">
              <a:latin typeface="Courier New" panose="02070309020205020404" pitchFamily="49" charset="0"/>
            </a:endParaRPr>
          </a:p>
          <a:p>
            <a:pPr>
              <a:buNone/>
            </a:pPr>
            <a:endParaRPr lang="es-ES" sz="4000" dirty="0"/>
          </a:p>
          <a:p>
            <a:pPr>
              <a:buNone/>
            </a:pPr>
            <a:r>
              <a:rPr lang="es-ES" sz="4000" dirty="0"/>
              <a:t>Una orden no es solo un ID, es una historia en el tiempo. Necesitamos </a:t>
            </a:r>
            <a:r>
              <a:rPr lang="es-ES" sz="4000" i="1" dirty="0" err="1"/>
              <a:t>Timestamps</a:t>
            </a:r>
            <a:r>
              <a:rPr lang="es-ES" sz="4000" dirty="0"/>
              <a:t>.</a:t>
            </a:r>
          </a:p>
        </p:txBody>
      </p:sp>
      <p:pic>
        <p:nvPicPr>
          <p:cNvPr id="17" name="Imagen 16">
            <a:extLst>
              <a:ext uri="{FF2B5EF4-FFF2-40B4-BE49-F238E27FC236}">
                <a16:creationId xmlns:a16="http://schemas.microsoft.com/office/drawing/2014/main" id="{3F7DFDA5-B73A-7FEE-AD46-EF25EDC61F0F}"/>
              </a:ext>
            </a:extLst>
          </p:cNvPr>
          <p:cNvPicPr>
            <a:picLocks noChangeAspect="1"/>
          </p:cNvPicPr>
          <p:nvPr/>
        </p:nvPicPr>
        <p:blipFill>
          <a:blip r:embed="rId5"/>
          <a:stretch>
            <a:fillRect/>
          </a:stretch>
        </p:blipFill>
        <p:spPr>
          <a:xfrm>
            <a:off x="7864487" y="1791810"/>
            <a:ext cx="9440592" cy="7306695"/>
          </a:xfrm>
          <a:prstGeom prst="rect">
            <a:avLst/>
          </a:prstGeom>
        </p:spPr>
      </p:pic>
    </p:spTree>
    <p:extLst>
      <p:ext uri="{BB962C8B-B14F-4D97-AF65-F5344CB8AC3E}">
        <p14:creationId xmlns:p14="http://schemas.microsoft.com/office/powerpoint/2010/main" val="97940650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43F15-F006-AADB-B561-A19135DA8F4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6A679F-6806-1D7E-65C4-E9FB6AFD36B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4AA2E31-0BFB-A2A2-2C19-350B7DE0DC5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AC5E921-94A3-1A1B-94E9-EFA69D98531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075DB71-BBAB-172F-7A54-6C021737CC8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21E3D02-2347-66D4-D272-F6E184D1C3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EEC37227-95FC-902C-B788-FD62562B889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4BD12AA-F368-7C23-5654-1AF8BEC551F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2965CE2-3AA6-A9BD-FD1F-4239805A11F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A695EF5-30B2-4AFC-9F49-E440E84A79B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C3BE467-83D9-1A7E-0E11-8CC0EC14F70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4" name="Tabla 13">
            <a:extLst>
              <a:ext uri="{FF2B5EF4-FFF2-40B4-BE49-F238E27FC236}">
                <a16:creationId xmlns:a16="http://schemas.microsoft.com/office/drawing/2014/main" id="{9AB27EFD-4492-A836-526D-012F3CD2C7A3}"/>
              </a:ext>
            </a:extLst>
          </p:cNvPr>
          <p:cNvGraphicFramePr>
            <a:graphicFrameLocks noGrp="1"/>
          </p:cNvGraphicFramePr>
          <p:nvPr>
            <p:extLst>
              <p:ext uri="{D42A27DB-BD31-4B8C-83A1-F6EECF244321}">
                <p14:modId xmlns:p14="http://schemas.microsoft.com/office/powerpoint/2010/main" val="2936224747"/>
              </p:ext>
            </p:extLst>
          </p:nvPr>
        </p:nvGraphicFramePr>
        <p:xfrm>
          <a:off x="3307893" y="2543838"/>
          <a:ext cx="12529135" cy="4525964"/>
        </p:xfrm>
        <a:graphic>
          <a:graphicData uri="http://schemas.openxmlformats.org/drawingml/2006/table">
            <a:tbl>
              <a:tblPr/>
              <a:tblGrid>
                <a:gridCol w="2505827">
                  <a:extLst>
                    <a:ext uri="{9D8B030D-6E8A-4147-A177-3AD203B41FA5}">
                      <a16:colId xmlns:a16="http://schemas.microsoft.com/office/drawing/2014/main" val="2610676289"/>
                    </a:ext>
                  </a:extLst>
                </a:gridCol>
                <a:gridCol w="2505827">
                  <a:extLst>
                    <a:ext uri="{9D8B030D-6E8A-4147-A177-3AD203B41FA5}">
                      <a16:colId xmlns:a16="http://schemas.microsoft.com/office/drawing/2014/main" val="1097042710"/>
                    </a:ext>
                  </a:extLst>
                </a:gridCol>
                <a:gridCol w="2505827">
                  <a:extLst>
                    <a:ext uri="{9D8B030D-6E8A-4147-A177-3AD203B41FA5}">
                      <a16:colId xmlns:a16="http://schemas.microsoft.com/office/drawing/2014/main" val="2996412133"/>
                    </a:ext>
                  </a:extLst>
                </a:gridCol>
                <a:gridCol w="2505827">
                  <a:extLst>
                    <a:ext uri="{9D8B030D-6E8A-4147-A177-3AD203B41FA5}">
                      <a16:colId xmlns:a16="http://schemas.microsoft.com/office/drawing/2014/main" val="1842422476"/>
                    </a:ext>
                  </a:extLst>
                </a:gridCol>
                <a:gridCol w="2505827">
                  <a:extLst>
                    <a:ext uri="{9D8B030D-6E8A-4147-A177-3AD203B41FA5}">
                      <a16:colId xmlns:a16="http://schemas.microsoft.com/office/drawing/2014/main" val="4203989792"/>
                    </a:ext>
                  </a:extLst>
                </a:gridCol>
              </a:tblGrid>
              <a:tr h="474947">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extLst>
                  <a:ext uri="{0D108BD9-81ED-4DB2-BD59-A6C34878D82A}">
                    <a16:rowId xmlns:a16="http://schemas.microsoft.com/office/drawing/2014/main" val="221086454"/>
                  </a:ext>
                </a:extLst>
              </a:tr>
              <a:tr h="1061646">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a:p>
                  </a:txBody>
                  <a:tcPr marL="83814" marR="83814" marT="41907" marB="41907" anchor="ctr">
                    <a:lnL>
                      <a:noFill/>
                    </a:lnL>
                    <a:lnR>
                      <a:noFill/>
                    </a:lnR>
                    <a:lnT>
                      <a:noFill/>
                    </a:lnT>
                    <a:lnB>
                      <a:noFill/>
                    </a:lnB>
                    <a:noFill/>
                  </a:tcPr>
                </a:tc>
                <a:extLst>
                  <a:ext uri="{0D108BD9-81ED-4DB2-BD59-A6C34878D82A}">
                    <a16:rowId xmlns:a16="http://schemas.microsoft.com/office/drawing/2014/main" val="1123942537"/>
                  </a:ext>
                </a:extLst>
              </a:tr>
              <a:tr h="866079">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4154553749"/>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145045285"/>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2686714905"/>
                  </a:ext>
                </a:extLst>
              </a:tr>
            </a:tbl>
          </a:graphicData>
        </a:graphic>
      </p:graphicFrame>
      <p:graphicFrame>
        <p:nvGraphicFramePr>
          <p:cNvPr id="16" name="Tabla 15">
            <a:extLst>
              <a:ext uri="{FF2B5EF4-FFF2-40B4-BE49-F238E27FC236}">
                <a16:creationId xmlns:a16="http://schemas.microsoft.com/office/drawing/2014/main" id="{4C9D6250-E448-7460-9173-240854D68823}"/>
              </a:ext>
            </a:extLst>
          </p:cNvPr>
          <p:cNvGraphicFramePr>
            <a:graphicFrameLocks noGrp="1"/>
          </p:cNvGraphicFramePr>
          <p:nvPr>
            <p:extLst>
              <p:ext uri="{D42A27DB-BD31-4B8C-83A1-F6EECF244321}">
                <p14:modId xmlns:p14="http://schemas.microsoft.com/office/powerpoint/2010/main" val="1770940763"/>
              </p:ext>
            </p:extLst>
          </p:nvPr>
        </p:nvGraphicFramePr>
        <p:xfrm>
          <a:off x="3709447" y="2099369"/>
          <a:ext cx="12476376" cy="6469596"/>
        </p:xfrm>
        <a:graphic>
          <a:graphicData uri="http://schemas.openxmlformats.org/drawingml/2006/table">
            <a:tbl>
              <a:tblPr/>
              <a:tblGrid>
                <a:gridCol w="2387809">
                  <a:extLst>
                    <a:ext uri="{9D8B030D-6E8A-4147-A177-3AD203B41FA5}">
                      <a16:colId xmlns:a16="http://schemas.microsoft.com/office/drawing/2014/main" val="1284767178"/>
                    </a:ext>
                  </a:extLst>
                </a:gridCol>
                <a:gridCol w="2387809">
                  <a:extLst>
                    <a:ext uri="{9D8B030D-6E8A-4147-A177-3AD203B41FA5}">
                      <a16:colId xmlns:a16="http://schemas.microsoft.com/office/drawing/2014/main" val="2554771435"/>
                    </a:ext>
                  </a:extLst>
                </a:gridCol>
                <a:gridCol w="2387809">
                  <a:extLst>
                    <a:ext uri="{9D8B030D-6E8A-4147-A177-3AD203B41FA5}">
                      <a16:colId xmlns:a16="http://schemas.microsoft.com/office/drawing/2014/main" val="2141170073"/>
                    </a:ext>
                  </a:extLst>
                </a:gridCol>
                <a:gridCol w="2387809">
                  <a:extLst>
                    <a:ext uri="{9D8B030D-6E8A-4147-A177-3AD203B41FA5}">
                      <a16:colId xmlns:a16="http://schemas.microsoft.com/office/drawing/2014/main" val="1136245862"/>
                    </a:ext>
                  </a:extLst>
                </a:gridCol>
                <a:gridCol w="2925140">
                  <a:extLst>
                    <a:ext uri="{9D8B030D-6E8A-4147-A177-3AD203B41FA5}">
                      <a16:colId xmlns:a16="http://schemas.microsoft.com/office/drawing/2014/main" val="831216041"/>
                    </a:ext>
                  </a:extLst>
                </a:gridCol>
              </a:tblGrid>
              <a:tr h="696726">
                <a:tc>
                  <a:txBody>
                    <a:bodyPr/>
                    <a:lstStyle/>
                    <a:p>
                      <a:pPr>
                        <a:buNone/>
                      </a:pPr>
                      <a:r>
                        <a:rPr lang="es-CO" sz="1800" dirty="0"/>
                        <a:t>Campo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Tipo Sugerido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¿Requerido?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¿Indexado?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Justificación Técnica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28917749"/>
                  </a:ext>
                </a:extLst>
              </a:tr>
              <a:tr h="696726">
                <a:tc>
                  <a:txBody>
                    <a:bodyPr/>
                    <a:lstStyle/>
                    <a:p>
                      <a:pPr>
                        <a:buNone/>
                      </a:pPr>
                      <a:r>
                        <a:rPr lang="es-CO" sz="1800" b="1"/>
                        <a:t>order_id</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CHAR(32)</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(Auto)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Identificador principal.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04017533"/>
                  </a:ext>
                </a:extLst>
              </a:tr>
              <a:tr h="2189709">
                <a:tc>
                  <a:txBody>
                    <a:bodyPr/>
                    <a:lstStyle/>
                    <a:p>
                      <a:pPr>
                        <a:buNone/>
                      </a:pPr>
                      <a:r>
                        <a:rPr lang="es-CO" sz="1800" b="1"/>
                        <a:t>order_status</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VARCHAR(20)</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Cardinalidad baja (aprox 8 estados), pero esencial para filtrar "dashboards operativos".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2695969"/>
                  </a:ext>
                </a:extLst>
              </a:tr>
              <a:tr h="1592516">
                <a:tc>
                  <a:txBody>
                    <a:bodyPr/>
                    <a:lstStyle/>
                    <a:p>
                      <a:pPr>
                        <a:buNone/>
                      </a:pPr>
                      <a:r>
                        <a:rPr lang="es-CO" sz="1800" b="1"/>
                        <a:t>purchase_timestamp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a:t>Filtro #1 en reportes ("Ventas de Ayer"). Indispensable el índice.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20241806"/>
                  </a:ext>
                </a:extLst>
              </a:tr>
              <a:tr h="1293919">
                <a:tc>
                  <a:txBody>
                    <a:bodyPr/>
                    <a:lstStyle/>
                    <a:p>
                      <a:pPr>
                        <a:buNone/>
                      </a:pPr>
                      <a:r>
                        <a:rPr lang="es-CO" sz="1800" b="1"/>
                        <a:t>delivered_customer_date</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NO</a:t>
                      </a:r>
                      <a:r>
                        <a:rPr lang="es-CO" sz="1800"/>
                        <a:t> (Nullable)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b="1" dirty="0"/>
                        <a:t>Alerta:</a:t>
                      </a:r>
                      <a:r>
                        <a:rPr lang="es-ES" sz="1800" dirty="0"/>
                        <a:t> Al crear la orden, esto </a:t>
                      </a:r>
                      <a:r>
                        <a:rPr lang="es-ES" sz="1800" i="1" dirty="0"/>
                        <a:t>aún no existe</a:t>
                      </a:r>
                      <a:r>
                        <a:rPr lang="es-ES" sz="1800" dirty="0"/>
                        <a:t>. Debe permitir </a:t>
                      </a:r>
                      <a:r>
                        <a:rPr lang="es-ES" sz="1800" dirty="0">
                          <a:latin typeface="Courier New" panose="02070309020205020404" pitchFamily="49" charset="0"/>
                        </a:rPr>
                        <a:t>NULL</a:t>
                      </a:r>
                      <a:r>
                        <a:rPr lang="es-ES" sz="1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3566175"/>
                  </a:ext>
                </a:extLst>
              </a:tr>
            </a:tbl>
          </a:graphicData>
        </a:graphic>
      </p:graphicFrame>
    </p:spTree>
    <p:extLst>
      <p:ext uri="{BB962C8B-B14F-4D97-AF65-F5344CB8AC3E}">
        <p14:creationId xmlns:p14="http://schemas.microsoft.com/office/powerpoint/2010/main" val="20274692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1F1CA-CE3C-80EC-958F-3D6F85E4F2E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B120D37-B13F-E009-1698-0A5039C7DC4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82E2A64-E620-4FDC-9B66-5289A7F9C27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2FE41A3-13F3-5604-025F-5044A3E1EAA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CB14D35-FCF1-79DC-20F6-E9CB2B78616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AEF11FF-008F-170C-E3CC-8A20BB0335E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05D55CA-5EC6-4454-5600-A8CD31C2E96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E54844F-56D4-13CD-9734-93ED83C8DC5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CD653AC-B10C-6913-461A-A733077ED63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1A46772-220F-84E5-F83C-2A392928B81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AB9A545-5F19-5C87-61BB-E4975483C14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4" name="Tabla 13">
            <a:extLst>
              <a:ext uri="{FF2B5EF4-FFF2-40B4-BE49-F238E27FC236}">
                <a16:creationId xmlns:a16="http://schemas.microsoft.com/office/drawing/2014/main" id="{EE6C87CF-376D-1945-404D-9C849BB44C12}"/>
              </a:ext>
            </a:extLst>
          </p:cNvPr>
          <p:cNvGraphicFramePr>
            <a:graphicFrameLocks noGrp="1"/>
          </p:cNvGraphicFramePr>
          <p:nvPr/>
        </p:nvGraphicFramePr>
        <p:xfrm>
          <a:off x="3307893" y="2543838"/>
          <a:ext cx="12529135" cy="4525964"/>
        </p:xfrm>
        <a:graphic>
          <a:graphicData uri="http://schemas.openxmlformats.org/drawingml/2006/table">
            <a:tbl>
              <a:tblPr/>
              <a:tblGrid>
                <a:gridCol w="2505827">
                  <a:extLst>
                    <a:ext uri="{9D8B030D-6E8A-4147-A177-3AD203B41FA5}">
                      <a16:colId xmlns:a16="http://schemas.microsoft.com/office/drawing/2014/main" val="2610676289"/>
                    </a:ext>
                  </a:extLst>
                </a:gridCol>
                <a:gridCol w="2505827">
                  <a:extLst>
                    <a:ext uri="{9D8B030D-6E8A-4147-A177-3AD203B41FA5}">
                      <a16:colId xmlns:a16="http://schemas.microsoft.com/office/drawing/2014/main" val="1097042710"/>
                    </a:ext>
                  </a:extLst>
                </a:gridCol>
                <a:gridCol w="2505827">
                  <a:extLst>
                    <a:ext uri="{9D8B030D-6E8A-4147-A177-3AD203B41FA5}">
                      <a16:colId xmlns:a16="http://schemas.microsoft.com/office/drawing/2014/main" val="2996412133"/>
                    </a:ext>
                  </a:extLst>
                </a:gridCol>
                <a:gridCol w="2505827">
                  <a:extLst>
                    <a:ext uri="{9D8B030D-6E8A-4147-A177-3AD203B41FA5}">
                      <a16:colId xmlns:a16="http://schemas.microsoft.com/office/drawing/2014/main" val="1842422476"/>
                    </a:ext>
                  </a:extLst>
                </a:gridCol>
                <a:gridCol w="2505827">
                  <a:extLst>
                    <a:ext uri="{9D8B030D-6E8A-4147-A177-3AD203B41FA5}">
                      <a16:colId xmlns:a16="http://schemas.microsoft.com/office/drawing/2014/main" val="4203989792"/>
                    </a:ext>
                  </a:extLst>
                </a:gridCol>
              </a:tblGrid>
              <a:tr h="474947">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extLst>
                  <a:ext uri="{0D108BD9-81ED-4DB2-BD59-A6C34878D82A}">
                    <a16:rowId xmlns:a16="http://schemas.microsoft.com/office/drawing/2014/main" val="221086454"/>
                  </a:ext>
                </a:extLst>
              </a:tr>
              <a:tr h="1061646">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a:p>
                  </a:txBody>
                  <a:tcPr marL="83814" marR="83814" marT="41907" marB="41907" anchor="ctr">
                    <a:lnL>
                      <a:noFill/>
                    </a:lnL>
                    <a:lnR>
                      <a:noFill/>
                    </a:lnR>
                    <a:lnT>
                      <a:noFill/>
                    </a:lnT>
                    <a:lnB>
                      <a:noFill/>
                    </a:lnB>
                    <a:noFill/>
                  </a:tcPr>
                </a:tc>
                <a:extLst>
                  <a:ext uri="{0D108BD9-81ED-4DB2-BD59-A6C34878D82A}">
                    <a16:rowId xmlns:a16="http://schemas.microsoft.com/office/drawing/2014/main" val="1123942537"/>
                  </a:ext>
                </a:extLst>
              </a:tr>
              <a:tr h="866079">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4154553749"/>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145045285"/>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2686714905"/>
                  </a:ext>
                </a:extLst>
              </a:tr>
            </a:tbl>
          </a:graphicData>
        </a:graphic>
      </p:graphicFrame>
      <p:graphicFrame>
        <p:nvGraphicFramePr>
          <p:cNvPr id="12" name="Tabla 11">
            <a:extLst>
              <a:ext uri="{FF2B5EF4-FFF2-40B4-BE49-F238E27FC236}">
                <a16:creationId xmlns:a16="http://schemas.microsoft.com/office/drawing/2014/main" id="{E04A860C-FFBE-C935-FD04-B394E5C4F715}"/>
              </a:ext>
            </a:extLst>
          </p:cNvPr>
          <p:cNvGraphicFramePr>
            <a:graphicFrameLocks noGrp="1"/>
          </p:cNvGraphicFramePr>
          <p:nvPr>
            <p:extLst>
              <p:ext uri="{D42A27DB-BD31-4B8C-83A1-F6EECF244321}">
                <p14:modId xmlns:p14="http://schemas.microsoft.com/office/powerpoint/2010/main" val="363717402"/>
              </p:ext>
            </p:extLst>
          </p:nvPr>
        </p:nvGraphicFramePr>
        <p:xfrm>
          <a:off x="2975910" y="3626190"/>
          <a:ext cx="13551035" cy="4023360"/>
        </p:xfrm>
        <a:graphic>
          <a:graphicData uri="http://schemas.openxmlformats.org/drawingml/2006/table">
            <a:tbl>
              <a:tblPr/>
              <a:tblGrid>
                <a:gridCol w="2710207">
                  <a:extLst>
                    <a:ext uri="{9D8B030D-6E8A-4147-A177-3AD203B41FA5}">
                      <a16:colId xmlns:a16="http://schemas.microsoft.com/office/drawing/2014/main" val="2718596261"/>
                    </a:ext>
                  </a:extLst>
                </a:gridCol>
                <a:gridCol w="2710207">
                  <a:extLst>
                    <a:ext uri="{9D8B030D-6E8A-4147-A177-3AD203B41FA5}">
                      <a16:colId xmlns:a16="http://schemas.microsoft.com/office/drawing/2014/main" val="432804879"/>
                    </a:ext>
                  </a:extLst>
                </a:gridCol>
                <a:gridCol w="2710207">
                  <a:extLst>
                    <a:ext uri="{9D8B030D-6E8A-4147-A177-3AD203B41FA5}">
                      <a16:colId xmlns:a16="http://schemas.microsoft.com/office/drawing/2014/main" val="3216433560"/>
                    </a:ext>
                  </a:extLst>
                </a:gridCol>
                <a:gridCol w="2710207">
                  <a:extLst>
                    <a:ext uri="{9D8B030D-6E8A-4147-A177-3AD203B41FA5}">
                      <a16:colId xmlns:a16="http://schemas.microsoft.com/office/drawing/2014/main" val="994954247"/>
                    </a:ext>
                  </a:extLst>
                </a:gridCol>
                <a:gridCol w="2710207">
                  <a:extLst>
                    <a:ext uri="{9D8B030D-6E8A-4147-A177-3AD203B41FA5}">
                      <a16:colId xmlns:a16="http://schemas.microsoft.com/office/drawing/2014/main" val="2358417906"/>
                    </a:ext>
                  </a:extLst>
                </a:gridCol>
              </a:tblGrid>
              <a:tr h="0">
                <a:tc>
                  <a:txBody>
                    <a:bodyPr/>
                    <a:lstStyle/>
                    <a:p>
                      <a:pPr>
                        <a:buNone/>
                      </a:pPr>
                      <a:r>
                        <a:rPr lang="es-CO" sz="2000" dirty="0"/>
                        <a:t>Campo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Tipo Sugerido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¿Requerido?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¿Indexado?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Justificación Técnica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8537495"/>
                  </a:ext>
                </a:extLst>
              </a:tr>
              <a:tr h="477612">
                <a:tc>
                  <a:txBody>
                    <a:bodyPr/>
                    <a:lstStyle/>
                    <a:p>
                      <a:pPr>
                        <a:buNone/>
                      </a:pPr>
                      <a:r>
                        <a:rPr lang="es-CO" sz="2000" b="1" dirty="0" err="1"/>
                        <a:t>product_id</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latin typeface="Courier New" panose="02070309020205020404" pitchFamily="49" charset="0"/>
                        </a:rPr>
                        <a:t>CHAR(32)</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dirty="0"/>
                        <a:t>SÍ</a:t>
                      </a:r>
                      <a:r>
                        <a:rPr lang="es-CO" sz="2000" dirty="0"/>
                        <a:t> (FK)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a:t>SÍ</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FK estándar para JOINs.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3423353"/>
                  </a:ext>
                </a:extLst>
              </a:tr>
              <a:tr h="0">
                <a:tc>
                  <a:txBody>
                    <a:bodyPr/>
                    <a:lstStyle/>
                    <a:p>
                      <a:pPr>
                        <a:buNone/>
                      </a:pPr>
                      <a:r>
                        <a:rPr lang="es-CO" sz="2000" b="1" dirty="0" err="1"/>
                        <a:t>price</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latin typeface="Courier New" panose="02070309020205020404" pitchFamily="49" charset="0"/>
                        </a:rPr>
                        <a:t>DECIMAL(10,2)</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dirty="0"/>
                        <a:t>SÍ</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t>Nunca usar </a:t>
                      </a:r>
                      <a:r>
                        <a:rPr lang="es-CO" sz="2000" dirty="0">
                          <a:latin typeface="Courier New" panose="02070309020205020404" pitchFamily="49" charset="0"/>
                        </a:rPr>
                        <a:t>FLOAT</a:t>
                      </a:r>
                      <a:r>
                        <a:rPr lang="es-CO" sz="2000" dirty="0"/>
                        <a:t> para dinero. No se suele indexar salvo para rangos de precio.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59688924"/>
                  </a:ext>
                </a:extLst>
              </a:tr>
              <a:tr h="0">
                <a:tc>
                  <a:txBody>
                    <a:bodyPr/>
                    <a:lstStyle/>
                    <a:p>
                      <a:pPr>
                        <a:buNone/>
                      </a:pPr>
                      <a:r>
                        <a:rPr lang="es-CO" sz="2000" b="1"/>
                        <a:t>order_item_id</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latin typeface="Courier New" panose="02070309020205020404" pitchFamily="49" charset="0"/>
                        </a:rPr>
                        <a:t>INT</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a:t>SÍ</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000" dirty="0"/>
                        <a:t>Es parte de la PK compuesta, pero por sí solo tiene poca utilidad de búsqueda.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5554611"/>
                  </a:ext>
                </a:extLst>
              </a:tr>
            </a:tbl>
          </a:graphicData>
        </a:graphic>
      </p:graphicFrame>
      <p:sp>
        <p:nvSpPr>
          <p:cNvPr id="13" name="CuadroTexto 12">
            <a:extLst>
              <a:ext uri="{FF2B5EF4-FFF2-40B4-BE49-F238E27FC236}">
                <a16:creationId xmlns:a16="http://schemas.microsoft.com/office/drawing/2014/main" id="{FE54FD78-2D1D-4595-58A9-0782DD7FCCEA}"/>
              </a:ext>
            </a:extLst>
          </p:cNvPr>
          <p:cNvSpPr txBox="1"/>
          <p:nvPr/>
        </p:nvSpPr>
        <p:spPr>
          <a:xfrm>
            <a:off x="1530578" y="916185"/>
            <a:ext cx="5863473" cy="584775"/>
          </a:xfrm>
          <a:prstGeom prst="rect">
            <a:avLst/>
          </a:prstGeom>
          <a:noFill/>
        </p:spPr>
        <p:txBody>
          <a:bodyPr wrap="square">
            <a:spAutoFit/>
          </a:bodyPr>
          <a:lstStyle/>
          <a:p>
            <a:pPr>
              <a:buNone/>
            </a:pPr>
            <a:r>
              <a:rPr lang="es-ES" sz="3200" b="1" dirty="0"/>
              <a:t>Muestra</a:t>
            </a:r>
            <a:endParaRPr lang="es-ES" sz="4000" dirty="0"/>
          </a:p>
        </p:txBody>
      </p:sp>
    </p:spTree>
    <p:extLst>
      <p:ext uri="{BB962C8B-B14F-4D97-AF65-F5344CB8AC3E}">
        <p14:creationId xmlns:p14="http://schemas.microsoft.com/office/powerpoint/2010/main" val="36957639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761CE-C638-6CD1-DA65-04C04F7DF22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D5A95AF-8336-8909-472B-AF1A68985C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FBCEB714-60C6-7A33-E435-A4FBC323228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3C70E6F-A3A2-31FC-3D66-6564F52387E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16C1ECC-FBB2-0C70-E900-2AE108D2BEB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70806F7-1DF4-F8A7-140D-1E2C277D947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268B4A4-D69F-AA10-5988-F32473308C5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749E62F-E81D-6001-782D-9D2DBF29CB6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B45A7F3-5602-854F-9C4B-D1C109A130E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4DF7B5B-491D-D3AC-58A9-BBDBC32ED6F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DD84319-279D-91CE-C667-CFAEC00613F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2E18296-D80C-37CB-3961-306BA02AEB32}"/>
              </a:ext>
            </a:extLst>
          </p:cNvPr>
          <p:cNvSpPr txBox="1"/>
          <p:nvPr/>
        </p:nvSpPr>
        <p:spPr>
          <a:xfrm>
            <a:off x="1610903" y="2029520"/>
            <a:ext cx="6445577" cy="6001643"/>
          </a:xfrm>
          <a:prstGeom prst="rect">
            <a:avLst/>
          </a:prstGeom>
          <a:noFill/>
        </p:spPr>
        <p:txBody>
          <a:bodyPr wrap="square">
            <a:spAutoFit/>
          </a:bodyPr>
          <a:lstStyle/>
          <a:p>
            <a:pPr>
              <a:buNone/>
            </a:pPr>
            <a:r>
              <a:rPr lang="es-ES" sz="3200" b="1" dirty="0"/>
              <a:t>El Corazón Transaccional (</a:t>
            </a:r>
            <a:r>
              <a:rPr lang="es-ES" sz="3200" b="1" dirty="0" err="1"/>
              <a:t>Order</a:t>
            </a:r>
            <a:r>
              <a:rPr lang="es-ES" sz="3200" b="1" dirty="0"/>
              <a:t> </a:t>
            </a:r>
            <a:r>
              <a:rPr lang="es-ES" sz="3200" b="1" dirty="0" err="1"/>
              <a:t>Items</a:t>
            </a:r>
            <a:r>
              <a:rPr lang="es-ES" sz="3200" b="1" dirty="0"/>
              <a:t>)</a:t>
            </a:r>
          </a:p>
          <a:p>
            <a:pPr>
              <a:buNone/>
            </a:pPr>
            <a:r>
              <a:rPr lang="es-ES" sz="3200" b="1" dirty="0"/>
              <a:t>Análisis de </a:t>
            </a:r>
            <a:r>
              <a:rPr lang="es-ES" sz="3200" b="1" dirty="0">
                <a:latin typeface="Courier New" panose="02070309020205020404" pitchFamily="49" charset="0"/>
              </a:rPr>
              <a:t>olist_order_items_dataset.csv</a:t>
            </a:r>
            <a:endParaRPr lang="es-ES" sz="3200" dirty="0"/>
          </a:p>
          <a:p>
            <a:pPr>
              <a:buNone/>
            </a:pPr>
            <a:r>
              <a:rPr lang="es-ES" sz="3200" dirty="0"/>
              <a:t>Aquí hay una lección crítica de diseño: </a:t>
            </a:r>
            <a:r>
              <a:rPr lang="es-ES" sz="3200" b="1" dirty="0"/>
              <a:t>La Llave Compuesta</a:t>
            </a:r>
            <a:r>
              <a:rPr lang="es-ES" sz="3200" dirty="0"/>
              <a:t>.</a:t>
            </a:r>
          </a:p>
          <a:p>
            <a:pPr>
              <a:buFont typeface="Arial" panose="020B0604020202020204" pitchFamily="34" charset="0"/>
              <a:buChar char="•"/>
            </a:pPr>
            <a:r>
              <a:rPr lang="es-ES" sz="3200" dirty="0"/>
              <a:t>No hay un "ID único de ítem" global.</a:t>
            </a:r>
          </a:p>
          <a:p>
            <a:pPr>
              <a:buFont typeface="Arial" panose="020B0604020202020204" pitchFamily="34" charset="0"/>
              <a:buChar char="•"/>
            </a:pPr>
            <a:r>
              <a:rPr lang="es-ES" sz="3200" dirty="0"/>
              <a:t>La llave es la combinación de </a:t>
            </a:r>
            <a:r>
              <a:rPr lang="es-ES" sz="3200" dirty="0" err="1">
                <a:latin typeface="Courier New" panose="02070309020205020404" pitchFamily="49" charset="0"/>
              </a:rPr>
              <a:t>order_id</a:t>
            </a:r>
            <a:r>
              <a:rPr lang="es-ES" sz="3200" dirty="0"/>
              <a:t> + </a:t>
            </a:r>
            <a:r>
              <a:rPr lang="es-ES" sz="3200" dirty="0" err="1">
                <a:latin typeface="Courier New" panose="02070309020205020404" pitchFamily="49" charset="0"/>
              </a:rPr>
              <a:t>order_item_id</a:t>
            </a:r>
            <a:r>
              <a:rPr lang="es-ES" sz="3200" dirty="0"/>
              <a:t> (1, 2, 3...).</a:t>
            </a:r>
          </a:p>
        </p:txBody>
      </p:sp>
      <p:pic>
        <p:nvPicPr>
          <p:cNvPr id="15" name="Imagen 14">
            <a:extLst>
              <a:ext uri="{FF2B5EF4-FFF2-40B4-BE49-F238E27FC236}">
                <a16:creationId xmlns:a16="http://schemas.microsoft.com/office/drawing/2014/main" id="{A9B87A72-3DDF-080C-B772-1F294959A498}"/>
              </a:ext>
            </a:extLst>
          </p:cNvPr>
          <p:cNvPicPr>
            <a:picLocks noChangeAspect="1"/>
          </p:cNvPicPr>
          <p:nvPr/>
        </p:nvPicPr>
        <p:blipFill>
          <a:blip r:embed="rId5"/>
          <a:stretch>
            <a:fillRect/>
          </a:stretch>
        </p:blipFill>
        <p:spPr>
          <a:xfrm>
            <a:off x="8738422" y="2271860"/>
            <a:ext cx="8947113" cy="5516964"/>
          </a:xfrm>
          <a:prstGeom prst="rect">
            <a:avLst/>
          </a:prstGeom>
        </p:spPr>
      </p:pic>
    </p:spTree>
    <p:extLst>
      <p:ext uri="{BB962C8B-B14F-4D97-AF65-F5344CB8AC3E}">
        <p14:creationId xmlns:p14="http://schemas.microsoft.com/office/powerpoint/2010/main" val="361787667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9DC32-6EA5-4724-26C8-9B38A0BFB0D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E7041E9-73DE-62A5-32B5-2D237296FB3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B7E025A-C234-C187-4DC5-BA0BA14A356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E674308-DA3F-C818-4F4F-F7F058E863C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3A5F6F8-8499-2F0D-75FA-F5444D02170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7B5EDFA-B11F-ACAF-51C0-EA850D6483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E408313-DFCD-7858-8285-98D06A82015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FD9EBE9-90C4-E9B4-05DB-E725EF8682D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ABF8983-8E80-4C1A-1E5E-74520604161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F6C4841-CC09-E0B9-36CC-133888F999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A8C2F05-6C67-2DCA-F1AF-FAED203801E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BFBB4E0-D130-EEDF-E0A8-428A17CA7757}"/>
              </a:ext>
            </a:extLst>
          </p:cNvPr>
          <p:cNvSpPr txBox="1"/>
          <p:nvPr/>
        </p:nvSpPr>
        <p:spPr>
          <a:xfrm>
            <a:off x="1445738" y="817294"/>
            <a:ext cx="13033833" cy="1815882"/>
          </a:xfrm>
          <a:prstGeom prst="rect">
            <a:avLst/>
          </a:prstGeom>
          <a:noFill/>
        </p:spPr>
        <p:txBody>
          <a:bodyPr wrap="square">
            <a:spAutoFit/>
          </a:bodyPr>
          <a:lstStyle/>
          <a:p>
            <a:pPr>
              <a:buNone/>
            </a:pPr>
            <a:r>
              <a:rPr lang="es-ES" sz="2800" b="1" dirty="0"/>
              <a:t>Productos y Vendedores (Catálogos)</a:t>
            </a:r>
          </a:p>
          <a:p>
            <a:pPr>
              <a:buNone/>
            </a:pPr>
            <a:endParaRPr lang="es-ES" sz="2800" b="1" dirty="0"/>
          </a:p>
          <a:p>
            <a:pPr>
              <a:buNone/>
            </a:pPr>
            <a:r>
              <a:rPr lang="es-ES" sz="2800" b="1" dirty="0"/>
              <a:t>Análisis de </a:t>
            </a:r>
            <a:r>
              <a:rPr lang="es-ES" sz="2800" b="1" dirty="0" err="1">
                <a:latin typeface="Courier New" panose="02070309020205020404" pitchFamily="49" charset="0"/>
              </a:rPr>
              <a:t>products</a:t>
            </a:r>
            <a:r>
              <a:rPr lang="es-ES" sz="2800" b="1" dirty="0"/>
              <a:t> y </a:t>
            </a:r>
            <a:r>
              <a:rPr lang="es-ES" sz="2800" b="1" dirty="0" err="1">
                <a:latin typeface="Courier New" panose="02070309020205020404" pitchFamily="49" charset="0"/>
              </a:rPr>
              <a:t>sellers</a:t>
            </a:r>
            <a:endParaRPr lang="es-ES" sz="2800" dirty="0"/>
          </a:p>
          <a:p>
            <a:pPr>
              <a:buNone/>
            </a:pPr>
            <a:r>
              <a:rPr lang="es-ES" sz="2800" dirty="0"/>
              <a:t>Estas son tablas maestras. Su función es guardar las características estáticas.</a:t>
            </a:r>
          </a:p>
        </p:txBody>
      </p:sp>
      <p:pic>
        <p:nvPicPr>
          <p:cNvPr id="15" name="Imagen 14">
            <a:extLst>
              <a:ext uri="{FF2B5EF4-FFF2-40B4-BE49-F238E27FC236}">
                <a16:creationId xmlns:a16="http://schemas.microsoft.com/office/drawing/2014/main" id="{BFB28C8E-6E01-21E8-7FD3-31F9064C9AD2}"/>
              </a:ext>
            </a:extLst>
          </p:cNvPr>
          <p:cNvPicPr>
            <a:picLocks noChangeAspect="1"/>
          </p:cNvPicPr>
          <p:nvPr/>
        </p:nvPicPr>
        <p:blipFill>
          <a:blip r:embed="rId5"/>
          <a:stretch>
            <a:fillRect/>
          </a:stretch>
        </p:blipFill>
        <p:spPr>
          <a:xfrm>
            <a:off x="4067348" y="3287118"/>
            <a:ext cx="10888595" cy="6182588"/>
          </a:xfrm>
          <a:prstGeom prst="rect">
            <a:avLst/>
          </a:prstGeom>
        </p:spPr>
      </p:pic>
    </p:spTree>
    <p:extLst>
      <p:ext uri="{BB962C8B-B14F-4D97-AF65-F5344CB8AC3E}">
        <p14:creationId xmlns:p14="http://schemas.microsoft.com/office/powerpoint/2010/main" val="46150196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5A6A7-AE82-0D03-4A4A-73BB5F6F638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22391A1-D7CE-6E73-9E67-BBBD9CF568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45E793D-0188-5C8C-C64E-5D1C791452D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A2D4A00-426F-BE67-5874-94851E346E7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85679C4-953D-0533-3D7E-CB4B16CB3BE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5AC1C83-91B9-3D50-1468-A981D883863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64B8C95-7046-E825-B668-D94A3634882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001AA3B-D36C-C864-FBF1-CBDAF99154F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F2B61A6-6791-F8C3-9CFC-84FAE5928AE4}"/>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A971B63-8177-7618-E33C-B0AC2880044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83BA2EE-CDF0-1BC2-BFBC-05BD839EDC2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2FEF8BD-7B82-247D-B7B6-9717D83CD355}"/>
              </a:ext>
            </a:extLst>
          </p:cNvPr>
          <p:cNvSpPr txBox="1"/>
          <p:nvPr/>
        </p:nvSpPr>
        <p:spPr>
          <a:xfrm>
            <a:off x="1559386" y="885770"/>
            <a:ext cx="13355763" cy="1938992"/>
          </a:xfrm>
          <a:prstGeom prst="rect">
            <a:avLst/>
          </a:prstGeom>
          <a:noFill/>
        </p:spPr>
        <p:txBody>
          <a:bodyPr wrap="square">
            <a:spAutoFit/>
          </a:bodyPr>
          <a:lstStyle/>
          <a:p>
            <a:pPr>
              <a:buNone/>
            </a:pPr>
            <a:r>
              <a:rPr lang="es-ES" sz="2000" b="1" dirty="0"/>
              <a:t>Pagos y Reseñas (Detalles Finales)</a:t>
            </a:r>
          </a:p>
          <a:p>
            <a:pPr>
              <a:buNone/>
            </a:pPr>
            <a:endParaRPr lang="es-ES" sz="2000" b="1" dirty="0"/>
          </a:p>
          <a:p>
            <a:pPr>
              <a:buNone/>
            </a:pPr>
            <a:r>
              <a:rPr lang="es-ES" sz="2000" b="1" dirty="0"/>
              <a:t>La importancia de la Integridad</a:t>
            </a:r>
          </a:p>
          <a:p>
            <a:pPr>
              <a:buNone/>
            </a:pPr>
            <a:endParaRPr lang="es-ES" sz="2000" dirty="0"/>
          </a:p>
          <a:p>
            <a:pPr marL="285750" indent="-285750">
              <a:buFont typeface="Arial" panose="020B0604020202020204" pitchFamily="34" charset="0"/>
              <a:buChar char="•"/>
            </a:pPr>
            <a:r>
              <a:rPr lang="es-ES" sz="2000" b="1" dirty="0"/>
              <a:t>Pagos:</a:t>
            </a:r>
            <a:r>
              <a:rPr lang="es-ES" sz="2000" dirty="0"/>
              <a:t> Usamos una llave compuesta o secuencial porque un pago puede dividirse.</a:t>
            </a:r>
          </a:p>
          <a:p>
            <a:pPr marL="285750" indent="-285750">
              <a:buFont typeface="Arial" panose="020B0604020202020204" pitchFamily="34" charset="0"/>
              <a:buChar char="•"/>
            </a:pPr>
            <a:r>
              <a:rPr lang="es-ES" sz="2000" b="1" dirty="0"/>
              <a:t>Reseñas:</a:t>
            </a:r>
            <a:r>
              <a:rPr lang="es-ES" sz="2000" dirty="0"/>
              <a:t> Texto libre (</a:t>
            </a:r>
            <a:r>
              <a:rPr lang="es-ES" sz="2000" dirty="0">
                <a:latin typeface="Courier New" panose="02070309020205020404" pitchFamily="49" charset="0"/>
              </a:rPr>
              <a:t>TEXT</a:t>
            </a:r>
            <a:r>
              <a:rPr lang="es-ES" sz="2000" dirty="0"/>
              <a:t> o </a:t>
            </a:r>
            <a:r>
              <a:rPr lang="es-ES" sz="2000" dirty="0">
                <a:latin typeface="Courier New" panose="02070309020205020404" pitchFamily="49" charset="0"/>
              </a:rPr>
              <a:t>VARCHAR</a:t>
            </a:r>
            <a:r>
              <a:rPr lang="es-ES" sz="2000" dirty="0"/>
              <a:t> largo).</a:t>
            </a:r>
          </a:p>
        </p:txBody>
      </p:sp>
      <p:pic>
        <p:nvPicPr>
          <p:cNvPr id="15" name="Imagen 14">
            <a:extLst>
              <a:ext uri="{FF2B5EF4-FFF2-40B4-BE49-F238E27FC236}">
                <a16:creationId xmlns:a16="http://schemas.microsoft.com/office/drawing/2014/main" id="{9536C118-59F2-12A7-59A9-442B3077D6BF}"/>
              </a:ext>
            </a:extLst>
          </p:cNvPr>
          <p:cNvPicPr>
            <a:picLocks noChangeAspect="1"/>
          </p:cNvPicPr>
          <p:nvPr/>
        </p:nvPicPr>
        <p:blipFill>
          <a:blip r:embed="rId5"/>
          <a:stretch>
            <a:fillRect/>
          </a:stretch>
        </p:blipFill>
        <p:spPr>
          <a:xfrm>
            <a:off x="2982834" y="3545056"/>
            <a:ext cx="13355763" cy="4101862"/>
          </a:xfrm>
          <a:prstGeom prst="rect">
            <a:avLst/>
          </a:prstGeom>
        </p:spPr>
      </p:pic>
    </p:spTree>
    <p:extLst>
      <p:ext uri="{BB962C8B-B14F-4D97-AF65-F5344CB8AC3E}">
        <p14:creationId xmlns:p14="http://schemas.microsoft.com/office/powerpoint/2010/main" val="24971442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27CAD-F95E-CC97-C429-D537DBB959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D6F2185-2651-143E-A444-3F50111FAB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63663D1-AC95-7B54-B430-DA67578E98B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58B6C39-BBEB-A228-4A11-C80854305DD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29F4927-1DF2-6906-99CC-38995E44420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30C126F-89E4-0A70-878C-5D339B2079F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40B576D-1FD0-46E6-7145-63B7D7B458B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56985DF-343D-6706-9A65-53A1415DBF9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927B62D3-0C5E-9F77-5CDE-87BAAE2630C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2C8DE0B-7820-703C-8610-8449C180AE3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8C954F68-7F02-15F9-5BAD-104E543DC15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31ADD70-B7B2-92C8-3A53-74FBB2F9CCE2}"/>
              </a:ext>
            </a:extLst>
          </p:cNvPr>
          <p:cNvSpPr txBox="1"/>
          <p:nvPr/>
        </p:nvSpPr>
        <p:spPr>
          <a:xfrm>
            <a:off x="2754983" y="510790"/>
            <a:ext cx="9186420" cy="1323439"/>
          </a:xfrm>
          <a:prstGeom prst="rect">
            <a:avLst/>
          </a:prstGeom>
          <a:noFill/>
        </p:spPr>
        <p:txBody>
          <a:bodyPr wrap="square">
            <a:spAutoFit/>
          </a:bodyPr>
          <a:lstStyle/>
          <a:p>
            <a:pPr>
              <a:buNone/>
            </a:pPr>
            <a:r>
              <a:rPr lang="es-ES" sz="2000" b="1" dirty="0"/>
              <a:t>El Modelo Físico Completo (ERD Final)</a:t>
            </a:r>
          </a:p>
          <a:p>
            <a:pPr>
              <a:buNone/>
            </a:pPr>
            <a:r>
              <a:rPr lang="es-ES" sz="2000" b="1" dirty="0"/>
              <a:t>La "Blue </a:t>
            </a:r>
            <a:r>
              <a:rPr lang="es-ES" sz="2000" b="1" dirty="0" err="1"/>
              <a:t>Print</a:t>
            </a:r>
            <a:r>
              <a:rPr lang="es-ES" sz="2000" b="1" dirty="0"/>
              <a:t>" para el DBA</a:t>
            </a:r>
            <a:endParaRPr lang="es-ES" sz="2000" dirty="0"/>
          </a:p>
          <a:p>
            <a:pPr>
              <a:buNone/>
            </a:pPr>
            <a:r>
              <a:rPr lang="es-ES" sz="2000" dirty="0"/>
              <a:t>Este diagrama contiene toda la información necesaria para escribir el comando </a:t>
            </a:r>
            <a:r>
              <a:rPr lang="es-ES" sz="2000" dirty="0">
                <a:latin typeface="Courier New" panose="02070309020205020404" pitchFamily="49" charset="0"/>
              </a:rPr>
              <a:t>CREATE TABLE</a:t>
            </a:r>
            <a:r>
              <a:rPr lang="es-ES" sz="2000" dirty="0"/>
              <a:t> en SQL.</a:t>
            </a:r>
          </a:p>
        </p:txBody>
      </p:sp>
      <p:pic>
        <p:nvPicPr>
          <p:cNvPr id="15" name="Imagen 14">
            <a:extLst>
              <a:ext uri="{FF2B5EF4-FFF2-40B4-BE49-F238E27FC236}">
                <a16:creationId xmlns:a16="http://schemas.microsoft.com/office/drawing/2014/main" id="{ABDC44B7-7B9E-9AA1-23BE-984A90E2C79A}"/>
              </a:ext>
            </a:extLst>
          </p:cNvPr>
          <p:cNvPicPr>
            <a:picLocks noChangeAspect="1"/>
          </p:cNvPicPr>
          <p:nvPr/>
        </p:nvPicPr>
        <p:blipFill>
          <a:blip r:embed="rId5"/>
          <a:stretch>
            <a:fillRect/>
          </a:stretch>
        </p:blipFill>
        <p:spPr>
          <a:xfrm>
            <a:off x="4297423" y="2180000"/>
            <a:ext cx="10155067" cy="6982799"/>
          </a:xfrm>
          <a:prstGeom prst="rect">
            <a:avLst/>
          </a:prstGeom>
        </p:spPr>
      </p:pic>
    </p:spTree>
    <p:extLst>
      <p:ext uri="{BB962C8B-B14F-4D97-AF65-F5344CB8AC3E}">
        <p14:creationId xmlns:p14="http://schemas.microsoft.com/office/powerpoint/2010/main" val="1937883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57DC1-977B-422F-F3A5-E96ACCB24FC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F79D7CB-11BB-C198-F746-1F77CFB4AC0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3B3272E-D02E-B58C-31F1-492CC1118C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9E53280-176D-F6BC-5055-DE825DF9948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A78E716-80A2-C407-24B0-272A4ABAAF4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F68F2DB-2CBB-75D5-1E88-06C6C0097D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59199F8-821F-9241-FA7E-37D7460EC04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ED2E2B9-FFD0-7235-B2DB-522C7733338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C082F5D-D6F6-E1DD-9AD6-DB158FEB21E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46969D7-8896-540D-B4D3-4EEEE7F7285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7BC3751-0C83-48AD-F83C-E5CF6F8CC44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2B5C09EF-B718-A002-B244-0CE2AAC1CCF6}"/>
              </a:ext>
            </a:extLst>
          </p:cNvPr>
          <p:cNvSpPr txBox="1"/>
          <p:nvPr/>
        </p:nvSpPr>
        <p:spPr>
          <a:xfrm>
            <a:off x="595035" y="76991"/>
            <a:ext cx="9905276" cy="646331"/>
          </a:xfrm>
          <a:prstGeom prst="rect">
            <a:avLst/>
          </a:prstGeom>
          <a:noFill/>
        </p:spPr>
        <p:txBody>
          <a:bodyPr wrap="none" rtlCol="0">
            <a:spAutoFit/>
          </a:bodyPr>
          <a:lstStyle/>
          <a:p>
            <a:r>
              <a:rPr lang="es-CO" sz="3600" dirty="0"/>
              <a:t>Ejercicio con LLM de creación de intrusión DDL</a:t>
            </a:r>
          </a:p>
        </p:txBody>
      </p:sp>
      <p:sp>
        <p:nvSpPr>
          <p:cNvPr id="14" name="CuadroTexto 13">
            <a:extLst>
              <a:ext uri="{FF2B5EF4-FFF2-40B4-BE49-F238E27FC236}">
                <a16:creationId xmlns:a16="http://schemas.microsoft.com/office/drawing/2014/main" id="{4760BD48-08BA-0C0B-6AF4-5E9A62FE08E8}"/>
              </a:ext>
            </a:extLst>
          </p:cNvPr>
          <p:cNvSpPr txBox="1"/>
          <p:nvPr/>
        </p:nvSpPr>
        <p:spPr>
          <a:xfrm>
            <a:off x="758462" y="2760437"/>
            <a:ext cx="4315121" cy="6986528"/>
          </a:xfrm>
          <a:prstGeom prst="rect">
            <a:avLst/>
          </a:prstGeom>
          <a:noFill/>
        </p:spPr>
        <p:txBody>
          <a:bodyPr wrap="square">
            <a:spAutoFit/>
          </a:bodyPr>
          <a:lstStyle/>
          <a:p>
            <a:r>
              <a:rPr lang="es-ES" dirty="0"/>
              <a:t># ROL Actúa como un Arquitecto de Base de Datos Senior experto en SQL estándar (o especifica aquí el motor: PostgreSQL, MySQL, SQL Server, etc.). # TAREA Genera el script DDL completo (`CREATE TABLE` e índices) para la tabla: [NOMBRE_DE_LA_TABLA]. </a:t>
            </a:r>
          </a:p>
          <a:p>
            <a:endParaRPr lang="es-ES" dirty="0"/>
          </a:p>
          <a:p>
            <a:r>
              <a:rPr lang="es-ES" dirty="0"/>
              <a:t># INSTRUCCIONES DE FORMATO Basado en la lista de especificaciones que te proporcionaré abajo, sigue estas reglas estrictas: </a:t>
            </a:r>
          </a:p>
          <a:p>
            <a:endParaRPr lang="es-ES" dirty="0"/>
          </a:p>
          <a:p>
            <a:r>
              <a:rPr lang="es-ES" dirty="0"/>
              <a:t>1. **Tipos de Datos:** Respeta estrictamente el "Tipo Sugerido". </a:t>
            </a:r>
          </a:p>
          <a:p>
            <a:r>
              <a:rPr lang="es-ES" dirty="0"/>
              <a:t>2. **</a:t>
            </a:r>
            <a:r>
              <a:rPr lang="es-ES" dirty="0" err="1"/>
              <a:t>Nulabilidad</a:t>
            </a:r>
            <a:r>
              <a:rPr lang="es-ES" dirty="0"/>
              <a:t>:** Si "Requerido" es SÍ, añade `NOT NULL`. </a:t>
            </a:r>
          </a:p>
          <a:p>
            <a:r>
              <a:rPr lang="es-ES" dirty="0"/>
              <a:t>3. **Comentarios:** Usa el campo "Justificación Técnica" para agregar un comentario al lado de la definición de la columna (o usando `COMMENT ON COLUMN` si es </a:t>
            </a:r>
            <a:r>
              <a:rPr lang="es-ES" dirty="0" err="1"/>
              <a:t>Postgres</a:t>
            </a:r>
            <a:r>
              <a:rPr lang="es-ES" dirty="0"/>
              <a:t>). </a:t>
            </a:r>
          </a:p>
          <a:p>
            <a:r>
              <a:rPr lang="es-ES" dirty="0"/>
              <a:t>4. **Índices:** Si "Indexado" es SÍ, genera la sentencia `CREATE INDEX` correspondiente al final del script. </a:t>
            </a:r>
          </a:p>
          <a:p>
            <a:r>
              <a:rPr lang="es-ES" dirty="0"/>
              <a:t>5. **Llaves Foráneas:** Si en el campo "Requerido" o en la justificación se menciona "FK", asume que es una </a:t>
            </a:r>
            <a:r>
              <a:rPr lang="es-ES" dirty="0" err="1"/>
              <a:t>Foreign</a:t>
            </a:r>
            <a:r>
              <a:rPr lang="es-ES" dirty="0"/>
              <a:t> Key y agrégala al final de la definición de la tabla (puedes dejar el nombre de la tabla de referencia como </a:t>
            </a:r>
          </a:p>
          <a:p>
            <a:endParaRPr lang="es-ES" dirty="0"/>
          </a:p>
          <a:p>
            <a:endParaRPr lang="es-ES" dirty="0"/>
          </a:p>
          <a:p>
            <a:r>
              <a:rPr lang="es-ES" dirty="0"/>
              <a:t>`[TABLA_PENDIENTE]` si no se especifica). # ESPECIFICACIONES DE ENTRADA [PEGA AQUÍ TU TABLA O LISTA DE CAMPOS]</a:t>
            </a:r>
            <a:endParaRPr lang="es-CO" dirty="0"/>
          </a:p>
        </p:txBody>
      </p:sp>
      <p:sp>
        <p:nvSpPr>
          <p:cNvPr id="15" name="CuadroTexto 14">
            <a:extLst>
              <a:ext uri="{FF2B5EF4-FFF2-40B4-BE49-F238E27FC236}">
                <a16:creationId xmlns:a16="http://schemas.microsoft.com/office/drawing/2014/main" id="{E9B249BA-A8BC-6BE2-E364-77894DFD1A3C}"/>
              </a:ext>
            </a:extLst>
          </p:cNvPr>
          <p:cNvSpPr txBox="1"/>
          <p:nvPr/>
        </p:nvSpPr>
        <p:spPr>
          <a:xfrm>
            <a:off x="1826075" y="1820485"/>
            <a:ext cx="1800493" cy="646331"/>
          </a:xfrm>
          <a:prstGeom prst="rect">
            <a:avLst/>
          </a:prstGeom>
          <a:noFill/>
        </p:spPr>
        <p:txBody>
          <a:bodyPr wrap="none" rtlCol="0">
            <a:spAutoFit/>
          </a:bodyPr>
          <a:lstStyle/>
          <a:p>
            <a:r>
              <a:rPr lang="es-CO" sz="3600" dirty="0"/>
              <a:t>Plantilla</a:t>
            </a:r>
          </a:p>
        </p:txBody>
      </p:sp>
      <p:sp>
        <p:nvSpPr>
          <p:cNvPr id="16" name="CuadroTexto 15">
            <a:extLst>
              <a:ext uri="{FF2B5EF4-FFF2-40B4-BE49-F238E27FC236}">
                <a16:creationId xmlns:a16="http://schemas.microsoft.com/office/drawing/2014/main" id="{48E71F05-B588-2A08-2F15-561046286040}"/>
              </a:ext>
            </a:extLst>
          </p:cNvPr>
          <p:cNvSpPr txBox="1"/>
          <p:nvPr/>
        </p:nvSpPr>
        <p:spPr>
          <a:xfrm>
            <a:off x="14219640" y="1497319"/>
            <a:ext cx="1467068" cy="646331"/>
          </a:xfrm>
          <a:prstGeom prst="rect">
            <a:avLst/>
          </a:prstGeom>
          <a:noFill/>
        </p:spPr>
        <p:txBody>
          <a:bodyPr wrap="none" rtlCol="0">
            <a:spAutoFit/>
          </a:bodyPr>
          <a:lstStyle/>
          <a:p>
            <a:r>
              <a:rPr lang="es-CO" sz="3600" dirty="0"/>
              <a:t>Salida</a:t>
            </a:r>
          </a:p>
        </p:txBody>
      </p:sp>
      <p:sp>
        <p:nvSpPr>
          <p:cNvPr id="18" name="CuadroTexto 17">
            <a:extLst>
              <a:ext uri="{FF2B5EF4-FFF2-40B4-BE49-F238E27FC236}">
                <a16:creationId xmlns:a16="http://schemas.microsoft.com/office/drawing/2014/main" id="{3B4096DF-E486-05B9-CB96-7432CD6B59ED}"/>
              </a:ext>
            </a:extLst>
          </p:cNvPr>
          <p:cNvSpPr txBox="1"/>
          <p:nvPr/>
        </p:nvSpPr>
        <p:spPr>
          <a:xfrm>
            <a:off x="11896625" y="3526702"/>
            <a:ext cx="5924559" cy="5262979"/>
          </a:xfrm>
          <a:prstGeom prst="rect">
            <a:avLst/>
          </a:prstGeom>
          <a:noFill/>
        </p:spPr>
        <p:txBody>
          <a:bodyPr wrap="square">
            <a:spAutoFit/>
          </a:bodyPr>
          <a:lstStyle/>
          <a:p>
            <a:r>
              <a:rPr lang="es-CO" dirty="0"/>
              <a:t>-- DDL para la tabla </a:t>
            </a:r>
            <a:r>
              <a:rPr lang="es-CO" dirty="0" err="1"/>
              <a:t>order_items</a:t>
            </a:r>
            <a:endParaRPr lang="es-CO" dirty="0"/>
          </a:p>
          <a:p>
            <a:r>
              <a:rPr lang="es-CO" dirty="0"/>
              <a:t>CREATE TABLE </a:t>
            </a:r>
            <a:r>
              <a:rPr lang="es-CO" dirty="0" err="1"/>
              <a:t>order_items</a:t>
            </a:r>
            <a:r>
              <a:rPr lang="es-CO" dirty="0"/>
              <a:t> (</a:t>
            </a:r>
          </a:p>
          <a:p>
            <a:r>
              <a:rPr lang="es-CO" dirty="0"/>
              <a:t>    -- Es parte de la PK compuesta, pero por sí solo tiene poca utilidad de búsqueda.</a:t>
            </a:r>
          </a:p>
          <a:p>
            <a:r>
              <a:rPr lang="es-CO" dirty="0"/>
              <a:t>    </a:t>
            </a:r>
            <a:r>
              <a:rPr lang="es-CO" dirty="0" err="1"/>
              <a:t>order_item_id</a:t>
            </a:r>
            <a:r>
              <a:rPr lang="es-CO" dirty="0"/>
              <a:t> INT NOT NULL,</a:t>
            </a:r>
          </a:p>
          <a:p>
            <a:endParaRPr lang="es-CO" dirty="0"/>
          </a:p>
          <a:p>
            <a:r>
              <a:rPr lang="es-CO" dirty="0"/>
              <a:t>    -- FK estándar para </a:t>
            </a:r>
            <a:r>
              <a:rPr lang="es-CO" dirty="0" err="1"/>
              <a:t>JOINs</a:t>
            </a:r>
            <a:r>
              <a:rPr lang="es-CO" dirty="0"/>
              <a:t>.</a:t>
            </a:r>
          </a:p>
          <a:p>
            <a:r>
              <a:rPr lang="es-CO" dirty="0"/>
              <a:t>    </a:t>
            </a:r>
            <a:r>
              <a:rPr lang="es-CO" dirty="0" err="1"/>
              <a:t>product_id</a:t>
            </a:r>
            <a:r>
              <a:rPr lang="es-CO" dirty="0"/>
              <a:t> CHAR(32) NOT NULL,</a:t>
            </a:r>
          </a:p>
          <a:p>
            <a:endParaRPr lang="es-CO" dirty="0"/>
          </a:p>
          <a:p>
            <a:r>
              <a:rPr lang="es-CO" dirty="0"/>
              <a:t>    -- Nunca usar FLOAT para dinero. No se suele indexar salvo para rangos de precio.</a:t>
            </a:r>
          </a:p>
          <a:p>
            <a:r>
              <a:rPr lang="es-CO" dirty="0"/>
              <a:t>    </a:t>
            </a:r>
            <a:r>
              <a:rPr lang="es-CO" dirty="0" err="1"/>
              <a:t>price</a:t>
            </a:r>
            <a:r>
              <a:rPr lang="es-CO" dirty="0"/>
              <a:t> DECIMAL(10,2) NOT NULL,</a:t>
            </a:r>
          </a:p>
          <a:p>
            <a:endParaRPr lang="es-CO" dirty="0"/>
          </a:p>
          <a:p>
            <a:r>
              <a:rPr lang="es-CO" dirty="0"/>
              <a:t>    -- Definición de </a:t>
            </a:r>
            <a:r>
              <a:rPr lang="es-CO" dirty="0" err="1"/>
              <a:t>Constraints</a:t>
            </a:r>
            <a:r>
              <a:rPr lang="es-CO" dirty="0"/>
              <a:t> (Asumidos por contexto)</a:t>
            </a:r>
          </a:p>
          <a:p>
            <a:r>
              <a:rPr lang="es-CO" dirty="0"/>
              <a:t>    CONSTRAINT </a:t>
            </a:r>
            <a:r>
              <a:rPr lang="es-CO" dirty="0" err="1"/>
              <a:t>pk_order_items</a:t>
            </a:r>
            <a:r>
              <a:rPr lang="es-CO" dirty="0"/>
              <a:t> PRIMARY KEY (</a:t>
            </a:r>
            <a:r>
              <a:rPr lang="es-CO" dirty="0" err="1"/>
              <a:t>order_item_id</a:t>
            </a:r>
            <a:r>
              <a:rPr lang="es-CO" dirty="0"/>
              <a:t>, </a:t>
            </a:r>
            <a:r>
              <a:rPr lang="es-CO" dirty="0" err="1"/>
              <a:t>product_id</a:t>
            </a:r>
            <a:r>
              <a:rPr lang="es-CO" dirty="0"/>
              <a:t>), -- Asumido por "PK compuesta" en justificación</a:t>
            </a:r>
          </a:p>
          <a:p>
            <a:r>
              <a:rPr lang="es-CO" dirty="0"/>
              <a:t>    CONSTRAINT </a:t>
            </a:r>
            <a:r>
              <a:rPr lang="es-CO" dirty="0" err="1"/>
              <a:t>fk_order_items_product</a:t>
            </a:r>
            <a:r>
              <a:rPr lang="es-CO" dirty="0"/>
              <a:t> FOREIGN KEY (</a:t>
            </a:r>
            <a:r>
              <a:rPr lang="es-CO" dirty="0" err="1"/>
              <a:t>product_id</a:t>
            </a:r>
            <a:r>
              <a:rPr lang="es-CO" dirty="0"/>
              <a:t>) REFERENCES </a:t>
            </a:r>
            <a:r>
              <a:rPr lang="es-CO" dirty="0" err="1"/>
              <a:t>products</a:t>
            </a:r>
            <a:r>
              <a:rPr lang="es-CO" dirty="0"/>
              <a:t>(</a:t>
            </a:r>
            <a:r>
              <a:rPr lang="es-CO" dirty="0" err="1"/>
              <a:t>product_id</a:t>
            </a:r>
            <a:r>
              <a:rPr lang="es-CO" dirty="0"/>
              <a:t>)</a:t>
            </a:r>
          </a:p>
          <a:p>
            <a:r>
              <a:rPr lang="es-CO" dirty="0"/>
              <a:t>);</a:t>
            </a:r>
          </a:p>
          <a:p>
            <a:endParaRPr lang="es-CO" dirty="0"/>
          </a:p>
          <a:p>
            <a:r>
              <a:rPr lang="es-CO" dirty="0"/>
              <a:t>-- Creación de Índices Solicitados</a:t>
            </a:r>
          </a:p>
          <a:p>
            <a:r>
              <a:rPr lang="es-CO" dirty="0"/>
              <a:t>-- Justificación: FK estándar para </a:t>
            </a:r>
            <a:r>
              <a:rPr lang="es-CO" dirty="0" err="1"/>
              <a:t>JOINs</a:t>
            </a:r>
            <a:r>
              <a:rPr lang="es-CO" dirty="0"/>
              <a:t>.</a:t>
            </a:r>
          </a:p>
          <a:p>
            <a:r>
              <a:rPr lang="es-CO" dirty="0"/>
              <a:t>CREATE INDEX </a:t>
            </a:r>
            <a:r>
              <a:rPr lang="es-CO" dirty="0" err="1"/>
              <a:t>idx_order_items_product_id</a:t>
            </a:r>
            <a:r>
              <a:rPr lang="es-CO" dirty="0"/>
              <a:t> ON </a:t>
            </a:r>
            <a:r>
              <a:rPr lang="es-CO" dirty="0" err="1"/>
              <a:t>order_items</a:t>
            </a:r>
            <a:r>
              <a:rPr lang="es-CO" dirty="0"/>
              <a:t>(</a:t>
            </a:r>
            <a:r>
              <a:rPr lang="es-CO" dirty="0" err="1"/>
              <a:t>product_id</a:t>
            </a:r>
            <a:r>
              <a:rPr lang="es-CO" dirty="0"/>
              <a:t>);</a:t>
            </a:r>
          </a:p>
        </p:txBody>
      </p:sp>
      <p:pic>
        <p:nvPicPr>
          <p:cNvPr id="20" name="Imagen 19">
            <a:extLst>
              <a:ext uri="{FF2B5EF4-FFF2-40B4-BE49-F238E27FC236}">
                <a16:creationId xmlns:a16="http://schemas.microsoft.com/office/drawing/2014/main" id="{E81A331E-4DC0-5B96-62C0-E61BE0C18304}"/>
              </a:ext>
            </a:extLst>
          </p:cNvPr>
          <p:cNvPicPr>
            <a:picLocks noChangeAspect="1"/>
          </p:cNvPicPr>
          <p:nvPr/>
        </p:nvPicPr>
        <p:blipFill>
          <a:blip r:embed="rId5"/>
          <a:stretch>
            <a:fillRect/>
          </a:stretch>
        </p:blipFill>
        <p:spPr>
          <a:xfrm>
            <a:off x="6020968" y="3583675"/>
            <a:ext cx="5114686" cy="2670026"/>
          </a:xfrm>
          <a:prstGeom prst="rect">
            <a:avLst/>
          </a:prstGeom>
        </p:spPr>
      </p:pic>
      <p:sp>
        <p:nvSpPr>
          <p:cNvPr id="21" name="CuadroTexto 20">
            <a:extLst>
              <a:ext uri="{FF2B5EF4-FFF2-40B4-BE49-F238E27FC236}">
                <a16:creationId xmlns:a16="http://schemas.microsoft.com/office/drawing/2014/main" id="{76009B33-D592-D99E-F24D-1CF762419FD4}"/>
              </a:ext>
            </a:extLst>
          </p:cNvPr>
          <p:cNvSpPr txBox="1"/>
          <p:nvPr/>
        </p:nvSpPr>
        <p:spPr>
          <a:xfrm>
            <a:off x="7687443" y="1725134"/>
            <a:ext cx="1467068" cy="646331"/>
          </a:xfrm>
          <a:prstGeom prst="rect">
            <a:avLst/>
          </a:prstGeom>
          <a:noFill/>
        </p:spPr>
        <p:txBody>
          <a:bodyPr wrap="none" rtlCol="0">
            <a:spAutoFit/>
          </a:bodyPr>
          <a:lstStyle/>
          <a:p>
            <a:r>
              <a:rPr lang="es-CO" sz="3600" dirty="0"/>
              <a:t>Salida</a:t>
            </a:r>
          </a:p>
        </p:txBody>
      </p:sp>
      <p:sp>
        <p:nvSpPr>
          <p:cNvPr id="22" name="CuadroTexto 21">
            <a:extLst>
              <a:ext uri="{FF2B5EF4-FFF2-40B4-BE49-F238E27FC236}">
                <a16:creationId xmlns:a16="http://schemas.microsoft.com/office/drawing/2014/main" id="{A353B20D-3BE5-D239-2560-D229717543AB}"/>
              </a:ext>
            </a:extLst>
          </p:cNvPr>
          <p:cNvSpPr txBox="1"/>
          <p:nvPr/>
        </p:nvSpPr>
        <p:spPr>
          <a:xfrm>
            <a:off x="7687443" y="6553228"/>
            <a:ext cx="1196161" cy="400110"/>
          </a:xfrm>
          <a:prstGeom prst="rect">
            <a:avLst/>
          </a:prstGeom>
          <a:noFill/>
        </p:spPr>
        <p:txBody>
          <a:bodyPr wrap="none" rtlCol="0">
            <a:spAutoFit/>
          </a:bodyPr>
          <a:lstStyle/>
          <a:p>
            <a:r>
              <a:rPr lang="es-CO" sz="2000" dirty="0" err="1"/>
              <a:t>Postgres</a:t>
            </a:r>
            <a:endParaRPr lang="es-CO" sz="3600" dirty="0"/>
          </a:p>
        </p:txBody>
      </p:sp>
      <p:sp>
        <p:nvSpPr>
          <p:cNvPr id="23" name="CuadroTexto 22">
            <a:extLst>
              <a:ext uri="{FF2B5EF4-FFF2-40B4-BE49-F238E27FC236}">
                <a16:creationId xmlns:a16="http://schemas.microsoft.com/office/drawing/2014/main" id="{2F43C9D6-CFC3-397D-850E-43E3526A6B2A}"/>
              </a:ext>
            </a:extLst>
          </p:cNvPr>
          <p:cNvSpPr txBox="1"/>
          <p:nvPr/>
        </p:nvSpPr>
        <p:spPr>
          <a:xfrm>
            <a:off x="13364746" y="2392120"/>
            <a:ext cx="2988319" cy="400110"/>
          </a:xfrm>
          <a:prstGeom prst="rect">
            <a:avLst/>
          </a:prstGeom>
          <a:noFill/>
        </p:spPr>
        <p:txBody>
          <a:bodyPr wrap="none" rtlCol="0">
            <a:spAutoFit/>
          </a:bodyPr>
          <a:lstStyle/>
          <a:p>
            <a:r>
              <a:rPr lang="es-CO" sz="2000" dirty="0"/>
              <a:t>GEMINI 3 Pro 3/12/2025</a:t>
            </a:r>
            <a:endParaRPr lang="es-CO" sz="3600" dirty="0"/>
          </a:p>
        </p:txBody>
      </p:sp>
    </p:spTree>
    <p:extLst>
      <p:ext uri="{BB962C8B-B14F-4D97-AF65-F5344CB8AC3E}">
        <p14:creationId xmlns:p14="http://schemas.microsoft.com/office/powerpoint/2010/main" val="2402809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D8547-6718-9410-F33E-D55B4D6A5B7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211F90-A59F-2E4C-F0DF-DC8490C3B6A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D7C8D39-1D36-FECA-270B-ABD2FDF90B3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7BF8D82-9D4C-EC49-EDA8-6844D561B15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77A33CD-FA6B-B8C5-21D6-742C34826D5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CE42F93-95ED-6672-6074-E3C31CD7042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FE66027-CC6B-75AB-7338-A874B7E161F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5A86A27-A09E-537B-3635-09DF2E46F3B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A37EE25-287D-3DD9-EAB5-8888754D1EA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1511C84-CB88-4224-8097-92C8ECE51C9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6E2B4D5-7B19-B5D0-7EA9-D44908EF869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BDAF0C7A-8EA2-90A7-A371-D7DBD88E80D8}"/>
              </a:ext>
            </a:extLst>
          </p:cNvPr>
          <p:cNvSpPr txBox="1"/>
          <p:nvPr/>
        </p:nvSpPr>
        <p:spPr>
          <a:xfrm>
            <a:off x="595035" y="76991"/>
            <a:ext cx="9905276" cy="646331"/>
          </a:xfrm>
          <a:prstGeom prst="rect">
            <a:avLst/>
          </a:prstGeom>
          <a:noFill/>
        </p:spPr>
        <p:txBody>
          <a:bodyPr wrap="none" rtlCol="0">
            <a:spAutoFit/>
          </a:bodyPr>
          <a:lstStyle/>
          <a:p>
            <a:r>
              <a:rPr lang="es-CO" sz="3600" dirty="0"/>
              <a:t>Ejercicio con LLM de creación de intrusión DDL</a:t>
            </a:r>
          </a:p>
        </p:txBody>
      </p:sp>
      <p:sp>
        <p:nvSpPr>
          <p:cNvPr id="14" name="CuadroTexto 13">
            <a:extLst>
              <a:ext uri="{FF2B5EF4-FFF2-40B4-BE49-F238E27FC236}">
                <a16:creationId xmlns:a16="http://schemas.microsoft.com/office/drawing/2014/main" id="{41CD85A1-6B9A-7C06-D58C-FD95174BD260}"/>
              </a:ext>
            </a:extLst>
          </p:cNvPr>
          <p:cNvSpPr txBox="1"/>
          <p:nvPr/>
        </p:nvSpPr>
        <p:spPr>
          <a:xfrm>
            <a:off x="758462" y="2760437"/>
            <a:ext cx="4315121" cy="6986528"/>
          </a:xfrm>
          <a:prstGeom prst="rect">
            <a:avLst/>
          </a:prstGeom>
          <a:noFill/>
        </p:spPr>
        <p:txBody>
          <a:bodyPr wrap="square">
            <a:spAutoFit/>
          </a:bodyPr>
          <a:lstStyle/>
          <a:p>
            <a:r>
              <a:rPr lang="es-ES" dirty="0"/>
              <a:t># ROL Actúa como un Arquitecto de Base de Datos Senior experto en SQL estándar (o especifica aquí el motor: PostgreSQL, MySQL, SQL Server, etc.). # TAREA Genera el script DDL completo (`CREATE TABLE` e índices) para la tabla: [NOMBRE_DE_LA_TABLA]. </a:t>
            </a:r>
          </a:p>
          <a:p>
            <a:endParaRPr lang="es-ES" dirty="0"/>
          </a:p>
          <a:p>
            <a:r>
              <a:rPr lang="es-ES" dirty="0"/>
              <a:t># INSTRUCCIONES DE FORMATO Basado en la lista de especificaciones que te proporcionaré abajo, sigue estas reglas estrictas: </a:t>
            </a:r>
          </a:p>
          <a:p>
            <a:endParaRPr lang="es-ES" dirty="0"/>
          </a:p>
          <a:p>
            <a:r>
              <a:rPr lang="es-ES" dirty="0"/>
              <a:t>1. **Tipos de Datos:** Respeta estrictamente el "Tipo Sugerido". </a:t>
            </a:r>
          </a:p>
          <a:p>
            <a:r>
              <a:rPr lang="es-ES" dirty="0"/>
              <a:t>2. **</a:t>
            </a:r>
            <a:r>
              <a:rPr lang="es-ES" dirty="0" err="1"/>
              <a:t>Nulabilidad</a:t>
            </a:r>
            <a:r>
              <a:rPr lang="es-ES" dirty="0"/>
              <a:t>:** Si "Requerido" es SÍ, añade `NOT NULL`. </a:t>
            </a:r>
          </a:p>
          <a:p>
            <a:r>
              <a:rPr lang="es-ES" dirty="0"/>
              <a:t>3. **Comentarios:** Usa el campo "Justificación Técnica" para agregar un comentario al lado de la definición de la columna (o usando `COMMENT ON COLUMN` si es </a:t>
            </a:r>
            <a:r>
              <a:rPr lang="es-ES" dirty="0" err="1"/>
              <a:t>Postgres</a:t>
            </a:r>
            <a:r>
              <a:rPr lang="es-ES" dirty="0"/>
              <a:t>). </a:t>
            </a:r>
          </a:p>
          <a:p>
            <a:r>
              <a:rPr lang="es-ES" dirty="0"/>
              <a:t>4. **Índices:** Si "Indexado" es SÍ, genera la sentencia `CREATE INDEX` correspondiente al final del script. </a:t>
            </a:r>
          </a:p>
          <a:p>
            <a:r>
              <a:rPr lang="es-ES" dirty="0"/>
              <a:t>5. **Llaves Foráneas:** Si en el campo "Requerido" o en la justificación se menciona "FK", asume que es una </a:t>
            </a:r>
            <a:r>
              <a:rPr lang="es-ES" dirty="0" err="1"/>
              <a:t>Foreign</a:t>
            </a:r>
            <a:r>
              <a:rPr lang="es-ES" dirty="0"/>
              <a:t> Key y agrégala al final de la definición de la tabla (puedes dejar el nombre de la tabla de referencia como </a:t>
            </a:r>
          </a:p>
          <a:p>
            <a:endParaRPr lang="es-ES" dirty="0"/>
          </a:p>
          <a:p>
            <a:endParaRPr lang="es-ES" dirty="0"/>
          </a:p>
          <a:p>
            <a:r>
              <a:rPr lang="es-ES" dirty="0"/>
              <a:t>`[TABLA_PENDIENTE]` si no se especifica). # ESPECIFICACIONES DE ENTRADA [PEGA AQUÍ TU TABLA O LISTA DE CAMPOS]</a:t>
            </a:r>
            <a:endParaRPr lang="es-CO" dirty="0"/>
          </a:p>
        </p:txBody>
      </p:sp>
      <p:sp>
        <p:nvSpPr>
          <p:cNvPr id="15" name="CuadroTexto 14">
            <a:extLst>
              <a:ext uri="{FF2B5EF4-FFF2-40B4-BE49-F238E27FC236}">
                <a16:creationId xmlns:a16="http://schemas.microsoft.com/office/drawing/2014/main" id="{E7FF7FB4-C780-FCBB-DD66-0974EB8E772D}"/>
              </a:ext>
            </a:extLst>
          </p:cNvPr>
          <p:cNvSpPr txBox="1"/>
          <p:nvPr/>
        </p:nvSpPr>
        <p:spPr>
          <a:xfrm>
            <a:off x="1826075" y="1820485"/>
            <a:ext cx="1800493" cy="646331"/>
          </a:xfrm>
          <a:prstGeom prst="rect">
            <a:avLst/>
          </a:prstGeom>
          <a:noFill/>
        </p:spPr>
        <p:txBody>
          <a:bodyPr wrap="none" rtlCol="0">
            <a:spAutoFit/>
          </a:bodyPr>
          <a:lstStyle/>
          <a:p>
            <a:r>
              <a:rPr lang="es-CO" sz="3600" dirty="0"/>
              <a:t>Plantilla</a:t>
            </a:r>
          </a:p>
        </p:txBody>
      </p:sp>
      <p:sp>
        <p:nvSpPr>
          <p:cNvPr id="16" name="CuadroTexto 15">
            <a:extLst>
              <a:ext uri="{FF2B5EF4-FFF2-40B4-BE49-F238E27FC236}">
                <a16:creationId xmlns:a16="http://schemas.microsoft.com/office/drawing/2014/main" id="{DC80BC2E-D336-B613-2F70-A6129D9EEBEC}"/>
              </a:ext>
            </a:extLst>
          </p:cNvPr>
          <p:cNvSpPr txBox="1"/>
          <p:nvPr/>
        </p:nvSpPr>
        <p:spPr>
          <a:xfrm>
            <a:off x="14219640" y="1497319"/>
            <a:ext cx="1467068" cy="646331"/>
          </a:xfrm>
          <a:prstGeom prst="rect">
            <a:avLst/>
          </a:prstGeom>
          <a:noFill/>
        </p:spPr>
        <p:txBody>
          <a:bodyPr wrap="none" rtlCol="0">
            <a:spAutoFit/>
          </a:bodyPr>
          <a:lstStyle/>
          <a:p>
            <a:r>
              <a:rPr lang="es-CO" sz="3600" dirty="0"/>
              <a:t>Salida</a:t>
            </a:r>
          </a:p>
        </p:txBody>
      </p:sp>
      <p:sp>
        <p:nvSpPr>
          <p:cNvPr id="18" name="CuadroTexto 17">
            <a:extLst>
              <a:ext uri="{FF2B5EF4-FFF2-40B4-BE49-F238E27FC236}">
                <a16:creationId xmlns:a16="http://schemas.microsoft.com/office/drawing/2014/main" id="{81D49BA8-854C-12FA-5E36-E24828BF4FF3}"/>
              </a:ext>
            </a:extLst>
          </p:cNvPr>
          <p:cNvSpPr txBox="1"/>
          <p:nvPr/>
        </p:nvSpPr>
        <p:spPr>
          <a:xfrm>
            <a:off x="11896625" y="3526702"/>
            <a:ext cx="5924559" cy="5262979"/>
          </a:xfrm>
          <a:prstGeom prst="rect">
            <a:avLst/>
          </a:prstGeom>
          <a:noFill/>
        </p:spPr>
        <p:txBody>
          <a:bodyPr wrap="square">
            <a:spAutoFit/>
          </a:bodyPr>
          <a:lstStyle/>
          <a:p>
            <a:r>
              <a:rPr lang="es-CO" dirty="0"/>
              <a:t>-- DDL para la tabla </a:t>
            </a:r>
            <a:r>
              <a:rPr lang="es-CO" dirty="0" err="1"/>
              <a:t>order_items</a:t>
            </a:r>
            <a:endParaRPr lang="es-CO" dirty="0"/>
          </a:p>
          <a:p>
            <a:r>
              <a:rPr lang="es-CO" dirty="0"/>
              <a:t>CREATE TABLE </a:t>
            </a:r>
            <a:r>
              <a:rPr lang="es-CO" dirty="0" err="1"/>
              <a:t>order_items</a:t>
            </a:r>
            <a:r>
              <a:rPr lang="es-CO" dirty="0"/>
              <a:t> (</a:t>
            </a:r>
          </a:p>
          <a:p>
            <a:r>
              <a:rPr lang="es-CO" dirty="0"/>
              <a:t>    -- Es parte de la PK compuesta, pero por sí solo tiene poca utilidad de búsqueda.</a:t>
            </a:r>
          </a:p>
          <a:p>
            <a:r>
              <a:rPr lang="es-CO" dirty="0"/>
              <a:t>    </a:t>
            </a:r>
            <a:r>
              <a:rPr lang="es-CO" dirty="0" err="1"/>
              <a:t>order_item_id</a:t>
            </a:r>
            <a:r>
              <a:rPr lang="es-CO" dirty="0"/>
              <a:t> INT NOT NULL,</a:t>
            </a:r>
          </a:p>
          <a:p>
            <a:endParaRPr lang="es-CO" dirty="0"/>
          </a:p>
          <a:p>
            <a:r>
              <a:rPr lang="es-CO" dirty="0"/>
              <a:t>    -- FK estándar para </a:t>
            </a:r>
            <a:r>
              <a:rPr lang="es-CO" dirty="0" err="1"/>
              <a:t>JOINs</a:t>
            </a:r>
            <a:r>
              <a:rPr lang="es-CO" dirty="0"/>
              <a:t>.</a:t>
            </a:r>
          </a:p>
          <a:p>
            <a:r>
              <a:rPr lang="es-CO" dirty="0"/>
              <a:t>    </a:t>
            </a:r>
            <a:r>
              <a:rPr lang="es-CO" dirty="0" err="1"/>
              <a:t>product_id</a:t>
            </a:r>
            <a:r>
              <a:rPr lang="es-CO" dirty="0"/>
              <a:t> CHAR(32) NOT NULL,</a:t>
            </a:r>
          </a:p>
          <a:p>
            <a:endParaRPr lang="es-CO" dirty="0"/>
          </a:p>
          <a:p>
            <a:r>
              <a:rPr lang="es-CO" dirty="0"/>
              <a:t>    -- Nunca usar FLOAT para dinero. No se suele indexar salvo para rangos de precio.</a:t>
            </a:r>
          </a:p>
          <a:p>
            <a:r>
              <a:rPr lang="es-CO" dirty="0"/>
              <a:t>    </a:t>
            </a:r>
            <a:r>
              <a:rPr lang="es-CO" dirty="0" err="1"/>
              <a:t>price</a:t>
            </a:r>
            <a:r>
              <a:rPr lang="es-CO" dirty="0"/>
              <a:t> DECIMAL(10,2) NOT NULL,</a:t>
            </a:r>
          </a:p>
          <a:p>
            <a:endParaRPr lang="es-CO" dirty="0"/>
          </a:p>
          <a:p>
            <a:r>
              <a:rPr lang="es-CO" dirty="0"/>
              <a:t>    -- Definición de </a:t>
            </a:r>
            <a:r>
              <a:rPr lang="es-CO" dirty="0" err="1"/>
              <a:t>Constraints</a:t>
            </a:r>
            <a:r>
              <a:rPr lang="es-CO" dirty="0"/>
              <a:t> (Asumidos por contexto)</a:t>
            </a:r>
          </a:p>
          <a:p>
            <a:r>
              <a:rPr lang="es-CO" dirty="0"/>
              <a:t>    CONSTRAINT </a:t>
            </a:r>
            <a:r>
              <a:rPr lang="es-CO" dirty="0" err="1"/>
              <a:t>pk_order_items</a:t>
            </a:r>
            <a:r>
              <a:rPr lang="es-CO" dirty="0"/>
              <a:t> PRIMARY KEY (</a:t>
            </a:r>
            <a:r>
              <a:rPr lang="es-CO" dirty="0" err="1"/>
              <a:t>order_item_id</a:t>
            </a:r>
            <a:r>
              <a:rPr lang="es-CO" dirty="0"/>
              <a:t>, </a:t>
            </a:r>
            <a:r>
              <a:rPr lang="es-CO" dirty="0" err="1"/>
              <a:t>product_id</a:t>
            </a:r>
            <a:r>
              <a:rPr lang="es-CO" dirty="0"/>
              <a:t>), -- Asumido por "PK compuesta" en justificación</a:t>
            </a:r>
          </a:p>
          <a:p>
            <a:r>
              <a:rPr lang="es-CO" dirty="0"/>
              <a:t>    CONSTRAINT </a:t>
            </a:r>
            <a:r>
              <a:rPr lang="es-CO" dirty="0" err="1"/>
              <a:t>fk_order_items_product</a:t>
            </a:r>
            <a:r>
              <a:rPr lang="es-CO" dirty="0"/>
              <a:t> FOREIGN KEY (</a:t>
            </a:r>
            <a:r>
              <a:rPr lang="es-CO" dirty="0" err="1"/>
              <a:t>product_id</a:t>
            </a:r>
            <a:r>
              <a:rPr lang="es-CO" dirty="0"/>
              <a:t>) REFERENCES </a:t>
            </a:r>
            <a:r>
              <a:rPr lang="es-CO" dirty="0" err="1"/>
              <a:t>products</a:t>
            </a:r>
            <a:r>
              <a:rPr lang="es-CO" dirty="0"/>
              <a:t>(</a:t>
            </a:r>
            <a:r>
              <a:rPr lang="es-CO" dirty="0" err="1"/>
              <a:t>product_id</a:t>
            </a:r>
            <a:r>
              <a:rPr lang="es-CO" dirty="0"/>
              <a:t>)</a:t>
            </a:r>
          </a:p>
          <a:p>
            <a:r>
              <a:rPr lang="es-CO" dirty="0"/>
              <a:t>);</a:t>
            </a:r>
          </a:p>
          <a:p>
            <a:endParaRPr lang="es-CO" dirty="0"/>
          </a:p>
          <a:p>
            <a:r>
              <a:rPr lang="es-CO" dirty="0"/>
              <a:t>-- Creación de Índices Solicitados</a:t>
            </a:r>
          </a:p>
          <a:p>
            <a:r>
              <a:rPr lang="es-CO" dirty="0"/>
              <a:t>-- Justificación: FK estándar para </a:t>
            </a:r>
            <a:r>
              <a:rPr lang="es-CO" dirty="0" err="1"/>
              <a:t>JOINs</a:t>
            </a:r>
            <a:r>
              <a:rPr lang="es-CO" dirty="0"/>
              <a:t>.</a:t>
            </a:r>
          </a:p>
          <a:p>
            <a:r>
              <a:rPr lang="es-CO" dirty="0"/>
              <a:t>CREATE INDEX </a:t>
            </a:r>
            <a:r>
              <a:rPr lang="es-CO" dirty="0" err="1"/>
              <a:t>idx_order_items_product_id</a:t>
            </a:r>
            <a:r>
              <a:rPr lang="es-CO" dirty="0"/>
              <a:t> ON </a:t>
            </a:r>
            <a:r>
              <a:rPr lang="es-CO" dirty="0" err="1"/>
              <a:t>order_items</a:t>
            </a:r>
            <a:r>
              <a:rPr lang="es-CO" dirty="0"/>
              <a:t>(</a:t>
            </a:r>
            <a:r>
              <a:rPr lang="es-CO" dirty="0" err="1"/>
              <a:t>product_id</a:t>
            </a:r>
            <a:r>
              <a:rPr lang="es-CO" dirty="0"/>
              <a:t>);</a:t>
            </a:r>
          </a:p>
        </p:txBody>
      </p:sp>
      <p:pic>
        <p:nvPicPr>
          <p:cNvPr id="20" name="Imagen 19">
            <a:extLst>
              <a:ext uri="{FF2B5EF4-FFF2-40B4-BE49-F238E27FC236}">
                <a16:creationId xmlns:a16="http://schemas.microsoft.com/office/drawing/2014/main" id="{CD4D4229-1489-0397-0A79-1331E2E73633}"/>
              </a:ext>
            </a:extLst>
          </p:cNvPr>
          <p:cNvPicPr>
            <a:picLocks noChangeAspect="1"/>
          </p:cNvPicPr>
          <p:nvPr/>
        </p:nvPicPr>
        <p:blipFill>
          <a:blip r:embed="rId5"/>
          <a:stretch>
            <a:fillRect/>
          </a:stretch>
        </p:blipFill>
        <p:spPr>
          <a:xfrm>
            <a:off x="6020968" y="3583675"/>
            <a:ext cx="5114686" cy="2670026"/>
          </a:xfrm>
          <a:prstGeom prst="rect">
            <a:avLst/>
          </a:prstGeom>
        </p:spPr>
      </p:pic>
      <p:sp>
        <p:nvSpPr>
          <p:cNvPr id="21" name="CuadroTexto 20">
            <a:extLst>
              <a:ext uri="{FF2B5EF4-FFF2-40B4-BE49-F238E27FC236}">
                <a16:creationId xmlns:a16="http://schemas.microsoft.com/office/drawing/2014/main" id="{F8A20395-024E-5ECF-8690-CADA87753427}"/>
              </a:ext>
            </a:extLst>
          </p:cNvPr>
          <p:cNvSpPr txBox="1"/>
          <p:nvPr/>
        </p:nvSpPr>
        <p:spPr>
          <a:xfrm>
            <a:off x="7687443" y="1725134"/>
            <a:ext cx="1467068" cy="646331"/>
          </a:xfrm>
          <a:prstGeom prst="rect">
            <a:avLst/>
          </a:prstGeom>
          <a:noFill/>
        </p:spPr>
        <p:txBody>
          <a:bodyPr wrap="none" rtlCol="0">
            <a:spAutoFit/>
          </a:bodyPr>
          <a:lstStyle/>
          <a:p>
            <a:r>
              <a:rPr lang="es-CO" sz="3600" dirty="0"/>
              <a:t>Salida</a:t>
            </a:r>
          </a:p>
        </p:txBody>
      </p:sp>
      <p:sp>
        <p:nvSpPr>
          <p:cNvPr id="22" name="CuadroTexto 21">
            <a:extLst>
              <a:ext uri="{FF2B5EF4-FFF2-40B4-BE49-F238E27FC236}">
                <a16:creationId xmlns:a16="http://schemas.microsoft.com/office/drawing/2014/main" id="{F07C7697-773C-EA39-A0AA-F803555A7858}"/>
              </a:ext>
            </a:extLst>
          </p:cNvPr>
          <p:cNvSpPr txBox="1"/>
          <p:nvPr/>
        </p:nvSpPr>
        <p:spPr>
          <a:xfrm>
            <a:off x="7687443" y="6553228"/>
            <a:ext cx="1196161" cy="400110"/>
          </a:xfrm>
          <a:prstGeom prst="rect">
            <a:avLst/>
          </a:prstGeom>
          <a:noFill/>
        </p:spPr>
        <p:txBody>
          <a:bodyPr wrap="none" rtlCol="0">
            <a:spAutoFit/>
          </a:bodyPr>
          <a:lstStyle/>
          <a:p>
            <a:r>
              <a:rPr lang="es-CO" sz="2000" dirty="0" err="1"/>
              <a:t>Postgres</a:t>
            </a:r>
            <a:endParaRPr lang="es-CO" sz="3600" dirty="0"/>
          </a:p>
        </p:txBody>
      </p:sp>
      <p:sp>
        <p:nvSpPr>
          <p:cNvPr id="23" name="CuadroTexto 22">
            <a:extLst>
              <a:ext uri="{FF2B5EF4-FFF2-40B4-BE49-F238E27FC236}">
                <a16:creationId xmlns:a16="http://schemas.microsoft.com/office/drawing/2014/main" id="{8CD03387-1AB5-0B79-3280-39537B8AA66B}"/>
              </a:ext>
            </a:extLst>
          </p:cNvPr>
          <p:cNvSpPr txBox="1"/>
          <p:nvPr/>
        </p:nvSpPr>
        <p:spPr>
          <a:xfrm>
            <a:off x="13364746" y="2392120"/>
            <a:ext cx="2988319" cy="400110"/>
          </a:xfrm>
          <a:prstGeom prst="rect">
            <a:avLst/>
          </a:prstGeom>
          <a:noFill/>
        </p:spPr>
        <p:txBody>
          <a:bodyPr wrap="none" rtlCol="0">
            <a:spAutoFit/>
          </a:bodyPr>
          <a:lstStyle/>
          <a:p>
            <a:r>
              <a:rPr lang="es-CO" sz="2000" dirty="0"/>
              <a:t>GEMINI 3 Pro 3/12/2025</a:t>
            </a:r>
            <a:endParaRPr lang="es-CO" sz="3600" dirty="0"/>
          </a:p>
        </p:txBody>
      </p:sp>
      <p:sp>
        <p:nvSpPr>
          <p:cNvPr id="13" name="Rectángulo: esquinas redondeadas 12">
            <a:extLst>
              <a:ext uri="{FF2B5EF4-FFF2-40B4-BE49-F238E27FC236}">
                <a16:creationId xmlns:a16="http://schemas.microsoft.com/office/drawing/2014/main" id="{F9793B87-FB9F-D32F-8B0F-3555E4DE2EC3}"/>
              </a:ext>
            </a:extLst>
          </p:cNvPr>
          <p:cNvSpPr/>
          <p:nvPr/>
        </p:nvSpPr>
        <p:spPr>
          <a:xfrm>
            <a:off x="12563968" y="5296417"/>
            <a:ext cx="4413706" cy="957284"/>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s-CO" sz="2000" dirty="0"/>
              <a:t>Hay una imprecisión costosa – </a:t>
            </a:r>
            <a:r>
              <a:rPr lang="es-CO" sz="2000" dirty="0" err="1"/>
              <a:t>Detertarla</a:t>
            </a:r>
            <a:r>
              <a:rPr lang="es-CO" sz="2000" dirty="0"/>
              <a:t> </a:t>
            </a:r>
          </a:p>
        </p:txBody>
      </p:sp>
    </p:spTree>
    <p:extLst>
      <p:ext uri="{BB962C8B-B14F-4D97-AF65-F5344CB8AC3E}">
        <p14:creationId xmlns:p14="http://schemas.microsoft.com/office/powerpoint/2010/main" val="7991145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grpSp>
        <p:nvGrpSpPr>
          <p:cNvPr id="361" name="Google Shape;361;p8"/>
          <p:cNvGrpSpPr/>
          <p:nvPr/>
        </p:nvGrpSpPr>
        <p:grpSpPr>
          <a:xfrm rot="10800000">
            <a:off x="10392303" y="0"/>
            <a:ext cx="7895697" cy="10431661"/>
            <a:chOff x="0" y="-38100"/>
            <a:chExt cx="2079525" cy="2747433"/>
          </a:xfrm>
        </p:grpSpPr>
        <p:sp>
          <p:nvSpPr>
            <p:cNvPr id="362" name="Google Shape;362;p8"/>
            <p:cNvSpPr/>
            <p:nvPr/>
          </p:nvSpPr>
          <p:spPr>
            <a:xfrm>
              <a:off x="0" y="0"/>
              <a:ext cx="2079525" cy="2709333"/>
            </a:xfrm>
            <a:custGeom>
              <a:avLst/>
              <a:gdLst/>
              <a:ahLst/>
              <a:cxnLst/>
              <a:rect l="l" t="t" r="r" b="b"/>
              <a:pathLst>
                <a:path w="2079525" h="2709333" extrusionOk="0">
                  <a:moveTo>
                    <a:pt x="0" y="0"/>
                  </a:moveTo>
                  <a:lnTo>
                    <a:pt x="2079525" y="0"/>
                  </a:lnTo>
                  <a:lnTo>
                    <a:pt x="2079525" y="2709333"/>
                  </a:lnTo>
                  <a:lnTo>
                    <a:pt x="0" y="2709333"/>
                  </a:lnTo>
                  <a:close/>
                </a:path>
              </a:pathLst>
            </a:custGeom>
            <a:gradFill>
              <a:gsLst>
                <a:gs pos="0">
                  <a:srgbClr val="6B1374"/>
                </a:gs>
                <a:gs pos="33333">
                  <a:srgbClr val="700A89"/>
                </a:gs>
                <a:gs pos="66667">
                  <a:srgbClr val="C20052"/>
                </a:gs>
                <a:gs pos="100000">
                  <a:srgbClr val="FF0055"/>
                </a:gs>
              </a:gsLst>
              <a:lin ang="5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3" name="Google Shape;363;p8"/>
            <p:cNvSpPr txBox="1"/>
            <p:nvPr/>
          </p:nvSpPr>
          <p:spPr>
            <a:xfrm>
              <a:off x="0" y="-38100"/>
              <a:ext cx="2079525" cy="274743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364" name="Google Shape;364;p8"/>
          <p:cNvSpPr/>
          <p:nvPr/>
        </p:nvSpPr>
        <p:spPr>
          <a:xfrm>
            <a:off x="9562641" y="4953536"/>
            <a:ext cx="4777510" cy="4687932"/>
          </a:xfrm>
          <a:custGeom>
            <a:avLst/>
            <a:gdLst/>
            <a:ahLst/>
            <a:cxnLst/>
            <a:rect l="l" t="t" r="r" b="b"/>
            <a:pathLst>
              <a:path w="4777510" h="4687932" extrusionOk="0">
                <a:moveTo>
                  <a:pt x="0" y="0"/>
                </a:moveTo>
                <a:lnTo>
                  <a:pt x="4777511" y="0"/>
                </a:lnTo>
                <a:lnTo>
                  <a:pt x="4777511" y="4687932"/>
                </a:lnTo>
                <a:lnTo>
                  <a:pt x="0" y="4687932"/>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5" name="Google Shape;365;p8"/>
          <p:cNvSpPr/>
          <p:nvPr/>
        </p:nvSpPr>
        <p:spPr>
          <a:xfrm rot="10800000">
            <a:off x="14340152" y="455568"/>
            <a:ext cx="4777510" cy="4687932"/>
          </a:xfrm>
          <a:custGeom>
            <a:avLst/>
            <a:gdLst/>
            <a:ahLst/>
            <a:cxnLst/>
            <a:rect l="l" t="t" r="r" b="b"/>
            <a:pathLst>
              <a:path w="4777510" h="4687932" extrusionOk="0">
                <a:moveTo>
                  <a:pt x="0" y="0"/>
                </a:moveTo>
                <a:lnTo>
                  <a:pt x="4777510" y="0"/>
                </a:lnTo>
                <a:lnTo>
                  <a:pt x="4777510" y="4687932"/>
                </a:lnTo>
                <a:lnTo>
                  <a:pt x="0" y="4687932"/>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366" name="Google Shape;366;p8"/>
          <p:cNvGrpSpPr/>
          <p:nvPr/>
        </p:nvGrpSpPr>
        <p:grpSpPr>
          <a:xfrm rot="1460314">
            <a:off x="11030759" y="4449732"/>
            <a:ext cx="7356554" cy="1393786"/>
            <a:chOff x="0" y="-38100"/>
            <a:chExt cx="1937529" cy="367088"/>
          </a:xfrm>
        </p:grpSpPr>
        <p:sp>
          <p:nvSpPr>
            <p:cNvPr id="367" name="Google Shape;367;p8"/>
            <p:cNvSpPr/>
            <p:nvPr/>
          </p:nvSpPr>
          <p:spPr>
            <a:xfrm>
              <a:off x="0" y="0"/>
              <a:ext cx="1937528" cy="328988"/>
            </a:xfrm>
            <a:custGeom>
              <a:avLst/>
              <a:gdLst/>
              <a:ahLst/>
              <a:cxnLst/>
              <a:rect l="l" t="t" r="r" b="b"/>
              <a:pathLst>
                <a:path w="1937528" h="328988" extrusionOk="0">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8" name="Google Shape;368;p8"/>
            <p:cNvSpPr txBox="1"/>
            <p:nvPr/>
          </p:nvSpPr>
          <p:spPr>
            <a:xfrm>
              <a:off x="0" y="-38100"/>
              <a:ext cx="1937529" cy="367088"/>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369" name="Google Shape;369;p8"/>
          <p:cNvGrpSpPr/>
          <p:nvPr/>
        </p:nvGrpSpPr>
        <p:grpSpPr>
          <a:xfrm>
            <a:off x="2068637" y="2993049"/>
            <a:ext cx="6434234" cy="2940731"/>
            <a:chOff x="0" y="-560842"/>
            <a:chExt cx="8578979" cy="3920975"/>
          </a:xfrm>
        </p:grpSpPr>
        <p:grpSp>
          <p:nvGrpSpPr>
            <p:cNvPr id="370" name="Google Shape;370;p8"/>
            <p:cNvGrpSpPr/>
            <p:nvPr/>
          </p:nvGrpSpPr>
          <p:grpSpPr>
            <a:xfrm>
              <a:off x="0" y="-560842"/>
              <a:ext cx="8578979" cy="3920975"/>
              <a:chOff x="0" y="-38100"/>
              <a:chExt cx="582801" cy="266366"/>
            </a:xfrm>
          </p:grpSpPr>
          <p:sp>
            <p:nvSpPr>
              <p:cNvPr id="371" name="Google Shape;371;p8"/>
              <p:cNvSpPr/>
              <p:nvPr/>
            </p:nvSpPr>
            <p:spPr>
              <a:xfrm>
                <a:off x="0" y="0"/>
                <a:ext cx="582801" cy="228266"/>
              </a:xfrm>
              <a:custGeom>
                <a:avLst/>
                <a:gdLst/>
                <a:ahLst/>
                <a:cxnLst/>
                <a:rect l="l" t="t" r="r" b="b"/>
                <a:pathLst>
                  <a:path w="582801" h="228266" extrusionOk="0">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cmpd="sng">
                <a:solidFill>
                  <a:srgbClr val="6B137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2" name="Google Shape;372;p8"/>
              <p:cNvSpPr txBox="1"/>
              <p:nvPr/>
            </p:nvSpPr>
            <p:spPr>
              <a:xfrm>
                <a:off x="0" y="-38100"/>
                <a:ext cx="582801" cy="266366"/>
              </a:xfrm>
              <a:prstGeom prst="rect">
                <a:avLst/>
              </a:prstGeom>
              <a:noFill/>
              <a:ln>
                <a:noFill/>
              </a:ln>
            </p:spPr>
            <p:txBody>
              <a:bodyPr spcFirstLastPara="1" wrap="square" lIns="50800" tIns="50800" rIns="50800" bIns="50800" anchor="ctr" anchorCtr="0">
                <a:noAutofit/>
              </a:bodyPr>
              <a:lstStyle/>
              <a:p>
                <a:pPr marL="0" marR="0" lvl="0" indent="0" algn="ctr" rtl="0">
                  <a:lnSpc>
                    <a:spcPct val="147777"/>
                  </a:lnSpc>
                  <a:spcBef>
                    <a:spcPts val="0"/>
                  </a:spcBef>
                  <a:spcAft>
                    <a:spcPts val="0"/>
                  </a:spcAft>
                  <a:buNone/>
                </a:pPr>
                <a:endParaRPr sz="1800">
                  <a:solidFill>
                    <a:schemeClr val="dk1"/>
                  </a:solidFill>
                  <a:latin typeface="Calibri"/>
                  <a:ea typeface="Calibri"/>
                  <a:cs typeface="Calibri"/>
                  <a:sym typeface="Calibri"/>
                </a:endParaRPr>
              </a:p>
            </p:txBody>
          </p:sp>
        </p:grpSp>
        <p:sp>
          <p:nvSpPr>
            <p:cNvPr id="373" name="Google Shape;373;p8"/>
            <p:cNvSpPr txBox="1"/>
            <p:nvPr/>
          </p:nvSpPr>
          <p:spPr>
            <a:xfrm>
              <a:off x="355297" y="630411"/>
              <a:ext cx="7868384" cy="2659190"/>
            </a:xfrm>
            <a:prstGeom prst="rect">
              <a:avLst/>
            </a:prstGeom>
            <a:noFill/>
            <a:ln>
              <a:noFill/>
            </a:ln>
          </p:spPr>
          <p:txBody>
            <a:bodyPr spcFirstLastPara="1" wrap="square" lIns="0" tIns="0" rIns="0" bIns="0" anchor="t" anchorCtr="0">
              <a:spAutoFit/>
            </a:bodyPr>
            <a:lstStyle/>
            <a:p>
              <a:pPr marL="0" marR="0" lvl="0" indent="0" algn="ctr" rtl="0">
                <a:lnSpc>
                  <a:spcPct val="180000"/>
                </a:lnSpc>
                <a:spcBef>
                  <a:spcPts val="0"/>
                </a:spcBef>
                <a:spcAft>
                  <a:spcPts val="0"/>
                </a:spcAft>
                <a:buNone/>
              </a:pPr>
              <a:r>
                <a:rPr lang="es-CO" sz="2400" dirty="0">
                  <a:solidFill>
                    <a:srgbClr val="1F1F1D"/>
                  </a:solidFill>
                  <a:latin typeface="Poppins"/>
                  <a:ea typeface="Poppins"/>
                  <a:cs typeface="Poppins"/>
                  <a:sym typeface="Poppins"/>
                </a:rPr>
                <a:t>Juan Esteban Mejía Velásquez</a:t>
              </a:r>
              <a:endParaRPr dirty="0"/>
            </a:p>
            <a:p>
              <a:pPr marL="0" marR="0" lvl="0" indent="0" algn="ctr" rtl="0">
                <a:lnSpc>
                  <a:spcPct val="216000"/>
                </a:lnSpc>
                <a:spcBef>
                  <a:spcPts val="0"/>
                </a:spcBef>
                <a:spcAft>
                  <a:spcPts val="0"/>
                </a:spcAft>
                <a:buNone/>
              </a:pPr>
              <a:r>
                <a:rPr lang="es-MX" sz="2000" dirty="0">
                  <a:solidFill>
                    <a:srgbClr val="1F1F1D"/>
                  </a:solidFill>
                  <a:latin typeface="Poppins"/>
                  <a:ea typeface="Poppins"/>
                  <a:cs typeface="Poppins"/>
                  <a:sym typeface="Poppins"/>
                </a:rPr>
                <a:t>Docente</a:t>
              </a:r>
              <a:endParaRPr sz="2000" dirty="0">
                <a:solidFill>
                  <a:srgbClr val="1F1F1D"/>
                </a:solidFill>
                <a:latin typeface="Poppins"/>
                <a:ea typeface="Poppins"/>
                <a:cs typeface="Poppins"/>
                <a:sym typeface="Poppins"/>
              </a:endParaRPr>
            </a:p>
            <a:p>
              <a:pPr marL="0" marR="0" lvl="0" indent="0" algn="ctr" rtl="0">
                <a:lnSpc>
                  <a:spcPct val="180000"/>
                </a:lnSpc>
                <a:spcBef>
                  <a:spcPts val="0"/>
                </a:spcBef>
                <a:spcAft>
                  <a:spcPts val="0"/>
                </a:spcAft>
                <a:buNone/>
              </a:pPr>
              <a:r>
                <a:rPr lang="es-MX" sz="2400" u="sng" dirty="0">
                  <a:solidFill>
                    <a:srgbClr val="1F1F1D"/>
                  </a:solidFill>
                  <a:latin typeface="Poppins"/>
                  <a:ea typeface="Poppins"/>
                  <a:cs typeface="Poppins"/>
                  <a:sym typeface="Poppins"/>
                </a:rPr>
                <a:t>Correo</a:t>
              </a:r>
              <a:endParaRPr dirty="0"/>
            </a:p>
          </p:txBody>
        </p:sp>
      </p:grpSp>
      <p:sp>
        <p:nvSpPr>
          <p:cNvPr id="374" name="Google Shape;374;p8">
            <a:hlinkClick r:id="rId4"/>
          </p:cNvPr>
          <p:cNvSpPr/>
          <p:nvPr/>
        </p:nvSpPr>
        <p:spPr>
          <a:xfrm>
            <a:off x="2068637" y="6536925"/>
            <a:ext cx="360000" cy="332550"/>
          </a:xfrm>
          <a:custGeom>
            <a:avLst/>
            <a:gdLst/>
            <a:ahLst/>
            <a:cxnLst/>
            <a:rect l="l" t="t" r="r" b="b"/>
            <a:pathLst>
              <a:path w="360000" h="332550" extrusionOk="0">
                <a:moveTo>
                  <a:pt x="0" y="0"/>
                </a:moveTo>
                <a:lnTo>
                  <a:pt x="360000" y="0"/>
                </a:lnTo>
                <a:lnTo>
                  <a:pt x="360000" y="332550"/>
                </a:lnTo>
                <a:lnTo>
                  <a:pt x="0" y="332550"/>
                </a:lnTo>
                <a:lnTo>
                  <a:pt x="0"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5" name="Google Shape;375;p8">
            <a:hlinkClick r:id="rId6"/>
          </p:cNvPr>
          <p:cNvSpPr/>
          <p:nvPr/>
        </p:nvSpPr>
        <p:spPr>
          <a:xfrm>
            <a:off x="5758126" y="6535688"/>
            <a:ext cx="360000" cy="360000"/>
          </a:xfrm>
          <a:custGeom>
            <a:avLst/>
            <a:gdLst/>
            <a:ahLst/>
            <a:cxnLst/>
            <a:rect l="l" t="t" r="r" b="b"/>
            <a:pathLst>
              <a:path w="360000" h="360000" extrusionOk="0">
                <a:moveTo>
                  <a:pt x="0" y="0"/>
                </a:moveTo>
                <a:lnTo>
                  <a:pt x="360000" y="0"/>
                </a:lnTo>
                <a:lnTo>
                  <a:pt x="360000" y="360000"/>
                </a:lnTo>
                <a:lnTo>
                  <a:pt x="0" y="360000"/>
                </a:lnTo>
                <a:lnTo>
                  <a:pt x="0" y="0"/>
                </a:lnTo>
                <a:close/>
              </a:path>
            </a:pathLst>
          </a:custGeom>
          <a:blipFill rotWithShape="1">
            <a:blip r:embed="rId7">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6" name="Google Shape;376;p8">
            <a:hlinkClick r:id="rId8"/>
          </p:cNvPr>
          <p:cNvSpPr/>
          <p:nvPr/>
        </p:nvSpPr>
        <p:spPr>
          <a:xfrm>
            <a:off x="5775261" y="7145700"/>
            <a:ext cx="360000" cy="360000"/>
          </a:xfrm>
          <a:custGeom>
            <a:avLst/>
            <a:gdLst/>
            <a:ahLst/>
            <a:cxnLst/>
            <a:rect l="l" t="t" r="r" b="b"/>
            <a:pathLst>
              <a:path w="360000" h="360000" extrusionOk="0">
                <a:moveTo>
                  <a:pt x="0" y="0"/>
                </a:moveTo>
                <a:lnTo>
                  <a:pt x="360000" y="0"/>
                </a:lnTo>
                <a:lnTo>
                  <a:pt x="360000" y="360000"/>
                </a:lnTo>
                <a:lnTo>
                  <a:pt x="0" y="360000"/>
                </a:lnTo>
                <a:lnTo>
                  <a:pt x="0" y="0"/>
                </a:lnTo>
                <a:close/>
              </a:path>
            </a:pathLst>
          </a:custGeom>
          <a:blipFill rotWithShape="1">
            <a:blip r:embed="rId9">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7" name="Google Shape;377;p8"/>
          <p:cNvSpPr/>
          <p:nvPr/>
        </p:nvSpPr>
        <p:spPr>
          <a:xfrm>
            <a:off x="2096214" y="7144126"/>
            <a:ext cx="332423" cy="332422"/>
          </a:xfrm>
          <a:custGeom>
            <a:avLst/>
            <a:gdLst/>
            <a:ahLst/>
            <a:cxnLst/>
            <a:rect l="l" t="t" r="r" b="b"/>
            <a:pathLst>
              <a:path w="332423" h="332422" extrusionOk="0">
                <a:moveTo>
                  <a:pt x="0" y="0"/>
                </a:moveTo>
                <a:lnTo>
                  <a:pt x="332423" y="0"/>
                </a:lnTo>
                <a:lnTo>
                  <a:pt x="332423" y="332423"/>
                </a:lnTo>
                <a:lnTo>
                  <a:pt x="0" y="332423"/>
                </a:lnTo>
                <a:lnTo>
                  <a:pt x="0" y="0"/>
                </a:lnTo>
                <a:close/>
              </a:path>
            </a:pathLst>
          </a:custGeom>
          <a:blipFill rotWithShape="1">
            <a:blip r:embed="rId10">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8" name="Google Shape;378;p8"/>
          <p:cNvSpPr txBox="1"/>
          <p:nvPr/>
        </p:nvSpPr>
        <p:spPr>
          <a:xfrm>
            <a:off x="6214196" y="7136825"/>
            <a:ext cx="1721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a:solidFill>
                  <a:srgbClr val="1F1F1D"/>
                </a:solidFill>
                <a:latin typeface="Poppins"/>
                <a:ea typeface="Poppins"/>
                <a:cs typeface="Poppins"/>
                <a:sym typeface="Poppins"/>
                <a:hlinkClick r:id="rId8">
                  <a:extLst>
                    <a:ext uri="{A12FA001-AC4F-418D-AE19-62706E023703}">
                      <ahyp:hlinkClr xmlns:ahyp="http://schemas.microsoft.com/office/drawing/2018/hyperlinkcolor" val="tx"/>
                    </a:ext>
                  </a:extLst>
                </a:hlinkClick>
              </a:rPr>
              <a:t>www.enyoi.co</a:t>
            </a:r>
            <a:endParaRPr/>
          </a:p>
        </p:txBody>
      </p:sp>
      <p:sp>
        <p:nvSpPr>
          <p:cNvPr id="379" name="Google Shape;379;p8"/>
          <p:cNvSpPr txBox="1"/>
          <p:nvPr/>
        </p:nvSpPr>
        <p:spPr>
          <a:xfrm>
            <a:off x="6212929" y="6526813"/>
            <a:ext cx="1048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dirty="0">
                <a:solidFill>
                  <a:srgbClr val="1F1F1D"/>
                </a:solidFill>
                <a:latin typeface="Poppins"/>
                <a:ea typeface="Poppins"/>
                <a:cs typeface="Poppins"/>
                <a:sym typeface="Poppins"/>
                <a:hlinkClick r:id="rId6">
                  <a:extLst>
                    <a:ext uri="{A12FA001-AC4F-418D-AE19-62706E023703}">
                      <ahyp:hlinkClr xmlns:ahyp="http://schemas.microsoft.com/office/drawing/2018/hyperlinkcolor" val="tx"/>
                    </a:ext>
                  </a:extLst>
                </a:hlinkClick>
              </a:rPr>
              <a:t>enyoi.co</a:t>
            </a:r>
            <a:endParaRPr dirty="0"/>
          </a:p>
        </p:txBody>
      </p:sp>
      <p:sp>
        <p:nvSpPr>
          <p:cNvPr id="380" name="Google Shape;380;p8"/>
          <p:cNvSpPr txBox="1"/>
          <p:nvPr/>
        </p:nvSpPr>
        <p:spPr>
          <a:xfrm>
            <a:off x="2520238" y="6526813"/>
            <a:ext cx="2467846" cy="430887"/>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dirty="0">
                <a:solidFill>
                  <a:srgbClr val="1F1F1D"/>
                </a:solidFill>
                <a:latin typeface="Poppins"/>
                <a:ea typeface="Poppins"/>
                <a:cs typeface="Poppins"/>
                <a:sym typeface="Poppins"/>
                <a:hlinkClick r:id="rId4">
                  <a:extLst>
                    <a:ext uri="{A12FA001-AC4F-418D-AE19-62706E023703}">
                      <ahyp:hlinkClr xmlns:ahyp="http://schemas.microsoft.com/office/drawing/2018/hyperlinkcolor" val="tx"/>
                    </a:ext>
                  </a:extLst>
                </a:hlinkClick>
              </a:rPr>
              <a:t>+57 </a:t>
            </a:r>
            <a:r>
              <a:rPr lang="es-MX" sz="2000" u="sng" dirty="0">
                <a:solidFill>
                  <a:srgbClr val="1F1F1D"/>
                </a:solidFill>
                <a:latin typeface="Poppins"/>
                <a:ea typeface="Poppins"/>
                <a:cs typeface="Poppins"/>
                <a:sym typeface="Poppins"/>
              </a:rPr>
              <a:t>301 673 6729</a:t>
            </a:r>
            <a:endParaRPr dirty="0"/>
          </a:p>
        </p:txBody>
      </p:sp>
      <p:sp>
        <p:nvSpPr>
          <p:cNvPr id="381" name="Google Shape;381;p8"/>
          <p:cNvSpPr txBox="1"/>
          <p:nvPr/>
        </p:nvSpPr>
        <p:spPr>
          <a:xfrm>
            <a:off x="2520164" y="7136825"/>
            <a:ext cx="1048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a:solidFill>
                  <a:srgbClr val="1F1F1D"/>
                </a:solidFill>
                <a:latin typeface="Poppins"/>
                <a:ea typeface="Poppins"/>
                <a:cs typeface="Poppins"/>
                <a:sym typeface="Poppins"/>
                <a:hlinkClick r:id="rId11">
                  <a:extLst>
                    <a:ext uri="{A12FA001-AC4F-418D-AE19-62706E023703}">
                      <ahyp:hlinkClr xmlns:ahyp="http://schemas.microsoft.com/office/drawing/2018/hyperlinkcolor" val="tx"/>
                    </a:ext>
                  </a:extLst>
                </a:hlinkClick>
              </a:rPr>
              <a:t>enyoi.co</a:t>
            </a:r>
            <a:endParaRPr/>
          </a:p>
        </p:txBody>
      </p:sp>
      <p:grpSp>
        <p:nvGrpSpPr>
          <p:cNvPr id="382" name="Google Shape;382;p8"/>
          <p:cNvGrpSpPr/>
          <p:nvPr/>
        </p:nvGrpSpPr>
        <p:grpSpPr>
          <a:xfrm>
            <a:off x="2068637" y="6865719"/>
            <a:ext cx="2744745" cy="192288"/>
            <a:chOff x="0" y="-38100"/>
            <a:chExt cx="722896" cy="50643"/>
          </a:xfrm>
        </p:grpSpPr>
        <p:sp>
          <p:nvSpPr>
            <p:cNvPr id="383" name="Google Shape;383;p8"/>
            <p:cNvSpPr/>
            <p:nvPr/>
          </p:nvSpPr>
          <p:spPr>
            <a:xfrm>
              <a:off x="0" y="0"/>
              <a:ext cx="722896" cy="12543"/>
            </a:xfrm>
            <a:custGeom>
              <a:avLst/>
              <a:gdLst/>
              <a:ahLst/>
              <a:cxnLst/>
              <a:rect l="l" t="t" r="r" b="b"/>
              <a:pathLst>
                <a:path w="722896" h="12543" extrusionOk="0">
                  <a:moveTo>
                    <a:pt x="6272" y="0"/>
                  </a:moveTo>
                  <a:lnTo>
                    <a:pt x="716624" y="0"/>
                  </a:lnTo>
                  <a:cubicBezTo>
                    <a:pt x="718288" y="0"/>
                    <a:pt x="719883" y="661"/>
                    <a:pt x="721059" y="1837"/>
                  </a:cubicBezTo>
                  <a:cubicBezTo>
                    <a:pt x="722235" y="3013"/>
                    <a:pt x="722896" y="4608"/>
                    <a:pt x="722896" y="6272"/>
                  </a:cubicBezTo>
                  <a:lnTo>
                    <a:pt x="722896" y="6272"/>
                  </a:lnTo>
                  <a:cubicBezTo>
                    <a:pt x="722896" y="7935"/>
                    <a:pt x="722235" y="9530"/>
                    <a:pt x="721059" y="10706"/>
                  </a:cubicBezTo>
                  <a:cubicBezTo>
                    <a:pt x="719883" y="11882"/>
                    <a:pt x="718288" y="12543"/>
                    <a:pt x="716624" y="12543"/>
                  </a:cubicBezTo>
                  <a:lnTo>
                    <a:pt x="6272" y="12543"/>
                  </a:lnTo>
                  <a:cubicBezTo>
                    <a:pt x="4608" y="12543"/>
                    <a:pt x="3013" y="11882"/>
                    <a:pt x="1837" y="10706"/>
                  </a:cubicBezTo>
                  <a:cubicBezTo>
                    <a:pt x="661" y="9530"/>
                    <a:pt x="0" y="7935"/>
                    <a:pt x="0" y="6272"/>
                  </a:cubicBezTo>
                  <a:lnTo>
                    <a:pt x="0" y="6272"/>
                  </a:lnTo>
                  <a:cubicBezTo>
                    <a:pt x="0" y="4608"/>
                    <a:pt x="661" y="3013"/>
                    <a:pt x="1837" y="1837"/>
                  </a:cubicBezTo>
                  <a:cubicBezTo>
                    <a:pt x="3013" y="661"/>
                    <a:pt x="4608" y="0"/>
                    <a:pt x="6272"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4" name="Google Shape;384;p8"/>
            <p:cNvSpPr txBox="1"/>
            <p:nvPr/>
          </p:nvSpPr>
          <p:spPr>
            <a:xfrm>
              <a:off x="0" y="-38100"/>
              <a:ext cx="722896" cy="5064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385" name="Google Shape;385;p8"/>
          <p:cNvGrpSpPr/>
          <p:nvPr/>
        </p:nvGrpSpPr>
        <p:grpSpPr>
          <a:xfrm>
            <a:off x="5758126" y="6865719"/>
            <a:ext cx="2744745" cy="192288"/>
            <a:chOff x="0" y="-38100"/>
            <a:chExt cx="722896" cy="50643"/>
          </a:xfrm>
        </p:grpSpPr>
        <p:sp>
          <p:nvSpPr>
            <p:cNvPr id="386" name="Google Shape;386;p8"/>
            <p:cNvSpPr/>
            <p:nvPr/>
          </p:nvSpPr>
          <p:spPr>
            <a:xfrm>
              <a:off x="0" y="0"/>
              <a:ext cx="722896" cy="12543"/>
            </a:xfrm>
            <a:custGeom>
              <a:avLst/>
              <a:gdLst/>
              <a:ahLst/>
              <a:cxnLst/>
              <a:rect l="l" t="t" r="r" b="b"/>
              <a:pathLst>
                <a:path w="722896" h="12543" extrusionOk="0">
                  <a:moveTo>
                    <a:pt x="6272" y="0"/>
                  </a:moveTo>
                  <a:lnTo>
                    <a:pt x="716624" y="0"/>
                  </a:lnTo>
                  <a:cubicBezTo>
                    <a:pt x="718288" y="0"/>
                    <a:pt x="719883" y="661"/>
                    <a:pt x="721059" y="1837"/>
                  </a:cubicBezTo>
                  <a:cubicBezTo>
                    <a:pt x="722235" y="3013"/>
                    <a:pt x="722896" y="4608"/>
                    <a:pt x="722896" y="6272"/>
                  </a:cubicBezTo>
                  <a:lnTo>
                    <a:pt x="722896" y="6272"/>
                  </a:lnTo>
                  <a:cubicBezTo>
                    <a:pt x="722896" y="7935"/>
                    <a:pt x="722235" y="9530"/>
                    <a:pt x="721059" y="10706"/>
                  </a:cubicBezTo>
                  <a:cubicBezTo>
                    <a:pt x="719883" y="11882"/>
                    <a:pt x="718288" y="12543"/>
                    <a:pt x="716624" y="12543"/>
                  </a:cubicBezTo>
                  <a:lnTo>
                    <a:pt x="6272" y="12543"/>
                  </a:lnTo>
                  <a:cubicBezTo>
                    <a:pt x="4608" y="12543"/>
                    <a:pt x="3013" y="11882"/>
                    <a:pt x="1837" y="10706"/>
                  </a:cubicBezTo>
                  <a:cubicBezTo>
                    <a:pt x="661" y="9530"/>
                    <a:pt x="0" y="7935"/>
                    <a:pt x="0" y="6272"/>
                  </a:cubicBezTo>
                  <a:lnTo>
                    <a:pt x="0" y="6272"/>
                  </a:lnTo>
                  <a:cubicBezTo>
                    <a:pt x="0" y="4608"/>
                    <a:pt x="661" y="3013"/>
                    <a:pt x="1837" y="1837"/>
                  </a:cubicBezTo>
                  <a:cubicBezTo>
                    <a:pt x="3013" y="661"/>
                    <a:pt x="4608" y="0"/>
                    <a:pt x="6272"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7" name="Google Shape;387;p8"/>
            <p:cNvSpPr txBox="1"/>
            <p:nvPr/>
          </p:nvSpPr>
          <p:spPr>
            <a:xfrm>
              <a:off x="0" y="-38100"/>
              <a:ext cx="722896" cy="5064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pic>
        <p:nvPicPr>
          <p:cNvPr id="388" name="Google Shape;388;p8"/>
          <p:cNvPicPr preferRelativeResize="0"/>
          <p:nvPr/>
        </p:nvPicPr>
        <p:blipFill rotWithShape="1">
          <a:blip r:embed="rId12">
            <a:alphaModFix/>
          </a:blip>
          <a:srcRect l="53990" t="15859" r="8554" b="69322"/>
          <a:stretch/>
        </p:blipFill>
        <p:spPr>
          <a:xfrm>
            <a:off x="5001939" y="578151"/>
            <a:ext cx="4721448" cy="1048052"/>
          </a:xfrm>
          <a:prstGeom prst="rect">
            <a:avLst/>
          </a:prstGeom>
          <a:noFill/>
          <a:ln>
            <a:noFill/>
          </a:ln>
        </p:spPr>
      </p:pic>
      <p:sp>
        <p:nvSpPr>
          <p:cNvPr id="389" name="Google Shape;389;p8"/>
          <p:cNvSpPr/>
          <p:nvPr/>
        </p:nvSpPr>
        <p:spPr>
          <a:xfrm>
            <a:off x="729281" y="455568"/>
            <a:ext cx="3004519" cy="1201808"/>
          </a:xfrm>
          <a:custGeom>
            <a:avLst/>
            <a:gdLst/>
            <a:ahLst/>
            <a:cxnLst/>
            <a:rect l="l" t="t" r="r" b="b"/>
            <a:pathLst>
              <a:path w="3457174" h="1382870" extrusionOk="0">
                <a:moveTo>
                  <a:pt x="0" y="0"/>
                </a:moveTo>
                <a:lnTo>
                  <a:pt x="3457174" y="0"/>
                </a:lnTo>
                <a:lnTo>
                  <a:pt x="3457174" y="1382870"/>
                </a:lnTo>
                <a:lnTo>
                  <a:pt x="0" y="1382870"/>
                </a:lnTo>
                <a:lnTo>
                  <a:pt x="0" y="0"/>
                </a:lnTo>
                <a:close/>
              </a:path>
            </a:pathLst>
          </a:custGeom>
          <a:blipFill rotWithShape="1">
            <a:blip r:embed="rId1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D3A58C-3D05-C046-9AAE-5BF1861D62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3A38D67-ACFE-7E6A-241A-85CF4FF7B16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D6A4A54-79A1-D495-ECC9-15083193F74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55546EC-FCB1-C406-8316-267FBA3CFEE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826FE44-05ED-CDD2-461F-443A65D2BF9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E769E14-625D-0AA9-E817-AF151F659A5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49A2BB2-F7B8-2606-B971-ED8ABDE0F9E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8E0FDD5-DAB9-AE31-9A2E-CD7242E20ED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EC7A90-2C63-DDEC-96C3-115A62F6749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DB933630-C05F-D99D-06A2-731433FFDFE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E10E46B-106D-8D50-57EE-14FC3AF6595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EE4BFA2C-8FF2-0D82-5E94-36CB7DDEB717}"/>
              </a:ext>
            </a:extLst>
          </p:cNvPr>
          <p:cNvSpPr txBox="1"/>
          <p:nvPr/>
        </p:nvSpPr>
        <p:spPr>
          <a:xfrm>
            <a:off x="1548352" y="31238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D3334DFA-F701-CF24-E779-FA66716292C9}"/>
              </a:ext>
            </a:extLst>
          </p:cNvPr>
          <p:cNvSpPr txBox="1"/>
          <p:nvPr/>
        </p:nvSpPr>
        <p:spPr>
          <a:xfrm>
            <a:off x="1912370" y="2439679"/>
            <a:ext cx="13781388" cy="5262979"/>
          </a:xfrm>
          <a:prstGeom prst="rect">
            <a:avLst/>
          </a:prstGeom>
          <a:noFill/>
        </p:spPr>
        <p:txBody>
          <a:bodyPr wrap="square">
            <a:spAutoFit/>
          </a:bodyPr>
          <a:lstStyle/>
          <a:p>
            <a:r>
              <a:rPr lang="es-ES" sz="2800" dirty="0"/>
              <a:t>La combinación de estos dos indicadores siempre sigue un orden específico. Ubicado en el borde exterior de la relación, el símbolo de multiplicidad aparece primero. El símbolo que indica si la relación es obligatoria u opcional se muestra después del símbolo de multiplicidad.</a:t>
            </a:r>
          </a:p>
          <a:p>
            <a:endParaRPr lang="es-ES" sz="2800" dirty="0"/>
          </a:p>
          <a:p>
            <a:r>
              <a:rPr lang="es-ES" sz="2800" dirty="0"/>
              <a:t>En notación de pata de gallo:</a:t>
            </a:r>
          </a:p>
          <a:p>
            <a:endParaRPr lang="es-ES" sz="2800" dirty="0"/>
          </a:p>
          <a:p>
            <a:pPr marL="457200" indent="-457200">
              <a:buFont typeface="Arial" panose="020B0604020202020204" pitchFamily="34" charset="0"/>
              <a:buChar char="•"/>
            </a:pPr>
            <a:r>
              <a:rPr lang="es-ES" sz="2800" dirty="0"/>
              <a:t>Una multiplicidad de uno y una relación obligatoria se representan mediante una línea recta perpendicular a la línea de relación.</a:t>
            </a:r>
          </a:p>
          <a:p>
            <a:pPr marL="457200" indent="-457200">
              <a:buFont typeface="Arial" panose="020B0604020202020204" pitchFamily="34" charset="0"/>
              <a:buChar char="•"/>
            </a:pPr>
            <a:r>
              <a:rPr lang="es-ES" sz="2800" dirty="0"/>
              <a:t>Una multiplicidad de muchos se representa mediante el símbolo de la pata de gallo de tres puntas.</a:t>
            </a:r>
          </a:p>
          <a:p>
            <a:pPr marL="457200" indent="-457200">
              <a:buFont typeface="Arial" panose="020B0604020202020204" pitchFamily="34" charset="0"/>
              <a:buChar char="•"/>
            </a:pPr>
            <a:r>
              <a:rPr lang="es-ES" sz="2800" dirty="0"/>
              <a:t>Una relación opcional se representa mediante un círculo vacío.</a:t>
            </a:r>
            <a:endParaRPr lang="es-CO" sz="2800" dirty="0"/>
          </a:p>
        </p:txBody>
      </p:sp>
      <p:sp>
        <p:nvSpPr>
          <p:cNvPr id="14" name="AutoShape 2" descr="Imagen de ">
            <a:extLst>
              <a:ext uri="{FF2B5EF4-FFF2-40B4-BE49-F238E27FC236}">
                <a16:creationId xmlns:a16="http://schemas.microsoft.com/office/drawing/2014/main" id="{4F285B53-D60E-89A9-8D89-4AC4F4CD268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Tree>
    <p:extLst>
      <p:ext uri="{BB962C8B-B14F-4D97-AF65-F5344CB8AC3E}">
        <p14:creationId xmlns:p14="http://schemas.microsoft.com/office/powerpoint/2010/main" val="319411923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d0e0202-030e-462a-aa27-6a6a82479e70" xsi:nil="true"/>
    <lcf76f155ced4ddcb4097134ff3c332f xmlns="6c275f7e-0654-4a6d-8904-2cca8e28e712">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9E0DDBAFD1725F409D01B56EA32EFDE3" ma:contentTypeVersion="7" ma:contentTypeDescription="Crear nuevo documento." ma:contentTypeScope="" ma:versionID="7dc7d2ffd02d580038770cdc54fb49b2">
  <xsd:schema xmlns:xsd="http://www.w3.org/2001/XMLSchema" xmlns:xs="http://www.w3.org/2001/XMLSchema" xmlns:p="http://schemas.microsoft.com/office/2006/metadata/properties" xmlns:ns2="6c275f7e-0654-4a6d-8904-2cca8e28e712" xmlns:ns3="cd0e0202-030e-462a-aa27-6a6a82479e70" targetNamespace="http://schemas.microsoft.com/office/2006/metadata/properties" ma:root="true" ma:fieldsID="6553f877db16f6ec9bb39e8e018c4235" ns2:_="" ns3:_="">
    <xsd:import namespace="6c275f7e-0654-4a6d-8904-2cca8e28e712"/>
    <xsd:import namespace="cd0e0202-030e-462a-aa27-6a6a82479e70"/>
    <xsd:element name="properties">
      <xsd:complexType>
        <xsd:sequence>
          <xsd:element name="documentManagement">
            <xsd:complexType>
              <xsd:all>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275f7e-0654-4a6d-8904-2cca8e28e712"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Etiquetas de imagen" ma:readOnly="false" ma:fieldId="{5cf76f15-5ced-4ddc-b409-7134ff3c332f}" ma:taxonomyMulti="true" ma:sspId="39d08eb0-6654-4c6a-ad6e-6625fbda6bf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cd0e0202-030e-462a-aa27-6a6a82479e7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821bf81b-0d50-4df5-8eec-576b1a7382f6}" ma:internalName="TaxCatchAll" ma:showField="CatchAllData" ma:web="cd0e0202-030e-462a-aa27-6a6a82479e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E3D0385-A233-4172-ADB2-B697B7C47559}">
  <ds:schemaRefs>
    <ds:schemaRef ds:uri="http://schemas.microsoft.com/sharepoint/v3/contenttype/forms"/>
  </ds:schemaRefs>
</ds:datastoreItem>
</file>

<file path=customXml/itemProps2.xml><?xml version="1.0" encoding="utf-8"?>
<ds:datastoreItem xmlns:ds="http://schemas.openxmlformats.org/officeDocument/2006/customXml" ds:itemID="{AB26D1D1-A15E-45AB-876A-271BF38AB980}">
  <ds:schemaRefs>
    <ds:schemaRef ds:uri="http://schemas.microsoft.com/office/infopath/2007/PartnerControls"/>
    <ds:schemaRef ds:uri="cd0e0202-030e-462a-aa27-6a6a82479e70"/>
    <ds:schemaRef ds:uri="http://purl.org/dc/elements/1.1/"/>
    <ds:schemaRef ds:uri="http://schemas.microsoft.com/office/2006/documentManagement/types"/>
    <ds:schemaRef ds:uri="http://purl.org/dc/terms/"/>
    <ds:schemaRef ds:uri="http://schemas.openxmlformats.org/package/2006/metadata/core-properties"/>
    <ds:schemaRef ds:uri="http://purl.org/dc/dcmitype/"/>
    <ds:schemaRef ds:uri="6c275f7e-0654-4a6d-8904-2cca8e28e712"/>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C2897171-D617-4035-84F5-B2C4786536B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c275f7e-0654-4a6d-8904-2cca8e28e712"/>
    <ds:schemaRef ds:uri="cd0e0202-030e-462a-aa27-6a6a82479e7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8438</TotalTime>
  <Words>8281</Words>
  <Application>Microsoft Office PowerPoint</Application>
  <PresentationFormat>Personalizado</PresentationFormat>
  <Paragraphs>1157</Paragraphs>
  <Slides>91</Slides>
  <Notes>2</Notes>
  <HiddenSlides>1</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91</vt:i4>
      </vt:variant>
    </vt:vector>
  </HeadingPairs>
  <TitlesOfParts>
    <vt:vector size="98" baseType="lpstr">
      <vt:lpstr>Poppins 1 Bold</vt:lpstr>
      <vt:lpstr>Courier New</vt:lpstr>
      <vt:lpstr>Poppins</vt:lpstr>
      <vt:lpstr>Google Sans Text</vt:lpstr>
      <vt:lpstr>Calibri</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Administrador</dc:creator>
  <cp:lastModifiedBy>Juan Esteban Mejia Velasquez</cp:lastModifiedBy>
  <cp:revision>32</cp:revision>
  <dcterms:created xsi:type="dcterms:W3CDTF">2006-08-16T00:00:00Z</dcterms:created>
  <dcterms:modified xsi:type="dcterms:W3CDTF">2025-12-03T14:35:39Z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0x0101009E0DDBAFD1725F409D01B56EA32EFDE3</vt:lpwstr>
  </property>
  <property fmtid="{D5CDD505-2E9C-101B-9397-08002B2CF9AE}" pid="3" name="GUID">
    <vt:lpwstr>8ee56194-4f5f-4314-9a7c-fa71b263b52c</vt:lpwstr>
  </property>
  <property fmtid="{D5CDD505-2E9C-101B-9397-08002B2CF9AE}" pid="4" name="xd_Signature">
    <vt:bool>false</vt:bool>
  </property>
  <property fmtid="{D5CDD505-2E9C-101B-9397-08002B2CF9AE}" pid="5" name="xd_ProgID">
    <vt:lpwstr/>
  </property>
  <property fmtid="{D5CDD505-2E9C-101B-9397-08002B2CF9AE}" pid="6" name="_ExtendedDescription">
    <vt:lpwstr/>
  </property>
  <property fmtid="{D5CDD505-2E9C-101B-9397-08002B2CF9AE}" pid="7" name="SharedWithUsers">
    <vt:lpwstr/>
  </property>
  <property fmtid="{D5CDD505-2E9C-101B-9397-08002B2CF9AE}" pid="8" name="TriggerFlowInfo">
    <vt:lpwstr/>
  </property>
  <property fmtid="{D5CDD505-2E9C-101B-9397-08002B2CF9AE}" pid="9" name="ComplianceAssetId">
    <vt:lpwstr/>
  </property>
  <property fmtid="{D5CDD505-2E9C-101B-9397-08002B2CF9AE}" pid="10" name="TemplateUrl">
    <vt:lpwstr/>
  </property>
  <property fmtid="{D5CDD505-2E9C-101B-9397-08002B2CF9AE}" pid="11" name="MediaServiceImageTags">
    <vt:lpwstr/>
  </property>
</Properties>
</file>