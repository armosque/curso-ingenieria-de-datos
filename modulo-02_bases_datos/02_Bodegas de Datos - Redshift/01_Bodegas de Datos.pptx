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28"/>
  </p:notesMasterIdLst>
  <p:sldIdLst>
    <p:sldId id="256" r:id="rId5"/>
    <p:sldId id="331" r:id="rId6"/>
    <p:sldId id="8497" r:id="rId7"/>
    <p:sldId id="8502" r:id="rId8"/>
    <p:sldId id="8504" r:id="rId9"/>
    <p:sldId id="8549" r:id="rId10"/>
    <p:sldId id="8550" r:id="rId11"/>
    <p:sldId id="8551" r:id="rId12"/>
    <p:sldId id="8555" r:id="rId13"/>
    <p:sldId id="8552" r:id="rId14"/>
    <p:sldId id="8554" r:id="rId15"/>
    <p:sldId id="8553" r:id="rId16"/>
    <p:sldId id="8556" r:id="rId17"/>
    <p:sldId id="8557" r:id="rId18"/>
    <p:sldId id="8558" r:id="rId19"/>
    <p:sldId id="8559" r:id="rId20"/>
    <p:sldId id="8560" r:id="rId21"/>
    <p:sldId id="8561" r:id="rId22"/>
    <p:sldId id="8562" r:id="rId23"/>
    <p:sldId id="8563" r:id="rId24"/>
    <p:sldId id="8564" r:id="rId25"/>
    <p:sldId id="8565" r:id="rId26"/>
    <p:sldId id="268" r:id="rId27"/>
  </p:sldIdLst>
  <p:sldSz cx="18288000" cy="10287000"/>
  <p:notesSz cx="6858000" cy="9144000"/>
  <p:embeddedFontLst>
    <p:embeddedFont>
      <p:font typeface="Poppins" panose="00000500000000000000" pitchFamily="2" charset="0"/>
      <p:regular r:id="rId29"/>
      <p:bold r:id="rId30"/>
      <p:italic r:id="rId31"/>
      <p:boldItalic r:id="rId32"/>
    </p:embeddedFont>
    <p:embeddedFont>
      <p:font typeface="Poppins 1 Bold" panose="020B0604020202020204" charset="0"/>
      <p:regular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1" roundtripDataSignature="AMtx7miCuhGeosWqeH/wf4kyj2KadRk8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Estilo medio 4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62" y="17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93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5.fntdata"/><Relationship Id="rId9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1.fntdata"/><Relationship Id="rId91" Type="http://customschemas.google.com/relationships/presentationmetadata" Target="meta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95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3.fntdata"/><Relationship Id="rId9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font" Target="fonts/font2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E88520-F094-4AB5-AE39-BDACEC21F00E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s-CO"/>
        </a:p>
      </dgm:t>
    </dgm:pt>
    <dgm:pt modelId="{2488E620-80FE-4C9A-8539-C9EF3CBED98A}" type="pres">
      <dgm:prSet presAssocID="{95E88520-F094-4AB5-AE39-BDACEC21F00E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CB1FA22A-8BE9-47A1-B8F5-49EBB37A50AC}" type="presOf" srcId="{95E88520-F094-4AB5-AE39-BDACEC21F00E}" destId="{2488E620-80FE-4C9A-8539-C9EF3CBED98A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33A9EF6-6968-4CF9-BF76-504789FC1B5E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s-CO"/>
        </a:p>
      </dgm:t>
    </dgm:pt>
    <dgm:pt modelId="{8C77EB18-FFAC-4D36-9198-B3B1DCD08B84}">
      <dgm:prSet/>
      <dgm:spPr/>
      <dgm:t>
        <a:bodyPr/>
        <a:lstStyle/>
        <a:p>
          <a:r>
            <a:rPr lang="es-ES" b="1" i="0"/>
            <a:t>Orientado a Temas</a:t>
          </a:r>
          <a:endParaRPr lang="es-CO"/>
        </a:p>
      </dgm:t>
    </dgm:pt>
    <dgm:pt modelId="{8501B694-77D5-4F09-BE3F-FCE80EF9033D}" type="parTrans" cxnId="{3C46C383-08F7-489B-9D6D-59DFF9DEE0F0}">
      <dgm:prSet/>
      <dgm:spPr/>
      <dgm:t>
        <a:bodyPr/>
        <a:lstStyle/>
        <a:p>
          <a:endParaRPr lang="es-CO"/>
        </a:p>
      </dgm:t>
    </dgm:pt>
    <dgm:pt modelId="{5E4FF6B6-41B3-48DE-B6BB-B3AE14DD21A5}" type="sibTrans" cxnId="{3C46C383-08F7-489B-9D6D-59DFF9DEE0F0}">
      <dgm:prSet/>
      <dgm:spPr/>
      <dgm:t>
        <a:bodyPr/>
        <a:lstStyle/>
        <a:p>
          <a:endParaRPr lang="es-CO"/>
        </a:p>
      </dgm:t>
    </dgm:pt>
    <dgm:pt modelId="{2D62AAFB-52C8-477E-89D1-8462C31AF0F8}">
      <dgm:prSet/>
      <dgm:spPr/>
      <dgm:t>
        <a:bodyPr/>
        <a:lstStyle/>
        <a:p>
          <a:r>
            <a:rPr lang="es-ES" b="0" i="0"/>
            <a:t>Organizado por entidades clave (Cliente, Producto, Ventas) en lugar de procesos de aplicaciones.</a:t>
          </a:r>
          <a:endParaRPr lang="es-CO"/>
        </a:p>
      </dgm:t>
    </dgm:pt>
    <dgm:pt modelId="{7B812E57-39F4-4925-9250-24798C38F325}" type="parTrans" cxnId="{0F1C74B2-A221-47A4-9504-475A98E3E0E8}">
      <dgm:prSet/>
      <dgm:spPr/>
      <dgm:t>
        <a:bodyPr/>
        <a:lstStyle/>
        <a:p>
          <a:endParaRPr lang="es-CO"/>
        </a:p>
      </dgm:t>
    </dgm:pt>
    <dgm:pt modelId="{36D3F452-8781-4D21-986D-36D33C5B495F}" type="sibTrans" cxnId="{0F1C74B2-A221-47A4-9504-475A98E3E0E8}">
      <dgm:prSet/>
      <dgm:spPr/>
      <dgm:t>
        <a:bodyPr/>
        <a:lstStyle/>
        <a:p>
          <a:endParaRPr lang="es-CO"/>
        </a:p>
      </dgm:t>
    </dgm:pt>
    <dgm:pt modelId="{5D824C9C-59C7-485F-9F50-FC81B20E6818}">
      <dgm:prSet/>
      <dgm:spPr/>
      <dgm:t>
        <a:bodyPr/>
        <a:lstStyle/>
        <a:p>
          <a:r>
            <a:rPr lang="es-ES" b="1" i="0"/>
            <a:t>Integrado</a:t>
          </a:r>
          <a:endParaRPr lang="es-CO"/>
        </a:p>
      </dgm:t>
    </dgm:pt>
    <dgm:pt modelId="{0A22C30F-8930-451E-BD73-AF9CE59EA673}" type="parTrans" cxnId="{D4DDB76D-7485-4AC0-9D7B-53FBF808D6E4}">
      <dgm:prSet/>
      <dgm:spPr/>
      <dgm:t>
        <a:bodyPr/>
        <a:lstStyle/>
        <a:p>
          <a:endParaRPr lang="es-CO"/>
        </a:p>
      </dgm:t>
    </dgm:pt>
    <dgm:pt modelId="{996DFA5E-C6D9-4218-813D-18A34CE9A74B}" type="sibTrans" cxnId="{D4DDB76D-7485-4AC0-9D7B-53FBF808D6E4}">
      <dgm:prSet/>
      <dgm:spPr/>
      <dgm:t>
        <a:bodyPr/>
        <a:lstStyle/>
        <a:p>
          <a:endParaRPr lang="es-CO"/>
        </a:p>
      </dgm:t>
    </dgm:pt>
    <dgm:pt modelId="{07AF037D-CB5C-4293-831A-F9BDDE6C3C16}">
      <dgm:prSet/>
      <dgm:spPr/>
      <dgm:t>
        <a:bodyPr/>
        <a:lstStyle/>
        <a:p>
          <a:r>
            <a:rPr lang="es-ES" b="0" i="0"/>
            <a:t>Datos unificados de múltiples fuentes con formatos, codificación y convenciones consistentes.</a:t>
          </a:r>
          <a:endParaRPr lang="es-CO"/>
        </a:p>
      </dgm:t>
    </dgm:pt>
    <dgm:pt modelId="{FF57C919-8B29-4DCB-ADD5-9359A9047981}" type="parTrans" cxnId="{B477E6A7-BA71-4B91-B887-97825A7A7180}">
      <dgm:prSet/>
      <dgm:spPr/>
      <dgm:t>
        <a:bodyPr/>
        <a:lstStyle/>
        <a:p>
          <a:endParaRPr lang="es-CO"/>
        </a:p>
      </dgm:t>
    </dgm:pt>
    <dgm:pt modelId="{DA172A99-6719-4689-AEEB-F3D3DE85EB01}" type="sibTrans" cxnId="{B477E6A7-BA71-4B91-B887-97825A7A7180}">
      <dgm:prSet/>
      <dgm:spPr/>
      <dgm:t>
        <a:bodyPr/>
        <a:lstStyle/>
        <a:p>
          <a:endParaRPr lang="es-CO"/>
        </a:p>
      </dgm:t>
    </dgm:pt>
    <dgm:pt modelId="{91B52CDC-915C-4308-8B87-9C16DE684B05}">
      <dgm:prSet/>
      <dgm:spPr/>
      <dgm:t>
        <a:bodyPr/>
        <a:lstStyle/>
        <a:p>
          <a:r>
            <a:rPr lang="es-ES" b="1" i="0"/>
            <a:t>Variante en Tiempo</a:t>
          </a:r>
          <a:endParaRPr lang="es-CO"/>
        </a:p>
      </dgm:t>
    </dgm:pt>
    <dgm:pt modelId="{01434183-F630-4BD2-B5C1-A0589976D99B}" type="parTrans" cxnId="{23193BE4-6672-4F90-BAF1-7C8E59F3FBB4}">
      <dgm:prSet/>
      <dgm:spPr/>
      <dgm:t>
        <a:bodyPr/>
        <a:lstStyle/>
        <a:p>
          <a:endParaRPr lang="es-CO"/>
        </a:p>
      </dgm:t>
    </dgm:pt>
    <dgm:pt modelId="{97B6C7B8-41C9-4E23-BB38-F887EE62DF48}" type="sibTrans" cxnId="{23193BE4-6672-4F90-BAF1-7C8E59F3FBB4}">
      <dgm:prSet/>
      <dgm:spPr/>
      <dgm:t>
        <a:bodyPr/>
        <a:lstStyle/>
        <a:p>
          <a:endParaRPr lang="es-CO"/>
        </a:p>
      </dgm:t>
    </dgm:pt>
    <dgm:pt modelId="{5906CD9B-6B16-479E-B7B4-17ACDC427163}">
      <dgm:prSet/>
      <dgm:spPr/>
      <dgm:t>
        <a:bodyPr/>
        <a:lstStyle/>
        <a:p>
          <a:r>
            <a:rPr lang="es-ES" b="0" i="0"/>
            <a:t>Mantiene un historial de datos para analizar tendencias a lo largo de meses o años.</a:t>
          </a:r>
          <a:endParaRPr lang="es-CO"/>
        </a:p>
      </dgm:t>
    </dgm:pt>
    <dgm:pt modelId="{77B5F48E-3347-4C2B-B069-0EE26EBF4087}" type="parTrans" cxnId="{2B8AFEE4-CB1C-47B0-81E3-0052871B0DF9}">
      <dgm:prSet/>
      <dgm:spPr/>
      <dgm:t>
        <a:bodyPr/>
        <a:lstStyle/>
        <a:p>
          <a:endParaRPr lang="es-CO"/>
        </a:p>
      </dgm:t>
    </dgm:pt>
    <dgm:pt modelId="{C156EF26-0441-4CF6-B894-48315E179838}" type="sibTrans" cxnId="{2B8AFEE4-CB1C-47B0-81E3-0052871B0DF9}">
      <dgm:prSet/>
      <dgm:spPr/>
      <dgm:t>
        <a:bodyPr/>
        <a:lstStyle/>
        <a:p>
          <a:endParaRPr lang="es-CO"/>
        </a:p>
      </dgm:t>
    </dgm:pt>
    <dgm:pt modelId="{6F073814-C4B0-4B79-993E-5CDDFC6A7DA7}">
      <dgm:prSet/>
      <dgm:spPr/>
      <dgm:t>
        <a:bodyPr/>
        <a:lstStyle/>
        <a:p>
          <a:r>
            <a:rPr lang="es-ES" b="1" i="0"/>
            <a:t>No Volátil</a:t>
          </a:r>
          <a:endParaRPr lang="es-CO"/>
        </a:p>
      </dgm:t>
    </dgm:pt>
    <dgm:pt modelId="{D0122D0C-5DF8-4312-901B-A6B6F6A6B40B}" type="parTrans" cxnId="{A034B60D-723B-443C-BE37-6BFC524A2B50}">
      <dgm:prSet/>
      <dgm:spPr/>
      <dgm:t>
        <a:bodyPr/>
        <a:lstStyle/>
        <a:p>
          <a:endParaRPr lang="es-CO"/>
        </a:p>
      </dgm:t>
    </dgm:pt>
    <dgm:pt modelId="{A5D9573B-7B60-47D5-9CAC-EE4D00EA3DDC}" type="sibTrans" cxnId="{A034B60D-723B-443C-BE37-6BFC524A2B50}">
      <dgm:prSet/>
      <dgm:spPr/>
      <dgm:t>
        <a:bodyPr/>
        <a:lstStyle/>
        <a:p>
          <a:endParaRPr lang="es-CO"/>
        </a:p>
      </dgm:t>
    </dgm:pt>
    <dgm:pt modelId="{E0F8E8B3-8FDA-4281-A992-510FECD42291}">
      <dgm:prSet/>
      <dgm:spPr/>
      <dgm:t>
        <a:bodyPr/>
        <a:lstStyle/>
        <a:p>
          <a:r>
            <a:rPr lang="es-ES" b="0" i="0"/>
            <a:t>Los datos son de solo lectura para los usuarios; no se modifican una vez cargados.</a:t>
          </a:r>
          <a:endParaRPr lang="es-CO"/>
        </a:p>
      </dgm:t>
    </dgm:pt>
    <dgm:pt modelId="{3C5DEADF-6D7A-4D91-8A78-32DCC8775790}" type="parTrans" cxnId="{BBF8BC17-C8B1-4389-A524-564275D18B0D}">
      <dgm:prSet/>
      <dgm:spPr/>
      <dgm:t>
        <a:bodyPr/>
        <a:lstStyle/>
        <a:p>
          <a:endParaRPr lang="es-CO"/>
        </a:p>
      </dgm:t>
    </dgm:pt>
    <dgm:pt modelId="{BF56F80C-E807-44B3-84EE-F5F6BB5331BE}" type="sibTrans" cxnId="{BBF8BC17-C8B1-4389-A524-564275D18B0D}">
      <dgm:prSet/>
      <dgm:spPr/>
      <dgm:t>
        <a:bodyPr/>
        <a:lstStyle/>
        <a:p>
          <a:endParaRPr lang="es-CO"/>
        </a:p>
      </dgm:t>
    </dgm:pt>
    <dgm:pt modelId="{6AA8C00E-D33D-4BCA-842A-028427772D50}" type="pres">
      <dgm:prSet presAssocID="{233A9EF6-6968-4CF9-BF76-504789FC1B5E}" presName="Name0" presStyleCnt="0">
        <dgm:presLayoutVars>
          <dgm:dir/>
          <dgm:animLvl val="lvl"/>
          <dgm:resizeHandles val="exact"/>
        </dgm:presLayoutVars>
      </dgm:prSet>
      <dgm:spPr/>
    </dgm:pt>
    <dgm:pt modelId="{777CF3EC-E61D-4C8A-9B3E-04EF10C0F891}" type="pres">
      <dgm:prSet presAssocID="{8C77EB18-FFAC-4D36-9198-B3B1DCD08B84}" presName="composite" presStyleCnt="0"/>
      <dgm:spPr/>
    </dgm:pt>
    <dgm:pt modelId="{FA4152EB-5AAD-435C-A4ED-B9226E8A9F80}" type="pres">
      <dgm:prSet presAssocID="{8C77EB18-FFAC-4D36-9198-B3B1DCD08B84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EC96A8A7-6772-47B9-81E2-5CC35241ED7D}" type="pres">
      <dgm:prSet presAssocID="{8C77EB18-FFAC-4D36-9198-B3B1DCD08B84}" presName="desTx" presStyleLbl="alignAccFollowNode1" presStyleIdx="0" presStyleCnt="4">
        <dgm:presLayoutVars>
          <dgm:bulletEnabled val="1"/>
        </dgm:presLayoutVars>
      </dgm:prSet>
      <dgm:spPr/>
    </dgm:pt>
    <dgm:pt modelId="{AB7521FF-248D-4C84-A8F1-0446F58CEF4D}" type="pres">
      <dgm:prSet presAssocID="{5E4FF6B6-41B3-48DE-B6BB-B3AE14DD21A5}" presName="space" presStyleCnt="0"/>
      <dgm:spPr/>
    </dgm:pt>
    <dgm:pt modelId="{B07CE33E-128D-4A39-A6AC-FC0F8C8EB828}" type="pres">
      <dgm:prSet presAssocID="{5D824C9C-59C7-485F-9F50-FC81B20E6818}" presName="composite" presStyleCnt="0"/>
      <dgm:spPr/>
    </dgm:pt>
    <dgm:pt modelId="{EDF02699-E48E-48AC-88BB-42A5AFCFBEF6}" type="pres">
      <dgm:prSet presAssocID="{5D824C9C-59C7-485F-9F50-FC81B20E6818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30EF6B71-19FD-4380-B776-F164A15B4938}" type="pres">
      <dgm:prSet presAssocID="{5D824C9C-59C7-485F-9F50-FC81B20E6818}" presName="desTx" presStyleLbl="alignAccFollowNode1" presStyleIdx="1" presStyleCnt="4">
        <dgm:presLayoutVars>
          <dgm:bulletEnabled val="1"/>
        </dgm:presLayoutVars>
      </dgm:prSet>
      <dgm:spPr/>
    </dgm:pt>
    <dgm:pt modelId="{26981C2B-E6F3-43E6-ABC6-01DADF4689F5}" type="pres">
      <dgm:prSet presAssocID="{996DFA5E-C6D9-4218-813D-18A34CE9A74B}" presName="space" presStyleCnt="0"/>
      <dgm:spPr/>
    </dgm:pt>
    <dgm:pt modelId="{73F59AD1-3B52-4E29-A65F-10A22B6380A3}" type="pres">
      <dgm:prSet presAssocID="{91B52CDC-915C-4308-8B87-9C16DE684B05}" presName="composite" presStyleCnt="0"/>
      <dgm:spPr/>
    </dgm:pt>
    <dgm:pt modelId="{B3F7F618-D783-4C4E-9A8B-FC48714D6A03}" type="pres">
      <dgm:prSet presAssocID="{91B52CDC-915C-4308-8B87-9C16DE684B05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C155E6F1-3FE7-4729-873A-C829471EC7EA}" type="pres">
      <dgm:prSet presAssocID="{91B52CDC-915C-4308-8B87-9C16DE684B05}" presName="desTx" presStyleLbl="alignAccFollowNode1" presStyleIdx="2" presStyleCnt="4">
        <dgm:presLayoutVars>
          <dgm:bulletEnabled val="1"/>
        </dgm:presLayoutVars>
      </dgm:prSet>
      <dgm:spPr/>
    </dgm:pt>
    <dgm:pt modelId="{7AAB618D-8B64-4DB6-BA05-70C792BA15D0}" type="pres">
      <dgm:prSet presAssocID="{97B6C7B8-41C9-4E23-BB38-F887EE62DF48}" presName="space" presStyleCnt="0"/>
      <dgm:spPr/>
    </dgm:pt>
    <dgm:pt modelId="{6A5CF5DE-C3E2-401E-8CA3-64E2D4D678FA}" type="pres">
      <dgm:prSet presAssocID="{6F073814-C4B0-4B79-993E-5CDDFC6A7DA7}" presName="composite" presStyleCnt="0"/>
      <dgm:spPr/>
    </dgm:pt>
    <dgm:pt modelId="{B037279D-16AC-46A3-889D-4833885ECDDE}" type="pres">
      <dgm:prSet presAssocID="{6F073814-C4B0-4B79-993E-5CDDFC6A7DA7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790BE199-BD4B-4A46-B7F9-1D02AF169914}" type="pres">
      <dgm:prSet presAssocID="{6F073814-C4B0-4B79-993E-5CDDFC6A7DA7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A034B60D-723B-443C-BE37-6BFC524A2B50}" srcId="{233A9EF6-6968-4CF9-BF76-504789FC1B5E}" destId="{6F073814-C4B0-4B79-993E-5CDDFC6A7DA7}" srcOrd="3" destOrd="0" parTransId="{D0122D0C-5DF8-4312-901B-A6B6F6A6B40B}" sibTransId="{A5D9573B-7B60-47D5-9CAC-EE4D00EA3DDC}"/>
    <dgm:cxn modelId="{BBF8BC17-C8B1-4389-A524-564275D18B0D}" srcId="{6F073814-C4B0-4B79-993E-5CDDFC6A7DA7}" destId="{E0F8E8B3-8FDA-4281-A992-510FECD42291}" srcOrd="0" destOrd="0" parTransId="{3C5DEADF-6D7A-4D91-8A78-32DCC8775790}" sibTransId="{BF56F80C-E807-44B3-84EE-F5F6BB5331BE}"/>
    <dgm:cxn modelId="{D5A2702D-D241-4487-BA41-06BAA2203A02}" type="presOf" srcId="{5D824C9C-59C7-485F-9F50-FC81B20E6818}" destId="{EDF02699-E48E-48AC-88BB-42A5AFCFBEF6}" srcOrd="0" destOrd="0" presId="urn:microsoft.com/office/officeart/2005/8/layout/hList1"/>
    <dgm:cxn modelId="{3232A92E-3249-4783-BF68-A62F0B58340D}" type="presOf" srcId="{8C77EB18-FFAC-4D36-9198-B3B1DCD08B84}" destId="{FA4152EB-5AAD-435C-A4ED-B9226E8A9F80}" srcOrd="0" destOrd="0" presId="urn:microsoft.com/office/officeart/2005/8/layout/hList1"/>
    <dgm:cxn modelId="{512A7034-85B0-4B89-A392-729C678384DB}" type="presOf" srcId="{5906CD9B-6B16-479E-B7B4-17ACDC427163}" destId="{C155E6F1-3FE7-4729-873A-C829471EC7EA}" srcOrd="0" destOrd="0" presId="urn:microsoft.com/office/officeart/2005/8/layout/hList1"/>
    <dgm:cxn modelId="{62D30546-B06C-4B60-8FA7-8F93CFDD8009}" type="presOf" srcId="{2D62AAFB-52C8-477E-89D1-8462C31AF0F8}" destId="{EC96A8A7-6772-47B9-81E2-5CC35241ED7D}" srcOrd="0" destOrd="0" presId="urn:microsoft.com/office/officeart/2005/8/layout/hList1"/>
    <dgm:cxn modelId="{0941DC67-799B-4631-ABDB-C83DF4DD6D89}" type="presOf" srcId="{6F073814-C4B0-4B79-993E-5CDDFC6A7DA7}" destId="{B037279D-16AC-46A3-889D-4833885ECDDE}" srcOrd="0" destOrd="0" presId="urn:microsoft.com/office/officeart/2005/8/layout/hList1"/>
    <dgm:cxn modelId="{D4DDB76D-7485-4AC0-9D7B-53FBF808D6E4}" srcId="{233A9EF6-6968-4CF9-BF76-504789FC1B5E}" destId="{5D824C9C-59C7-485F-9F50-FC81B20E6818}" srcOrd="1" destOrd="0" parTransId="{0A22C30F-8930-451E-BD73-AF9CE59EA673}" sibTransId="{996DFA5E-C6D9-4218-813D-18A34CE9A74B}"/>
    <dgm:cxn modelId="{AED8016E-963B-4398-9DF4-F28322DF12F3}" type="presOf" srcId="{233A9EF6-6968-4CF9-BF76-504789FC1B5E}" destId="{6AA8C00E-D33D-4BCA-842A-028427772D50}" srcOrd="0" destOrd="0" presId="urn:microsoft.com/office/officeart/2005/8/layout/hList1"/>
    <dgm:cxn modelId="{72C4B971-1F96-442C-AC80-760BCB4DEFBD}" type="presOf" srcId="{07AF037D-CB5C-4293-831A-F9BDDE6C3C16}" destId="{30EF6B71-19FD-4380-B776-F164A15B4938}" srcOrd="0" destOrd="0" presId="urn:microsoft.com/office/officeart/2005/8/layout/hList1"/>
    <dgm:cxn modelId="{3C46C383-08F7-489B-9D6D-59DFF9DEE0F0}" srcId="{233A9EF6-6968-4CF9-BF76-504789FC1B5E}" destId="{8C77EB18-FFAC-4D36-9198-B3B1DCD08B84}" srcOrd="0" destOrd="0" parTransId="{8501B694-77D5-4F09-BE3F-FCE80EF9033D}" sibTransId="{5E4FF6B6-41B3-48DE-B6BB-B3AE14DD21A5}"/>
    <dgm:cxn modelId="{882D9597-1247-480D-9989-DCDF6ABECE5F}" type="presOf" srcId="{91B52CDC-915C-4308-8B87-9C16DE684B05}" destId="{B3F7F618-D783-4C4E-9A8B-FC48714D6A03}" srcOrd="0" destOrd="0" presId="urn:microsoft.com/office/officeart/2005/8/layout/hList1"/>
    <dgm:cxn modelId="{B477E6A7-BA71-4B91-B887-97825A7A7180}" srcId="{5D824C9C-59C7-485F-9F50-FC81B20E6818}" destId="{07AF037D-CB5C-4293-831A-F9BDDE6C3C16}" srcOrd="0" destOrd="0" parTransId="{FF57C919-8B29-4DCB-ADD5-9359A9047981}" sibTransId="{DA172A99-6719-4689-AEEB-F3D3DE85EB01}"/>
    <dgm:cxn modelId="{8B1BAEAD-88DC-47B4-9CF3-AD05AC173BB1}" type="presOf" srcId="{E0F8E8B3-8FDA-4281-A992-510FECD42291}" destId="{790BE199-BD4B-4A46-B7F9-1D02AF169914}" srcOrd="0" destOrd="0" presId="urn:microsoft.com/office/officeart/2005/8/layout/hList1"/>
    <dgm:cxn modelId="{0F1C74B2-A221-47A4-9504-475A98E3E0E8}" srcId="{8C77EB18-FFAC-4D36-9198-B3B1DCD08B84}" destId="{2D62AAFB-52C8-477E-89D1-8462C31AF0F8}" srcOrd="0" destOrd="0" parTransId="{7B812E57-39F4-4925-9250-24798C38F325}" sibTransId="{36D3F452-8781-4D21-986D-36D33C5B495F}"/>
    <dgm:cxn modelId="{23193BE4-6672-4F90-BAF1-7C8E59F3FBB4}" srcId="{233A9EF6-6968-4CF9-BF76-504789FC1B5E}" destId="{91B52CDC-915C-4308-8B87-9C16DE684B05}" srcOrd="2" destOrd="0" parTransId="{01434183-F630-4BD2-B5C1-A0589976D99B}" sibTransId="{97B6C7B8-41C9-4E23-BB38-F887EE62DF48}"/>
    <dgm:cxn modelId="{2B8AFEE4-CB1C-47B0-81E3-0052871B0DF9}" srcId="{91B52CDC-915C-4308-8B87-9C16DE684B05}" destId="{5906CD9B-6B16-479E-B7B4-17ACDC427163}" srcOrd="0" destOrd="0" parTransId="{77B5F48E-3347-4C2B-B069-0EE26EBF4087}" sibTransId="{C156EF26-0441-4CF6-B894-48315E179838}"/>
    <dgm:cxn modelId="{BFD6A95C-EE53-4BF7-BB3B-32172CDCC46A}" type="presParOf" srcId="{6AA8C00E-D33D-4BCA-842A-028427772D50}" destId="{777CF3EC-E61D-4C8A-9B3E-04EF10C0F891}" srcOrd="0" destOrd="0" presId="urn:microsoft.com/office/officeart/2005/8/layout/hList1"/>
    <dgm:cxn modelId="{0CD1B623-D657-41A8-87C6-367E662A4591}" type="presParOf" srcId="{777CF3EC-E61D-4C8A-9B3E-04EF10C0F891}" destId="{FA4152EB-5AAD-435C-A4ED-B9226E8A9F80}" srcOrd="0" destOrd="0" presId="urn:microsoft.com/office/officeart/2005/8/layout/hList1"/>
    <dgm:cxn modelId="{92243899-CBD0-4E74-9DD7-DA1E3DD6A517}" type="presParOf" srcId="{777CF3EC-E61D-4C8A-9B3E-04EF10C0F891}" destId="{EC96A8A7-6772-47B9-81E2-5CC35241ED7D}" srcOrd="1" destOrd="0" presId="urn:microsoft.com/office/officeart/2005/8/layout/hList1"/>
    <dgm:cxn modelId="{E7EFFBFE-4F67-4A97-BB1C-62D86CAE0B5A}" type="presParOf" srcId="{6AA8C00E-D33D-4BCA-842A-028427772D50}" destId="{AB7521FF-248D-4C84-A8F1-0446F58CEF4D}" srcOrd="1" destOrd="0" presId="urn:microsoft.com/office/officeart/2005/8/layout/hList1"/>
    <dgm:cxn modelId="{19F84D2B-C511-4EED-8697-B13A0F109B6A}" type="presParOf" srcId="{6AA8C00E-D33D-4BCA-842A-028427772D50}" destId="{B07CE33E-128D-4A39-A6AC-FC0F8C8EB828}" srcOrd="2" destOrd="0" presId="urn:microsoft.com/office/officeart/2005/8/layout/hList1"/>
    <dgm:cxn modelId="{B0FA452E-2963-4A57-8EA3-4A7A72C3127F}" type="presParOf" srcId="{B07CE33E-128D-4A39-A6AC-FC0F8C8EB828}" destId="{EDF02699-E48E-48AC-88BB-42A5AFCFBEF6}" srcOrd="0" destOrd="0" presId="urn:microsoft.com/office/officeart/2005/8/layout/hList1"/>
    <dgm:cxn modelId="{A57A10DF-49F7-4DEE-A22C-6BC6A2400608}" type="presParOf" srcId="{B07CE33E-128D-4A39-A6AC-FC0F8C8EB828}" destId="{30EF6B71-19FD-4380-B776-F164A15B4938}" srcOrd="1" destOrd="0" presId="urn:microsoft.com/office/officeart/2005/8/layout/hList1"/>
    <dgm:cxn modelId="{D1D948E4-FABE-421A-A32B-202CB6026C2A}" type="presParOf" srcId="{6AA8C00E-D33D-4BCA-842A-028427772D50}" destId="{26981C2B-E6F3-43E6-ABC6-01DADF4689F5}" srcOrd="3" destOrd="0" presId="urn:microsoft.com/office/officeart/2005/8/layout/hList1"/>
    <dgm:cxn modelId="{12CC4B2A-28A4-423C-A165-9F4437938C57}" type="presParOf" srcId="{6AA8C00E-D33D-4BCA-842A-028427772D50}" destId="{73F59AD1-3B52-4E29-A65F-10A22B6380A3}" srcOrd="4" destOrd="0" presId="urn:microsoft.com/office/officeart/2005/8/layout/hList1"/>
    <dgm:cxn modelId="{A757218E-BB5B-45C8-A4EF-6185844FDD01}" type="presParOf" srcId="{73F59AD1-3B52-4E29-A65F-10A22B6380A3}" destId="{B3F7F618-D783-4C4E-9A8B-FC48714D6A03}" srcOrd="0" destOrd="0" presId="urn:microsoft.com/office/officeart/2005/8/layout/hList1"/>
    <dgm:cxn modelId="{EAD344C7-C2B0-4E6A-A45A-16E6DAE761FC}" type="presParOf" srcId="{73F59AD1-3B52-4E29-A65F-10A22B6380A3}" destId="{C155E6F1-3FE7-4729-873A-C829471EC7EA}" srcOrd="1" destOrd="0" presId="urn:microsoft.com/office/officeart/2005/8/layout/hList1"/>
    <dgm:cxn modelId="{6EB909EF-310B-4784-97CC-5C7E59111FAF}" type="presParOf" srcId="{6AA8C00E-D33D-4BCA-842A-028427772D50}" destId="{7AAB618D-8B64-4DB6-BA05-70C792BA15D0}" srcOrd="5" destOrd="0" presId="urn:microsoft.com/office/officeart/2005/8/layout/hList1"/>
    <dgm:cxn modelId="{F7378D38-8832-4ABD-A1CA-5E931A161565}" type="presParOf" srcId="{6AA8C00E-D33D-4BCA-842A-028427772D50}" destId="{6A5CF5DE-C3E2-401E-8CA3-64E2D4D678FA}" srcOrd="6" destOrd="0" presId="urn:microsoft.com/office/officeart/2005/8/layout/hList1"/>
    <dgm:cxn modelId="{A15614FE-3C68-490C-A9B5-38320700B3B0}" type="presParOf" srcId="{6A5CF5DE-C3E2-401E-8CA3-64E2D4D678FA}" destId="{B037279D-16AC-46A3-889D-4833885ECDDE}" srcOrd="0" destOrd="0" presId="urn:microsoft.com/office/officeart/2005/8/layout/hList1"/>
    <dgm:cxn modelId="{CF5A9FAF-3C1F-44F3-868D-FF9F21FBBD14}" type="presParOf" srcId="{6A5CF5DE-C3E2-401E-8CA3-64E2D4D678FA}" destId="{790BE199-BD4B-4A46-B7F9-1D02AF16991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5E88520-F094-4AB5-AE39-BDACEC21F00E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s-CO"/>
        </a:p>
      </dgm:t>
    </dgm:pt>
    <dgm:pt modelId="{2488E620-80FE-4C9A-8539-C9EF3CBED98A}" type="pres">
      <dgm:prSet presAssocID="{95E88520-F094-4AB5-AE39-BDACEC21F00E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CB1FA22A-8BE9-47A1-B8F5-49EBB37A50AC}" type="presOf" srcId="{95E88520-F094-4AB5-AE39-BDACEC21F00E}" destId="{2488E620-80FE-4C9A-8539-C9EF3CBED98A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5E88520-F094-4AB5-AE39-BDACEC21F00E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s-CO"/>
        </a:p>
      </dgm:t>
    </dgm:pt>
    <dgm:pt modelId="{2488E620-80FE-4C9A-8539-C9EF3CBED98A}" type="pres">
      <dgm:prSet presAssocID="{95E88520-F094-4AB5-AE39-BDACEC21F00E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CB1FA22A-8BE9-47A1-B8F5-49EBB37A50AC}" type="presOf" srcId="{95E88520-F094-4AB5-AE39-BDACEC21F00E}" destId="{2488E620-80FE-4C9A-8539-C9EF3CBED98A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4152EB-5AAD-435C-A4ED-B9226E8A9F80}">
      <dsp:nvSpPr>
        <dsp:cNvPr id="0" name=""/>
        <dsp:cNvSpPr/>
      </dsp:nvSpPr>
      <dsp:spPr>
        <a:xfrm>
          <a:off x="5202" y="14448"/>
          <a:ext cx="3128006" cy="10720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b="1" i="0" kern="1200"/>
            <a:t>Orientado a Temas</a:t>
          </a:r>
          <a:endParaRPr lang="es-CO" sz="3100" kern="1200"/>
        </a:p>
      </dsp:txBody>
      <dsp:txXfrm>
        <a:off x="5202" y="14448"/>
        <a:ext cx="3128006" cy="1072001"/>
      </dsp:txXfrm>
    </dsp:sp>
    <dsp:sp modelId="{EC96A8A7-6772-47B9-81E2-5CC35241ED7D}">
      <dsp:nvSpPr>
        <dsp:cNvPr id="0" name=""/>
        <dsp:cNvSpPr/>
      </dsp:nvSpPr>
      <dsp:spPr>
        <a:xfrm>
          <a:off x="5202" y="1086450"/>
          <a:ext cx="3128006" cy="40845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354" tIns="165354" rIns="220472" bIns="248031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3100" b="0" i="0" kern="1200"/>
            <a:t>Organizado por entidades clave (Cliente, Producto, Ventas) en lugar de procesos de aplicaciones.</a:t>
          </a:r>
          <a:endParaRPr lang="es-CO" sz="3100" kern="1200"/>
        </a:p>
      </dsp:txBody>
      <dsp:txXfrm>
        <a:off x="5202" y="1086450"/>
        <a:ext cx="3128006" cy="4084560"/>
      </dsp:txXfrm>
    </dsp:sp>
    <dsp:sp modelId="{EDF02699-E48E-48AC-88BB-42A5AFCFBEF6}">
      <dsp:nvSpPr>
        <dsp:cNvPr id="0" name=""/>
        <dsp:cNvSpPr/>
      </dsp:nvSpPr>
      <dsp:spPr>
        <a:xfrm>
          <a:off x="3571129" y="14448"/>
          <a:ext cx="3128006" cy="10720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b="1" i="0" kern="1200"/>
            <a:t>Integrado</a:t>
          </a:r>
          <a:endParaRPr lang="es-CO" sz="3100" kern="1200"/>
        </a:p>
      </dsp:txBody>
      <dsp:txXfrm>
        <a:off x="3571129" y="14448"/>
        <a:ext cx="3128006" cy="1072001"/>
      </dsp:txXfrm>
    </dsp:sp>
    <dsp:sp modelId="{30EF6B71-19FD-4380-B776-F164A15B4938}">
      <dsp:nvSpPr>
        <dsp:cNvPr id="0" name=""/>
        <dsp:cNvSpPr/>
      </dsp:nvSpPr>
      <dsp:spPr>
        <a:xfrm>
          <a:off x="3571129" y="1086450"/>
          <a:ext cx="3128006" cy="40845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354" tIns="165354" rIns="220472" bIns="248031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3100" b="0" i="0" kern="1200"/>
            <a:t>Datos unificados de múltiples fuentes con formatos, codificación y convenciones consistentes.</a:t>
          </a:r>
          <a:endParaRPr lang="es-CO" sz="3100" kern="1200"/>
        </a:p>
      </dsp:txBody>
      <dsp:txXfrm>
        <a:off x="3571129" y="1086450"/>
        <a:ext cx="3128006" cy="4084560"/>
      </dsp:txXfrm>
    </dsp:sp>
    <dsp:sp modelId="{B3F7F618-D783-4C4E-9A8B-FC48714D6A03}">
      <dsp:nvSpPr>
        <dsp:cNvPr id="0" name=""/>
        <dsp:cNvSpPr/>
      </dsp:nvSpPr>
      <dsp:spPr>
        <a:xfrm>
          <a:off x="7137056" y="14448"/>
          <a:ext cx="3128006" cy="10720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b="1" i="0" kern="1200"/>
            <a:t>Variante en Tiempo</a:t>
          </a:r>
          <a:endParaRPr lang="es-CO" sz="3100" kern="1200"/>
        </a:p>
      </dsp:txBody>
      <dsp:txXfrm>
        <a:off x="7137056" y="14448"/>
        <a:ext cx="3128006" cy="1072001"/>
      </dsp:txXfrm>
    </dsp:sp>
    <dsp:sp modelId="{C155E6F1-3FE7-4729-873A-C829471EC7EA}">
      <dsp:nvSpPr>
        <dsp:cNvPr id="0" name=""/>
        <dsp:cNvSpPr/>
      </dsp:nvSpPr>
      <dsp:spPr>
        <a:xfrm>
          <a:off x="7137056" y="1086450"/>
          <a:ext cx="3128006" cy="40845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354" tIns="165354" rIns="220472" bIns="248031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3100" b="0" i="0" kern="1200"/>
            <a:t>Mantiene un historial de datos para analizar tendencias a lo largo de meses o años.</a:t>
          </a:r>
          <a:endParaRPr lang="es-CO" sz="3100" kern="1200"/>
        </a:p>
      </dsp:txBody>
      <dsp:txXfrm>
        <a:off x="7137056" y="1086450"/>
        <a:ext cx="3128006" cy="4084560"/>
      </dsp:txXfrm>
    </dsp:sp>
    <dsp:sp modelId="{B037279D-16AC-46A3-889D-4833885ECDDE}">
      <dsp:nvSpPr>
        <dsp:cNvPr id="0" name=""/>
        <dsp:cNvSpPr/>
      </dsp:nvSpPr>
      <dsp:spPr>
        <a:xfrm>
          <a:off x="10702983" y="14448"/>
          <a:ext cx="3128006" cy="10720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b="1" i="0" kern="1200"/>
            <a:t>No Volátil</a:t>
          </a:r>
          <a:endParaRPr lang="es-CO" sz="3100" kern="1200"/>
        </a:p>
      </dsp:txBody>
      <dsp:txXfrm>
        <a:off x="10702983" y="14448"/>
        <a:ext cx="3128006" cy="1072001"/>
      </dsp:txXfrm>
    </dsp:sp>
    <dsp:sp modelId="{790BE199-BD4B-4A46-B7F9-1D02AF169914}">
      <dsp:nvSpPr>
        <dsp:cNvPr id="0" name=""/>
        <dsp:cNvSpPr/>
      </dsp:nvSpPr>
      <dsp:spPr>
        <a:xfrm>
          <a:off x="10702983" y="1086450"/>
          <a:ext cx="3128006" cy="40845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354" tIns="165354" rIns="220472" bIns="248031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3100" b="0" i="0" kern="1200"/>
            <a:t>Los datos son de solo lectura para los usuarios; no se modifican una vez cargados.</a:t>
          </a:r>
          <a:endParaRPr lang="es-CO" sz="3100" kern="1200"/>
        </a:p>
      </dsp:txBody>
      <dsp:txXfrm>
        <a:off x="10702983" y="1086450"/>
        <a:ext cx="3128006" cy="40845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8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4" r:id="rId3"/>
    <p:sldLayoutId id="2147483656" r:id="rId4"/>
    <p:sldLayoutId id="2147483657" r:id="rId5"/>
    <p:sldLayoutId id="2147483658" r:id="rId6"/>
    <p:sldLayoutId id="2147483659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13" Type="http://schemas.openxmlformats.org/officeDocument/2006/relationships/diagramColors" Target="../diagrams/colors2.xml"/><Relationship Id="rId3" Type="http://schemas.openxmlformats.org/officeDocument/2006/relationships/image" Target="../media/image7.png"/><Relationship Id="rId7" Type="http://schemas.openxmlformats.org/officeDocument/2006/relationships/diagramQuickStyle" Target="../diagrams/quickStyle1.xml"/><Relationship Id="rId12" Type="http://schemas.openxmlformats.org/officeDocument/2006/relationships/diagramQuickStyle" Target="../diagrams/quickStyl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11" Type="http://schemas.openxmlformats.org/officeDocument/2006/relationships/diagramLayout" Target="../diagrams/layout2.xml"/><Relationship Id="rId5" Type="http://schemas.openxmlformats.org/officeDocument/2006/relationships/diagramData" Target="../diagrams/data1.xml"/><Relationship Id="rId10" Type="http://schemas.openxmlformats.org/officeDocument/2006/relationships/diagramData" Target="../diagrams/data2.xml"/><Relationship Id="rId4" Type="http://schemas.openxmlformats.org/officeDocument/2006/relationships/image" Target="../media/image8.svg"/><Relationship Id="rId9" Type="http://schemas.microsoft.com/office/2007/relationships/diagramDrawing" Target="../diagrams/drawing1.xml"/><Relationship Id="rId14" Type="http://schemas.microsoft.com/office/2007/relationships/diagramDrawing" Target="../diagrams/drawing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7.png"/><Relationship Id="rId7" Type="http://schemas.openxmlformats.org/officeDocument/2006/relationships/diagramQuickStyle" Target="../diagrams/quickStyle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8.svg"/><Relationship Id="rId9" Type="http://schemas.microsoft.com/office/2007/relationships/diagramDrawing" Target="../diagrams/drawing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openxmlformats.org/officeDocument/2006/relationships/image" Target="../media/image7.png"/><Relationship Id="rId7" Type="http://schemas.openxmlformats.org/officeDocument/2006/relationships/diagramQuickStyle" Target="../diagrams/quickStyle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4.xml"/><Relationship Id="rId11" Type="http://schemas.openxmlformats.org/officeDocument/2006/relationships/image" Target="../media/image11.png"/><Relationship Id="rId5" Type="http://schemas.openxmlformats.org/officeDocument/2006/relationships/diagramData" Target="../diagrams/data4.xml"/><Relationship Id="rId10" Type="http://schemas.openxmlformats.org/officeDocument/2006/relationships/image" Target="../media/image10.png"/><Relationship Id="rId4" Type="http://schemas.openxmlformats.org/officeDocument/2006/relationships/image" Target="../media/image8.svg"/><Relationship Id="rId9" Type="http://schemas.microsoft.com/office/2007/relationships/diagramDrawing" Target="../diagrams/drawing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gif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8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://www.enyoi.co" TargetMode="External"/><Relationship Id="rId13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instagram.com/enyoi.co/" TargetMode="External"/><Relationship Id="rId11" Type="http://schemas.openxmlformats.org/officeDocument/2006/relationships/hyperlink" Target="https://www.tiktok.com/@enyoi.co" TargetMode="External"/><Relationship Id="rId5" Type="http://schemas.openxmlformats.org/officeDocument/2006/relationships/image" Target="../media/image17.png"/><Relationship Id="rId10" Type="http://schemas.openxmlformats.org/officeDocument/2006/relationships/image" Target="../media/image20.png"/><Relationship Id="rId4" Type="http://schemas.openxmlformats.org/officeDocument/2006/relationships/hyperlink" Target="https://wa.me/573206649412" TargetMode="External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358764" y="455568"/>
            <a:ext cx="3004519" cy="1201808"/>
          </a:xfrm>
          <a:custGeom>
            <a:avLst/>
            <a:gdLst/>
            <a:ahLst/>
            <a:cxnLst/>
            <a:rect l="l" t="t" r="r" b="b"/>
            <a:pathLst>
              <a:path w="3457174" h="1382870" extrusionOk="0">
                <a:moveTo>
                  <a:pt x="0" y="0"/>
                </a:moveTo>
                <a:lnTo>
                  <a:pt x="3457174" y="0"/>
                </a:lnTo>
                <a:lnTo>
                  <a:pt x="3457174" y="1382870"/>
                </a:lnTo>
                <a:lnTo>
                  <a:pt x="0" y="13828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" name="Google Shape;89;p1"/>
          <p:cNvGrpSpPr/>
          <p:nvPr/>
        </p:nvGrpSpPr>
        <p:grpSpPr>
          <a:xfrm rot="10800000">
            <a:off x="10392303" y="15240"/>
            <a:ext cx="7895697" cy="10431661"/>
            <a:chOff x="0" y="-38100"/>
            <a:chExt cx="2079525" cy="2747433"/>
          </a:xfrm>
        </p:grpSpPr>
        <p:sp>
          <p:nvSpPr>
            <p:cNvPr id="90" name="Google Shape;90;p1"/>
            <p:cNvSpPr/>
            <p:nvPr/>
          </p:nvSpPr>
          <p:spPr>
            <a:xfrm>
              <a:off x="0" y="0"/>
              <a:ext cx="2079525" cy="2709333"/>
            </a:xfrm>
            <a:custGeom>
              <a:avLst/>
              <a:gdLst/>
              <a:ahLst/>
              <a:cxnLst/>
              <a:rect l="l" t="t" r="r" b="b"/>
              <a:pathLst>
                <a:path w="2079525" h="2709333" extrusionOk="0">
                  <a:moveTo>
                    <a:pt x="0" y="0"/>
                  </a:moveTo>
                  <a:lnTo>
                    <a:pt x="2079525" y="0"/>
                  </a:lnTo>
                  <a:lnTo>
                    <a:pt x="2079525" y="2709333"/>
                  </a:lnTo>
                  <a:lnTo>
                    <a:pt x="0" y="2709333"/>
                  </a:lnTo>
                  <a:close/>
                </a:path>
              </a:pathLst>
            </a:custGeom>
            <a:gradFill>
              <a:gsLst>
                <a:gs pos="0">
                  <a:srgbClr val="6B1374"/>
                </a:gs>
                <a:gs pos="33333">
                  <a:srgbClr val="700A89"/>
                </a:gs>
                <a:gs pos="66667">
                  <a:srgbClr val="C20052"/>
                </a:gs>
                <a:gs pos="100000">
                  <a:srgbClr val="FF0055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 txBox="1"/>
            <p:nvPr/>
          </p:nvSpPr>
          <p:spPr>
            <a:xfrm>
              <a:off x="0" y="-38100"/>
              <a:ext cx="2079525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1"/>
          <p:cNvSpPr/>
          <p:nvPr/>
        </p:nvSpPr>
        <p:spPr>
          <a:xfrm>
            <a:off x="9562641" y="4953536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 extrusionOk="0">
                <a:moveTo>
                  <a:pt x="0" y="0"/>
                </a:moveTo>
                <a:lnTo>
                  <a:pt x="4777511" y="0"/>
                </a:lnTo>
                <a:lnTo>
                  <a:pt x="4777511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 rot="10800000">
            <a:off x="14340152" y="455568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 extrusionOk="0">
                <a:moveTo>
                  <a:pt x="0" y="0"/>
                </a:moveTo>
                <a:lnTo>
                  <a:pt x="4777510" y="0"/>
                </a:lnTo>
                <a:lnTo>
                  <a:pt x="4777510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" name="Google Shape;94;p1"/>
          <p:cNvGrpSpPr/>
          <p:nvPr/>
        </p:nvGrpSpPr>
        <p:grpSpPr>
          <a:xfrm rot="1460314">
            <a:off x="10691684" y="4380706"/>
            <a:ext cx="7356554" cy="1393786"/>
            <a:chOff x="0" y="-38100"/>
            <a:chExt cx="1937529" cy="367088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1937528" cy="328988"/>
            </a:xfrm>
            <a:custGeom>
              <a:avLst/>
              <a:gdLst/>
              <a:ahLst/>
              <a:cxnLst/>
              <a:rect l="l" t="t" r="r" b="b"/>
              <a:pathLst>
                <a:path w="1937528" h="328988" extrusionOk="0">
                  <a:moveTo>
                    <a:pt x="105238" y="0"/>
                  </a:moveTo>
                  <a:lnTo>
                    <a:pt x="1832290" y="0"/>
                  </a:lnTo>
                  <a:cubicBezTo>
                    <a:pt x="1860201" y="0"/>
                    <a:pt x="1886969" y="11088"/>
                    <a:pt x="1906705" y="30824"/>
                  </a:cubicBezTo>
                  <a:cubicBezTo>
                    <a:pt x="1926441" y="50560"/>
                    <a:pt x="1937528" y="77327"/>
                    <a:pt x="1937528" y="105238"/>
                  </a:cubicBezTo>
                  <a:lnTo>
                    <a:pt x="1937528" y="223749"/>
                  </a:lnTo>
                  <a:cubicBezTo>
                    <a:pt x="1937528" y="281871"/>
                    <a:pt x="1890412" y="328988"/>
                    <a:pt x="1832290" y="328988"/>
                  </a:cubicBezTo>
                  <a:lnTo>
                    <a:pt x="105238" y="328988"/>
                  </a:lnTo>
                  <a:cubicBezTo>
                    <a:pt x="77327" y="328988"/>
                    <a:pt x="50560" y="317900"/>
                    <a:pt x="30824" y="298164"/>
                  </a:cubicBezTo>
                  <a:cubicBezTo>
                    <a:pt x="11088" y="278428"/>
                    <a:pt x="0" y="251660"/>
                    <a:pt x="0" y="223749"/>
                  </a:cubicBezTo>
                  <a:lnTo>
                    <a:pt x="0" y="105238"/>
                  </a:lnTo>
                  <a:cubicBezTo>
                    <a:pt x="0" y="47117"/>
                    <a:pt x="47117" y="0"/>
                    <a:pt x="1052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38100"/>
              <a:ext cx="1937529" cy="3670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 rot="10800000">
            <a:off x="-536261" y="9574006"/>
            <a:ext cx="8704395" cy="279585"/>
            <a:chOff x="0" y="-38100"/>
            <a:chExt cx="2292515" cy="73635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2292515" cy="35535"/>
            </a:xfrm>
            <a:custGeom>
              <a:avLst/>
              <a:gdLst/>
              <a:ahLst/>
              <a:cxnLst/>
              <a:rect l="l" t="t" r="r" b="b"/>
              <a:pathLst>
                <a:path w="2292515" h="35535" extrusionOk="0">
                  <a:moveTo>
                    <a:pt x="17768" y="0"/>
                  </a:moveTo>
                  <a:lnTo>
                    <a:pt x="2274747" y="0"/>
                  </a:lnTo>
                  <a:cubicBezTo>
                    <a:pt x="2284560" y="0"/>
                    <a:pt x="2292515" y="7955"/>
                    <a:pt x="2292515" y="17768"/>
                  </a:cubicBezTo>
                  <a:lnTo>
                    <a:pt x="2292515" y="17768"/>
                  </a:lnTo>
                  <a:cubicBezTo>
                    <a:pt x="2292515" y="22480"/>
                    <a:pt x="2290643" y="26999"/>
                    <a:pt x="2287311" y="30331"/>
                  </a:cubicBezTo>
                  <a:cubicBezTo>
                    <a:pt x="2283978" y="33663"/>
                    <a:pt x="2279459" y="35535"/>
                    <a:pt x="2274747" y="35535"/>
                  </a:cubicBezTo>
                  <a:lnTo>
                    <a:pt x="17768" y="35535"/>
                  </a:lnTo>
                  <a:cubicBezTo>
                    <a:pt x="13055" y="35535"/>
                    <a:pt x="8536" y="33663"/>
                    <a:pt x="5204" y="30331"/>
                  </a:cubicBezTo>
                  <a:cubicBezTo>
                    <a:pt x="1872" y="26999"/>
                    <a:pt x="0" y="22480"/>
                    <a:pt x="0" y="17768"/>
                  </a:cubicBezTo>
                  <a:lnTo>
                    <a:pt x="0" y="17768"/>
                  </a:lnTo>
                  <a:cubicBezTo>
                    <a:pt x="0" y="13055"/>
                    <a:pt x="1872" y="8536"/>
                    <a:pt x="5204" y="5204"/>
                  </a:cubicBezTo>
                  <a:cubicBezTo>
                    <a:pt x="8536" y="1872"/>
                    <a:pt x="13055" y="0"/>
                    <a:pt x="17768" y="0"/>
                  </a:cubicBezTo>
                  <a:close/>
                </a:path>
              </a:pathLst>
            </a:custGeom>
            <a:gradFill>
              <a:gsLst>
                <a:gs pos="0">
                  <a:srgbClr val="6B1374"/>
                </a:gs>
                <a:gs pos="33333">
                  <a:srgbClr val="700A89"/>
                </a:gs>
                <a:gs pos="66667">
                  <a:srgbClr val="C20052"/>
                </a:gs>
                <a:gs pos="100000">
                  <a:srgbClr val="FF0055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38100"/>
              <a:ext cx="2292514" cy="73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" name="Google Shape;100;p1"/>
          <p:cNvSpPr txBox="1"/>
          <p:nvPr/>
        </p:nvSpPr>
        <p:spPr>
          <a:xfrm>
            <a:off x="907966" y="4667931"/>
            <a:ext cx="8115300" cy="94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399" b="1" dirty="0">
                <a:solidFill>
                  <a:srgbClr val="700A89"/>
                </a:solidFill>
                <a:latin typeface="Poppins"/>
                <a:ea typeface="Poppins"/>
                <a:cs typeface="Poppins"/>
                <a:sym typeface="Poppins"/>
              </a:rPr>
              <a:t>Bodegas de Datos</a:t>
            </a:r>
            <a:endParaRPr dirty="0"/>
          </a:p>
        </p:txBody>
      </p:sp>
      <p:pic>
        <p:nvPicPr>
          <p:cNvPr id="101" name="Google Shape;101;p1"/>
          <p:cNvPicPr preferRelativeResize="0"/>
          <p:nvPr/>
        </p:nvPicPr>
        <p:blipFill rotWithShape="1">
          <a:blip r:embed="rId5">
            <a:alphaModFix/>
          </a:blip>
          <a:srcRect l="53990" t="15859" r="8554" b="69322"/>
          <a:stretch/>
        </p:blipFill>
        <p:spPr>
          <a:xfrm>
            <a:off x="5181600" y="609324"/>
            <a:ext cx="4721448" cy="1048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629EE-1985-2225-31E2-050DC896E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8E846FC-1099-F5A4-7D4D-94754DDF4519}"/>
              </a:ext>
            </a:extLst>
          </p:cNvPr>
          <p:cNvSpPr/>
          <p:nvPr/>
        </p:nvSpPr>
        <p:spPr>
          <a:xfrm>
            <a:off x="-437361" y="8801100"/>
            <a:ext cx="1656562" cy="1607056"/>
          </a:xfrm>
          <a:custGeom>
            <a:avLst/>
            <a:gdLst/>
            <a:ahLst/>
            <a:cxnLst/>
            <a:rect l="l" t="t" r="r" b="b"/>
            <a:pathLst>
              <a:path w="2052835" h="2064911">
                <a:moveTo>
                  <a:pt x="0" y="0"/>
                </a:moveTo>
                <a:lnTo>
                  <a:pt x="2052835" y="0"/>
                </a:lnTo>
                <a:lnTo>
                  <a:pt x="2052835" y="2064910"/>
                </a:lnTo>
                <a:lnTo>
                  <a:pt x="0" y="20649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848" t="-49459" r="-26429" b="-59444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433B88B-431D-F520-8A64-604BAC5A4F71}"/>
              </a:ext>
            </a:extLst>
          </p:cNvPr>
          <p:cNvSpPr/>
          <p:nvPr/>
        </p:nvSpPr>
        <p:spPr>
          <a:xfrm rot="-10800000">
            <a:off x="16136495" y="-695866"/>
            <a:ext cx="1607799" cy="1648365"/>
          </a:xfrm>
          <a:custGeom>
            <a:avLst/>
            <a:gdLst/>
            <a:ahLst/>
            <a:cxnLst/>
            <a:rect l="l" t="t" r="r" b="b"/>
            <a:pathLst>
              <a:path w="1607799" h="1648365">
                <a:moveTo>
                  <a:pt x="0" y="0"/>
                </a:moveTo>
                <a:lnTo>
                  <a:pt x="1607799" y="0"/>
                </a:lnTo>
                <a:lnTo>
                  <a:pt x="1607799" y="1648364"/>
                </a:lnTo>
                <a:lnTo>
                  <a:pt x="0" y="1648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892" t="-49695" r="-28270" b="-60205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9" name="Freeform 21">
            <a:extLst>
              <a:ext uri="{FF2B5EF4-FFF2-40B4-BE49-F238E27FC236}">
                <a16:creationId xmlns:a16="http://schemas.microsoft.com/office/drawing/2014/main" id="{1D05F255-F2E3-68A0-D911-D29FFBA02339}"/>
              </a:ext>
            </a:extLst>
          </p:cNvPr>
          <p:cNvSpPr/>
          <p:nvPr/>
        </p:nvSpPr>
        <p:spPr>
          <a:xfrm>
            <a:off x="14954160" y="7813562"/>
            <a:ext cx="2743200" cy="2438400"/>
          </a:xfrm>
          <a:custGeom>
            <a:avLst/>
            <a:gdLst/>
            <a:ahLst/>
            <a:cxnLst/>
            <a:rect l="l" t="t" r="r" b="b"/>
            <a:pathLst>
              <a:path w="5397947" h="4972858">
                <a:moveTo>
                  <a:pt x="0" y="0"/>
                </a:moveTo>
                <a:lnTo>
                  <a:pt x="5397947" y="0"/>
                </a:lnTo>
                <a:lnTo>
                  <a:pt x="5397947" y="4972859"/>
                </a:lnTo>
                <a:lnTo>
                  <a:pt x="0" y="49728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96DCFA7-361F-02A9-70F0-6BC7CADA3C28}"/>
              </a:ext>
            </a:extLst>
          </p:cNvPr>
          <p:cNvSpPr txBox="1"/>
          <p:nvPr/>
        </p:nvSpPr>
        <p:spPr>
          <a:xfrm>
            <a:off x="2000250" y="1952625"/>
            <a:ext cx="146685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>
                <a:latin typeface="Poppins" panose="00000500000000000000" pitchFamily="2" charset="0"/>
                <a:cs typeface="Poppins" panose="00000500000000000000" pitchFamily="2" charset="0"/>
              </a:rPr>
              <a:t>Objetivo</a:t>
            </a:r>
          </a:p>
          <a:p>
            <a:endParaRPr lang="es-MX" sz="28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s-MX" sz="28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s-MX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461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BE647-2F94-13D5-27DE-4A5DB74E1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3863DAD-F684-284C-2ED7-62294E5E5950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898E5CA-37A9-0597-9D10-9A6A87597AAC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9C395F84-2666-E01F-7240-1F6F93BDA7B3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86FA7629-9511-F4A4-7613-1B201C33252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E446395D-E9BA-9E85-56A5-2F6A6409A8F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9A0ECEB-C6B6-16E0-C6D1-98D056177F22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513AD4A-301F-94CD-5896-56702A74C75B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2FBD03C7-19EF-C8F7-680E-2A1D5D5406DD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08FEA821-FD08-DD49-404E-B2A3BAB88CF0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911FD1F1-29DA-B476-936B-2C9DEF53253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7BA99F3-AD4F-5DD2-1C4B-646F8957AD1B}"/>
              </a:ext>
            </a:extLst>
          </p:cNvPr>
          <p:cNvSpPr txBox="1"/>
          <p:nvPr/>
        </p:nvSpPr>
        <p:spPr>
          <a:xfrm>
            <a:off x="1950461" y="509599"/>
            <a:ext cx="1455420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b="1" dirty="0">
                <a:latin typeface="Poppins 1 Bold" panose="020B0604020202020204" charset="0"/>
                <a:cs typeface="Poppins 1 Bold" panose="020B0604020202020204" charset="0"/>
              </a:rPr>
              <a:t>Agenda</a:t>
            </a:r>
          </a:p>
          <a:p>
            <a:endParaRPr lang="es-ES" sz="3600" b="1" dirty="0">
              <a:latin typeface="Poppins 1 Bold" panose="020B0604020202020204" charset="0"/>
              <a:cs typeface="Poppins 1 Bold" panose="020B0604020202020204" charset="0"/>
            </a:endParaRPr>
          </a:p>
          <a:p>
            <a:endParaRPr lang="es-ES" sz="3600" b="1" dirty="0">
              <a:latin typeface="Poppins 1 Bold" panose="020B0604020202020204" charset="0"/>
              <a:cs typeface="Poppins 1 Bold" panose="020B0604020202020204" charset="0"/>
            </a:endParaRPr>
          </a:p>
          <a:p>
            <a:pPr marL="742950" indent="-742950">
              <a:buFont typeface="+mj-lt"/>
              <a:buAutoNum type="arabicPeriod"/>
            </a:pPr>
            <a:endParaRPr lang="es-CO" sz="3600" dirty="0"/>
          </a:p>
          <a:p>
            <a:pPr lvl="0"/>
            <a:endParaRPr lang="es-CO" sz="3600" dirty="0"/>
          </a:p>
          <a:p>
            <a:endParaRPr lang="es-ES" sz="2400" dirty="0"/>
          </a:p>
          <a:p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3263708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C4226-BBB1-6642-7911-7297143A8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B60FF4C-FF87-D353-AFE0-71BE03429A3A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2AA98C1-EAED-B60E-B81B-AB86FB64550F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7B1D0DB6-D090-DFDF-0241-FFA609884136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835E6491-FD97-9A1F-BC8E-662CF6390478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BC613C70-2465-A8BB-131F-005D8F185AE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F2B1638-D7B1-7E0B-A4C3-DA55F09E0056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8DD7AC1-63D7-F518-130F-C85ACD8DE3CD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0538ED31-8B20-7FDB-ACC5-5A1FC351211B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838245AA-8E1E-F9F6-B0EF-CE296347D8E7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993CD9DE-5B2E-AC36-54E2-1F8BC6F4E7D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3633100-C115-A98D-6890-ABBD4799B29A}"/>
              </a:ext>
            </a:extLst>
          </p:cNvPr>
          <p:cNvSpPr txBox="1"/>
          <p:nvPr/>
        </p:nvSpPr>
        <p:spPr>
          <a:xfrm>
            <a:off x="1417161" y="1484806"/>
            <a:ext cx="6624687" cy="7317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  <a:buNone/>
            </a:pPr>
            <a:r>
              <a:rPr lang="es-ES" sz="3600" b="1" i="0" dirty="0">
                <a:solidFill>
                  <a:schemeClr val="tx1"/>
                </a:solidFill>
                <a:effectLst/>
                <a:latin typeface="Inter"/>
              </a:rPr>
              <a:t>¿Qué es un Data </a:t>
            </a:r>
            <a:r>
              <a:rPr lang="es-ES" sz="3600" b="1" i="0" dirty="0" err="1">
                <a:solidFill>
                  <a:schemeClr val="tx1"/>
                </a:solidFill>
                <a:effectLst/>
                <a:latin typeface="Inter"/>
              </a:rPr>
              <a:t>Warehouse</a:t>
            </a:r>
            <a:r>
              <a:rPr lang="es-ES" sz="3600" b="1" i="0" dirty="0">
                <a:solidFill>
                  <a:schemeClr val="tx1"/>
                </a:solidFill>
                <a:effectLst/>
                <a:latin typeface="Inter"/>
              </a:rPr>
              <a:t>?</a:t>
            </a:r>
          </a:p>
          <a:p>
            <a:pPr algn="l">
              <a:buNone/>
            </a:pPr>
            <a:r>
              <a:rPr lang="es-ES" sz="3600" b="0" i="0" dirty="0">
                <a:solidFill>
                  <a:schemeClr val="tx1"/>
                </a:solidFill>
                <a:effectLst/>
                <a:latin typeface="Inter"/>
              </a:rPr>
              <a:t>Según </a:t>
            </a:r>
            <a:r>
              <a:rPr lang="es-ES" sz="3600" b="1" i="0" dirty="0">
                <a:solidFill>
                  <a:schemeClr val="tx1"/>
                </a:solidFill>
                <a:effectLst/>
                <a:latin typeface="Inter"/>
              </a:rPr>
              <a:t>Bill </a:t>
            </a:r>
            <a:r>
              <a:rPr lang="es-ES" sz="3600" b="1" i="0" dirty="0" err="1">
                <a:solidFill>
                  <a:schemeClr val="tx1"/>
                </a:solidFill>
                <a:effectLst/>
                <a:latin typeface="Inter"/>
              </a:rPr>
              <a:t>Inmon</a:t>
            </a:r>
            <a:r>
              <a:rPr lang="es-ES" sz="3600" b="0" i="0" dirty="0">
                <a:solidFill>
                  <a:schemeClr val="tx1"/>
                </a:solidFill>
                <a:effectLst/>
                <a:latin typeface="Inter"/>
              </a:rPr>
              <a:t>, el padre del data </a:t>
            </a:r>
            <a:r>
              <a:rPr lang="es-ES" sz="3600" b="0" i="0" dirty="0" err="1">
                <a:solidFill>
                  <a:schemeClr val="tx1"/>
                </a:solidFill>
                <a:effectLst/>
                <a:latin typeface="Inter"/>
              </a:rPr>
              <a:t>warehousing</a:t>
            </a:r>
            <a:r>
              <a:rPr lang="es-ES" sz="3600" b="0" i="0" dirty="0">
                <a:solidFill>
                  <a:schemeClr val="tx1"/>
                </a:solidFill>
                <a:effectLst/>
                <a:latin typeface="Inter"/>
              </a:rPr>
              <a:t>, es una colección de datos orientada a temas, integrada, variante en el tiempo y no volátil.</a:t>
            </a:r>
          </a:p>
          <a:p>
            <a:pPr algn="l">
              <a:spcBef>
                <a:spcPts val="1500"/>
              </a:spcBef>
              <a:buNone/>
            </a:pPr>
            <a:r>
              <a:rPr lang="es-ES" sz="3600" b="0" i="0" dirty="0">
                <a:solidFill>
                  <a:schemeClr val="tx1"/>
                </a:solidFill>
                <a:effectLst/>
                <a:latin typeface="Inter"/>
              </a:rPr>
              <a:t>Su propósito principal es soportar el proceso de </a:t>
            </a:r>
            <a:r>
              <a:rPr lang="es-ES" sz="3600" b="1" i="0" dirty="0">
                <a:solidFill>
                  <a:schemeClr val="tx1"/>
                </a:solidFill>
                <a:effectLst/>
                <a:latin typeface="Inter"/>
              </a:rPr>
              <a:t>toma de decisiones</a:t>
            </a:r>
            <a:r>
              <a:rPr lang="es-ES" sz="3600" b="0" i="0" dirty="0">
                <a:solidFill>
                  <a:schemeClr val="tx1"/>
                </a:solidFill>
                <a:effectLst/>
                <a:latin typeface="Inter"/>
              </a:rPr>
              <a:t> de la gerencia, actuando como una "única fuente de verdad" separada de los sistemas operativos diarios.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DD930319-3BCE-A7CC-CE5D-0BDC56BD58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856652"/>
            <a:ext cx="7935432" cy="8573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932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92828-1556-0618-F727-174C54B3E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2A2A98E-16D2-BEC6-280C-34CE999CD89F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1B8AA29-F2BB-F7C9-D717-F8849DB8BC73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AC1127A9-D747-D544-6EBF-E5694C1F4FA2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3A365942-A523-4FA5-FC69-97A62978E10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153C4E51-4971-5952-5C36-230B14DFA84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A47702A-9E15-0E67-8E38-68C19DF11DCF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FEBBCD5-E9E9-F902-1ABE-5DF3ACD954E1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48950FDE-A6BE-24EA-12F8-A0D67C9A2CEC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6EF016B0-AD68-CE71-0ED5-370A00085A53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D254D337-C658-D018-EF97-692A7BC064A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4" name="Diagrama 13">
            <a:extLst>
              <a:ext uri="{FF2B5EF4-FFF2-40B4-BE49-F238E27FC236}">
                <a16:creationId xmlns:a16="http://schemas.microsoft.com/office/drawing/2014/main" id="{C98A5D66-C2FD-5831-D243-7EF74CAF9C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2440293"/>
              </p:ext>
            </p:extLst>
          </p:nvPr>
        </p:nvGraphicFramePr>
        <p:xfrm>
          <a:off x="3261674" y="3346809"/>
          <a:ext cx="11161335" cy="48545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20" name="Diagrama 19">
            <a:extLst>
              <a:ext uri="{FF2B5EF4-FFF2-40B4-BE49-F238E27FC236}">
                <a16:creationId xmlns:a16="http://schemas.microsoft.com/office/drawing/2014/main" id="{915EDA5E-700B-27A4-C135-F851B6821E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4712917"/>
              </p:ext>
            </p:extLst>
          </p:nvPr>
        </p:nvGraphicFramePr>
        <p:xfrm>
          <a:off x="2151668" y="2940446"/>
          <a:ext cx="13836192" cy="51854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sp>
        <p:nvSpPr>
          <p:cNvPr id="16" name="CuadroTexto 15">
            <a:extLst>
              <a:ext uri="{FF2B5EF4-FFF2-40B4-BE49-F238E27FC236}">
                <a16:creationId xmlns:a16="http://schemas.microsoft.com/office/drawing/2014/main" id="{CEDF66FF-9FDB-1BC7-F282-1B9B2C9FCB93}"/>
              </a:ext>
            </a:extLst>
          </p:cNvPr>
          <p:cNvSpPr txBox="1"/>
          <p:nvPr/>
        </p:nvSpPr>
        <p:spPr>
          <a:xfrm>
            <a:off x="2047974" y="1363827"/>
            <a:ext cx="9186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  <a:buNone/>
            </a:pPr>
            <a:r>
              <a:rPr lang="es-ES" sz="2800" b="1" i="0" dirty="0">
                <a:solidFill>
                  <a:schemeClr val="tx1"/>
                </a:solidFill>
                <a:effectLst/>
                <a:latin typeface="Inter"/>
              </a:rPr>
              <a:t>Las 4 Características Clave</a:t>
            </a:r>
          </a:p>
        </p:txBody>
      </p:sp>
    </p:spTree>
    <p:extLst>
      <p:ext uri="{BB962C8B-B14F-4D97-AF65-F5344CB8AC3E}">
        <p14:creationId xmlns:p14="http://schemas.microsoft.com/office/powerpoint/2010/main" val="2890891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DA61A-F91E-0A06-1A4B-9F2DDDCD2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36A5492-D8E3-4E1A-103B-C014B1B7317D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5FAE180-6631-6CE2-9675-DBA55717804E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6C4630F3-767E-2A30-5613-3975E38DDD0E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DF3C1F95-0738-85FC-5B0C-D6ADED5CFDD5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D40D98D1-AF07-5ADF-6F15-E849128439C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E018C10-FF47-988E-D295-3146173B8512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F141C71-2917-B461-BCB1-CF208D088D71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503317EE-34B0-9CE0-9E31-2A9C5685141B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2DED0428-6C22-2088-5252-4908ADF0BF37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F59A5F0E-E9FA-8AB0-CFA8-2783E58590A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4" name="Diagrama 13">
            <a:extLst>
              <a:ext uri="{FF2B5EF4-FFF2-40B4-BE49-F238E27FC236}">
                <a16:creationId xmlns:a16="http://schemas.microsoft.com/office/drawing/2014/main" id="{DE492A0B-0B5F-8380-1623-E58C011FE519}"/>
              </a:ext>
            </a:extLst>
          </p:cNvPr>
          <p:cNvGraphicFramePr/>
          <p:nvPr/>
        </p:nvGraphicFramePr>
        <p:xfrm>
          <a:off x="3261674" y="3346809"/>
          <a:ext cx="11161335" cy="48545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52744457-F3C2-A8AA-A24C-9355EFD18F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42177"/>
              </p:ext>
            </p:extLst>
          </p:nvPr>
        </p:nvGraphicFramePr>
        <p:xfrm>
          <a:off x="2064470" y="2803083"/>
          <a:ext cx="13386063" cy="5854078"/>
        </p:xfrm>
        <a:graphic>
          <a:graphicData uri="http://schemas.openxmlformats.org/drawingml/2006/table">
            <a:tbl>
              <a:tblPr/>
              <a:tblGrid>
                <a:gridCol w="3176833">
                  <a:extLst>
                    <a:ext uri="{9D8B030D-6E8A-4147-A177-3AD203B41FA5}">
                      <a16:colId xmlns:a16="http://schemas.microsoft.com/office/drawing/2014/main" val="3659434484"/>
                    </a:ext>
                  </a:extLst>
                </a:gridCol>
                <a:gridCol w="4854644">
                  <a:extLst>
                    <a:ext uri="{9D8B030D-6E8A-4147-A177-3AD203B41FA5}">
                      <a16:colId xmlns:a16="http://schemas.microsoft.com/office/drawing/2014/main" val="2797480003"/>
                    </a:ext>
                  </a:extLst>
                </a:gridCol>
                <a:gridCol w="5354586">
                  <a:extLst>
                    <a:ext uri="{9D8B030D-6E8A-4147-A177-3AD203B41FA5}">
                      <a16:colId xmlns:a16="http://schemas.microsoft.com/office/drawing/2014/main" val="1387501103"/>
                    </a:ext>
                  </a:extLst>
                </a:gridCol>
              </a:tblGrid>
              <a:tr h="10067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 b="1" cap="all">
                          <a:solidFill>
                            <a:schemeClr val="tx1"/>
                          </a:solidFill>
                          <a:effectLst/>
                        </a:rPr>
                        <a:t>Característica</a:t>
                      </a: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 b="1" cap="all">
                          <a:solidFill>
                            <a:schemeClr val="tx1"/>
                          </a:solidFill>
                          <a:effectLst/>
                        </a:rPr>
                        <a:t>OLTP (Operacional)</a:t>
                      </a: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 b="1" cap="all">
                          <a:solidFill>
                            <a:schemeClr val="tx1"/>
                          </a:solidFill>
                          <a:effectLst/>
                        </a:rPr>
                        <a:t>OLAP (Analítico)</a:t>
                      </a: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0198133"/>
                  </a:ext>
                </a:extLst>
              </a:tr>
              <a:tr h="10067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 b="1" dirty="0">
                          <a:solidFill>
                            <a:schemeClr val="tx1"/>
                          </a:solidFill>
                          <a:effectLst/>
                        </a:rPr>
                        <a:t>Objetivo</a:t>
                      </a:r>
                      <a:endParaRPr lang="es-CO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>
                          <a:solidFill>
                            <a:schemeClr val="tx1"/>
                          </a:solidFill>
                          <a:effectLst/>
                        </a:rPr>
                        <a:t>Operaciones diarias (Transacciones)</a:t>
                      </a: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400">
                          <a:solidFill>
                            <a:schemeClr val="tx1"/>
                          </a:solidFill>
                          <a:effectLst/>
                        </a:rPr>
                        <a:t>Análisis y toma de decisiones</a:t>
                      </a: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378748"/>
                  </a:ext>
                </a:extLst>
              </a:tr>
              <a:tr h="10067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 b="1">
                          <a:solidFill>
                            <a:schemeClr val="tx1"/>
                          </a:solidFill>
                          <a:effectLst/>
                        </a:rPr>
                        <a:t>Datos</a:t>
                      </a:r>
                      <a:endParaRPr lang="es-CO" sz="24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>
                          <a:solidFill>
                            <a:schemeClr val="tx1"/>
                          </a:solidFill>
                          <a:effectLst/>
                        </a:rPr>
                        <a:t>Detallados, actuales, normalizados</a:t>
                      </a: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>
                          <a:solidFill>
                            <a:schemeClr val="tx1"/>
                          </a:solidFill>
                          <a:effectLst/>
                        </a:rPr>
                        <a:t>Resumidos, históricos, multidimensionales</a:t>
                      </a: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02976"/>
                  </a:ext>
                </a:extLst>
              </a:tr>
              <a:tr h="10067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 b="1">
                          <a:solidFill>
                            <a:schemeClr val="tx1"/>
                          </a:solidFill>
                          <a:effectLst/>
                        </a:rPr>
                        <a:t>Acceso</a:t>
                      </a:r>
                      <a:endParaRPr lang="es-CO" sz="24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400">
                          <a:solidFill>
                            <a:schemeClr val="tx1"/>
                          </a:solidFill>
                          <a:effectLst/>
                        </a:rPr>
                        <a:t>Lectura/Escritura rápida y corta</a:t>
                      </a: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>
                          <a:solidFill>
                            <a:schemeClr val="tx1"/>
                          </a:solidFill>
                          <a:effectLst/>
                        </a:rPr>
                        <a:t>Consultas complejas de lectura masiva</a:t>
                      </a: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119780"/>
                  </a:ext>
                </a:extLst>
              </a:tr>
              <a:tr h="10067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 b="1">
                          <a:solidFill>
                            <a:schemeClr val="tx1"/>
                          </a:solidFill>
                          <a:effectLst/>
                        </a:rPr>
                        <a:t>Usuarios</a:t>
                      </a:r>
                      <a:endParaRPr lang="es-CO" sz="24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>
                          <a:solidFill>
                            <a:schemeClr val="tx1"/>
                          </a:solidFill>
                          <a:effectLst/>
                        </a:rPr>
                        <a:t>Empleados operativos, Clientes (Cajeros)</a:t>
                      </a: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>
                          <a:solidFill>
                            <a:schemeClr val="tx1"/>
                          </a:solidFill>
                          <a:effectLst/>
                        </a:rPr>
                        <a:t>Ejecutivos, Gerentes, Analistas</a:t>
                      </a: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7158801"/>
                  </a:ext>
                </a:extLst>
              </a:tr>
              <a:tr h="68480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 b="1">
                          <a:solidFill>
                            <a:schemeClr val="tx1"/>
                          </a:solidFill>
                          <a:effectLst/>
                        </a:rPr>
                        <a:t>Volumen</a:t>
                      </a:r>
                      <a:endParaRPr lang="es-CO" sz="24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>
                          <a:solidFill>
                            <a:schemeClr val="tx1"/>
                          </a:solidFill>
                          <a:effectLst/>
                        </a:rPr>
                        <a:t>Megabytes a Gigabytes</a:t>
                      </a: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 dirty="0">
                          <a:solidFill>
                            <a:schemeClr val="tx1"/>
                          </a:solidFill>
                          <a:effectLst/>
                        </a:rPr>
                        <a:t>Terabytes a </a:t>
                      </a:r>
                      <a:r>
                        <a:rPr lang="es-CO" sz="2400" dirty="0" err="1">
                          <a:solidFill>
                            <a:schemeClr val="tx1"/>
                          </a:solidFill>
                          <a:effectLst/>
                        </a:rPr>
                        <a:t>Petabytes</a:t>
                      </a:r>
                      <a:endParaRPr lang="es-CO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124116"/>
                  </a:ext>
                </a:extLst>
              </a:tr>
            </a:tbl>
          </a:graphicData>
        </a:graphic>
      </p:graphicFrame>
      <p:sp>
        <p:nvSpPr>
          <p:cNvPr id="13" name="Rectangle 1">
            <a:extLst>
              <a:ext uri="{FF2B5EF4-FFF2-40B4-BE49-F238E27FC236}">
                <a16:creationId xmlns:a16="http://schemas.microsoft.com/office/drawing/2014/main" id="{5D087B8A-24A0-0B11-CD48-CE7F2DA33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0075" y="1208348"/>
            <a:ext cx="3666068" cy="1304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856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800" b="1" i="0" u="none" strike="noStrike" cap="none" normalizeH="0" baseline="0" dirty="0">
                <a:ln>
                  <a:noFill/>
                </a:ln>
                <a:effectLst/>
                <a:latin typeface="Inter"/>
              </a:rPr>
              <a:t>OLTP vs. OLAP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411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AB296-26ED-AD76-28A4-9D9C9D6CB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E347AB8-3D89-7B06-F0BD-E7E266E1F393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F1B1358-1D24-11E5-4B7E-F5B5D322E270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74BB63CC-8A12-EC06-CB3E-A9B21603ACF8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0E9EF38F-CB3E-A9DA-9B28-5E9AC8F1DB9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608B07ED-F34D-0C48-7C13-73FF44926C6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1D8A52E-D26C-83CD-DA0A-7C61C4F278BB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B6028CA-BA57-B752-8269-787A0A9F0970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63F7CDFB-22C1-334A-4DB6-6780ADC15882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4EEC771C-0489-DF7C-FA97-DB7DDE42356C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911F97C7-9A3F-640A-FC24-EE9EF4A92C8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4" name="Diagrama 13">
            <a:extLst>
              <a:ext uri="{FF2B5EF4-FFF2-40B4-BE49-F238E27FC236}">
                <a16:creationId xmlns:a16="http://schemas.microsoft.com/office/drawing/2014/main" id="{81EBFA72-3B7D-3632-091D-0F06DCBF03E5}"/>
              </a:ext>
            </a:extLst>
          </p:cNvPr>
          <p:cNvGraphicFramePr/>
          <p:nvPr/>
        </p:nvGraphicFramePr>
        <p:xfrm>
          <a:off x="3261674" y="3346809"/>
          <a:ext cx="11161335" cy="48545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2" name="Imagen 11">
            <a:extLst>
              <a:ext uri="{FF2B5EF4-FFF2-40B4-BE49-F238E27FC236}">
                <a16:creationId xmlns:a16="http://schemas.microsoft.com/office/drawing/2014/main" id="{CC9E7FE1-6636-DC7A-6938-1D16B66D9A4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14847" y="2637583"/>
            <a:ext cx="7524872" cy="4769963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B8B971E1-6E74-C97C-96F3-356FA9ECFA8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90305" y="3103485"/>
            <a:ext cx="7783959" cy="4080027"/>
          </a:xfrm>
          <a:prstGeom prst="rect">
            <a:avLst/>
          </a:prstGeom>
        </p:spPr>
      </p:pic>
      <p:grpSp>
        <p:nvGrpSpPr>
          <p:cNvPr id="15" name="Google Shape;108;p2">
            <a:extLst>
              <a:ext uri="{FF2B5EF4-FFF2-40B4-BE49-F238E27FC236}">
                <a16:creationId xmlns:a16="http://schemas.microsoft.com/office/drawing/2014/main" id="{48F6728C-10A1-BA04-BF09-76F6BEFB4C0F}"/>
              </a:ext>
            </a:extLst>
          </p:cNvPr>
          <p:cNvGrpSpPr/>
          <p:nvPr/>
        </p:nvGrpSpPr>
        <p:grpSpPr>
          <a:xfrm>
            <a:off x="1952032" y="7314814"/>
            <a:ext cx="6450502" cy="1492780"/>
            <a:chOff x="0" y="-375833"/>
            <a:chExt cx="7433261" cy="1990374"/>
          </a:xfrm>
        </p:grpSpPr>
        <p:grpSp>
          <p:nvGrpSpPr>
            <p:cNvPr id="16" name="Google Shape;109;p2">
              <a:extLst>
                <a:ext uri="{FF2B5EF4-FFF2-40B4-BE49-F238E27FC236}">
                  <a16:creationId xmlns:a16="http://schemas.microsoft.com/office/drawing/2014/main" id="{3233C1EA-E32D-091D-CBF4-3D47C857C180}"/>
                </a:ext>
              </a:extLst>
            </p:cNvPr>
            <p:cNvGrpSpPr/>
            <p:nvPr/>
          </p:nvGrpSpPr>
          <p:grpSpPr>
            <a:xfrm>
              <a:off x="0" y="-375833"/>
              <a:ext cx="7433261" cy="1268555"/>
              <a:chOff x="0" y="-88088"/>
              <a:chExt cx="1742214" cy="297325"/>
            </a:xfrm>
          </p:grpSpPr>
          <p:sp>
            <p:nvSpPr>
              <p:cNvPr id="18" name="Google Shape;110;p2">
                <a:extLst>
                  <a:ext uri="{FF2B5EF4-FFF2-40B4-BE49-F238E27FC236}">
                    <a16:creationId xmlns:a16="http://schemas.microsoft.com/office/drawing/2014/main" id="{2D601888-F44D-B77E-E5A5-5108C76A5B73}"/>
                  </a:ext>
                </a:extLst>
              </p:cNvPr>
              <p:cNvSpPr/>
              <p:nvPr/>
            </p:nvSpPr>
            <p:spPr>
              <a:xfrm>
                <a:off x="0" y="0"/>
                <a:ext cx="1742214" cy="209237"/>
              </a:xfrm>
              <a:custGeom>
                <a:avLst/>
                <a:gdLst/>
                <a:ahLst/>
                <a:cxnLst/>
                <a:rect l="l" t="t" r="r" b="b"/>
                <a:pathLst>
                  <a:path w="1742214" h="209237" extrusionOk="0">
                    <a:moveTo>
                      <a:pt x="39813" y="0"/>
                    </a:moveTo>
                    <a:lnTo>
                      <a:pt x="1702400" y="0"/>
                    </a:lnTo>
                    <a:cubicBezTo>
                      <a:pt x="1712959" y="0"/>
                      <a:pt x="1723086" y="4195"/>
                      <a:pt x="1730553" y="11661"/>
                    </a:cubicBezTo>
                    <a:cubicBezTo>
                      <a:pt x="1738019" y="19127"/>
                      <a:pt x="1742214" y="29254"/>
                      <a:pt x="1742214" y="39813"/>
                    </a:cubicBezTo>
                    <a:lnTo>
                      <a:pt x="1742214" y="169424"/>
                    </a:lnTo>
                    <a:cubicBezTo>
                      <a:pt x="1742214" y="179983"/>
                      <a:pt x="1738019" y="190109"/>
                      <a:pt x="1730553" y="197576"/>
                    </a:cubicBezTo>
                    <a:cubicBezTo>
                      <a:pt x="1723086" y="205042"/>
                      <a:pt x="1712959" y="209237"/>
                      <a:pt x="1702400" y="209237"/>
                    </a:cubicBezTo>
                    <a:lnTo>
                      <a:pt x="39813" y="209237"/>
                    </a:lnTo>
                    <a:cubicBezTo>
                      <a:pt x="29254" y="209237"/>
                      <a:pt x="19127" y="205042"/>
                      <a:pt x="11661" y="197576"/>
                    </a:cubicBezTo>
                    <a:cubicBezTo>
                      <a:pt x="4195" y="190109"/>
                      <a:pt x="0" y="179983"/>
                      <a:pt x="0" y="169424"/>
                    </a:cubicBezTo>
                    <a:lnTo>
                      <a:pt x="0" y="39813"/>
                    </a:lnTo>
                    <a:cubicBezTo>
                      <a:pt x="0" y="29254"/>
                      <a:pt x="4195" y="19127"/>
                      <a:pt x="11661" y="11661"/>
                    </a:cubicBezTo>
                    <a:cubicBezTo>
                      <a:pt x="19127" y="4195"/>
                      <a:pt x="29254" y="0"/>
                      <a:pt x="39813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0055"/>
                  </a:gs>
                  <a:gs pos="33333">
                    <a:srgbClr val="C20052"/>
                  </a:gs>
                  <a:gs pos="66667">
                    <a:srgbClr val="6B1374"/>
                  </a:gs>
                  <a:gs pos="100000">
                    <a:srgbClr val="700A89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11;p2">
                <a:extLst>
                  <a:ext uri="{FF2B5EF4-FFF2-40B4-BE49-F238E27FC236}">
                    <a16:creationId xmlns:a16="http://schemas.microsoft.com/office/drawing/2014/main" id="{4C86E8E9-EE67-7F4D-E8B0-85B0432DC013}"/>
                  </a:ext>
                </a:extLst>
              </p:cNvPr>
              <p:cNvSpPr txBox="1"/>
              <p:nvPr/>
            </p:nvSpPr>
            <p:spPr>
              <a:xfrm>
                <a:off x="0" y="-88088"/>
                <a:ext cx="1742214" cy="2092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39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" name="Google Shape;112;p2">
              <a:extLst>
                <a:ext uri="{FF2B5EF4-FFF2-40B4-BE49-F238E27FC236}">
                  <a16:creationId xmlns:a16="http://schemas.microsoft.com/office/drawing/2014/main" id="{820DB663-E605-AC34-F9FD-6AB2C33DE9D5}"/>
                </a:ext>
              </a:extLst>
            </p:cNvPr>
            <p:cNvSpPr txBox="1"/>
            <p:nvPr/>
          </p:nvSpPr>
          <p:spPr>
            <a:xfrm>
              <a:off x="251861" y="70528"/>
              <a:ext cx="7181400" cy="15440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20026"/>
                </a:lnSpc>
              </a:pPr>
              <a:r>
                <a:rPr lang="es-CO" sz="3200" dirty="0">
                  <a:solidFill>
                    <a:schemeClr val="bg1"/>
                  </a:solidFill>
                </a:rPr>
                <a:t>Metodología de </a:t>
              </a:r>
              <a:r>
                <a:rPr lang="es-CO" sz="3200" dirty="0" err="1">
                  <a:solidFill>
                    <a:schemeClr val="bg1"/>
                  </a:solidFill>
                </a:rPr>
                <a:t>Inmon</a:t>
              </a:r>
              <a:endParaRPr lang="es-CO" sz="3200" dirty="0">
                <a:solidFill>
                  <a:schemeClr val="bg1"/>
                </a:solidFill>
              </a:endParaRP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0" name="Google Shape;108;p2">
            <a:extLst>
              <a:ext uri="{FF2B5EF4-FFF2-40B4-BE49-F238E27FC236}">
                <a16:creationId xmlns:a16="http://schemas.microsoft.com/office/drawing/2014/main" id="{C3E78533-F9D3-EBB2-1A18-514977FF93B8}"/>
              </a:ext>
            </a:extLst>
          </p:cNvPr>
          <p:cNvGrpSpPr/>
          <p:nvPr/>
        </p:nvGrpSpPr>
        <p:grpSpPr>
          <a:xfrm>
            <a:off x="10623087" y="7289047"/>
            <a:ext cx="6450502" cy="1492780"/>
            <a:chOff x="0" y="-375833"/>
            <a:chExt cx="7433261" cy="1990374"/>
          </a:xfrm>
        </p:grpSpPr>
        <p:grpSp>
          <p:nvGrpSpPr>
            <p:cNvPr id="21" name="Google Shape;109;p2">
              <a:extLst>
                <a:ext uri="{FF2B5EF4-FFF2-40B4-BE49-F238E27FC236}">
                  <a16:creationId xmlns:a16="http://schemas.microsoft.com/office/drawing/2014/main" id="{79314E65-0F80-C305-02CA-25F01E7875AC}"/>
                </a:ext>
              </a:extLst>
            </p:cNvPr>
            <p:cNvGrpSpPr/>
            <p:nvPr/>
          </p:nvGrpSpPr>
          <p:grpSpPr>
            <a:xfrm>
              <a:off x="0" y="-375833"/>
              <a:ext cx="7433261" cy="1268555"/>
              <a:chOff x="0" y="-88088"/>
              <a:chExt cx="1742214" cy="297325"/>
            </a:xfrm>
          </p:grpSpPr>
          <p:sp>
            <p:nvSpPr>
              <p:cNvPr id="23" name="Google Shape;110;p2">
                <a:extLst>
                  <a:ext uri="{FF2B5EF4-FFF2-40B4-BE49-F238E27FC236}">
                    <a16:creationId xmlns:a16="http://schemas.microsoft.com/office/drawing/2014/main" id="{584DF550-7380-FE1B-C62F-2B3889AA66CD}"/>
                  </a:ext>
                </a:extLst>
              </p:cNvPr>
              <p:cNvSpPr/>
              <p:nvPr/>
            </p:nvSpPr>
            <p:spPr>
              <a:xfrm>
                <a:off x="0" y="0"/>
                <a:ext cx="1742214" cy="209237"/>
              </a:xfrm>
              <a:custGeom>
                <a:avLst/>
                <a:gdLst/>
                <a:ahLst/>
                <a:cxnLst/>
                <a:rect l="l" t="t" r="r" b="b"/>
                <a:pathLst>
                  <a:path w="1742214" h="209237" extrusionOk="0">
                    <a:moveTo>
                      <a:pt x="39813" y="0"/>
                    </a:moveTo>
                    <a:lnTo>
                      <a:pt x="1702400" y="0"/>
                    </a:lnTo>
                    <a:cubicBezTo>
                      <a:pt x="1712959" y="0"/>
                      <a:pt x="1723086" y="4195"/>
                      <a:pt x="1730553" y="11661"/>
                    </a:cubicBezTo>
                    <a:cubicBezTo>
                      <a:pt x="1738019" y="19127"/>
                      <a:pt x="1742214" y="29254"/>
                      <a:pt x="1742214" y="39813"/>
                    </a:cubicBezTo>
                    <a:lnTo>
                      <a:pt x="1742214" y="169424"/>
                    </a:lnTo>
                    <a:cubicBezTo>
                      <a:pt x="1742214" y="179983"/>
                      <a:pt x="1738019" y="190109"/>
                      <a:pt x="1730553" y="197576"/>
                    </a:cubicBezTo>
                    <a:cubicBezTo>
                      <a:pt x="1723086" y="205042"/>
                      <a:pt x="1712959" y="209237"/>
                      <a:pt x="1702400" y="209237"/>
                    </a:cubicBezTo>
                    <a:lnTo>
                      <a:pt x="39813" y="209237"/>
                    </a:lnTo>
                    <a:cubicBezTo>
                      <a:pt x="29254" y="209237"/>
                      <a:pt x="19127" y="205042"/>
                      <a:pt x="11661" y="197576"/>
                    </a:cubicBezTo>
                    <a:cubicBezTo>
                      <a:pt x="4195" y="190109"/>
                      <a:pt x="0" y="179983"/>
                      <a:pt x="0" y="169424"/>
                    </a:cubicBezTo>
                    <a:lnTo>
                      <a:pt x="0" y="39813"/>
                    </a:lnTo>
                    <a:cubicBezTo>
                      <a:pt x="0" y="29254"/>
                      <a:pt x="4195" y="19127"/>
                      <a:pt x="11661" y="11661"/>
                    </a:cubicBezTo>
                    <a:cubicBezTo>
                      <a:pt x="19127" y="4195"/>
                      <a:pt x="29254" y="0"/>
                      <a:pt x="39813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0055"/>
                  </a:gs>
                  <a:gs pos="33333">
                    <a:srgbClr val="C20052"/>
                  </a:gs>
                  <a:gs pos="66667">
                    <a:srgbClr val="6B1374"/>
                  </a:gs>
                  <a:gs pos="100000">
                    <a:srgbClr val="700A89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111;p2">
                <a:extLst>
                  <a:ext uri="{FF2B5EF4-FFF2-40B4-BE49-F238E27FC236}">
                    <a16:creationId xmlns:a16="http://schemas.microsoft.com/office/drawing/2014/main" id="{6755ACFF-34AB-309D-AB22-9FD8D8D85529}"/>
                  </a:ext>
                </a:extLst>
              </p:cNvPr>
              <p:cNvSpPr txBox="1"/>
              <p:nvPr/>
            </p:nvSpPr>
            <p:spPr>
              <a:xfrm>
                <a:off x="0" y="-88088"/>
                <a:ext cx="1742214" cy="2092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39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" name="Google Shape;112;p2">
              <a:extLst>
                <a:ext uri="{FF2B5EF4-FFF2-40B4-BE49-F238E27FC236}">
                  <a16:creationId xmlns:a16="http://schemas.microsoft.com/office/drawing/2014/main" id="{6EBB9F37-33E9-E4EE-9901-1CA01B72BE9B}"/>
                </a:ext>
              </a:extLst>
            </p:cNvPr>
            <p:cNvSpPr txBox="1"/>
            <p:nvPr/>
          </p:nvSpPr>
          <p:spPr>
            <a:xfrm>
              <a:off x="251861" y="70528"/>
              <a:ext cx="7181400" cy="15440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20026"/>
                </a:lnSpc>
              </a:pPr>
              <a:r>
                <a:rPr lang="es-CO" sz="3200" dirty="0">
                  <a:solidFill>
                    <a:schemeClr val="bg1"/>
                  </a:solidFill>
                </a:rPr>
                <a:t>Metodología de Kimball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2172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C4777-CE19-DF1E-6D68-A3E2B3544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597AC62-28E4-EF0A-88CB-07F6C4FEBF54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49A270D-D2B7-4443-874B-011ABF863EAC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1E317018-B149-DE3B-59D5-1A451EB4BFAE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2F102A1E-3BA5-D5D9-FC39-746996B039EF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F4383DAD-152D-5B21-6256-75C043DF0E6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6A3B189-0457-DCA0-B787-72D45D42A0B2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A4F90C0-5961-8BA0-8EB2-8AD084D83EF6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D858D4B7-30A5-D0F4-28CD-9AF841DC4684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EA90DEC6-CB7E-78FE-B2D8-8249A6B53673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98FCCA11-F1D9-2CA9-D008-5C5A83982AF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5" name="Google Shape;108;p2">
            <a:extLst>
              <a:ext uri="{FF2B5EF4-FFF2-40B4-BE49-F238E27FC236}">
                <a16:creationId xmlns:a16="http://schemas.microsoft.com/office/drawing/2014/main" id="{2826A940-3241-996B-C4ED-3A589E58E499}"/>
              </a:ext>
            </a:extLst>
          </p:cNvPr>
          <p:cNvGrpSpPr/>
          <p:nvPr/>
        </p:nvGrpSpPr>
        <p:grpSpPr>
          <a:xfrm>
            <a:off x="720000" y="683793"/>
            <a:ext cx="7909650" cy="1519861"/>
            <a:chOff x="0" y="-375833"/>
            <a:chExt cx="7433261" cy="2026482"/>
          </a:xfrm>
        </p:grpSpPr>
        <p:grpSp>
          <p:nvGrpSpPr>
            <p:cNvPr id="16" name="Google Shape;109;p2">
              <a:extLst>
                <a:ext uri="{FF2B5EF4-FFF2-40B4-BE49-F238E27FC236}">
                  <a16:creationId xmlns:a16="http://schemas.microsoft.com/office/drawing/2014/main" id="{6C507C3F-80BA-C17F-AADB-C61374D04D7C}"/>
                </a:ext>
              </a:extLst>
            </p:cNvPr>
            <p:cNvGrpSpPr/>
            <p:nvPr/>
          </p:nvGrpSpPr>
          <p:grpSpPr>
            <a:xfrm>
              <a:off x="0" y="-375833"/>
              <a:ext cx="7433261" cy="1268555"/>
              <a:chOff x="0" y="-88088"/>
              <a:chExt cx="1742214" cy="297325"/>
            </a:xfrm>
          </p:grpSpPr>
          <p:sp>
            <p:nvSpPr>
              <p:cNvPr id="18" name="Google Shape;110;p2">
                <a:extLst>
                  <a:ext uri="{FF2B5EF4-FFF2-40B4-BE49-F238E27FC236}">
                    <a16:creationId xmlns:a16="http://schemas.microsoft.com/office/drawing/2014/main" id="{0B99483E-072D-9B56-DDCB-1E395792632B}"/>
                  </a:ext>
                </a:extLst>
              </p:cNvPr>
              <p:cNvSpPr/>
              <p:nvPr/>
            </p:nvSpPr>
            <p:spPr>
              <a:xfrm>
                <a:off x="0" y="0"/>
                <a:ext cx="1742214" cy="209237"/>
              </a:xfrm>
              <a:custGeom>
                <a:avLst/>
                <a:gdLst/>
                <a:ahLst/>
                <a:cxnLst/>
                <a:rect l="l" t="t" r="r" b="b"/>
                <a:pathLst>
                  <a:path w="1742214" h="209237" extrusionOk="0">
                    <a:moveTo>
                      <a:pt x="39813" y="0"/>
                    </a:moveTo>
                    <a:lnTo>
                      <a:pt x="1702400" y="0"/>
                    </a:lnTo>
                    <a:cubicBezTo>
                      <a:pt x="1712959" y="0"/>
                      <a:pt x="1723086" y="4195"/>
                      <a:pt x="1730553" y="11661"/>
                    </a:cubicBezTo>
                    <a:cubicBezTo>
                      <a:pt x="1738019" y="19127"/>
                      <a:pt x="1742214" y="29254"/>
                      <a:pt x="1742214" y="39813"/>
                    </a:cubicBezTo>
                    <a:lnTo>
                      <a:pt x="1742214" y="169424"/>
                    </a:lnTo>
                    <a:cubicBezTo>
                      <a:pt x="1742214" y="179983"/>
                      <a:pt x="1738019" y="190109"/>
                      <a:pt x="1730553" y="197576"/>
                    </a:cubicBezTo>
                    <a:cubicBezTo>
                      <a:pt x="1723086" y="205042"/>
                      <a:pt x="1712959" y="209237"/>
                      <a:pt x="1702400" y="209237"/>
                    </a:cubicBezTo>
                    <a:lnTo>
                      <a:pt x="39813" y="209237"/>
                    </a:lnTo>
                    <a:cubicBezTo>
                      <a:pt x="29254" y="209237"/>
                      <a:pt x="19127" y="205042"/>
                      <a:pt x="11661" y="197576"/>
                    </a:cubicBezTo>
                    <a:cubicBezTo>
                      <a:pt x="4195" y="190109"/>
                      <a:pt x="0" y="179983"/>
                      <a:pt x="0" y="169424"/>
                    </a:cubicBezTo>
                    <a:lnTo>
                      <a:pt x="0" y="39813"/>
                    </a:lnTo>
                    <a:cubicBezTo>
                      <a:pt x="0" y="29254"/>
                      <a:pt x="4195" y="19127"/>
                      <a:pt x="11661" y="11661"/>
                    </a:cubicBezTo>
                    <a:cubicBezTo>
                      <a:pt x="19127" y="4195"/>
                      <a:pt x="29254" y="0"/>
                      <a:pt x="39813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0055"/>
                  </a:gs>
                  <a:gs pos="33333">
                    <a:srgbClr val="C20052"/>
                  </a:gs>
                  <a:gs pos="66667">
                    <a:srgbClr val="6B1374"/>
                  </a:gs>
                  <a:gs pos="100000">
                    <a:srgbClr val="700A89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11;p2">
                <a:extLst>
                  <a:ext uri="{FF2B5EF4-FFF2-40B4-BE49-F238E27FC236}">
                    <a16:creationId xmlns:a16="http://schemas.microsoft.com/office/drawing/2014/main" id="{186FC3FF-F5D4-EDBA-C3FF-A459EA9C2DDC}"/>
                  </a:ext>
                </a:extLst>
              </p:cNvPr>
              <p:cNvSpPr txBox="1"/>
              <p:nvPr/>
            </p:nvSpPr>
            <p:spPr>
              <a:xfrm>
                <a:off x="0" y="-88088"/>
                <a:ext cx="1742214" cy="2092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39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" name="Google Shape;112;p2">
              <a:extLst>
                <a:ext uri="{FF2B5EF4-FFF2-40B4-BE49-F238E27FC236}">
                  <a16:creationId xmlns:a16="http://schemas.microsoft.com/office/drawing/2014/main" id="{CA2A194C-94BB-9530-8839-CE35FD37C789}"/>
                </a:ext>
              </a:extLst>
            </p:cNvPr>
            <p:cNvSpPr txBox="1"/>
            <p:nvPr/>
          </p:nvSpPr>
          <p:spPr>
            <a:xfrm>
              <a:off x="126003" y="106636"/>
              <a:ext cx="7181400" cy="15440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20026"/>
                </a:lnSpc>
              </a:pPr>
              <a:r>
                <a:rPr lang="es-CO" sz="3200" dirty="0">
                  <a:solidFill>
                    <a:schemeClr val="bg1"/>
                  </a:solidFill>
                </a:rPr>
                <a:t>Almacén de datos (Data </a:t>
              </a:r>
              <a:r>
                <a:rPr lang="es-CO" sz="3200" dirty="0" err="1">
                  <a:solidFill>
                    <a:schemeClr val="bg1"/>
                  </a:solidFill>
                </a:rPr>
                <a:t>Warehouse</a:t>
              </a:r>
              <a:r>
                <a:rPr lang="es-CO" sz="3200" dirty="0">
                  <a:solidFill>
                    <a:schemeClr val="bg1"/>
                  </a:solidFill>
                </a:rPr>
                <a:t>)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32C07F4C-D7FB-233A-DFEF-B626C034C9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89648"/>
              </p:ext>
            </p:extLst>
          </p:nvPr>
        </p:nvGraphicFramePr>
        <p:xfrm>
          <a:off x="4093446" y="2697480"/>
          <a:ext cx="10180338" cy="6153915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3393446">
                  <a:extLst>
                    <a:ext uri="{9D8B030D-6E8A-4147-A177-3AD203B41FA5}">
                      <a16:colId xmlns:a16="http://schemas.microsoft.com/office/drawing/2014/main" val="1063870790"/>
                    </a:ext>
                  </a:extLst>
                </a:gridCol>
                <a:gridCol w="3393446">
                  <a:extLst>
                    <a:ext uri="{9D8B030D-6E8A-4147-A177-3AD203B41FA5}">
                      <a16:colId xmlns:a16="http://schemas.microsoft.com/office/drawing/2014/main" val="2748177755"/>
                    </a:ext>
                  </a:extLst>
                </a:gridCol>
                <a:gridCol w="3393446">
                  <a:extLst>
                    <a:ext uri="{9D8B030D-6E8A-4147-A177-3AD203B41FA5}">
                      <a16:colId xmlns:a16="http://schemas.microsoft.com/office/drawing/2014/main" val="1314264647"/>
                    </a:ext>
                  </a:extLst>
                </a:gridCol>
              </a:tblGrid>
              <a:tr h="394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Aspecto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Inmon</a:t>
                      </a:r>
                      <a:endParaRPr lang="es-CO" sz="20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Kimball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231605003"/>
                  </a:ext>
                </a:extLst>
              </a:tr>
              <a:tr h="6706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Enfoque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Top-</a:t>
                      </a:r>
                      <a:r>
                        <a:rPr lang="es-CO" sz="16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down</a:t>
                      </a:r>
                      <a:r>
                        <a:rPr lang="es-CO" sz="1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(EDW a </a:t>
                      </a:r>
                      <a:r>
                        <a:rPr lang="es-CO" sz="16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marts</a:t>
                      </a:r>
                      <a:r>
                        <a:rPr lang="es-CO" sz="1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)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Bottom-up (</a:t>
                      </a:r>
                      <a:r>
                        <a:rPr lang="es-CO" sz="16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marts</a:t>
                      </a:r>
                      <a:r>
                        <a:rPr lang="es-CO" sz="1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 “bus” corporativo)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4130316053"/>
                  </a:ext>
                </a:extLst>
              </a:tr>
              <a:tr h="6706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Modelo base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3NF, orientado a integración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Dimensional (hechos/dimensiones)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869720717"/>
                  </a:ext>
                </a:extLst>
              </a:tr>
              <a:tr h="394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Punto de partida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Temas/entidades corporativas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Procesos de negocio/analítica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251448708"/>
                  </a:ext>
                </a:extLst>
              </a:tr>
              <a:tr h="6706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Consultas BI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Menos amigable directo; se consulta vía marts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Muy amigable (estrella)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2293893160"/>
                  </a:ext>
                </a:extLst>
              </a:tr>
              <a:tr h="6706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Integración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Máxima consistencia desde el núcleo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Dimensiones conformadas</a:t>
                      </a: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para consistencia entre marts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3617427547"/>
                  </a:ext>
                </a:extLst>
              </a:tr>
              <a:tr h="394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Time-to-value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Más lento al inicio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Rápido (valor incremental)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108730395"/>
                  </a:ext>
                </a:extLst>
              </a:tr>
              <a:tr h="6706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Complejidad ETL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Alta en el EDW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ETL/ELT centrado en modelado dimensional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3014606982"/>
                  </a:ext>
                </a:extLst>
              </a:tr>
              <a:tr h="6706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Riesgos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“Nunca llegar” si el EDW tarda demasiado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Silos si no se gobiernan dimensiones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2802431479"/>
                  </a:ext>
                </a:extLst>
              </a:tr>
              <a:tr h="9467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Cuándo conviene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Entorno regulado, muchas fuentes, foco en gobierno corporativo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Necesidad de reporteo y </a:t>
                      </a:r>
                      <a:r>
                        <a:rPr lang="es-ES" sz="16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KPIs</a:t>
                      </a:r>
                      <a:r>
                        <a:rPr lang="es-ES" sz="1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rápidos, orientación a autoservicio BI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3906258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4338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246C7-0C23-A288-E224-8366305CD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669BF41-0E60-41F7-F1F3-0918564F5239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B7FC4AC-3FA5-B490-7009-6B97A2FD68F0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60AAE44F-1BBD-26B3-6522-AB2850E18A25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147F4F85-ABDD-4AB1-4D68-3CC43D64D4DF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6ED24452-0B04-AE2E-C36D-EE0BE531F43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A14D8E7-5A29-F477-7AE7-940DA9F5ED00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689DD07-8599-35F0-5B3D-B8518ADB9641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7F438971-626E-EA62-8CE5-C4BCFCA5C97E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F9E586B-DBD3-BD56-FBFF-1FBD5C21B345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0A4A3C4A-DE8B-915E-345E-5B30C8CA0B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5250A88-5F1F-C2D4-0AAC-FA39A130586A}"/>
              </a:ext>
            </a:extLst>
          </p:cNvPr>
          <p:cNvSpPr txBox="1"/>
          <p:nvPr/>
        </p:nvSpPr>
        <p:spPr>
          <a:xfrm>
            <a:off x="1077012" y="2696160"/>
            <a:ext cx="7510808" cy="4750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5"/>
              </a:spcAft>
              <a:buNone/>
            </a:pPr>
            <a:r>
              <a:rPr lang="es-ES" sz="3200" b="1" i="0" dirty="0">
                <a:solidFill>
                  <a:schemeClr val="tx1"/>
                </a:solidFill>
                <a:effectLst/>
                <a:latin typeface="JetBrains Mono"/>
              </a:rPr>
              <a:t>El Enfoque "Fábrica"</a:t>
            </a:r>
          </a:p>
          <a:p>
            <a:pPr algn="l">
              <a:buNone/>
            </a:pPr>
            <a:r>
              <a:rPr lang="es-ES" sz="3200" b="0" i="0" dirty="0">
                <a:solidFill>
                  <a:schemeClr val="tx1"/>
                </a:solidFill>
                <a:effectLst/>
                <a:latin typeface="Space Grotesk"/>
              </a:rPr>
              <a:t>El núcleo es el </a:t>
            </a:r>
            <a:r>
              <a:rPr lang="es-ES" sz="3200" b="1" i="0" dirty="0">
                <a:solidFill>
                  <a:schemeClr val="tx1"/>
                </a:solidFill>
                <a:effectLst/>
                <a:latin typeface="Space Grotesk"/>
              </a:rPr>
              <a:t>Enterprise Data </a:t>
            </a:r>
            <a:r>
              <a:rPr lang="es-ES" sz="3200" b="1" i="0" dirty="0" err="1">
                <a:solidFill>
                  <a:schemeClr val="tx1"/>
                </a:solidFill>
                <a:effectLst/>
                <a:latin typeface="Space Grotesk"/>
              </a:rPr>
              <a:t>Warehouse</a:t>
            </a:r>
            <a:r>
              <a:rPr lang="es-ES" sz="3200" b="1" i="0" dirty="0">
                <a:solidFill>
                  <a:schemeClr val="tx1"/>
                </a:solidFill>
                <a:effectLst/>
                <a:latin typeface="Space Grotesk"/>
              </a:rPr>
              <a:t> (EDW)</a:t>
            </a:r>
            <a:r>
              <a:rPr lang="es-ES" sz="3200" b="0" i="0" dirty="0">
                <a:solidFill>
                  <a:schemeClr val="tx1"/>
                </a:solidFill>
                <a:effectLst/>
                <a:latin typeface="Space Grotesk"/>
              </a:rPr>
              <a:t>.</a:t>
            </a:r>
          </a:p>
          <a:p>
            <a:pPr algn="l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s-ES" sz="3200" b="0" i="0" dirty="0">
                <a:solidFill>
                  <a:schemeClr val="tx1"/>
                </a:solidFill>
                <a:effectLst/>
                <a:latin typeface="Space Grotesk"/>
              </a:rPr>
              <a:t>Los datos se extraen de las fuentes.</a:t>
            </a:r>
          </a:p>
          <a:p>
            <a:pPr algn="l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s-ES" sz="3200" b="0" i="0" dirty="0">
                <a:solidFill>
                  <a:schemeClr val="tx1"/>
                </a:solidFill>
                <a:effectLst/>
                <a:latin typeface="Space Grotesk"/>
              </a:rPr>
              <a:t>Se limpian y normalizan (3NF) en el EDW central.</a:t>
            </a:r>
          </a:p>
          <a:p>
            <a:pPr algn="l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s-ES" sz="3200" b="0" i="0" dirty="0">
                <a:solidFill>
                  <a:schemeClr val="tx1"/>
                </a:solidFill>
                <a:effectLst/>
                <a:latin typeface="Space Grotesk"/>
              </a:rPr>
              <a:t>Luego, se alimentan Data </a:t>
            </a:r>
            <a:r>
              <a:rPr lang="es-ES" sz="3200" b="0" i="0" dirty="0" err="1">
                <a:solidFill>
                  <a:schemeClr val="tx1"/>
                </a:solidFill>
                <a:effectLst/>
                <a:latin typeface="Space Grotesk"/>
              </a:rPr>
              <a:t>Marts</a:t>
            </a:r>
            <a:r>
              <a:rPr lang="es-ES" sz="3200" b="0" i="0" dirty="0">
                <a:solidFill>
                  <a:schemeClr val="tx1"/>
                </a:solidFill>
                <a:effectLst/>
                <a:latin typeface="Space Grotesk"/>
              </a:rPr>
              <a:t> departamentales para análisis específicos.</a:t>
            </a:r>
            <a:endParaRPr lang="es-ES" b="0" i="0" dirty="0">
              <a:solidFill>
                <a:schemeClr val="tx1"/>
              </a:solidFill>
              <a:effectLst/>
              <a:latin typeface="Space Grotesk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B9CD90F-5048-7635-29C9-3ED6D9B6A6FF}"/>
              </a:ext>
            </a:extLst>
          </p:cNvPr>
          <p:cNvSpPr txBox="1"/>
          <p:nvPr/>
        </p:nvSpPr>
        <p:spPr>
          <a:xfrm>
            <a:off x="1077012" y="619028"/>
            <a:ext cx="91864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  <a:buNone/>
            </a:pPr>
            <a:r>
              <a:rPr lang="es-ES" sz="3200" b="1" i="0" dirty="0" err="1">
                <a:solidFill>
                  <a:schemeClr val="tx1"/>
                </a:solidFill>
                <a:effectLst/>
                <a:latin typeface="JetBrains Mono"/>
              </a:rPr>
              <a:t>Corporate</a:t>
            </a:r>
            <a:r>
              <a:rPr lang="es-ES" sz="3200" b="1" i="0" dirty="0">
                <a:solidFill>
                  <a:schemeClr val="tx1"/>
                </a:solidFill>
                <a:effectLst/>
                <a:latin typeface="JetBrains Mono"/>
              </a:rPr>
              <a:t> </a:t>
            </a:r>
            <a:r>
              <a:rPr lang="es-ES" sz="3200" b="1" i="0" dirty="0" err="1">
                <a:solidFill>
                  <a:schemeClr val="tx1"/>
                </a:solidFill>
                <a:effectLst/>
                <a:latin typeface="JetBrains Mono"/>
              </a:rPr>
              <a:t>Information</a:t>
            </a:r>
            <a:r>
              <a:rPr lang="es-ES" sz="3200" b="1" i="0" dirty="0">
                <a:solidFill>
                  <a:schemeClr val="tx1"/>
                </a:solidFill>
                <a:effectLst/>
                <a:latin typeface="JetBrains Mono"/>
              </a:rPr>
              <a:t> Factory (CIF)</a:t>
            </a:r>
          </a:p>
        </p:txBody>
      </p:sp>
      <p:pic>
        <p:nvPicPr>
          <p:cNvPr id="2050" name="Picture 2" descr="Diagrama de Arquitectura Inmon CIF">
            <a:extLst>
              <a:ext uri="{FF2B5EF4-FFF2-40B4-BE49-F238E27FC236}">
                <a16:creationId xmlns:a16="http://schemas.microsoft.com/office/drawing/2014/main" id="{7FBA5521-07DC-A9F2-9B18-AE12E3795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1994" y="3132416"/>
            <a:ext cx="7497545" cy="4909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118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9E037-9D89-B7A5-A072-0F3FD6EBB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E0E360C-712F-9C2B-7F67-E4B8F7CDD5EB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843A975-F458-F350-B062-00C77796F317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503CD38A-551F-2A0A-7A68-648CCF740817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25034573-C12E-3809-05B4-95800204F96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ECE125FB-AAA4-7A15-0E80-A7D97E8FE02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A2CDA01-8980-23F7-F25D-B8751AF1B340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CC696CA-315C-9F78-7372-65FBB97F6310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D28D5A74-8241-F36D-B743-00AEB5A08179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E1E499F1-2A84-5568-7A88-D3FCC119C26B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02724794-7A04-7F80-CB7A-AA1FD39B458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0966F67-ED62-85B1-B520-9B3083C6D7BF}"/>
              </a:ext>
            </a:extLst>
          </p:cNvPr>
          <p:cNvSpPr txBox="1"/>
          <p:nvPr/>
        </p:nvSpPr>
        <p:spPr>
          <a:xfrm>
            <a:off x="9694083" y="2966746"/>
            <a:ext cx="7527116" cy="4947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5"/>
              </a:spcAft>
              <a:buNone/>
            </a:pPr>
            <a:r>
              <a:rPr lang="es-ES" sz="3600" b="1" i="0" cap="all" dirty="0">
                <a:solidFill>
                  <a:srgbClr val="F87171"/>
                </a:solidFill>
                <a:effectLst/>
                <a:latin typeface="JetBrains Mono"/>
              </a:rPr>
              <a:t> Desventajas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s-ES" sz="3600" b="1" i="0" dirty="0">
                <a:solidFill>
                  <a:srgbClr val="CBD5E1"/>
                </a:solidFill>
                <a:effectLst/>
                <a:latin typeface="Space Grotesk"/>
              </a:rPr>
              <a:t>Redundancia de datos (desnormalizado).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s-ES" sz="3600" b="1" i="0" dirty="0">
                <a:solidFill>
                  <a:srgbClr val="CBD5E1"/>
                </a:solidFill>
                <a:effectLst/>
                <a:latin typeface="Space Grotesk"/>
              </a:rPr>
              <a:t>Difícil mantener la consistencia (ETL complejo para sincronizar dimensiones).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s-ES" sz="3600" b="1" i="0" dirty="0">
                <a:solidFill>
                  <a:srgbClr val="CBD5E1"/>
                </a:solidFill>
                <a:effectLst/>
                <a:latin typeface="Space Grotesk"/>
              </a:rPr>
              <a:t>Menos flexible para preguntas no previstas en el modelo.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CA5049F-C8AF-D7FE-9799-B6FE138495A1}"/>
              </a:ext>
            </a:extLst>
          </p:cNvPr>
          <p:cNvSpPr txBox="1"/>
          <p:nvPr/>
        </p:nvSpPr>
        <p:spPr>
          <a:xfrm>
            <a:off x="1774596" y="1420388"/>
            <a:ext cx="9186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  <a:buNone/>
            </a:pPr>
            <a:r>
              <a:rPr lang="es-ES" sz="2800" b="1" i="0" dirty="0">
                <a:solidFill>
                  <a:schemeClr val="tx1"/>
                </a:solidFill>
                <a:effectLst/>
                <a:latin typeface="JetBrains Mono"/>
              </a:rPr>
              <a:t>Ventajas y Desventajas (Kimball)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73B5BF4-B335-A53A-81CB-1D3B1861CB01}"/>
              </a:ext>
            </a:extLst>
          </p:cNvPr>
          <p:cNvSpPr txBox="1"/>
          <p:nvPr/>
        </p:nvSpPr>
        <p:spPr>
          <a:xfrm>
            <a:off x="1774596" y="2865750"/>
            <a:ext cx="5663152" cy="3980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5"/>
              </a:spcAft>
              <a:buNone/>
            </a:pPr>
            <a:r>
              <a:rPr lang="es-ES" sz="3600" b="1" i="0" cap="all" dirty="0">
                <a:solidFill>
                  <a:schemeClr val="tx1"/>
                </a:solidFill>
                <a:effectLst/>
                <a:latin typeface="JetBrains Mono"/>
              </a:rPr>
              <a:t> Ventajas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s-ES" sz="3600" b="0" i="0" dirty="0">
                <a:solidFill>
                  <a:schemeClr val="tx1"/>
                </a:solidFill>
                <a:effectLst/>
                <a:latin typeface="Space Grotesk"/>
              </a:rPr>
              <a:t>Rápido "Time-</a:t>
            </a:r>
            <a:r>
              <a:rPr lang="es-ES" sz="3600" b="0" i="0" dirty="0" err="1">
                <a:solidFill>
                  <a:schemeClr val="tx1"/>
                </a:solidFill>
                <a:effectLst/>
                <a:latin typeface="Space Grotesk"/>
              </a:rPr>
              <a:t>to</a:t>
            </a:r>
            <a:r>
              <a:rPr lang="es-ES" sz="3600" b="0" i="0" dirty="0">
                <a:solidFill>
                  <a:schemeClr val="tx1"/>
                </a:solidFill>
                <a:effectLst/>
                <a:latin typeface="Space Grotesk"/>
              </a:rPr>
              <a:t>-</a:t>
            </a:r>
            <a:r>
              <a:rPr lang="es-ES" sz="3600" b="0" i="0" dirty="0" err="1">
                <a:solidFill>
                  <a:schemeClr val="tx1"/>
                </a:solidFill>
                <a:effectLst/>
                <a:latin typeface="Space Grotesk"/>
              </a:rPr>
              <a:t>Market</a:t>
            </a:r>
            <a:r>
              <a:rPr lang="es-ES" sz="3600" b="0" i="0" dirty="0">
                <a:solidFill>
                  <a:schemeClr val="tx1"/>
                </a:solidFill>
                <a:effectLst/>
                <a:latin typeface="Space Grotesk"/>
              </a:rPr>
              <a:t>".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s-ES" sz="3600" b="0" i="0" dirty="0">
                <a:solidFill>
                  <a:schemeClr val="tx1"/>
                </a:solidFill>
                <a:effectLst/>
                <a:latin typeface="Space Grotesk"/>
              </a:rPr>
              <a:t>Fácil de entender para usuarios de negocio.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s-ES" sz="3600" b="0" i="0" dirty="0">
                <a:solidFill>
                  <a:schemeClr val="tx1"/>
                </a:solidFill>
                <a:effectLst/>
                <a:latin typeface="Space Grotesk"/>
              </a:rPr>
              <a:t>Menor costo inicial.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s-ES" sz="3600" b="0" i="0" dirty="0">
                <a:solidFill>
                  <a:schemeClr val="tx1"/>
                </a:solidFill>
                <a:effectLst/>
                <a:latin typeface="Space Grotesk"/>
              </a:rPr>
              <a:t>Consultas muy rápidas.</a:t>
            </a:r>
          </a:p>
        </p:txBody>
      </p:sp>
    </p:spTree>
    <p:extLst>
      <p:ext uri="{BB962C8B-B14F-4D97-AF65-F5344CB8AC3E}">
        <p14:creationId xmlns:p14="http://schemas.microsoft.com/office/powerpoint/2010/main" val="469380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E085B-392F-8BB5-2686-900C822D1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B457A95-89B0-BBC2-8076-CA6C9BC4012C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55052B6-1DCC-C2B5-D1AC-6F30461FA716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1D612F21-3803-AD33-2469-FA3DF6AEF367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E4424BDF-84C3-88DB-FF01-964748E921C3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959C6471-D18B-E409-85BA-FDAAE76804D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77F2F9-4C32-56C9-4C33-047BE80E848E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7570CB3-2CA5-FB93-13A5-6A3AEB683B5D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1C58BCF7-AF1B-023E-22AB-31E95D78EF56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FE32EF4-3D30-E8AF-12DE-448FAD157C32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2A0BF25E-FE2F-986D-674C-96D5F16C84E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pic>
        <p:nvPicPr>
          <p:cNvPr id="12" name="Imagen 11">
            <a:extLst>
              <a:ext uri="{FF2B5EF4-FFF2-40B4-BE49-F238E27FC236}">
                <a16:creationId xmlns:a16="http://schemas.microsoft.com/office/drawing/2014/main" id="{854ECDF3-A07D-AD0F-9602-0CB052C45D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4716" y="3438525"/>
            <a:ext cx="6572250" cy="3409950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5543D6DC-008B-5520-061E-655B8ED00BF8}"/>
              </a:ext>
            </a:extLst>
          </p:cNvPr>
          <p:cNvSpPr txBox="1"/>
          <p:nvPr/>
        </p:nvSpPr>
        <p:spPr>
          <a:xfrm>
            <a:off x="1378670" y="2532730"/>
            <a:ext cx="8151830" cy="5434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  <a:buNone/>
            </a:pPr>
            <a:r>
              <a:rPr lang="es-ES" sz="3200" b="1" i="0" dirty="0">
                <a:solidFill>
                  <a:schemeClr val="tx1"/>
                </a:solidFill>
                <a:effectLst/>
                <a:latin typeface="JetBrains Mono"/>
              </a:rPr>
              <a:t>Bus </a:t>
            </a:r>
            <a:r>
              <a:rPr lang="es-ES" sz="3200" b="1" i="0" dirty="0" err="1">
                <a:solidFill>
                  <a:schemeClr val="tx1"/>
                </a:solidFill>
                <a:effectLst/>
                <a:latin typeface="JetBrains Mono"/>
              </a:rPr>
              <a:t>Architecture</a:t>
            </a:r>
            <a:endParaRPr lang="es-ES" sz="3200" b="1" i="0" dirty="0">
              <a:solidFill>
                <a:schemeClr val="tx1"/>
              </a:solidFill>
              <a:effectLst/>
              <a:latin typeface="JetBrains Mono"/>
            </a:endParaRPr>
          </a:p>
          <a:p>
            <a:pPr algn="l">
              <a:spcAft>
                <a:spcPts val="1125"/>
              </a:spcAft>
              <a:buNone/>
            </a:pPr>
            <a:r>
              <a:rPr lang="es-ES" sz="3200" b="1" i="0" dirty="0">
                <a:solidFill>
                  <a:schemeClr val="tx1"/>
                </a:solidFill>
                <a:effectLst/>
                <a:latin typeface="JetBrains Mono"/>
              </a:rPr>
              <a:t>El Enfoque "Bus"</a:t>
            </a:r>
          </a:p>
          <a:p>
            <a:pPr algn="l">
              <a:buNone/>
            </a:pPr>
            <a:r>
              <a:rPr lang="es-ES" sz="3200" b="0" i="0" dirty="0">
                <a:solidFill>
                  <a:schemeClr val="tx1"/>
                </a:solidFill>
                <a:effectLst/>
                <a:latin typeface="Space Grotesk"/>
              </a:rPr>
              <a:t>No existe un repositorio central normalizado previo.</a:t>
            </a:r>
          </a:p>
          <a:p>
            <a:pPr algn="l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s-ES" sz="3200" b="0" i="0" dirty="0">
                <a:solidFill>
                  <a:schemeClr val="tx1"/>
                </a:solidFill>
                <a:effectLst/>
                <a:latin typeface="Space Grotesk"/>
              </a:rPr>
              <a:t>Los datos van de </a:t>
            </a:r>
            <a:r>
              <a:rPr lang="es-ES" sz="3200" b="0" i="0" dirty="0" err="1">
                <a:solidFill>
                  <a:schemeClr val="tx1"/>
                </a:solidFill>
                <a:effectLst/>
                <a:latin typeface="Space Grotesk"/>
              </a:rPr>
              <a:t>Staging</a:t>
            </a:r>
            <a:r>
              <a:rPr lang="es-ES" sz="3200" b="0" i="0" dirty="0">
                <a:solidFill>
                  <a:schemeClr val="tx1"/>
                </a:solidFill>
                <a:effectLst/>
                <a:latin typeface="Space Grotesk"/>
              </a:rPr>
              <a:t> directamente a </a:t>
            </a:r>
            <a:r>
              <a:rPr lang="es-ES" sz="3200" b="1" i="0" dirty="0">
                <a:solidFill>
                  <a:schemeClr val="tx1"/>
                </a:solidFill>
                <a:effectLst/>
                <a:latin typeface="Space Grotesk"/>
              </a:rPr>
              <a:t>Data </a:t>
            </a:r>
            <a:r>
              <a:rPr lang="es-ES" sz="3200" b="1" i="0" dirty="0" err="1">
                <a:solidFill>
                  <a:schemeClr val="tx1"/>
                </a:solidFill>
                <a:effectLst/>
                <a:latin typeface="Space Grotesk"/>
              </a:rPr>
              <a:t>Marts</a:t>
            </a:r>
            <a:r>
              <a:rPr lang="es-ES" sz="3200" b="1" i="0" dirty="0">
                <a:solidFill>
                  <a:schemeClr val="tx1"/>
                </a:solidFill>
                <a:effectLst/>
                <a:latin typeface="Space Grotesk"/>
              </a:rPr>
              <a:t> Dimensionales</a:t>
            </a:r>
            <a:r>
              <a:rPr lang="es-ES" sz="3200" b="0" i="0" dirty="0">
                <a:solidFill>
                  <a:schemeClr val="tx1"/>
                </a:solidFill>
                <a:effectLst/>
                <a:latin typeface="Space Grotesk"/>
              </a:rPr>
              <a:t>.</a:t>
            </a:r>
          </a:p>
          <a:p>
            <a:pPr algn="l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s-ES" sz="3200" b="0" i="0" dirty="0">
                <a:solidFill>
                  <a:schemeClr val="tx1"/>
                </a:solidFill>
                <a:effectLst/>
                <a:latin typeface="Space Grotesk"/>
              </a:rPr>
              <a:t>La integración se logra mediante el </a:t>
            </a:r>
            <a:r>
              <a:rPr lang="es-ES" sz="3200" b="1" i="0" dirty="0">
                <a:solidFill>
                  <a:schemeClr val="tx1"/>
                </a:solidFill>
                <a:effectLst/>
                <a:latin typeface="Space Grotesk"/>
              </a:rPr>
              <a:t>Bus de Dimensiones Conformadas</a:t>
            </a:r>
            <a:r>
              <a:rPr lang="es-ES" sz="3200" b="0" i="0" dirty="0">
                <a:solidFill>
                  <a:schemeClr val="tx1"/>
                </a:solidFill>
                <a:effectLst/>
                <a:latin typeface="Space Grotesk"/>
              </a:rPr>
              <a:t> (ej. Cliente, Fecha son idénticos en todos los </a:t>
            </a:r>
            <a:r>
              <a:rPr lang="es-ES" sz="3200" b="0" i="0" dirty="0" err="1">
                <a:solidFill>
                  <a:schemeClr val="tx1"/>
                </a:solidFill>
                <a:effectLst/>
                <a:latin typeface="Space Grotesk"/>
              </a:rPr>
              <a:t>marts</a:t>
            </a:r>
            <a:r>
              <a:rPr lang="es-ES" sz="3200" b="0" i="0" dirty="0">
                <a:solidFill>
                  <a:schemeClr val="tx1"/>
                </a:solidFill>
                <a:effectLst/>
                <a:latin typeface="Space Grotesk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21785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2BA2C-C166-CF2B-3D49-8E98E7AA1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AE00EBE-B007-2216-BC5F-AF5ED8A3DA86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6522FB3-1364-9DD8-B79A-7CB24CC4742A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F764FB7F-3D36-3D81-0F1A-CDA2F954F516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720DDBD4-DD79-8D65-DF61-211346524416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6C9BB678-A6E4-1062-46CD-26BF02EE3C4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263CEDC-00DE-E2B7-17EE-AA43D7417228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2EE58AD-FC76-EEDC-72B8-8CE893DDA46C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0B536051-2E2F-4409-15B4-253547ACA5DF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1F9390B3-2FF7-575E-31B8-277BB2861DC0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CE02EBAD-5860-8F6F-A3DF-AD60AEB5BE7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D01F8C5-9D92-2390-571E-28827630C7EB}"/>
              </a:ext>
            </a:extLst>
          </p:cNvPr>
          <p:cNvSpPr txBox="1"/>
          <p:nvPr/>
        </p:nvSpPr>
        <p:spPr>
          <a:xfrm>
            <a:off x="9726104" y="2937095"/>
            <a:ext cx="6099143" cy="4947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5"/>
              </a:spcAft>
              <a:buNone/>
            </a:pPr>
            <a:r>
              <a:rPr lang="es-ES" sz="3600" b="1" i="0" cap="all" dirty="0">
                <a:solidFill>
                  <a:srgbClr val="F87171"/>
                </a:solidFill>
                <a:effectLst/>
                <a:latin typeface="JetBrains Mono"/>
              </a:rPr>
              <a:t> Desventajas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s-ES" sz="3600" b="0" i="0" dirty="0">
                <a:solidFill>
                  <a:srgbClr val="CBD5E1"/>
                </a:solidFill>
                <a:effectLst/>
                <a:latin typeface="Space Grotesk"/>
              </a:rPr>
              <a:t>Alto costo y tiempo inicial (Startup).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s-ES" sz="3600" b="0" i="0" dirty="0">
                <a:solidFill>
                  <a:srgbClr val="CBD5E1"/>
                </a:solidFill>
                <a:effectLst/>
                <a:latin typeface="Space Grotesk"/>
              </a:rPr>
              <a:t>Complejidad técnica alta (Modelado 3NF).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s-ES" sz="3600" b="0" i="0" dirty="0">
                <a:solidFill>
                  <a:srgbClr val="CBD5E1"/>
                </a:solidFill>
                <a:effectLst/>
                <a:latin typeface="Space Grotesk"/>
              </a:rPr>
              <a:t>Difícil de consultar directamente por usuarios finales (muchos JOINS).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D13E2BB-DB9E-CC2C-260D-700ECEBDA85B}"/>
              </a:ext>
            </a:extLst>
          </p:cNvPr>
          <p:cNvSpPr txBox="1"/>
          <p:nvPr/>
        </p:nvSpPr>
        <p:spPr>
          <a:xfrm>
            <a:off x="1670901" y="1187866"/>
            <a:ext cx="91864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  <a:buNone/>
            </a:pPr>
            <a:r>
              <a:rPr lang="es-ES" sz="1800" b="1" i="0" dirty="0">
                <a:solidFill>
                  <a:schemeClr val="tx1"/>
                </a:solidFill>
                <a:effectLst/>
                <a:latin typeface="JetBrains Mono"/>
              </a:rPr>
              <a:t>Ventajas y Desventajas (</a:t>
            </a:r>
            <a:r>
              <a:rPr lang="es-ES" sz="1800" b="1" i="0" dirty="0" err="1">
                <a:solidFill>
                  <a:schemeClr val="tx1"/>
                </a:solidFill>
                <a:effectLst/>
                <a:latin typeface="JetBrains Mono"/>
              </a:rPr>
              <a:t>Inmon</a:t>
            </a:r>
            <a:r>
              <a:rPr lang="es-ES" sz="1800" b="1" i="0" dirty="0">
                <a:solidFill>
                  <a:schemeClr val="tx1"/>
                </a:solidFill>
                <a:effectLst/>
                <a:latin typeface="JetBrains Mono"/>
              </a:rPr>
              <a:t>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0EECD2E-5D18-E4BB-EC89-46216E7BC527}"/>
              </a:ext>
            </a:extLst>
          </p:cNvPr>
          <p:cNvSpPr txBox="1"/>
          <p:nvPr/>
        </p:nvSpPr>
        <p:spPr>
          <a:xfrm>
            <a:off x="2151668" y="2937095"/>
            <a:ext cx="5936529" cy="5642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5"/>
              </a:spcAft>
              <a:buNone/>
            </a:pPr>
            <a:r>
              <a:rPr lang="es-ES" sz="3600" b="1" i="0" cap="all" dirty="0">
                <a:solidFill>
                  <a:schemeClr val="tx1"/>
                </a:solidFill>
                <a:effectLst/>
                <a:latin typeface="JetBrains Mono"/>
              </a:rPr>
              <a:t> Ventajas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s-ES" sz="3600" b="0" i="0" dirty="0">
                <a:solidFill>
                  <a:schemeClr val="tx1"/>
                </a:solidFill>
                <a:effectLst/>
                <a:latin typeface="Space Grotesk"/>
              </a:rPr>
              <a:t>Integridad de datos superior.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s-ES" sz="3600" b="0" i="0" dirty="0">
                <a:solidFill>
                  <a:schemeClr val="tx1"/>
                </a:solidFill>
                <a:effectLst/>
                <a:latin typeface="Space Grotesk"/>
              </a:rPr>
              <a:t>Menor redundancia de almacenamiento.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s-ES" sz="3600" b="0" i="0" dirty="0">
                <a:solidFill>
                  <a:schemeClr val="tx1"/>
                </a:solidFill>
                <a:effectLst/>
                <a:latin typeface="Space Grotesk"/>
              </a:rPr>
              <a:t>Facilita la actualización de datos (</a:t>
            </a:r>
            <a:r>
              <a:rPr lang="es-ES" sz="3600" b="0" i="0" dirty="0" err="1">
                <a:solidFill>
                  <a:schemeClr val="tx1"/>
                </a:solidFill>
                <a:effectLst/>
                <a:latin typeface="Space Grotesk"/>
              </a:rPr>
              <a:t>Update</a:t>
            </a:r>
            <a:r>
              <a:rPr lang="es-ES" sz="3600" b="0" i="0" dirty="0">
                <a:solidFill>
                  <a:schemeClr val="tx1"/>
                </a:solidFill>
                <a:effectLst/>
                <a:latin typeface="Space Grotesk"/>
              </a:rPr>
              <a:t> </a:t>
            </a:r>
            <a:r>
              <a:rPr lang="es-ES" sz="3600" b="0" i="0" dirty="0" err="1">
                <a:solidFill>
                  <a:schemeClr val="tx1"/>
                </a:solidFill>
                <a:effectLst/>
                <a:latin typeface="Space Grotesk"/>
              </a:rPr>
              <a:t>Anomalies</a:t>
            </a:r>
            <a:r>
              <a:rPr lang="es-ES" sz="3600" b="0" i="0" dirty="0">
                <a:solidFill>
                  <a:schemeClr val="tx1"/>
                </a:solidFill>
                <a:effectLst/>
                <a:latin typeface="Space Grotesk"/>
              </a:rPr>
              <a:t> reducidas).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s-ES" sz="3600" b="0" i="0" dirty="0">
                <a:solidFill>
                  <a:schemeClr val="tx1"/>
                </a:solidFill>
                <a:effectLst/>
                <a:latin typeface="Space Grotesk"/>
              </a:rPr>
              <a:t>Visión holística de la empresa.</a:t>
            </a:r>
          </a:p>
        </p:txBody>
      </p:sp>
    </p:spTree>
    <p:extLst>
      <p:ext uri="{BB962C8B-B14F-4D97-AF65-F5344CB8AC3E}">
        <p14:creationId xmlns:p14="http://schemas.microsoft.com/office/powerpoint/2010/main" val="1801455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0AE49-4BA3-724E-2720-C1FF52E08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DE818A9-9C2C-8712-4B29-7E88BF4A90F5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7582D66-090D-8A9E-979D-FCE94DE6551C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78081333-F7C0-0B1B-9F28-2488EED162D2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AFE15AAF-10E6-5D2A-52BB-3CF19A6661FB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F3505D2F-2330-4863-7D8E-C99324B8CA9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1E4F3CA-FB7D-EB5F-315F-F05B02052168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0BE0B18-AFAA-7DED-1B1A-035234D405F2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07A48EEA-873F-653B-6347-634BCB7E4BB4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B48A56D4-991E-F47E-70D2-42F639F08695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7BD44A7E-0A57-EC66-492F-00B843C1CD4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pic>
        <p:nvPicPr>
          <p:cNvPr id="13" name="Imagen 12">
            <a:extLst>
              <a:ext uri="{FF2B5EF4-FFF2-40B4-BE49-F238E27FC236}">
                <a16:creationId xmlns:a16="http://schemas.microsoft.com/office/drawing/2014/main" id="{00803477-2ED9-AF26-BD11-7BE26AA797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2169" y="968983"/>
            <a:ext cx="9539142" cy="8178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1473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9BD23-4B38-A632-A173-166F43AF0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E75D1B8-8A2A-6B0B-0C40-35C5C6617680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0204130-0C61-7492-78D8-3637F39E051B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681F181B-C15B-8B67-58B7-4296BB224A79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1E8511C4-A5E9-7088-2257-D2BBEBBA8759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FE503961-D259-8917-B54D-7CB926F3FE0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DA3D25C-4323-2139-BC23-FD49EFA60FDC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B468319-327C-143E-74CF-418294EBFF8A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1820CADC-EE0A-F17C-C71D-ACED37DD215F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03BF5079-D812-6AB9-AFB9-F2E6B3D4D0B6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28D8C174-F441-4F5E-CF9B-A7A5A67D173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DDC8CB7-BB76-0755-C041-C2276A185DF7}"/>
              </a:ext>
            </a:extLst>
          </p:cNvPr>
          <p:cNvSpPr txBox="1"/>
          <p:nvPr/>
        </p:nvSpPr>
        <p:spPr>
          <a:xfrm>
            <a:off x="1384463" y="2030391"/>
            <a:ext cx="1440543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/>
              <a:t>El Problema Relacional (Las Tablas Originales)</a:t>
            </a:r>
          </a:p>
          <a:p>
            <a:pPr>
              <a:buNone/>
            </a:pPr>
            <a:endParaRPr lang="es-ES" sz="3200" b="1" dirty="0"/>
          </a:p>
          <a:p>
            <a:pPr>
              <a:buNone/>
            </a:pPr>
            <a:r>
              <a:rPr lang="es-ES" sz="3200" dirty="0"/>
              <a:t>En la base de datos original de </a:t>
            </a:r>
            <a:r>
              <a:rPr lang="es-ES" sz="3200" dirty="0" err="1"/>
              <a:t>Olist</a:t>
            </a:r>
            <a:r>
              <a:rPr lang="es-ES" sz="3200" dirty="0"/>
              <a:t>, si quieres saber </a:t>
            </a:r>
            <a:r>
              <a:rPr lang="es-ES" sz="3200" i="1" dirty="0"/>
              <a:t>"¿Cuánto vendimos en la categoría '</a:t>
            </a:r>
            <a:r>
              <a:rPr lang="es-ES" sz="3200" i="1" dirty="0" err="1"/>
              <a:t>Beleza</a:t>
            </a:r>
            <a:r>
              <a:rPr lang="es-ES" sz="3200" i="1" dirty="0"/>
              <a:t>' en 'Sao Paulo' en 2017?"</a:t>
            </a:r>
            <a:r>
              <a:rPr lang="es-ES" sz="3200" dirty="0"/>
              <a:t>, tienes que hacer un </a:t>
            </a:r>
            <a:r>
              <a:rPr lang="es-ES" sz="3200" b="1" dirty="0"/>
              <a:t>JOIN gigante</a:t>
            </a:r>
            <a:r>
              <a:rPr lang="es-ES" sz="3200" dirty="0"/>
              <a:t> de al menos 4 o 5 tablas:</a:t>
            </a:r>
          </a:p>
          <a:p>
            <a:pPr>
              <a:buNone/>
            </a:pPr>
            <a:endParaRPr lang="es-ES" sz="3200" dirty="0"/>
          </a:p>
          <a:p>
            <a:pPr marL="514350" lvl="1" indent="-514350">
              <a:buFont typeface="+mj-lt"/>
              <a:buAutoNum type="arabicPeriod"/>
            </a:pPr>
            <a:r>
              <a:rPr lang="es-ES" sz="3200" dirty="0" err="1">
                <a:latin typeface="Courier New" panose="02070309020205020404" pitchFamily="49" charset="0"/>
              </a:rPr>
              <a:t>olist_orders_dataset</a:t>
            </a:r>
            <a:r>
              <a:rPr lang="es-ES" sz="3200" dirty="0"/>
              <a:t> (Para la fecha).</a:t>
            </a:r>
          </a:p>
          <a:p>
            <a:pPr marL="514350" lvl="1" indent="-514350">
              <a:buFont typeface="+mj-lt"/>
              <a:buAutoNum type="arabicPeriod"/>
            </a:pPr>
            <a:r>
              <a:rPr lang="es-ES" sz="3200" dirty="0" err="1">
                <a:latin typeface="Courier New" panose="02070309020205020404" pitchFamily="49" charset="0"/>
              </a:rPr>
              <a:t>olist_order_items_dataset</a:t>
            </a:r>
            <a:r>
              <a:rPr lang="es-ES" sz="3200" dirty="0"/>
              <a:t> (Para el precio y la conexión producto-orden).</a:t>
            </a:r>
          </a:p>
          <a:p>
            <a:pPr marL="514350" lvl="1" indent="-514350">
              <a:buFont typeface="+mj-lt"/>
              <a:buAutoNum type="arabicPeriod"/>
            </a:pPr>
            <a:r>
              <a:rPr lang="es-ES" sz="3200" dirty="0" err="1">
                <a:latin typeface="Courier New" panose="02070309020205020404" pitchFamily="49" charset="0"/>
              </a:rPr>
              <a:t>olist_products_dataset</a:t>
            </a:r>
            <a:r>
              <a:rPr lang="es-ES" sz="3200" dirty="0"/>
              <a:t> (Para saber la categoría del producto).</a:t>
            </a:r>
          </a:p>
          <a:p>
            <a:pPr marL="514350" lvl="1" indent="-514350">
              <a:buFont typeface="+mj-lt"/>
              <a:buAutoNum type="arabicPeriod"/>
            </a:pPr>
            <a:r>
              <a:rPr lang="es-ES" sz="3200" dirty="0" err="1">
                <a:latin typeface="Courier New" panose="02070309020205020404" pitchFamily="49" charset="0"/>
              </a:rPr>
              <a:t>olist_customers_dataset</a:t>
            </a:r>
            <a:r>
              <a:rPr lang="es-ES" sz="3200" dirty="0"/>
              <a:t> (Para saber la ciudad/estado del cliente).</a:t>
            </a:r>
          </a:p>
          <a:p>
            <a:pPr marL="514350" lvl="1" indent="-514350">
              <a:buFont typeface="+mj-lt"/>
              <a:buAutoNum type="arabicPeriod"/>
            </a:pPr>
            <a:r>
              <a:rPr lang="es-ES" sz="3200" dirty="0"/>
              <a:t>Esto es lento y difícil de visualizar.</a:t>
            </a:r>
          </a:p>
        </p:txBody>
      </p:sp>
    </p:spTree>
    <p:extLst>
      <p:ext uri="{BB962C8B-B14F-4D97-AF65-F5344CB8AC3E}">
        <p14:creationId xmlns:p14="http://schemas.microsoft.com/office/powerpoint/2010/main" val="3519132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3A622-6816-E1F1-D75E-2D54133E3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7F1070F-4B9A-00C5-68DE-15A2A3FF71E9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1D82242-CD38-6CFE-C56A-BAD4E0A16262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9BC55CB2-D109-8941-96B1-67BCB9926EA0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D57FCFAE-451D-B6FE-7AD5-4A924C6ABE49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2C8DA3F0-23EC-5B39-BCCB-2A260D07A72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593F69F-E0EF-F9B2-7667-321C0DF0FEC0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7EC472B-EBBC-F6A8-5A30-55DBFAFDA896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1F27A2B8-C431-B2D3-A141-CB79747AD620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D5C0E07C-2A5E-98C0-CA08-ECFB0FFAEC4B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154F6B0B-7147-E529-3125-AB596E8816D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pic>
        <p:nvPicPr>
          <p:cNvPr id="13" name="Imagen 12">
            <a:extLst>
              <a:ext uri="{FF2B5EF4-FFF2-40B4-BE49-F238E27FC236}">
                <a16:creationId xmlns:a16="http://schemas.microsoft.com/office/drawing/2014/main" id="{57AB4450-E3EF-55E9-E47B-2B003F2E45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6486" y="2341432"/>
            <a:ext cx="13064537" cy="5897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561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FD782-4178-38FA-6902-F1D4235E2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1025A2F-7535-124A-8422-906905D324B6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94F8C3B-183D-6ABC-CB5C-725D1DD64830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796DF881-E1D8-D8BA-943F-B766FC15E817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191EFCF0-51BB-D8D7-218B-EB9209439126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60271A8E-DB4B-B3B1-C052-FD6D5C9D157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A94DC99-600B-38CF-3BC4-1F87C2D3BA2F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977B8BB-91B4-D5A8-6C86-CF70FCE16C5E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03C53239-5EAC-8A3C-8E8F-04E4A229C590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818F6D29-83F8-4681-31EE-C0A84A695796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BDBD81F4-8EC0-7F35-4BB7-B26165F313D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9D2C927-74E9-F539-CC01-8781B753A7BA}"/>
              </a:ext>
            </a:extLst>
          </p:cNvPr>
          <p:cNvSpPr txBox="1"/>
          <p:nvPr/>
        </p:nvSpPr>
        <p:spPr>
          <a:xfrm>
            <a:off x="1307988" y="619028"/>
            <a:ext cx="15368027" cy="8710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800" b="1" dirty="0"/>
              <a:t>El Modelo Multidimensional y el Cubo de Datos</a:t>
            </a:r>
          </a:p>
          <a:p>
            <a:pPr>
              <a:buNone/>
            </a:pPr>
            <a:endParaRPr lang="es-ES" sz="2800" b="1" dirty="0"/>
          </a:p>
          <a:p>
            <a:pPr>
              <a:buNone/>
            </a:pPr>
            <a:endParaRPr lang="es-ES" sz="2800" b="1" dirty="0"/>
          </a:p>
          <a:p>
            <a:pPr>
              <a:buNone/>
            </a:pPr>
            <a:r>
              <a:rPr lang="es-ES" sz="2800" dirty="0"/>
              <a:t>Los sistemas OLAP y Data </a:t>
            </a:r>
            <a:r>
              <a:rPr lang="es-ES" sz="2800" dirty="0" err="1"/>
              <a:t>Warehouses</a:t>
            </a:r>
            <a:r>
              <a:rPr lang="es-ES" sz="2800" dirty="0"/>
              <a:t> se basan en el modelo multidimensional, que visualiza los datos en un espacio de </a:t>
            </a:r>
            <a:r>
              <a:rPr lang="es-ES" sz="2800" i="1" dirty="0"/>
              <a:t>n-dimensiones</a:t>
            </a:r>
            <a:r>
              <a:rPr lang="es-ES" sz="2800" dirty="0"/>
              <a:t>, usualmente llamado </a:t>
            </a:r>
            <a:r>
              <a:rPr lang="es-ES" sz="2800" b="1" dirty="0"/>
              <a:t>Cubo de Datos</a:t>
            </a:r>
            <a:r>
              <a:rPr lang="es-ES" sz="2800" dirty="0"/>
              <a:t> o </a:t>
            </a:r>
            <a:r>
              <a:rPr lang="es-ES" sz="2800" b="1" dirty="0"/>
              <a:t>Hipercubo</a:t>
            </a:r>
            <a:r>
              <a:rPr lang="es-ES" sz="2800" dirty="0"/>
              <a:t>.</a:t>
            </a:r>
          </a:p>
          <a:p>
            <a:pPr>
              <a:buNone/>
            </a:pPr>
            <a:endParaRPr lang="es-ES" sz="2800" dirty="0"/>
          </a:p>
          <a:p>
            <a:pPr>
              <a:buNone/>
            </a:pPr>
            <a:r>
              <a:rPr lang="es-ES" sz="2800" dirty="0"/>
              <a:t>Un cubo de datos se define por sus dimensiones y sus hechos. A continuación, desglosamos sus componentes clave utilizando un ejemplo de ventas (basado en la base de datos </a:t>
            </a:r>
            <a:r>
              <a:rPr lang="es-ES" sz="2800" i="1" dirty="0" err="1"/>
              <a:t>Olist</a:t>
            </a:r>
            <a:r>
              <a:rPr lang="es-ES" sz="2800" dirty="0"/>
              <a:t>):</a:t>
            </a:r>
          </a:p>
          <a:p>
            <a:pPr>
              <a:buNone/>
            </a:pPr>
            <a:endParaRPr lang="es-ES" sz="2800" dirty="0"/>
          </a:p>
          <a:p>
            <a:pPr marL="514350" indent="-514350">
              <a:buAutoNum type="alphaUcPeriod"/>
            </a:pPr>
            <a:r>
              <a:rPr lang="es-ES" sz="2800" b="1" dirty="0"/>
              <a:t>Dimensiones y Atributos</a:t>
            </a:r>
          </a:p>
          <a:p>
            <a:pPr marL="514350" indent="-514350">
              <a:buAutoNum type="alphaUcPeriod"/>
            </a:pPr>
            <a:endParaRPr lang="es-ES" sz="2800" b="1" dirty="0"/>
          </a:p>
          <a:p>
            <a:pPr>
              <a:buNone/>
            </a:pPr>
            <a:r>
              <a:rPr lang="es-ES" sz="2800" dirty="0"/>
              <a:t>Las dimensiones son las perspectivas utilizadas para analizar los datos. En nuestro ejemplo, el cubo tiene tres dimensiones principales:</a:t>
            </a:r>
          </a:p>
          <a:p>
            <a:pPr>
              <a:buNone/>
            </a:pPr>
            <a:endParaRPr lang="es-ES" sz="2800" dirty="0"/>
          </a:p>
          <a:p>
            <a:pPr marL="514350" indent="-514350">
              <a:buFont typeface="+mj-lt"/>
              <a:buAutoNum type="arabicPeriod"/>
            </a:pPr>
            <a:r>
              <a:rPr lang="es-ES" sz="2800" b="1" dirty="0"/>
              <a:t>Producto</a:t>
            </a:r>
            <a:r>
              <a:rPr lang="es-ES" sz="2800" dirty="0"/>
              <a:t> (</a:t>
            </a:r>
            <a:r>
              <a:rPr lang="es-ES" sz="2800" dirty="0" err="1"/>
              <a:t>Product</a:t>
            </a:r>
            <a:r>
              <a:rPr lang="es-ES" sz="28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2800" b="1" dirty="0"/>
              <a:t>Tiempo</a:t>
            </a:r>
            <a:r>
              <a:rPr lang="es-ES" sz="2800" dirty="0"/>
              <a:t> (Time)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2800" b="1" dirty="0"/>
              <a:t>Cliente</a:t>
            </a:r>
            <a:r>
              <a:rPr lang="es-ES" sz="2800" dirty="0"/>
              <a:t> (</a:t>
            </a:r>
            <a:r>
              <a:rPr lang="es-ES" sz="2800" dirty="0" err="1"/>
              <a:t>Customer</a:t>
            </a:r>
            <a:r>
              <a:rPr lang="es-ES" sz="2800" dirty="0"/>
              <a:t>)</a:t>
            </a:r>
          </a:p>
          <a:p>
            <a:pPr marL="514350" indent="-514350">
              <a:buFont typeface="+mj-lt"/>
              <a:buAutoNum type="arabicPeriod"/>
            </a:pPr>
            <a:endParaRPr lang="es-ES" sz="2800" dirty="0"/>
          </a:p>
          <a:p>
            <a:pPr>
              <a:buNone/>
            </a:pPr>
            <a:r>
              <a:rPr lang="es-ES" sz="2800" dirty="0"/>
              <a:t>Las dimensiones contienen </a:t>
            </a:r>
            <a:r>
              <a:rPr lang="es-ES" sz="2800" b="1" dirty="0"/>
              <a:t>atributos</a:t>
            </a:r>
            <a:r>
              <a:rPr lang="es-ES" sz="2800" dirty="0"/>
              <a:t> que las describen. Por ejemplo, la dimensión Producto podría tener atributos como </a:t>
            </a:r>
            <a:r>
              <a:rPr lang="es-ES" sz="2800" dirty="0" err="1">
                <a:latin typeface="Courier New" panose="02070309020205020404" pitchFamily="49" charset="0"/>
              </a:rPr>
              <a:t>product_id</a:t>
            </a:r>
            <a:r>
              <a:rPr lang="es-ES" sz="2800" dirty="0"/>
              <a:t> y </a:t>
            </a:r>
            <a:r>
              <a:rPr lang="es-ES" sz="2800" dirty="0" err="1">
                <a:latin typeface="Courier New" panose="02070309020205020404" pitchFamily="49" charset="0"/>
              </a:rPr>
              <a:t>product_category_name</a:t>
            </a:r>
            <a:r>
              <a:rPr lang="es-E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058706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669DF-EB34-68AC-0C3C-CA5B7584B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ED74B9D-55B8-CB2D-8BD0-C73C9501A883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B1310D3-307A-FA0F-9E00-7CC25CE4C52B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A87834BF-2C38-3D5B-C556-07F58E21B1D5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B39693FE-DA25-C35B-118C-456E23958253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FCFA8A81-4EEE-15D7-5480-BCF3271F721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05A743C-C61C-35C7-E48C-E2487963324C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84ABD29-D67C-440B-5624-A325511A6ACA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6A01EDB8-029B-D9D8-083F-65F38338515C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9B56CE85-5ED4-6CD4-F1B7-FC11EFB801F8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1929BE36-A39F-7D2E-CB41-75118B0ACA4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DC900A6-E108-DA5D-6913-BE31E86AE78A}"/>
              </a:ext>
            </a:extLst>
          </p:cNvPr>
          <p:cNvSpPr txBox="1"/>
          <p:nvPr/>
        </p:nvSpPr>
        <p:spPr>
          <a:xfrm>
            <a:off x="1784022" y="1172510"/>
            <a:ext cx="14505496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4400" b="1" dirty="0"/>
              <a:t>Niveles y Granularidad (</a:t>
            </a:r>
            <a:r>
              <a:rPr lang="es-ES" sz="4400" b="1" dirty="0" err="1"/>
              <a:t>Levels</a:t>
            </a:r>
            <a:r>
              <a:rPr lang="es-ES" sz="4400" b="1" dirty="0"/>
              <a:t>)</a:t>
            </a:r>
          </a:p>
          <a:p>
            <a:pPr>
              <a:buNone/>
            </a:pPr>
            <a:endParaRPr lang="es-ES" sz="4400" b="1" dirty="0"/>
          </a:p>
          <a:p>
            <a:pPr>
              <a:buNone/>
            </a:pPr>
            <a:r>
              <a:rPr lang="es-ES" sz="4400" dirty="0"/>
              <a:t>Un nivel representa la </a:t>
            </a:r>
            <a:r>
              <a:rPr lang="es-ES" sz="4400" b="1" dirty="0"/>
              <a:t>granularidad</a:t>
            </a:r>
            <a:r>
              <a:rPr lang="es-ES" sz="4400" dirty="0"/>
              <a:t> o el nivel de detalle al cual las medidas son representadas o agregadas. En el ejemplo de ventas, las cifras pueden estar agregadas a los siguientes niveles:</a:t>
            </a:r>
          </a:p>
          <a:p>
            <a:pPr>
              <a:buNone/>
            </a:pPr>
            <a:endParaRPr lang="es-ES" sz="4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4400" b="1" dirty="0"/>
              <a:t>Categoría</a:t>
            </a:r>
            <a:r>
              <a:rPr lang="es-ES" sz="4400" dirty="0"/>
              <a:t> (para la dimensión Producto).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4400" b="1" dirty="0"/>
              <a:t>Trimestre/</a:t>
            </a:r>
            <a:r>
              <a:rPr lang="es-ES" sz="4400" b="1" dirty="0" err="1"/>
              <a:t>Quarter</a:t>
            </a:r>
            <a:r>
              <a:rPr lang="es-ES" sz="4400" dirty="0"/>
              <a:t> (para la dimensión Tiempo).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4400" b="1" dirty="0"/>
              <a:t>Ciudad</a:t>
            </a:r>
            <a:r>
              <a:rPr lang="es-ES" sz="4400" dirty="0"/>
              <a:t> (para la dimensión Cliente).</a:t>
            </a:r>
          </a:p>
        </p:txBody>
      </p:sp>
    </p:spTree>
    <p:extLst>
      <p:ext uri="{BB962C8B-B14F-4D97-AF65-F5344CB8AC3E}">
        <p14:creationId xmlns:p14="http://schemas.microsoft.com/office/powerpoint/2010/main" val="24829744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0DE72-AD50-A4ED-B586-1C3A1406F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E71A472-EC20-FCB6-5F9E-D3069B9E9E4B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F2FF105-1D88-86D2-2CAD-DE1001634B9C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D2425CDD-C6CC-646C-B999-693DD9EF1E65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4399CF45-C2DD-9186-2DD3-DB9021FC2E00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286A1D22-C3B9-CE88-81F2-038B3633177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6979986-6831-ACC2-6EFB-0851BCABE1E5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D0CD829-D93E-A8F9-2B08-322FF1CB3AA9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7AF39FDF-8E33-E21A-A568-BA3638887512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F43755F-1CF1-9774-014F-44BE4CD7CB1C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B2F7B1DB-60D0-E1E0-7E9D-597DFC73CE8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1E15BE9-28E6-0F7F-0E81-05E9D52E1BA0}"/>
              </a:ext>
            </a:extLst>
          </p:cNvPr>
          <p:cNvSpPr txBox="1"/>
          <p:nvPr/>
        </p:nvSpPr>
        <p:spPr>
          <a:xfrm>
            <a:off x="761326" y="593020"/>
            <a:ext cx="9306502" cy="8956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/>
              <a:t>Jerarquías (</a:t>
            </a:r>
            <a:r>
              <a:rPr lang="es-ES" sz="3200" b="1" dirty="0" err="1"/>
              <a:t>Hierarchies</a:t>
            </a:r>
            <a:r>
              <a:rPr lang="es-ES" sz="3200" b="1" dirty="0"/>
              <a:t>)</a:t>
            </a:r>
          </a:p>
          <a:p>
            <a:pPr>
              <a:buNone/>
            </a:pPr>
            <a:endParaRPr lang="es-ES" sz="2000" b="1" dirty="0"/>
          </a:p>
          <a:p>
            <a:pPr>
              <a:buNone/>
            </a:pPr>
            <a:endParaRPr lang="es-ES" sz="2000" b="1" dirty="0"/>
          </a:p>
          <a:p>
            <a:pPr>
              <a:buNone/>
            </a:pPr>
            <a:r>
              <a:rPr lang="es-ES" sz="2800" dirty="0"/>
              <a:t>Las jerarquías definen una secuencia lógica de niveles que permite a los usuarios navegar por los datos desde un resumen general hasta el detalle específico. Son el camino predefinido para el análisis.</a:t>
            </a:r>
          </a:p>
          <a:p>
            <a:pPr>
              <a:buNone/>
            </a:pPr>
            <a:r>
              <a:rPr lang="es-ES" sz="2800" b="1" dirty="0"/>
              <a:t>Ejemplos en </a:t>
            </a:r>
            <a:r>
              <a:rPr lang="es-ES" sz="2800" b="1" dirty="0" err="1"/>
              <a:t>Olist</a:t>
            </a:r>
            <a:r>
              <a:rPr lang="es-ES" sz="2800" b="1" dirty="0"/>
              <a:t>:</a:t>
            </a:r>
            <a:endParaRPr lang="es-ES" sz="2800" dirty="0"/>
          </a:p>
          <a:p>
            <a:pPr>
              <a:buFont typeface="+mj-lt"/>
              <a:buAutoNum type="arabicPeriod"/>
            </a:pPr>
            <a:r>
              <a:rPr lang="es-ES" sz="2800" b="1" dirty="0"/>
              <a:t>Jerarquía de Ubicación (Geografía):</a:t>
            </a:r>
            <a:endParaRPr lang="es-ES" sz="2800" dirty="0"/>
          </a:p>
          <a:p>
            <a:pPr marL="742950" lvl="1" indent="-285750">
              <a:buFont typeface="+mj-lt"/>
              <a:buAutoNum type="arabicPeriod"/>
            </a:pPr>
            <a:r>
              <a:rPr lang="es-ES" sz="2800" dirty="0"/>
              <a:t>Nivel Superior: </a:t>
            </a:r>
            <a:r>
              <a:rPr lang="es-ES" sz="2800" dirty="0">
                <a:latin typeface="Courier New" panose="02070309020205020404" pitchFamily="49" charset="0"/>
              </a:rPr>
              <a:t>Estado</a:t>
            </a:r>
            <a:r>
              <a:rPr lang="es-ES" sz="2800" dirty="0"/>
              <a:t> (ej. SP, RJ)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2800" dirty="0"/>
              <a:t>Nivel Inferior: </a:t>
            </a:r>
            <a:r>
              <a:rPr lang="es-ES" sz="2800" dirty="0">
                <a:latin typeface="Courier New" panose="02070309020205020404" pitchFamily="49" charset="0"/>
              </a:rPr>
              <a:t>Ciudad</a:t>
            </a:r>
            <a:r>
              <a:rPr lang="es-ES" sz="2800" dirty="0"/>
              <a:t> (ej. Sao Paulo, Campinas)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2800" i="1" dirty="0"/>
              <a:t>Uso:</a:t>
            </a:r>
            <a:r>
              <a:rPr lang="es-ES" sz="2800" dirty="0"/>
              <a:t> Permite ver las ventas totales de "Sao Paulo (Estado)" y luego desglosarlas por sus ciudades.</a:t>
            </a:r>
          </a:p>
          <a:p>
            <a:pPr>
              <a:buFont typeface="+mj-lt"/>
              <a:buAutoNum type="arabicPeriod"/>
            </a:pPr>
            <a:r>
              <a:rPr lang="es-ES" sz="2800" b="1" dirty="0"/>
              <a:t>Jerarquía de Tiempo (Calendario):</a:t>
            </a:r>
            <a:endParaRPr lang="es-ES" sz="2800" dirty="0"/>
          </a:p>
          <a:p>
            <a:pPr marL="742950" lvl="1" indent="-285750">
              <a:buFont typeface="+mj-lt"/>
              <a:buAutoNum type="arabicPeriod"/>
            </a:pPr>
            <a:r>
              <a:rPr lang="es-ES" sz="2800" dirty="0"/>
              <a:t>Nivel 1: </a:t>
            </a:r>
            <a:r>
              <a:rPr lang="es-ES" sz="2800" dirty="0">
                <a:latin typeface="Courier New" panose="02070309020205020404" pitchFamily="49" charset="0"/>
              </a:rPr>
              <a:t>Año</a:t>
            </a:r>
            <a:r>
              <a:rPr lang="es-ES" sz="2800" dirty="0"/>
              <a:t> (2017)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2800" dirty="0"/>
              <a:t>Nivel 2: </a:t>
            </a:r>
            <a:r>
              <a:rPr lang="es-ES" sz="2800" dirty="0">
                <a:latin typeface="Courier New" panose="02070309020205020404" pitchFamily="49" charset="0"/>
              </a:rPr>
              <a:t>Trimestre</a:t>
            </a:r>
            <a:r>
              <a:rPr lang="es-ES" sz="2800" dirty="0"/>
              <a:t> (Q4)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2800" dirty="0"/>
              <a:t>Nivel 3: </a:t>
            </a:r>
            <a:r>
              <a:rPr lang="es-ES" sz="2800" dirty="0">
                <a:latin typeface="Courier New" panose="02070309020205020404" pitchFamily="49" charset="0"/>
              </a:rPr>
              <a:t>Mes</a:t>
            </a:r>
            <a:r>
              <a:rPr lang="es-ES" sz="2800" dirty="0"/>
              <a:t> (Octubre)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2800" dirty="0"/>
              <a:t>Nivel 4: </a:t>
            </a:r>
            <a:r>
              <a:rPr lang="es-ES" sz="2800" dirty="0">
                <a:latin typeface="Courier New" panose="02070309020205020404" pitchFamily="49" charset="0"/>
              </a:rPr>
              <a:t>Día</a:t>
            </a:r>
            <a:r>
              <a:rPr lang="es-ES" sz="2800" dirty="0"/>
              <a:t> (25)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2800" i="1" dirty="0"/>
              <a:t>Uso:</a:t>
            </a:r>
            <a:r>
              <a:rPr lang="es-ES" sz="2800" dirty="0"/>
              <a:t> Permite hacer </a:t>
            </a:r>
            <a:r>
              <a:rPr lang="es-ES" sz="2800" i="1" dirty="0"/>
              <a:t>Drill-</a:t>
            </a:r>
            <a:r>
              <a:rPr lang="es-ES" sz="2800" i="1" dirty="0" err="1"/>
              <a:t>down</a:t>
            </a:r>
            <a:r>
              <a:rPr lang="es-ES" sz="2800" dirty="0"/>
              <a:t> desde un año completo hasta un día específico para encontrar picos de venta.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812FD18D-95C8-587B-5DF8-4A60C5DDAF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3416" y="2081840"/>
            <a:ext cx="7125903" cy="510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76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82D80-7E86-F072-2D3C-637448583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E2FE181-6B75-9E6C-BE06-575E802252CF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19953AC-69E6-568A-EB87-A2D9FC2B0B54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270591CC-D0E8-9674-CF26-D7C359F01D82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4FECB33E-BBE8-EEE9-79AC-3BFDCF8D10AA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5DF60C77-9A16-1A33-794D-1D3EAA378AD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FFFB35A-61E9-0603-B74E-D6CA7E5A538F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593834F-25E0-B681-33EA-CFF16887370F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F1FA5E5C-A833-0A51-69AB-85004364EB44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6420AC3F-AE8C-34F6-20FC-B552D298779B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09594A43-FC70-2CF3-FABA-3D0538E9EA0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ED719A7-2A7F-C169-FB73-364DFD346D61}"/>
              </a:ext>
            </a:extLst>
          </p:cNvPr>
          <p:cNvSpPr txBox="1"/>
          <p:nvPr/>
        </p:nvSpPr>
        <p:spPr>
          <a:xfrm>
            <a:off x="1485900" y="763222"/>
            <a:ext cx="15316200" cy="8217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b="1" dirty="0"/>
              <a:t>Dinámica de las Medidas y Agregación</a:t>
            </a:r>
          </a:p>
          <a:p>
            <a:endParaRPr lang="es-ES" sz="3600" b="1" dirty="0"/>
          </a:p>
          <a:p>
            <a:endParaRPr lang="es-ES" sz="3600" b="1" dirty="0"/>
          </a:p>
          <a:p>
            <a:r>
              <a:rPr lang="es-ES" sz="2800" dirty="0"/>
              <a:t>Cada medida en un cubo tiene una </a:t>
            </a:r>
            <a:r>
              <a:rPr lang="es-ES" sz="2800" b="1" dirty="0"/>
              <a:t>instrucción matemática</a:t>
            </a:r>
            <a:r>
              <a:rPr lang="es-ES" sz="2800" dirty="0"/>
              <a:t> (función) que le dice cómo comportarse cuando "alejamos" la vista (Zoom </a:t>
            </a:r>
            <a:r>
              <a:rPr lang="es-ES" sz="2800" dirty="0" err="1"/>
              <a:t>Out</a:t>
            </a:r>
            <a:r>
              <a:rPr lang="es-ES" sz="2800" dirty="0"/>
              <a:t>).</a:t>
            </a:r>
          </a:p>
          <a:p>
            <a:endParaRPr lang="es-ES" sz="2800" dirty="0"/>
          </a:p>
          <a:p>
            <a:r>
              <a:rPr lang="es-ES" sz="2800" b="1" dirty="0"/>
              <a:t>¿Qué es la Agregación?</a:t>
            </a:r>
            <a:r>
              <a:rPr lang="es-ES" sz="2800" dirty="0"/>
              <a:t> Es el proceso de combinar muchos valores individuales en uno solo. Ocurre automáticamente cuando cambiamos el nivel de detalle (granularidad) usando las jerarquías.</a:t>
            </a:r>
          </a:p>
          <a:p>
            <a:endParaRPr lang="es-ES" sz="2800" dirty="0"/>
          </a:p>
          <a:p>
            <a:r>
              <a:rPr lang="es-ES" sz="2800" b="1" dirty="0"/>
              <a:t>Ejemplo :</a:t>
            </a:r>
            <a:endParaRPr lang="es-ES" sz="2800" dirty="0"/>
          </a:p>
          <a:p>
            <a:pPr lvl="1"/>
            <a:r>
              <a:rPr lang="es-ES" sz="2800" i="1" dirty="0"/>
              <a:t>Vista Detallada:</a:t>
            </a:r>
            <a:r>
              <a:rPr lang="es-ES" sz="2800" dirty="0"/>
              <a:t> Ventas por </a:t>
            </a:r>
            <a:r>
              <a:rPr lang="es-ES" sz="2800" b="1" dirty="0"/>
              <a:t>Ciudad</a:t>
            </a:r>
            <a:r>
              <a:rPr lang="es-ES" sz="2800" dirty="0"/>
              <a:t>.</a:t>
            </a:r>
          </a:p>
          <a:p>
            <a:pPr lvl="1"/>
            <a:r>
              <a:rPr lang="es-ES" sz="2800" i="1" dirty="0"/>
              <a:t>Acción:</a:t>
            </a:r>
            <a:r>
              <a:rPr lang="es-ES" sz="2800" dirty="0"/>
              <a:t> Subir de nivel a </a:t>
            </a:r>
            <a:r>
              <a:rPr lang="es-ES" sz="2800" b="1" dirty="0"/>
              <a:t>País</a:t>
            </a:r>
            <a:r>
              <a:rPr lang="es-ES" sz="2800" dirty="0"/>
              <a:t> (Roll-up).</a:t>
            </a:r>
          </a:p>
          <a:p>
            <a:pPr lvl="1"/>
            <a:r>
              <a:rPr lang="es-ES" sz="2800" i="1" dirty="0"/>
              <a:t>Resultado:</a:t>
            </a:r>
            <a:r>
              <a:rPr lang="es-ES" sz="2800" dirty="0"/>
              <a:t> El sistema aplica la operación </a:t>
            </a:r>
            <a:r>
              <a:rPr lang="es-ES" sz="2800" b="1" dirty="0"/>
              <a:t>SUMA (SUM)</a:t>
            </a:r>
            <a:r>
              <a:rPr lang="es-ES" sz="2800" dirty="0"/>
              <a:t> a todas las ciudades para mostrar el total del país.</a:t>
            </a:r>
          </a:p>
          <a:p>
            <a:pPr lvl="1"/>
            <a:endParaRPr lang="es-ES" sz="2800" dirty="0"/>
          </a:p>
          <a:p>
            <a:r>
              <a:rPr lang="es-ES" sz="2800" b="1" dirty="0"/>
              <a:t>El objetivo final:</a:t>
            </a:r>
            <a:r>
              <a:rPr lang="es-ES" sz="2800" dirty="0"/>
              <a:t> Si subimos al nivel más alto ("</a:t>
            </a:r>
            <a:r>
              <a:rPr lang="es-ES" sz="2800" dirty="0" err="1"/>
              <a:t>All</a:t>
            </a:r>
            <a:r>
              <a:rPr lang="es-ES" sz="2800" dirty="0"/>
              <a:t>"), el cubo nos dará un solo número: la venta total histórica de toda la empresa.</a:t>
            </a:r>
          </a:p>
        </p:txBody>
      </p:sp>
    </p:spTree>
    <p:extLst>
      <p:ext uri="{BB962C8B-B14F-4D97-AF65-F5344CB8AC3E}">
        <p14:creationId xmlns:p14="http://schemas.microsoft.com/office/powerpoint/2010/main" val="789084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12366-2354-C73D-69DD-A3A27AB76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8688110-1ADD-5B3F-4E66-B34E01F38070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F5C4DDE-0D5E-6666-4059-26DBF8855916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66BFE120-2439-C009-E244-EA36643FDD9B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74C46836-6FAF-E382-77EA-78E55B9F1E38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BE74CBCC-B072-575C-CE83-44D635EF54E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4F32E6A-F981-E33C-166A-B26984CF0BB9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23C9CFB-0E82-89ED-2B01-B9E43E487292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139B98ED-E2D5-7F4B-7852-C36C0FE464EA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6142CF59-8474-9FF1-1B0A-1F10A0E211EC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21974779-F337-FDFB-CCE4-EE6EC99B9B3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EBC99FC-0F23-559C-AE29-1188A8F998C7}"/>
              </a:ext>
            </a:extLst>
          </p:cNvPr>
          <p:cNvSpPr txBox="1"/>
          <p:nvPr/>
        </p:nvSpPr>
        <p:spPr>
          <a:xfrm>
            <a:off x="1361479" y="573018"/>
            <a:ext cx="14118996" cy="914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800" b="1" dirty="0"/>
              <a:t>Reglas de Oro para la Agregación (</a:t>
            </a:r>
            <a:r>
              <a:rPr lang="es-ES" sz="2800" b="1" dirty="0" err="1"/>
              <a:t>Resumibilidad</a:t>
            </a:r>
            <a:r>
              <a:rPr lang="es-ES" sz="2800" b="1" dirty="0"/>
              <a:t>)</a:t>
            </a:r>
          </a:p>
          <a:p>
            <a:pPr>
              <a:buNone/>
            </a:pPr>
            <a:endParaRPr lang="es-ES" sz="2800" b="1" dirty="0"/>
          </a:p>
          <a:p>
            <a:pPr>
              <a:buNone/>
            </a:pPr>
            <a:r>
              <a:rPr lang="es-ES" sz="2800" dirty="0"/>
              <a:t>Para que los números sean confiables al sumarlos, el modelo debe cumplir tres condiciones lógicas:</a:t>
            </a:r>
          </a:p>
          <a:p>
            <a:pPr>
              <a:buNone/>
            </a:pPr>
            <a:endParaRPr lang="es-ES" sz="2800" dirty="0"/>
          </a:p>
          <a:p>
            <a:pPr>
              <a:buNone/>
            </a:pPr>
            <a:r>
              <a:rPr lang="es-ES" sz="2800" b="1" dirty="0"/>
              <a:t>A. No Duplicar (Disyunción)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/>
              <a:t>Regla:</a:t>
            </a:r>
            <a:r>
              <a:rPr lang="es-ES" sz="2800" dirty="0"/>
              <a:t> Un elemento no puede pertenecer a dos grupos al mismo tiempo en el nivel superior.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/>
              <a:t>Ejemplo de Error:</a:t>
            </a:r>
            <a:r>
              <a:rPr lang="es-ES" sz="2800" dirty="0"/>
              <a:t> Si un producto pertenece a la categoría "Hogar" y también a "Decoración", al sumar las categorías, ese producto se sumaría dos veces.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/>
              <a:t>Solución:</a:t>
            </a:r>
            <a:r>
              <a:rPr lang="es-ES" sz="2800" dirty="0"/>
              <a:t> Estructuras jerárquicas limpias y únicas.</a:t>
            </a:r>
          </a:p>
          <a:p>
            <a:pPr>
              <a:buNone/>
            </a:pPr>
            <a:r>
              <a:rPr lang="es-ES" sz="2800" b="1" dirty="0"/>
              <a:t>B. No Perder Datos (Completitud)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/>
              <a:t>Regla:</a:t>
            </a:r>
            <a:r>
              <a:rPr lang="es-ES" sz="2800" dirty="0"/>
              <a:t> Todos los elementos deben tener un "padre" en el nivel superior.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/>
              <a:t>Ejemplo de Error:</a:t>
            </a:r>
            <a:r>
              <a:rPr lang="es-ES" sz="2800" dirty="0"/>
              <a:t> Si hay ventas registradas el día "31 de Febrero" (fecha inválida) o en una fecha que no está asignada a ningún mes en la dimensión tiempo, esas ventas desaparecerán al ver el reporte mensual.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/>
              <a:t>Solución:</a:t>
            </a:r>
            <a:r>
              <a:rPr lang="es-ES" sz="2800" dirty="0"/>
              <a:t> Integridad referencial y limpieza de datos (Data </a:t>
            </a:r>
            <a:r>
              <a:rPr lang="es-ES" sz="2800" dirty="0" err="1"/>
              <a:t>Quality</a:t>
            </a:r>
            <a:r>
              <a:rPr lang="es-ES" sz="2800" dirty="0"/>
              <a:t>).</a:t>
            </a:r>
          </a:p>
          <a:p>
            <a:pPr>
              <a:buNone/>
            </a:pPr>
            <a:r>
              <a:rPr lang="es-ES" sz="2800" b="1" dirty="0"/>
              <a:t>C. Operación Correcta (Corrección)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/>
              <a:t>Regla:</a:t>
            </a:r>
            <a:r>
              <a:rPr lang="es-ES" sz="2800" dirty="0"/>
              <a:t> Usar la función matemática que tenga sentido para el tipo de dato.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/>
              <a:t>Ejemplo:</a:t>
            </a:r>
            <a:r>
              <a:rPr lang="es-ES" sz="2800" dirty="0"/>
              <a:t> No tiene sentido "Sumar" las temperaturas de los pacientes de un hospital para ver el estado general. Sería mejor usar "Promedio".</a:t>
            </a:r>
          </a:p>
        </p:txBody>
      </p:sp>
    </p:spTree>
    <p:extLst>
      <p:ext uri="{BB962C8B-B14F-4D97-AF65-F5344CB8AC3E}">
        <p14:creationId xmlns:p14="http://schemas.microsoft.com/office/powerpoint/2010/main" val="13005717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D5A90-BD9A-94FD-1FED-88A30DD02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C9B4F90-2466-0582-6A6F-9A9A7CE0399D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320ACB5-0EAB-8709-4750-31525290EE88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91FBA73B-6142-B5F4-F237-8A461A2EBCB3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160FA561-223E-4A35-7FCE-51DD339C3601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91799A1E-A9D6-0BDA-A8D3-77EC8B209C4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85B2FF9-6AC9-F565-4C27-0AE25BBEA0C7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883F93D-E287-68A6-E530-81578EC32AF1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DF1E12A-ED29-BEA6-2431-DE5517F6A3F8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1BAAF05C-0B63-DC7B-3FB4-05E321F0FE20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46C6D9B-AFD2-8CC5-3210-F675D4001A1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DA2DCF1-0D61-0E11-777A-5DEDB2E43E56}"/>
              </a:ext>
            </a:extLst>
          </p:cNvPr>
          <p:cNvSpPr txBox="1"/>
          <p:nvPr/>
        </p:nvSpPr>
        <p:spPr>
          <a:xfrm>
            <a:off x="1311504" y="665351"/>
            <a:ext cx="15835853" cy="8956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Clasificación de Medidas</a:t>
            </a:r>
          </a:p>
          <a:p>
            <a:endParaRPr lang="es-ES" sz="2400" b="1" dirty="0"/>
          </a:p>
          <a:p>
            <a:r>
              <a:rPr lang="es-ES" sz="2400" dirty="0"/>
              <a:t>No todos los datos se pueden sumar. Dependiendo de cómo se comportan, las medidas se dividen en tres tipos: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2400" b="1" dirty="0"/>
              <a:t>Medidas Aditivas (Las fáciles)</a:t>
            </a:r>
          </a:p>
          <a:p>
            <a:pPr marL="342900" indent="-342900">
              <a:buFont typeface="+mj-lt"/>
              <a:buAutoNum type="arabicPeriod"/>
            </a:pPr>
            <a:endParaRPr lang="es-ES" sz="2400" b="1" dirty="0"/>
          </a:p>
          <a:p>
            <a:r>
              <a:rPr lang="es-ES" sz="2400" dirty="0"/>
              <a:t>Se pueden sumar a través de </a:t>
            </a:r>
            <a:r>
              <a:rPr lang="es-ES" sz="2400" b="1" dirty="0"/>
              <a:t>todas</a:t>
            </a:r>
            <a:r>
              <a:rPr lang="es-ES" sz="2400" dirty="0"/>
              <a:t> las dimensiones (Tiempo, Producto, Cliente).</a:t>
            </a:r>
          </a:p>
          <a:p>
            <a:r>
              <a:rPr lang="es-ES" sz="2400" i="1" dirty="0"/>
              <a:t>Ejemplo:</a:t>
            </a:r>
            <a:r>
              <a:rPr lang="es-ES" sz="2400" dirty="0"/>
              <a:t> </a:t>
            </a:r>
            <a:r>
              <a:rPr lang="es-ES" sz="2400" b="1" dirty="0"/>
              <a:t>Cantidad Vendida</a:t>
            </a:r>
            <a:r>
              <a:rPr lang="es-ES" sz="2400" dirty="0"/>
              <a:t>, </a:t>
            </a:r>
            <a:r>
              <a:rPr lang="es-ES" sz="2400" b="1" dirty="0"/>
              <a:t>Monto de Venta</a:t>
            </a:r>
            <a:r>
              <a:rPr lang="es-ES" sz="2400" dirty="0"/>
              <a:t>.</a:t>
            </a:r>
          </a:p>
          <a:p>
            <a:r>
              <a:rPr lang="es-ES" sz="2400" i="1" dirty="0"/>
              <a:t>Lógica:</a:t>
            </a:r>
            <a:r>
              <a:rPr lang="es-ES" sz="2400" dirty="0"/>
              <a:t> Venta Enero + Venta Febrero = Venta Total.</a:t>
            </a:r>
          </a:p>
          <a:p>
            <a:endParaRPr lang="es-ES" sz="2400" dirty="0"/>
          </a:p>
          <a:p>
            <a:pPr marL="342900" indent="-342900">
              <a:buFont typeface="+mj-lt"/>
              <a:buAutoNum type="arabicPeriod"/>
            </a:pPr>
            <a:r>
              <a:rPr lang="es-ES" sz="2400" b="1" dirty="0"/>
              <a:t>Medidas Semi-Aditivas (Las cuidadosas)</a:t>
            </a:r>
          </a:p>
          <a:p>
            <a:endParaRPr lang="es-ES" sz="2400" b="1" dirty="0"/>
          </a:p>
          <a:p>
            <a:r>
              <a:rPr lang="es-ES" sz="2400" dirty="0"/>
              <a:t>Se pueden sumar en algunas dimensiones, pero </a:t>
            </a:r>
            <a:r>
              <a:rPr lang="es-ES" sz="2400" b="1" dirty="0"/>
              <a:t>NO en el tiempo</a:t>
            </a:r>
            <a:r>
              <a:rPr lang="es-ES" sz="2400" dirty="0"/>
              <a:t>.</a:t>
            </a:r>
          </a:p>
          <a:p>
            <a:r>
              <a:rPr lang="es-ES" sz="2400" i="1" dirty="0"/>
              <a:t>Ejemplo:</a:t>
            </a:r>
            <a:r>
              <a:rPr lang="es-ES" sz="2400" dirty="0"/>
              <a:t> </a:t>
            </a:r>
            <a:r>
              <a:rPr lang="es-ES" sz="2400" b="1" dirty="0"/>
              <a:t>Inventario (Stock)</a:t>
            </a:r>
            <a:r>
              <a:rPr lang="es-ES" sz="2400" dirty="0"/>
              <a:t> o </a:t>
            </a:r>
            <a:r>
              <a:rPr lang="es-ES" sz="2400" b="1" dirty="0"/>
              <a:t>Saldo Bancario</a:t>
            </a:r>
            <a:r>
              <a:rPr lang="es-ES" sz="2400" dirty="0"/>
              <a:t>.</a:t>
            </a:r>
          </a:p>
          <a:p>
            <a:r>
              <a:rPr lang="es-ES" sz="2400" i="1" dirty="0"/>
              <a:t>Lógica:</a:t>
            </a:r>
            <a:endParaRPr lang="es-ES" sz="24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Stock Tienda A + Stock Tienda B = Stock Total (Correcto).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Stock Enero + Stock Febrero = ¿Stock Total? (</a:t>
            </a:r>
            <a:r>
              <a:rPr lang="es-ES" sz="2400" b="1" dirty="0"/>
              <a:t>Incorrecto</a:t>
            </a:r>
            <a:r>
              <a:rPr lang="es-ES" sz="2400" dirty="0"/>
              <a:t>, no tiene sentido sumar inventarios de meses distintos).</a:t>
            </a:r>
          </a:p>
          <a:p>
            <a:r>
              <a:rPr lang="es-ES" sz="2400" i="1" dirty="0"/>
              <a:t>Solución:</a:t>
            </a:r>
            <a:r>
              <a:rPr lang="es-ES" sz="2400" dirty="0"/>
              <a:t> Para el tiempo, se usa "Promedio" o "Último valor del mes".</a:t>
            </a:r>
          </a:p>
          <a:p>
            <a:endParaRPr lang="es-ES" sz="2400" dirty="0"/>
          </a:p>
          <a:p>
            <a:r>
              <a:rPr lang="es-ES" sz="2400" b="1" dirty="0"/>
              <a:t>3. Medidas No-Aditivas (Las complejas)</a:t>
            </a:r>
          </a:p>
          <a:p>
            <a:r>
              <a:rPr lang="es-ES" sz="2400" dirty="0"/>
              <a:t>No se pueden sumar en </a:t>
            </a:r>
            <a:r>
              <a:rPr lang="es-ES" sz="2400" b="1" dirty="0"/>
              <a:t>ninguna</a:t>
            </a:r>
            <a:r>
              <a:rPr lang="es-ES" sz="2400" dirty="0"/>
              <a:t> dimensión.</a:t>
            </a:r>
          </a:p>
          <a:p>
            <a:r>
              <a:rPr lang="es-ES" sz="2400" i="1" dirty="0"/>
              <a:t>Ejemplo:</a:t>
            </a:r>
            <a:r>
              <a:rPr lang="es-ES" sz="2400" dirty="0"/>
              <a:t> </a:t>
            </a:r>
            <a:r>
              <a:rPr lang="es-ES" sz="2400" b="1" dirty="0"/>
              <a:t>Precio Unitario</a:t>
            </a:r>
            <a:r>
              <a:rPr lang="es-ES" sz="2400" dirty="0"/>
              <a:t>, </a:t>
            </a:r>
            <a:r>
              <a:rPr lang="es-ES" sz="2400" b="1" dirty="0"/>
              <a:t>Margen de Ganancia (%)</a:t>
            </a:r>
            <a:r>
              <a:rPr lang="es-ES" sz="2400" dirty="0"/>
              <a:t>, </a:t>
            </a:r>
            <a:r>
              <a:rPr lang="es-ES" sz="2400" b="1" dirty="0"/>
              <a:t>Temperatura</a:t>
            </a:r>
            <a:r>
              <a:rPr lang="es-ES" sz="2400" dirty="0"/>
              <a:t>.</a:t>
            </a:r>
          </a:p>
          <a:p>
            <a:r>
              <a:rPr lang="es-ES" sz="2400" i="1" dirty="0"/>
              <a:t>Solución:</a:t>
            </a:r>
            <a:r>
              <a:rPr lang="es-ES" sz="2400" dirty="0"/>
              <a:t> Nunca se suman. Se calculan promedios, máximos/mínimos, o se recalculan los porcentajes al final.</a:t>
            </a:r>
          </a:p>
          <a:p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13309549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3DD86-ACC6-9A50-4024-1B3FC52BC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834E515-4B76-FE91-3DEC-B8C548C48689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717A987-59A2-99CC-7018-D7206E8AA416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1FA0B46D-1DE7-4B32-F89B-85E7852EA0BE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6781E57D-0082-6AB0-543F-D039DB706100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C73A6C47-384E-E7EC-EEE2-F53FF7317F5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EB35B7C-9054-E062-3E2C-AA6ACBA90E71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8C6493A-3511-7921-D5B1-187DE7C1DD3B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82CD4972-2B85-24E5-DCAA-43ABF73FCBEA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764B4CA3-3F6B-C396-DC79-B81B79249FE6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AB0BD6F4-8C44-1F6B-31B5-2FD7C8A8978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4888AC0-DF75-F519-B914-A3DAF0260CF5}"/>
              </a:ext>
            </a:extLst>
          </p:cNvPr>
          <p:cNvSpPr txBox="1"/>
          <p:nvPr/>
        </p:nvSpPr>
        <p:spPr>
          <a:xfrm>
            <a:off x="1437194" y="1172510"/>
            <a:ext cx="15784005" cy="7417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800" b="1" dirty="0"/>
              <a:t>Optimización del Cubo (Cómo hacerlo rápido)</a:t>
            </a:r>
          </a:p>
          <a:p>
            <a:pPr>
              <a:buNone/>
            </a:pPr>
            <a:endParaRPr lang="es-ES" sz="2800" b="1" dirty="0"/>
          </a:p>
          <a:p>
            <a:pPr>
              <a:buNone/>
            </a:pPr>
            <a:r>
              <a:rPr lang="es-ES" sz="2800" dirty="0"/>
              <a:t>Para que el cubo responda instantáneamente, usamos </a:t>
            </a:r>
            <a:r>
              <a:rPr lang="es-ES" sz="2800" b="1" dirty="0" err="1"/>
              <a:t>pre-cálculos</a:t>
            </a:r>
            <a:r>
              <a:rPr lang="es-ES" sz="2800" dirty="0"/>
              <a:t>. Dependiendo de la función, esto es fácil o difícil:</a:t>
            </a:r>
          </a:p>
          <a:p>
            <a:pPr>
              <a:buNone/>
            </a:pPr>
            <a:endParaRPr lang="es-E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800" b="1" dirty="0"/>
              <a:t>Medidas Distributivas (Rápidas):</a:t>
            </a:r>
            <a:r>
              <a:rPr lang="es-ES" sz="2800" dirty="0"/>
              <a:t> Podemos calcular pedacitos por separado y luego juntarlos.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800" i="1" dirty="0"/>
              <a:t>Funciones:</a:t>
            </a:r>
            <a:r>
              <a:rPr lang="es-ES" sz="2800" dirty="0"/>
              <a:t> </a:t>
            </a:r>
            <a:r>
              <a:rPr lang="es-ES" sz="2800" dirty="0">
                <a:latin typeface="Courier New" panose="02070309020205020404" pitchFamily="49" charset="0"/>
              </a:rPr>
              <a:t>SUM</a:t>
            </a:r>
            <a:r>
              <a:rPr lang="es-ES" sz="2800" dirty="0"/>
              <a:t>, </a:t>
            </a:r>
            <a:r>
              <a:rPr lang="es-ES" sz="2800" dirty="0">
                <a:latin typeface="Courier New" panose="02070309020205020404" pitchFamily="49" charset="0"/>
              </a:rPr>
              <a:t>COUNT</a:t>
            </a:r>
            <a:r>
              <a:rPr lang="es-ES" sz="2800" dirty="0"/>
              <a:t>, </a:t>
            </a:r>
            <a:r>
              <a:rPr lang="es-ES" sz="2800" dirty="0">
                <a:latin typeface="Courier New" panose="02070309020205020404" pitchFamily="49" charset="0"/>
              </a:rPr>
              <a:t>MIN</a:t>
            </a:r>
            <a:r>
              <a:rPr lang="es-ES" sz="2800" dirty="0"/>
              <a:t>, </a:t>
            </a:r>
            <a:r>
              <a:rPr lang="es-ES" sz="2800" dirty="0">
                <a:latin typeface="Courier New" panose="02070309020205020404" pitchFamily="49" charset="0"/>
              </a:rPr>
              <a:t>MAX</a:t>
            </a:r>
            <a:r>
              <a:rPr lang="es-ES" sz="28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800" i="1" dirty="0"/>
              <a:t>Ejemplo:</a:t>
            </a:r>
            <a:r>
              <a:rPr lang="es-ES" sz="2800" dirty="0"/>
              <a:t> Sumo las ventas del Norte, sumo las del Sur, y luego sumo esos dos resultados.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800" b="1" dirty="0"/>
              <a:t>Medidas Algebraicas (Intermedias):</a:t>
            </a:r>
            <a:r>
              <a:rPr lang="es-ES" sz="2800" dirty="0"/>
              <a:t> Requieren una fórmula simple con datos distributivos.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800" i="1" dirty="0"/>
              <a:t>Funciones:</a:t>
            </a:r>
            <a:r>
              <a:rPr lang="es-ES" sz="2800" dirty="0"/>
              <a:t> </a:t>
            </a:r>
            <a:r>
              <a:rPr lang="es-ES" sz="2800" dirty="0">
                <a:latin typeface="Courier New" panose="02070309020205020404" pitchFamily="49" charset="0"/>
              </a:rPr>
              <a:t>AVERAGE</a:t>
            </a:r>
            <a:r>
              <a:rPr lang="es-ES" sz="2800" dirty="0"/>
              <a:t> (Promedio).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800" i="1" dirty="0"/>
              <a:t>Lógica:</a:t>
            </a:r>
            <a:r>
              <a:rPr lang="es-ES" sz="2800" dirty="0"/>
              <a:t> Guardo la Suma y el Conteo por separado, y al final divido.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800" b="1" dirty="0"/>
              <a:t>Medidas Holísticas (Lentas):</a:t>
            </a:r>
            <a:r>
              <a:rPr lang="es-ES" sz="2800" dirty="0"/>
              <a:t> No se pueden </a:t>
            </a:r>
            <a:r>
              <a:rPr lang="es-ES" sz="2800" dirty="0" err="1"/>
              <a:t>pre-calcular</a:t>
            </a:r>
            <a:r>
              <a:rPr lang="es-ES" sz="2800" dirty="0"/>
              <a:t> por partes; requieren leer todos los datos originales cada vez.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800" i="1" dirty="0"/>
              <a:t>Funciones:</a:t>
            </a:r>
            <a:r>
              <a:rPr lang="es-ES" sz="2800" dirty="0"/>
              <a:t> </a:t>
            </a:r>
            <a:r>
              <a:rPr lang="es-ES" sz="2800" dirty="0">
                <a:latin typeface="Courier New" panose="02070309020205020404" pitchFamily="49" charset="0"/>
              </a:rPr>
              <a:t>MEDIAN</a:t>
            </a:r>
            <a:r>
              <a:rPr lang="es-ES" sz="2800" dirty="0"/>
              <a:t> (Mediana), </a:t>
            </a:r>
            <a:r>
              <a:rPr lang="es-ES" sz="2800" dirty="0">
                <a:latin typeface="Courier New" panose="02070309020205020404" pitchFamily="49" charset="0"/>
              </a:rPr>
              <a:t>MODE</a:t>
            </a:r>
            <a:r>
              <a:rPr lang="es-ES" sz="2800" dirty="0"/>
              <a:t> (Moda), </a:t>
            </a:r>
            <a:r>
              <a:rPr lang="es-ES" sz="2800" dirty="0">
                <a:latin typeface="Courier New" panose="02070309020205020404" pitchFamily="49" charset="0"/>
              </a:rPr>
              <a:t>DISTINCT COUNT</a:t>
            </a:r>
            <a:r>
              <a:rPr lang="es-ES" sz="2800" dirty="0"/>
              <a:t> (Conteo Distinto).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800" i="1" dirty="0"/>
              <a:t>Costo:</a:t>
            </a:r>
            <a:r>
              <a:rPr lang="es-ES" sz="2800" dirty="0"/>
              <a:t> Son las más pesadas para el servidor.</a:t>
            </a:r>
          </a:p>
        </p:txBody>
      </p:sp>
    </p:spTree>
    <p:extLst>
      <p:ext uri="{BB962C8B-B14F-4D97-AF65-F5344CB8AC3E}">
        <p14:creationId xmlns:p14="http://schemas.microsoft.com/office/powerpoint/2010/main" val="2566311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361;p8"/>
          <p:cNvGrpSpPr/>
          <p:nvPr/>
        </p:nvGrpSpPr>
        <p:grpSpPr>
          <a:xfrm rot="10800000">
            <a:off x="10392303" y="0"/>
            <a:ext cx="7895697" cy="10431661"/>
            <a:chOff x="0" y="-38100"/>
            <a:chExt cx="2079525" cy="2747433"/>
          </a:xfrm>
        </p:grpSpPr>
        <p:sp>
          <p:nvSpPr>
            <p:cNvPr id="362" name="Google Shape;362;p8"/>
            <p:cNvSpPr/>
            <p:nvPr/>
          </p:nvSpPr>
          <p:spPr>
            <a:xfrm>
              <a:off x="0" y="0"/>
              <a:ext cx="2079525" cy="2709333"/>
            </a:xfrm>
            <a:custGeom>
              <a:avLst/>
              <a:gdLst/>
              <a:ahLst/>
              <a:cxnLst/>
              <a:rect l="l" t="t" r="r" b="b"/>
              <a:pathLst>
                <a:path w="2079525" h="2709333" extrusionOk="0">
                  <a:moveTo>
                    <a:pt x="0" y="0"/>
                  </a:moveTo>
                  <a:lnTo>
                    <a:pt x="2079525" y="0"/>
                  </a:lnTo>
                  <a:lnTo>
                    <a:pt x="2079525" y="2709333"/>
                  </a:lnTo>
                  <a:lnTo>
                    <a:pt x="0" y="2709333"/>
                  </a:lnTo>
                  <a:close/>
                </a:path>
              </a:pathLst>
            </a:custGeom>
            <a:gradFill>
              <a:gsLst>
                <a:gs pos="0">
                  <a:srgbClr val="6B1374"/>
                </a:gs>
                <a:gs pos="33333">
                  <a:srgbClr val="700A89"/>
                </a:gs>
                <a:gs pos="66667">
                  <a:srgbClr val="C20052"/>
                </a:gs>
                <a:gs pos="100000">
                  <a:srgbClr val="FF0055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8"/>
            <p:cNvSpPr txBox="1"/>
            <p:nvPr/>
          </p:nvSpPr>
          <p:spPr>
            <a:xfrm>
              <a:off x="0" y="-38100"/>
              <a:ext cx="2079525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4" name="Google Shape;364;p8"/>
          <p:cNvSpPr/>
          <p:nvPr/>
        </p:nvSpPr>
        <p:spPr>
          <a:xfrm>
            <a:off x="9562641" y="4953536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 extrusionOk="0">
                <a:moveTo>
                  <a:pt x="0" y="0"/>
                </a:moveTo>
                <a:lnTo>
                  <a:pt x="4777511" y="0"/>
                </a:lnTo>
                <a:lnTo>
                  <a:pt x="4777511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8"/>
          <p:cNvSpPr/>
          <p:nvPr/>
        </p:nvSpPr>
        <p:spPr>
          <a:xfrm rot="10800000">
            <a:off x="14340152" y="455568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 extrusionOk="0">
                <a:moveTo>
                  <a:pt x="0" y="0"/>
                </a:moveTo>
                <a:lnTo>
                  <a:pt x="4777510" y="0"/>
                </a:lnTo>
                <a:lnTo>
                  <a:pt x="4777510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6" name="Google Shape;366;p8"/>
          <p:cNvGrpSpPr/>
          <p:nvPr/>
        </p:nvGrpSpPr>
        <p:grpSpPr>
          <a:xfrm rot="1460314">
            <a:off x="11030759" y="4449732"/>
            <a:ext cx="7356554" cy="1393786"/>
            <a:chOff x="0" y="-38100"/>
            <a:chExt cx="1937529" cy="367088"/>
          </a:xfrm>
        </p:grpSpPr>
        <p:sp>
          <p:nvSpPr>
            <p:cNvPr id="367" name="Google Shape;367;p8"/>
            <p:cNvSpPr/>
            <p:nvPr/>
          </p:nvSpPr>
          <p:spPr>
            <a:xfrm>
              <a:off x="0" y="0"/>
              <a:ext cx="1937528" cy="328988"/>
            </a:xfrm>
            <a:custGeom>
              <a:avLst/>
              <a:gdLst/>
              <a:ahLst/>
              <a:cxnLst/>
              <a:rect l="l" t="t" r="r" b="b"/>
              <a:pathLst>
                <a:path w="1937528" h="328988" extrusionOk="0">
                  <a:moveTo>
                    <a:pt x="105238" y="0"/>
                  </a:moveTo>
                  <a:lnTo>
                    <a:pt x="1832290" y="0"/>
                  </a:lnTo>
                  <a:cubicBezTo>
                    <a:pt x="1860201" y="0"/>
                    <a:pt x="1886969" y="11088"/>
                    <a:pt x="1906705" y="30824"/>
                  </a:cubicBezTo>
                  <a:cubicBezTo>
                    <a:pt x="1926441" y="50560"/>
                    <a:pt x="1937528" y="77327"/>
                    <a:pt x="1937528" y="105238"/>
                  </a:cubicBezTo>
                  <a:lnTo>
                    <a:pt x="1937528" y="223749"/>
                  </a:lnTo>
                  <a:cubicBezTo>
                    <a:pt x="1937528" y="281871"/>
                    <a:pt x="1890412" y="328988"/>
                    <a:pt x="1832290" y="328988"/>
                  </a:cubicBezTo>
                  <a:lnTo>
                    <a:pt x="105238" y="328988"/>
                  </a:lnTo>
                  <a:cubicBezTo>
                    <a:pt x="77327" y="328988"/>
                    <a:pt x="50560" y="317900"/>
                    <a:pt x="30824" y="298164"/>
                  </a:cubicBezTo>
                  <a:cubicBezTo>
                    <a:pt x="11088" y="278428"/>
                    <a:pt x="0" y="251660"/>
                    <a:pt x="0" y="223749"/>
                  </a:cubicBezTo>
                  <a:lnTo>
                    <a:pt x="0" y="105238"/>
                  </a:lnTo>
                  <a:cubicBezTo>
                    <a:pt x="0" y="47117"/>
                    <a:pt x="47117" y="0"/>
                    <a:pt x="1052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8"/>
            <p:cNvSpPr txBox="1"/>
            <p:nvPr/>
          </p:nvSpPr>
          <p:spPr>
            <a:xfrm>
              <a:off x="0" y="-38100"/>
              <a:ext cx="1937529" cy="3670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9" name="Google Shape;369;p8"/>
          <p:cNvGrpSpPr/>
          <p:nvPr/>
        </p:nvGrpSpPr>
        <p:grpSpPr>
          <a:xfrm>
            <a:off x="2068637" y="2993049"/>
            <a:ext cx="6434234" cy="2940731"/>
            <a:chOff x="0" y="-560842"/>
            <a:chExt cx="8578979" cy="3920975"/>
          </a:xfrm>
        </p:grpSpPr>
        <p:grpSp>
          <p:nvGrpSpPr>
            <p:cNvPr id="370" name="Google Shape;370;p8"/>
            <p:cNvGrpSpPr/>
            <p:nvPr/>
          </p:nvGrpSpPr>
          <p:grpSpPr>
            <a:xfrm>
              <a:off x="0" y="-560842"/>
              <a:ext cx="8578979" cy="3920975"/>
              <a:chOff x="0" y="-38100"/>
              <a:chExt cx="582801" cy="266366"/>
            </a:xfrm>
          </p:grpSpPr>
          <p:sp>
            <p:nvSpPr>
              <p:cNvPr id="371" name="Google Shape;371;p8"/>
              <p:cNvSpPr/>
              <p:nvPr/>
            </p:nvSpPr>
            <p:spPr>
              <a:xfrm>
                <a:off x="0" y="0"/>
                <a:ext cx="582801" cy="228266"/>
              </a:xfrm>
              <a:custGeom>
                <a:avLst/>
                <a:gdLst/>
                <a:ahLst/>
                <a:cxnLst/>
                <a:rect l="l" t="t" r="r" b="b"/>
                <a:pathLst>
                  <a:path w="582801" h="228266" extrusionOk="0">
                    <a:moveTo>
                      <a:pt x="87467" y="0"/>
                    </a:moveTo>
                    <a:lnTo>
                      <a:pt x="495335" y="0"/>
                    </a:lnTo>
                    <a:cubicBezTo>
                      <a:pt x="543641" y="0"/>
                      <a:pt x="582801" y="39160"/>
                      <a:pt x="582801" y="87467"/>
                    </a:cubicBezTo>
                    <a:lnTo>
                      <a:pt x="582801" y="140800"/>
                    </a:lnTo>
                    <a:cubicBezTo>
                      <a:pt x="582801" y="189106"/>
                      <a:pt x="543641" y="228266"/>
                      <a:pt x="495335" y="228266"/>
                    </a:cubicBezTo>
                    <a:lnTo>
                      <a:pt x="87467" y="228266"/>
                    </a:lnTo>
                    <a:cubicBezTo>
                      <a:pt x="39160" y="228266"/>
                      <a:pt x="0" y="189106"/>
                      <a:pt x="0" y="140800"/>
                    </a:cubicBezTo>
                    <a:lnTo>
                      <a:pt x="0" y="87467"/>
                    </a:lnTo>
                    <a:cubicBezTo>
                      <a:pt x="0" y="39160"/>
                      <a:pt x="39160" y="0"/>
                      <a:pt x="8746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 cmpd="sng">
                <a:solidFill>
                  <a:srgbClr val="6B137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" name="Google Shape;372;p8"/>
              <p:cNvSpPr txBox="1"/>
              <p:nvPr/>
            </p:nvSpPr>
            <p:spPr>
              <a:xfrm>
                <a:off x="0" y="-38100"/>
                <a:ext cx="582801" cy="2663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3" name="Google Shape;373;p8"/>
            <p:cNvSpPr txBox="1"/>
            <p:nvPr/>
          </p:nvSpPr>
          <p:spPr>
            <a:xfrm>
              <a:off x="355297" y="630411"/>
              <a:ext cx="7868384" cy="26591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2400" dirty="0">
                  <a:solidFill>
                    <a:srgbClr val="1F1F1D"/>
                  </a:solidFill>
                  <a:latin typeface="Poppins"/>
                  <a:ea typeface="Poppins"/>
                  <a:cs typeface="Poppins"/>
                  <a:sym typeface="Poppins"/>
                </a:rPr>
                <a:t>Juan Esteban Mejía Velásquez</a:t>
              </a:r>
              <a:endParaRPr dirty="0"/>
            </a:p>
            <a:p>
              <a:pPr marL="0" marR="0" lvl="0" indent="0" algn="ctr" rtl="0">
                <a:lnSpc>
                  <a:spcPct val="21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2000" dirty="0">
                  <a:solidFill>
                    <a:srgbClr val="1F1F1D"/>
                  </a:solidFill>
                  <a:latin typeface="Poppins"/>
                  <a:ea typeface="Poppins"/>
                  <a:cs typeface="Poppins"/>
                  <a:sym typeface="Poppins"/>
                </a:rPr>
                <a:t>Docente</a:t>
              </a:r>
              <a:endParaRPr sz="2000" dirty="0">
                <a:solidFill>
                  <a:srgbClr val="1F1F1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ctr" rtl="0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2400" u="sng" dirty="0">
                  <a:solidFill>
                    <a:srgbClr val="1F1F1D"/>
                  </a:solidFill>
                  <a:latin typeface="Poppins"/>
                  <a:ea typeface="Poppins"/>
                  <a:cs typeface="Poppins"/>
                  <a:sym typeface="Poppins"/>
                </a:rPr>
                <a:t>Correo</a:t>
              </a:r>
              <a:endParaRPr dirty="0"/>
            </a:p>
          </p:txBody>
        </p:sp>
      </p:grpSp>
      <p:sp>
        <p:nvSpPr>
          <p:cNvPr id="374" name="Google Shape;374;p8">
            <a:hlinkClick r:id="rId4"/>
          </p:cNvPr>
          <p:cNvSpPr/>
          <p:nvPr/>
        </p:nvSpPr>
        <p:spPr>
          <a:xfrm>
            <a:off x="2068637" y="6536925"/>
            <a:ext cx="360000" cy="332550"/>
          </a:xfrm>
          <a:custGeom>
            <a:avLst/>
            <a:gdLst/>
            <a:ahLst/>
            <a:cxnLst/>
            <a:rect l="l" t="t" r="r" b="b"/>
            <a:pathLst>
              <a:path w="360000" h="332550" extrusionOk="0">
                <a:moveTo>
                  <a:pt x="0" y="0"/>
                </a:moveTo>
                <a:lnTo>
                  <a:pt x="360000" y="0"/>
                </a:lnTo>
                <a:lnTo>
                  <a:pt x="360000" y="332550"/>
                </a:lnTo>
                <a:lnTo>
                  <a:pt x="0" y="332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8">
            <a:hlinkClick r:id="rId6"/>
          </p:cNvPr>
          <p:cNvSpPr/>
          <p:nvPr/>
        </p:nvSpPr>
        <p:spPr>
          <a:xfrm>
            <a:off x="5758126" y="6535688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360000" h="360000" extrusionOk="0">
                <a:moveTo>
                  <a:pt x="0" y="0"/>
                </a:moveTo>
                <a:lnTo>
                  <a:pt x="360000" y="0"/>
                </a:lnTo>
                <a:lnTo>
                  <a:pt x="360000" y="360000"/>
                </a:lnTo>
                <a:lnTo>
                  <a:pt x="0" y="360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8">
            <a:hlinkClick r:id="rId8"/>
          </p:cNvPr>
          <p:cNvSpPr/>
          <p:nvPr/>
        </p:nvSpPr>
        <p:spPr>
          <a:xfrm>
            <a:off x="5775261" y="7145700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360000" h="360000" extrusionOk="0">
                <a:moveTo>
                  <a:pt x="0" y="0"/>
                </a:moveTo>
                <a:lnTo>
                  <a:pt x="360000" y="0"/>
                </a:lnTo>
                <a:lnTo>
                  <a:pt x="360000" y="360000"/>
                </a:lnTo>
                <a:lnTo>
                  <a:pt x="0" y="360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8"/>
          <p:cNvSpPr/>
          <p:nvPr/>
        </p:nvSpPr>
        <p:spPr>
          <a:xfrm>
            <a:off x="2096214" y="7144126"/>
            <a:ext cx="332423" cy="332422"/>
          </a:xfrm>
          <a:custGeom>
            <a:avLst/>
            <a:gdLst/>
            <a:ahLst/>
            <a:cxnLst/>
            <a:rect l="l" t="t" r="r" b="b"/>
            <a:pathLst>
              <a:path w="332423" h="332422" extrusionOk="0">
                <a:moveTo>
                  <a:pt x="0" y="0"/>
                </a:moveTo>
                <a:lnTo>
                  <a:pt x="332423" y="0"/>
                </a:lnTo>
                <a:lnTo>
                  <a:pt x="332423" y="332423"/>
                </a:lnTo>
                <a:lnTo>
                  <a:pt x="0" y="332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8"/>
          <p:cNvSpPr txBox="1"/>
          <p:nvPr/>
        </p:nvSpPr>
        <p:spPr>
          <a:xfrm>
            <a:off x="6214196" y="7136825"/>
            <a:ext cx="1721048" cy="339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u="sng">
                <a:solidFill>
                  <a:srgbClr val="1F1F1D"/>
                </a:solidFill>
                <a:latin typeface="Poppins"/>
                <a:ea typeface="Poppins"/>
                <a:cs typeface="Poppins"/>
                <a:sym typeface="Poppins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www.enyoi.co</a:t>
            </a:r>
            <a:endParaRPr/>
          </a:p>
        </p:txBody>
      </p:sp>
      <p:sp>
        <p:nvSpPr>
          <p:cNvPr id="379" name="Google Shape;379;p8"/>
          <p:cNvSpPr txBox="1"/>
          <p:nvPr/>
        </p:nvSpPr>
        <p:spPr>
          <a:xfrm>
            <a:off x="6212929" y="6526813"/>
            <a:ext cx="1048048" cy="339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u="sng" dirty="0">
                <a:solidFill>
                  <a:srgbClr val="1F1F1D"/>
                </a:solidFill>
                <a:latin typeface="Poppins"/>
                <a:ea typeface="Poppins"/>
                <a:cs typeface="Poppins"/>
                <a:sym typeface="Poppin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enyoi.co</a:t>
            </a:r>
            <a:endParaRPr dirty="0"/>
          </a:p>
        </p:txBody>
      </p:sp>
      <p:sp>
        <p:nvSpPr>
          <p:cNvPr id="380" name="Google Shape;380;p8"/>
          <p:cNvSpPr txBox="1"/>
          <p:nvPr/>
        </p:nvSpPr>
        <p:spPr>
          <a:xfrm>
            <a:off x="2520238" y="6526813"/>
            <a:ext cx="246784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u="sng" dirty="0">
                <a:solidFill>
                  <a:srgbClr val="1F1F1D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+57 </a:t>
            </a:r>
            <a:r>
              <a:rPr lang="es-MX" sz="2000" u="sng" dirty="0">
                <a:solidFill>
                  <a:srgbClr val="1F1F1D"/>
                </a:solidFill>
                <a:latin typeface="Poppins"/>
                <a:ea typeface="Poppins"/>
                <a:cs typeface="Poppins"/>
                <a:sym typeface="Poppins"/>
              </a:rPr>
              <a:t>301 673 6729</a:t>
            </a:r>
            <a:endParaRPr dirty="0"/>
          </a:p>
        </p:txBody>
      </p:sp>
      <p:sp>
        <p:nvSpPr>
          <p:cNvPr id="381" name="Google Shape;381;p8"/>
          <p:cNvSpPr txBox="1"/>
          <p:nvPr/>
        </p:nvSpPr>
        <p:spPr>
          <a:xfrm>
            <a:off x="2520164" y="7136825"/>
            <a:ext cx="1048048" cy="339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u="sng">
                <a:solidFill>
                  <a:srgbClr val="1F1F1D"/>
                </a:solidFill>
                <a:latin typeface="Poppins"/>
                <a:ea typeface="Poppins"/>
                <a:cs typeface="Poppins"/>
                <a:sym typeface="Poppins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enyoi.co</a:t>
            </a:r>
            <a:endParaRPr/>
          </a:p>
        </p:txBody>
      </p:sp>
      <p:grpSp>
        <p:nvGrpSpPr>
          <p:cNvPr id="382" name="Google Shape;382;p8"/>
          <p:cNvGrpSpPr/>
          <p:nvPr/>
        </p:nvGrpSpPr>
        <p:grpSpPr>
          <a:xfrm>
            <a:off x="2068637" y="6865719"/>
            <a:ext cx="2744745" cy="192288"/>
            <a:chOff x="0" y="-38100"/>
            <a:chExt cx="722896" cy="50643"/>
          </a:xfrm>
        </p:grpSpPr>
        <p:sp>
          <p:nvSpPr>
            <p:cNvPr id="383" name="Google Shape;383;p8"/>
            <p:cNvSpPr/>
            <p:nvPr/>
          </p:nvSpPr>
          <p:spPr>
            <a:xfrm>
              <a:off x="0" y="0"/>
              <a:ext cx="722896" cy="12543"/>
            </a:xfrm>
            <a:custGeom>
              <a:avLst/>
              <a:gdLst/>
              <a:ahLst/>
              <a:cxnLst/>
              <a:rect l="l" t="t" r="r" b="b"/>
              <a:pathLst>
                <a:path w="722896" h="12543" extrusionOk="0">
                  <a:moveTo>
                    <a:pt x="6272" y="0"/>
                  </a:moveTo>
                  <a:lnTo>
                    <a:pt x="716624" y="0"/>
                  </a:lnTo>
                  <a:cubicBezTo>
                    <a:pt x="718288" y="0"/>
                    <a:pt x="719883" y="661"/>
                    <a:pt x="721059" y="1837"/>
                  </a:cubicBezTo>
                  <a:cubicBezTo>
                    <a:pt x="722235" y="3013"/>
                    <a:pt x="722896" y="4608"/>
                    <a:pt x="722896" y="6272"/>
                  </a:cubicBezTo>
                  <a:lnTo>
                    <a:pt x="722896" y="6272"/>
                  </a:lnTo>
                  <a:cubicBezTo>
                    <a:pt x="722896" y="7935"/>
                    <a:pt x="722235" y="9530"/>
                    <a:pt x="721059" y="10706"/>
                  </a:cubicBezTo>
                  <a:cubicBezTo>
                    <a:pt x="719883" y="11882"/>
                    <a:pt x="718288" y="12543"/>
                    <a:pt x="716624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>
              <a:gsLst>
                <a:gs pos="0">
                  <a:srgbClr val="6B1374"/>
                </a:gs>
                <a:gs pos="33333">
                  <a:srgbClr val="700A89"/>
                </a:gs>
                <a:gs pos="66667">
                  <a:srgbClr val="C20052"/>
                </a:gs>
                <a:gs pos="100000">
                  <a:srgbClr val="FF0055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8"/>
            <p:cNvSpPr txBox="1"/>
            <p:nvPr/>
          </p:nvSpPr>
          <p:spPr>
            <a:xfrm>
              <a:off x="0" y="-38100"/>
              <a:ext cx="722896" cy="50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5" name="Google Shape;385;p8"/>
          <p:cNvGrpSpPr/>
          <p:nvPr/>
        </p:nvGrpSpPr>
        <p:grpSpPr>
          <a:xfrm>
            <a:off x="5758126" y="6865719"/>
            <a:ext cx="2744745" cy="192288"/>
            <a:chOff x="0" y="-38100"/>
            <a:chExt cx="722896" cy="50643"/>
          </a:xfrm>
        </p:grpSpPr>
        <p:sp>
          <p:nvSpPr>
            <p:cNvPr id="386" name="Google Shape;386;p8"/>
            <p:cNvSpPr/>
            <p:nvPr/>
          </p:nvSpPr>
          <p:spPr>
            <a:xfrm>
              <a:off x="0" y="0"/>
              <a:ext cx="722896" cy="12543"/>
            </a:xfrm>
            <a:custGeom>
              <a:avLst/>
              <a:gdLst/>
              <a:ahLst/>
              <a:cxnLst/>
              <a:rect l="l" t="t" r="r" b="b"/>
              <a:pathLst>
                <a:path w="722896" h="12543" extrusionOk="0">
                  <a:moveTo>
                    <a:pt x="6272" y="0"/>
                  </a:moveTo>
                  <a:lnTo>
                    <a:pt x="716624" y="0"/>
                  </a:lnTo>
                  <a:cubicBezTo>
                    <a:pt x="718288" y="0"/>
                    <a:pt x="719883" y="661"/>
                    <a:pt x="721059" y="1837"/>
                  </a:cubicBezTo>
                  <a:cubicBezTo>
                    <a:pt x="722235" y="3013"/>
                    <a:pt x="722896" y="4608"/>
                    <a:pt x="722896" y="6272"/>
                  </a:cubicBezTo>
                  <a:lnTo>
                    <a:pt x="722896" y="6272"/>
                  </a:lnTo>
                  <a:cubicBezTo>
                    <a:pt x="722896" y="7935"/>
                    <a:pt x="722235" y="9530"/>
                    <a:pt x="721059" y="10706"/>
                  </a:cubicBezTo>
                  <a:cubicBezTo>
                    <a:pt x="719883" y="11882"/>
                    <a:pt x="718288" y="12543"/>
                    <a:pt x="716624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>
              <a:gsLst>
                <a:gs pos="0">
                  <a:srgbClr val="6B1374"/>
                </a:gs>
                <a:gs pos="33333">
                  <a:srgbClr val="700A89"/>
                </a:gs>
                <a:gs pos="66667">
                  <a:srgbClr val="C20052"/>
                </a:gs>
                <a:gs pos="100000">
                  <a:srgbClr val="FF0055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8"/>
            <p:cNvSpPr txBox="1"/>
            <p:nvPr/>
          </p:nvSpPr>
          <p:spPr>
            <a:xfrm>
              <a:off x="0" y="-38100"/>
              <a:ext cx="722896" cy="50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88" name="Google Shape;388;p8"/>
          <p:cNvPicPr preferRelativeResize="0"/>
          <p:nvPr/>
        </p:nvPicPr>
        <p:blipFill rotWithShape="1">
          <a:blip r:embed="rId12">
            <a:alphaModFix/>
          </a:blip>
          <a:srcRect l="53990" t="15859" r="8554" b="69322"/>
          <a:stretch/>
        </p:blipFill>
        <p:spPr>
          <a:xfrm>
            <a:off x="5001939" y="578151"/>
            <a:ext cx="4721448" cy="1048052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8"/>
          <p:cNvSpPr/>
          <p:nvPr/>
        </p:nvSpPr>
        <p:spPr>
          <a:xfrm>
            <a:off x="729281" y="455568"/>
            <a:ext cx="3004519" cy="1201808"/>
          </a:xfrm>
          <a:custGeom>
            <a:avLst/>
            <a:gdLst/>
            <a:ahLst/>
            <a:cxnLst/>
            <a:rect l="l" t="t" r="r" b="b"/>
            <a:pathLst>
              <a:path w="3457174" h="1382870" extrusionOk="0">
                <a:moveTo>
                  <a:pt x="0" y="0"/>
                </a:moveTo>
                <a:lnTo>
                  <a:pt x="3457174" y="0"/>
                </a:lnTo>
                <a:lnTo>
                  <a:pt x="3457174" y="1382870"/>
                </a:lnTo>
                <a:lnTo>
                  <a:pt x="0" y="13828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d0e0202-030e-462a-aa27-6a6a82479e70" xsi:nil="true"/>
    <lcf76f155ced4ddcb4097134ff3c332f xmlns="6c275f7e-0654-4a6d-8904-2cca8e28e712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E0DDBAFD1725F409D01B56EA32EFDE3" ma:contentTypeVersion="7" ma:contentTypeDescription="Crear nuevo documento." ma:contentTypeScope="" ma:versionID="7dc7d2ffd02d580038770cdc54fb49b2">
  <xsd:schema xmlns:xsd="http://www.w3.org/2001/XMLSchema" xmlns:xs="http://www.w3.org/2001/XMLSchema" xmlns:p="http://schemas.microsoft.com/office/2006/metadata/properties" xmlns:ns2="6c275f7e-0654-4a6d-8904-2cca8e28e712" xmlns:ns3="cd0e0202-030e-462a-aa27-6a6a82479e70" targetNamespace="http://schemas.microsoft.com/office/2006/metadata/properties" ma:root="true" ma:fieldsID="6553f877db16f6ec9bb39e8e018c4235" ns2:_="" ns3:_="">
    <xsd:import namespace="6c275f7e-0654-4a6d-8904-2cca8e28e712"/>
    <xsd:import namespace="cd0e0202-030e-462a-aa27-6a6a82479e70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275f7e-0654-4a6d-8904-2cca8e28e712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Etiquetas de imagen" ma:readOnly="false" ma:fieldId="{5cf76f15-5ced-4ddc-b409-7134ff3c332f}" ma:taxonomyMulti="true" ma:sspId="39d08eb0-6654-4c6a-ad6e-6625fbda6bf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0e0202-030e-462a-aa27-6a6a82479e70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821bf81b-0d50-4df5-8eec-576b1a7382f6}" ma:internalName="TaxCatchAll" ma:showField="CatchAllData" ma:web="cd0e0202-030e-462a-aa27-6a6a82479e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B26D1D1-A15E-45AB-876A-271BF38AB980}">
  <ds:schemaRefs>
    <ds:schemaRef ds:uri="http://schemas.microsoft.com/office/2006/metadata/properties"/>
    <ds:schemaRef ds:uri="http://schemas.microsoft.com/office/infopath/2007/PartnerControls"/>
    <ds:schemaRef ds:uri="cd0e0202-030e-462a-aa27-6a6a82479e70"/>
    <ds:schemaRef ds:uri="6c275f7e-0654-4a6d-8904-2cca8e28e712"/>
  </ds:schemaRefs>
</ds:datastoreItem>
</file>

<file path=customXml/itemProps2.xml><?xml version="1.0" encoding="utf-8"?>
<ds:datastoreItem xmlns:ds="http://schemas.openxmlformats.org/officeDocument/2006/customXml" ds:itemID="{C2897171-D617-4035-84F5-B2C4786536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c275f7e-0654-4a6d-8904-2cca8e28e712"/>
    <ds:schemaRef ds:uri="cd0e0202-030e-462a-aa27-6a6a82479e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E3D0385-A233-4172-ADB2-B697B7C4755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6405</TotalTime>
  <Words>1775</Words>
  <Application>Microsoft Office PowerPoint</Application>
  <PresentationFormat>Personalizado</PresentationFormat>
  <Paragraphs>222</Paragraphs>
  <Slides>23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32" baseType="lpstr">
      <vt:lpstr>Poppins 1 Bold</vt:lpstr>
      <vt:lpstr>Poppins</vt:lpstr>
      <vt:lpstr>Inter</vt:lpstr>
      <vt:lpstr>Calibri</vt:lpstr>
      <vt:lpstr>JetBrains Mono</vt:lpstr>
      <vt:lpstr>Arial</vt:lpstr>
      <vt:lpstr>Space Grotesk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Administrador</dc:creator>
  <cp:lastModifiedBy>Juan Esteban Mejia Velasquez</cp:lastModifiedBy>
  <cp:revision>28</cp:revision>
  <dcterms:created xsi:type="dcterms:W3CDTF">2006-08-16T00:00:00Z</dcterms:created>
  <dcterms:modified xsi:type="dcterms:W3CDTF">2025-12-01T02:23:45Z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0x0101009E0DDBAFD1725F409D01B56EA32EFDE3</vt:lpwstr>
  </property>
  <property fmtid="{D5CDD505-2E9C-101B-9397-08002B2CF9AE}" pid="3" name="GUID">
    <vt:lpwstr>8ee56194-4f5f-4314-9a7c-fa71b263b52c</vt:lpwstr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SharedWithUsers">
    <vt:lpwstr/>
  </property>
  <property fmtid="{D5CDD505-2E9C-101B-9397-08002B2CF9AE}" pid="8" name="TriggerFlowInfo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MediaServiceImageTags">
    <vt:lpwstr/>
  </property>
</Properties>
</file>