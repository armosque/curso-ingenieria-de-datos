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57"/>
  </p:notesMasterIdLst>
  <p:sldIdLst>
    <p:sldId id="256" r:id="rId5"/>
    <p:sldId id="331" r:id="rId6"/>
    <p:sldId id="8497" r:id="rId7"/>
    <p:sldId id="8502" r:id="rId8"/>
    <p:sldId id="8504" r:id="rId9"/>
    <p:sldId id="8549" r:id="rId10"/>
    <p:sldId id="8576" r:id="rId11"/>
    <p:sldId id="8550" r:id="rId12"/>
    <p:sldId id="8551" r:id="rId13"/>
    <p:sldId id="8555" r:id="rId14"/>
    <p:sldId id="8553" r:id="rId15"/>
    <p:sldId id="8554" r:id="rId16"/>
    <p:sldId id="8552" r:id="rId17"/>
    <p:sldId id="8557" r:id="rId18"/>
    <p:sldId id="8559" r:id="rId19"/>
    <p:sldId id="8558" r:id="rId20"/>
    <p:sldId id="8561" r:id="rId21"/>
    <p:sldId id="8560" r:id="rId22"/>
    <p:sldId id="8562" r:id="rId23"/>
    <p:sldId id="8563" r:id="rId24"/>
    <p:sldId id="8564" r:id="rId25"/>
    <p:sldId id="8565" r:id="rId26"/>
    <p:sldId id="8568" r:id="rId27"/>
    <p:sldId id="8569" r:id="rId28"/>
    <p:sldId id="8570" r:id="rId29"/>
    <p:sldId id="8571" r:id="rId30"/>
    <p:sldId id="8572" r:id="rId31"/>
    <p:sldId id="8567" r:id="rId32"/>
    <p:sldId id="8556" r:id="rId33"/>
    <p:sldId id="8574" r:id="rId34"/>
    <p:sldId id="8573" r:id="rId35"/>
    <p:sldId id="8575" r:id="rId36"/>
    <p:sldId id="8577" r:id="rId37"/>
    <p:sldId id="8578" r:id="rId38"/>
    <p:sldId id="8579" r:id="rId39"/>
    <p:sldId id="8580" r:id="rId40"/>
    <p:sldId id="8584" r:id="rId41"/>
    <p:sldId id="8581" r:id="rId42"/>
    <p:sldId id="8582" r:id="rId43"/>
    <p:sldId id="8583" r:id="rId44"/>
    <p:sldId id="8586" r:id="rId45"/>
    <p:sldId id="8585" r:id="rId46"/>
    <p:sldId id="8587" r:id="rId47"/>
    <p:sldId id="8589" r:id="rId48"/>
    <p:sldId id="8588" r:id="rId49"/>
    <p:sldId id="8590" r:id="rId50"/>
    <p:sldId id="8591" r:id="rId51"/>
    <p:sldId id="8592" r:id="rId52"/>
    <p:sldId id="8593" r:id="rId53"/>
    <p:sldId id="8594" r:id="rId54"/>
    <p:sldId id="8566" r:id="rId55"/>
    <p:sldId id="268" r:id="rId56"/>
  </p:sldIdLst>
  <p:sldSz cx="18288000" cy="10287000"/>
  <p:notesSz cx="6858000" cy="9144000"/>
  <p:embeddedFontLst>
    <p:embeddedFont>
      <p:font typeface="DM Sans" pitchFamily="2" charset="0"/>
      <p:regular r:id="rId58"/>
      <p:bold r:id="rId59"/>
      <p:italic r:id="rId60"/>
      <p:boldItalic r:id="rId61"/>
    </p:embeddedFont>
    <p:embeddedFont>
      <p:font typeface="Merriweather" panose="00000500000000000000" pitchFamily="2" charset="0"/>
      <p:regular r:id="rId62"/>
      <p:bold r:id="rId63"/>
      <p:italic r:id="rId64"/>
      <p:boldItalic r:id="rId65"/>
    </p:embeddedFont>
    <p:embeddedFont>
      <p:font typeface="Poppins" panose="00000500000000000000" pitchFamily="2" charset="0"/>
      <p:regular r:id="rId66"/>
      <p:bold r:id="rId67"/>
      <p:italic r:id="rId68"/>
      <p:boldItalic r:id="rId69"/>
    </p:embeddedFont>
    <p:embeddedFont>
      <p:font typeface="Poppins 1 Bold" panose="020B0604020202020204" charset="0"/>
      <p:regular r:id="rId7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1" roundtripDataSignature="AMtx7miCuhGeosWqeH/wf4kyj2KadRk8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62" y="2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font" Target="fonts/font6.fntdata"/><Relationship Id="rId68" Type="http://schemas.openxmlformats.org/officeDocument/2006/relationships/font" Target="fonts/font11.fntdata"/><Relationship Id="rId7" Type="http://schemas.openxmlformats.org/officeDocument/2006/relationships/slide" Target="slides/slide3.xml"/><Relationship Id="rId9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font" Target="fonts/font1.fntdata"/><Relationship Id="rId66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61" Type="http://schemas.openxmlformats.org/officeDocument/2006/relationships/font" Target="fonts/font4.fntdata"/><Relationship Id="rId95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font" Target="fonts/font3.fntdata"/><Relationship Id="rId65" Type="http://schemas.openxmlformats.org/officeDocument/2006/relationships/font" Target="fonts/font8.fntdata"/><Relationship Id="rId9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font" Target="fonts/font7.fntdata"/><Relationship Id="rId69" Type="http://schemas.openxmlformats.org/officeDocument/2006/relationships/font" Target="fonts/font12.fntdata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93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2.fntdata"/><Relationship Id="rId67" Type="http://schemas.openxmlformats.org/officeDocument/2006/relationships/font" Target="fonts/font10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font" Target="fonts/font5.fntdata"/><Relationship Id="rId70" Type="http://schemas.openxmlformats.org/officeDocument/2006/relationships/font" Target="fonts/font13.fntdata"/><Relationship Id="rId91" Type="http://customschemas.google.com/relationships/presentationmetadata" Target="meta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E88520-F094-4AB5-AE39-BDACEC21F00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CO"/>
        </a:p>
      </dgm:t>
    </dgm:pt>
    <dgm:pt modelId="{2488E620-80FE-4C9A-8539-C9EF3CBED98A}" type="pres">
      <dgm:prSet presAssocID="{95E88520-F094-4AB5-AE39-BDACEC21F00E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CB1FA22A-8BE9-47A1-B8F5-49EBB37A50AC}" type="presOf" srcId="{95E88520-F094-4AB5-AE39-BDACEC21F00E}" destId="{2488E620-80FE-4C9A-8539-C9EF3CBED98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3A9EF6-6968-4CF9-BF76-504789FC1B5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CO"/>
        </a:p>
      </dgm:t>
    </dgm:pt>
    <dgm:pt modelId="{8C77EB18-FFAC-4D36-9198-B3B1DCD08B84}">
      <dgm:prSet/>
      <dgm:spPr/>
      <dgm:t>
        <a:bodyPr/>
        <a:lstStyle/>
        <a:p>
          <a:r>
            <a:rPr lang="es-ES" b="1" i="0"/>
            <a:t>Orientado a Temas</a:t>
          </a:r>
          <a:endParaRPr lang="es-CO"/>
        </a:p>
      </dgm:t>
    </dgm:pt>
    <dgm:pt modelId="{8501B694-77D5-4F09-BE3F-FCE80EF9033D}" type="parTrans" cxnId="{3C46C383-08F7-489B-9D6D-59DFF9DEE0F0}">
      <dgm:prSet/>
      <dgm:spPr/>
      <dgm:t>
        <a:bodyPr/>
        <a:lstStyle/>
        <a:p>
          <a:endParaRPr lang="es-CO"/>
        </a:p>
      </dgm:t>
    </dgm:pt>
    <dgm:pt modelId="{5E4FF6B6-41B3-48DE-B6BB-B3AE14DD21A5}" type="sibTrans" cxnId="{3C46C383-08F7-489B-9D6D-59DFF9DEE0F0}">
      <dgm:prSet/>
      <dgm:spPr/>
      <dgm:t>
        <a:bodyPr/>
        <a:lstStyle/>
        <a:p>
          <a:endParaRPr lang="es-CO"/>
        </a:p>
      </dgm:t>
    </dgm:pt>
    <dgm:pt modelId="{2D62AAFB-52C8-477E-89D1-8462C31AF0F8}">
      <dgm:prSet/>
      <dgm:spPr/>
      <dgm:t>
        <a:bodyPr/>
        <a:lstStyle/>
        <a:p>
          <a:r>
            <a:rPr lang="es-ES" b="0" i="0"/>
            <a:t>Organizado por entidades clave (Cliente, Producto, Ventas) en lugar de procesos de aplicaciones.</a:t>
          </a:r>
          <a:endParaRPr lang="es-CO"/>
        </a:p>
      </dgm:t>
    </dgm:pt>
    <dgm:pt modelId="{7B812E57-39F4-4925-9250-24798C38F325}" type="parTrans" cxnId="{0F1C74B2-A221-47A4-9504-475A98E3E0E8}">
      <dgm:prSet/>
      <dgm:spPr/>
      <dgm:t>
        <a:bodyPr/>
        <a:lstStyle/>
        <a:p>
          <a:endParaRPr lang="es-CO"/>
        </a:p>
      </dgm:t>
    </dgm:pt>
    <dgm:pt modelId="{36D3F452-8781-4D21-986D-36D33C5B495F}" type="sibTrans" cxnId="{0F1C74B2-A221-47A4-9504-475A98E3E0E8}">
      <dgm:prSet/>
      <dgm:spPr/>
      <dgm:t>
        <a:bodyPr/>
        <a:lstStyle/>
        <a:p>
          <a:endParaRPr lang="es-CO"/>
        </a:p>
      </dgm:t>
    </dgm:pt>
    <dgm:pt modelId="{5D824C9C-59C7-485F-9F50-FC81B20E6818}">
      <dgm:prSet/>
      <dgm:spPr/>
      <dgm:t>
        <a:bodyPr/>
        <a:lstStyle/>
        <a:p>
          <a:r>
            <a:rPr lang="es-ES" b="1" i="0"/>
            <a:t>Integrado</a:t>
          </a:r>
          <a:endParaRPr lang="es-CO"/>
        </a:p>
      </dgm:t>
    </dgm:pt>
    <dgm:pt modelId="{0A22C30F-8930-451E-BD73-AF9CE59EA673}" type="parTrans" cxnId="{D4DDB76D-7485-4AC0-9D7B-53FBF808D6E4}">
      <dgm:prSet/>
      <dgm:spPr/>
      <dgm:t>
        <a:bodyPr/>
        <a:lstStyle/>
        <a:p>
          <a:endParaRPr lang="es-CO"/>
        </a:p>
      </dgm:t>
    </dgm:pt>
    <dgm:pt modelId="{996DFA5E-C6D9-4218-813D-18A34CE9A74B}" type="sibTrans" cxnId="{D4DDB76D-7485-4AC0-9D7B-53FBF808D6E4}">
      <dgm:prSet/>
      <dgm:spPr/>
      <dgm:t>
        <a:bodyPr/>
        <a:lstStyle/>
        <a:p>
          <a:endParaRPr lang="es-CO"/>
        </a:p>
      </dgm:t>
    </dgm:pt>
    <dgm:pt modelId="{07AF037D-CB5C-4293-831A-F9BDDE6C3C16}">
      <dgm:prSet/>
      <dgm:spPr/>
      <dgm:t>
        <a:bodyPr/>
        <a:lstStyle/>
        <a:p>
          <a:r>
            <a:rPr lang="es-ES" b="0" i="0"/>
            <a:t>Datos unificados de múltiples fuentes con formatos, codificación y convenciones consistentes.</a:t>
          </a:r>
          <a:endParaRPr lang="es-CO"/>
        </a:p>
      </dgm:t>
    </dgm:pt>
    <dgm:pt modelId="{FF57C919-8B29-4DCB-ADD5-9359A9047981}" type="parTrans" cxnId="{B477E6A7-BA71-4B91-B887-97825A7A7180}">
      <dgm:prSet/>
      <dgm:spPr/>
      <dgm:t>
        <a:bodyPr/>
        <a:lstStyle/>
        <a:p>
          <a:endParaRPr lang="es-CO"/>
        </a:p>
      </dgm:t>
    </dgm:pt>
    <dgm:pt modelId="{DA172A99-6719-4689-AEEB-F3D3DE85EB01}" type="sibTrans" cxnId="{B477E6A7-BA71-4B91-B887-97825A7A7180}">
      <dgm:prSet/>
      <dgm:spPr/>
      <dgm:t>
        <a:bodyPr/>
        <a:lstStyle/>
        <a:p>
          <a:endParaRPr lang="es-CO"/>
        </a:p>
      </dgm:t>
    </dgm:pt>
    <dgm:pt modelId="{91B52CDC-915C-4308-8B87-9C16DE684B05}">
      <dgm:prSet/>
      <dgm:spPr/>
      <dgm:t>
        <a:bodyPr/>
        <a:lstStyle/>
        <a:p>
          <a:r>
            <a:rPr lang="es-ES" b="1" i="0"/>
            <a:t>Variante en Tiempo</a:t>
          </a:r>
          <a:endParaRPr lang="es-CO"/>
        </a:p>
      </dgm:t>
    </dgm:pt>
    <dgm:pt modelId="{01434183-F630-4BD2-B5C1-A0589976D99B}" type="parTrans" cxnId="{23193BE4-6672-4F90-BAF1-7C8E59F3FBB4}">
      <dgm:prSet/>
      <dgm:spPr/>
      <dgm:t>
        <a:bodyPr/>
        <a:lstStyle/>
        <a:p>
          <a:endParaRPr lang="es-CO"/>
        </a:p>
      </dgm:t>
    </dgm:pt>
    <dgm:pt modelId="{97B6C7B8-41C9-4E23-BB38-F887EE62DF48}" type="sibTrans" cxnId="{23193BE4-6672-4F90-BAF1-7C8E59F3FBB4}">
      <dgm:prSet/>
      <dgm:spPr/>
      <dgm:t>
        <a:bodyPr/>
        <a:lstStyle/>
        <a:p>
          <a:endParaRPr lang="es-CO"/>
        </a:p>
      </dgm:t>
    </dgm:pt>
    <dgm:pt modelId="{5906CD9B-6B16-479E-B7B4-17ACDC427163}">
      <dgm:prSet/>
      <dgm:spPr/>
      <dgm:t>
        <a:bodyPr/>
        <a:lstStyle/>
        <a:p>
          <a:r>
            <a:rPr lang="es-ES" b="0" i="0"/>
            <a:t>Mantiene un historial de datos para analizar tendencias a lo largo de meses o años.</a:t>
          </a:r>
          <a:endParaRPr lang="es-CO"/>
        </a:p>
      </dgm:t>
    </dgm:pt>
    <dgm:pt modelId="{77B5F48E-3347-4C2B-B069-0EE26EBF4087}" type="parTrans" cxnId="{2B8AFEE4-CB1C-47B0-81E3-0052871B0DF9}">
      <dgm:prSet/>
      <dgm:spPr/>
      <dgm:t>
        <a:bodyPr/>
        <a:lstStyle/>
        <a:p>
          <a:endParaRPr lang="es-CO"/>
        </a:p>
      </dgm:t>
    </dgm:pt>
    <dgm:pt modelId="{C156EF26-0441-4CF6-B894-48315E179838}" type="sibTrans" cxnId="{2B8AFEE4-CB1C-47B0-81E3-0052871B0DF9}">
      <dgm:prSet/>
      <dgm:spPr/>
      <dgm:t>
        <a:bodyPr/>
        <a:lstStyle/>
        <a:p>
          <a:endParaRPr lang="es-CO"/>
        </a:p>
      </dgm:t>
    </dgm:pt>
    <dgm:pt modelId="{6F073814-C4B0-4B79-993E-5CDDFC6A7DA7}">
      <dgm:prSet/>
      <dgm:spPr/>
      <dgm:t>
        <a:bodyPr/>
        <a:lstStyle/>
        <a:p>
          <a:r>
            <a:rPr lang="es-ES" b="1" i="0"/>
            <a:t>No Volátil</a:t>
          </a:r>
          <a:endParaRPr lang="es-CO"/>
        </a:p>
      </dgm:t>
    </dgm:pt>
    <dgm:pt modelId="{D0122D0C-5DF8-4312-901B-A6B6F6A6B40B}" type="parTrans" cxnId="{A034B60D-723B-443C-BE37-6BFC524A2B50}">
      <dgm:prSet/>
      <dgm:spPr/>
      <dgm:t>
        <a:bodyPr/>
        <a:lstStyle/>
        <a:p>
          <a:endParaRPr lang="es-CO"/>
        </a:p>
      </dgm:t>
    </dgm:pt>
    <dgm:pt modelId="{A5D9573B-7B60-47D5-9CAC-EE4D00EA3DDC}" type="sibTrans" cxnId="{A034B60D-723B-443C-BE37-6BFC524A2B50}">
      <dgm:prSet/>
      <dgm:spPr/>
      <dgm:t>
        <a:bodyPr/>
        <a:lstStyle/>
        <a:p>
          <a:endParaRPr lang="es-CO"/>
        </a:p>
      </dgm:t>
    </dgm:pt>
    <dgm:pt modelId="{E0F8E8B3-8FDA-4281-A992-510FECD42291}">
      <dgm:prSet/>
      <dgm:spPr/>
      <dgm:t>
        <a:bodyPr/>
        <a:lstStyle/>
        <a:p>
          <a:r>
            <a:rPr lang="es-ES" b="0" i="0"/>
            <a:t>Los datos son de solo lectura para los usuarios; no se modifican una vez cargados.</a:t>
          </a:r>
          <a:endParaRPr lang="es-CO"/>
        </a:p>
      </dgm:t>
    </dgm:pt>
    <dgm:pt modelId="{3C5DEADF-6D7A-4D91-8A78-32DCC8775790}" type="parTrans" cxnId="{BBF8BC17-C8B1-4389-A524-564275D18B0D}">
      <dgm:prSet/>
      <dgm:spPr/>
      <dgm:t>
        <a:bodyPr/>
        <a:lstStyle/>
        <a:p>
          <a:endParaRPr lang="es-CO"/>
        </a:p>
      </dgm:t>
    </dgm:pt>
    <dgm:pt modelId="{BF56F80C-E807-44B3-84EE-F5F6BB5331BE}" type="sibTrans" cxnId="{BBF8BC17-C8B1-4389-A524-564275D18B0D}">
      <dgm:prSet/>
      <dgm:spPr/>
      <dgm:t>
        <a:bodyPr/>
        <a:lstStyle/>
        <a:p>
          <a:endParaRPr lang="es-CO"/>
        </a:p>
      </dgm:t>
    </dgm:pt>
    <dgm:pt modelId="{6AA8C00E-D33D-4BCA-842A-028427772D50}" type="pres">
      <dgm:prSet presAssocID="{233A9EF6-6968-4CF9-BF76-504789FC1B5E}" presName="Name0" presStyleCnt="0">
        <dgm:presLayoutVars>
          <dgm:dir/>
          <dgm:animLvl val="lvl"/>
          <dgm:resizeHandles val="exact"/>
        </dgm:presLayoutVars>
      </dgm:prSet>
      <dgm:spPr/>
    </dgm:pt>
    <dgm:pt modelId="{777CF3EC-E61D-4C8A-9B3E-04EF10C0F891}" type="pres">
      <dgm:prSet presAssocID="{8C77EB18-FFAC-4D36-9198-B3B1DCD08B84}" presName="composite" presStyleCnt="0"/>
      <dgm:spPr/>
    </dgm:pt>
    <dgm:pt modelId="{FA4152EB-5AAD-435C-A4ED-B9226E8A9F80}" type="pres">
      <dgm:prSet presAssocID="{8C77EB18-FFAC-4D36-9198-B3B1DCD08B84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EC96A8A7-6772-47B9-81E2-5CC35241ED7D}" type="pres">
      <dgm:prSet presAssocID="{8C77EB18-FFAC-4D36-9198-B3B1DCD08B84}" presName="desTx" presStyleLbl="alignAccFollowNode1" presStyleIdx="0" presStyleCnt="4">
        <dgm:presLayoutVars>
          <dgm:bulletEnabled val="1"/>
        </dgm:presLayoutVars>
      </dgm:prSet>
      <dgm:spPr/>
    </dgm:pt>
    <dgm:pt modelId="{AB7521FF-248D-4C84-A8F1-0446F58CEF4D}" type="pres">
      <dgm:prSet presAssocID="{5E4FF6B6-41B3-48DE-B6BB-B3AE14DD21A5}" presName="space" presStyleCnt="0"/>
      <dgm:spPr/>
    </dgm:pt>
    <dgm:pt modelId="{B07CE33E-128D-4A39-A6AC-FC0F8C8EB828}" type="pres">
      <dgm:prSet presAssocID="{5D824C9C-59C7-485F-9F50-FC81B20E6818}" presName="composite" presStyleCnt="0"/>
      <dgm:spPr/>
    </dgm:pt>
    <dgm:pt modelId="{EDF02699-E48E-48AC-88BB-42A5AFCFBEF6}" type="pres">
      <dgm:prSet presAssocID="{5D824C9C-59C7-485F-9F50-FC81B20E6818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30EF6B71-19FD-4380-B776-F164A15B4938}" type="pres">
      <dgm:prSet presAssocID="{5D824C9C-59C7-485F-9F50-FC81B20E6818}" presName="desTx" presStyleLbl="alignAccFollowNode1" presStyleIdx="1" presStyleCnt="4">
        <dgm:presLayoutVars>
          <dgm:bulletEnabled val="1"/>
        </dgm:presLayoutVars>
      </dgm:prSet>
      <dgm:spPr/>
    </dgm:pt>
    <dgm:pt modelId="{26981C2B-E6F3-43E6-ABC6-01DADF4689F5}" type="pres">
      <dgm:prSet presAssocID="{996DFA5E-C6D9-4218-813D-18A34CE9A74B}" presName="space" presStyleCnt="0"/>
      <dgm:spPr/>
    </dgm:pt>
    <dgm:pt modelId="{73F59AD1-3B52-4E29-A65F-10A22B6380A3}" type="pres">
      <dgm:prSet presAssocID="{91B52CDC-915C-4308-8B87-9C16DE684B05}" presName="composite" presStyleCnt="0"/>
      <dgm:spPr/>
    </dgm:pt>
    <dgm:pt modelId="{B3F7F618-D783-4C4E-9A8B-FC48714D6A03}" type="pres">
      <dgm:prSet presAssocID="{91B52CDC-915C-4308-8B87-9C16DE684B05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C155E6F1-3FE7-4729-873A-C829471EC7EA}" type="pres">
      <dgm:prSet presAssocID="{91B52CDC-915C-4308-8B87-9C16DE684B05}" presName="desTx" presStyleLbl="alignAccFollowNode1" presStyleIdx="2" presStyleCnt="4">
        <dgm:presLayoutVars>
          <dgm:bulletEnabled val="1"/>
        </dgm:presLayoutVars>
      </dgm:prSet>
      <dgm:spPr/>
    </dgm:pt>
    <dgm:pt modelId="{7AAB618D-8B64-4DB6-BA05-70C792BA15D0}" type="pres">
      <dgm:prSet presAssocID="{97B6C7B8-41C9-4E23-BB38-F887EE62DF48}" presName="space" presStyleCnt="0"/>
      <dgm:spPr/>
    </dgm:pt>
    <dgm:pt modelId="{6A5CF5DE-C3E2-401E-8CA3-64E2D4D678FA}" type="pres">
      <dgm:prSet presAssocID="{6F073814-C4B0-4B79-993E-5CDDFC6A7DA7}" presName="composite" presStyleCnt="0"/>
      <dgm:spPr/>
    </dgm:pt>
    <dgm:pt modelId="{B037279D-16AC-46A3-889D-4833885ECDDE}" type="pres">
      <dgm:prSet presAssocID="{6F073814-C4B0-4B79-993E-5CDDFC6A7DA7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790BE199-BD4B-4A46-B7F9-1D02AF169914}" type="pres">
      <dgm:prSet presAssocID="{6F073814-C4B0-4B79-993E-5CDDFC6A7DA7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A034B60D-723B-443C-BE37-6BFC524A2B50}" srcId="{233A9EF6-6968-4CF9-BF76-504789FC1B5E}" destId="{6F073814-C4B0-4B79-993E-5CDDFC6A7DA7}" srcOrd="3" destOrd="0" parTransId="{D0122D0C-5DF8-4312-901B-A6B6F6A6B40B}" sibTransId="{A5D9573B-7B60-47D5-9CAC-EE4D00EA3DDC}"/>
    <dgm:cxn modelId="{BBF8BC17-C8B1-4389-A524-564275D18B0D}" srcId="{6F073814-C4B0-4B79-993E-5CDDFC6A7DA7}" destId="{E0F8E8B3-8FDA-4281-A992-510FECD42291}" srcOrd="0" destOrd="0" parTransId="{3C5DEADF-6D7A-4D91-8A78-32DCC8775790}" sibTransId="{BF56F80C-E807-44B3-84EE-F5F6BB5331BE}"/>
    <dgm:cxn modelId="{D5A2702D-D241-4487-BA41-06BAA2203A02}" type="presOf" srcId="{5D824C9C-59C7-485F-9F50-FC81B20E6818}" destId="{EDF02699-E48E-48AC-88BB-42A5AFCFBEF6}" srcOrd="0" destOrd="0" presId="urn:microsoft.com/office/officeart/2005/8/layout/hList1"/>
    <dgm:cxn modelId="{3232A92E-3249-4783-BF68-A62F0B58340D}" type="presOf" srcId="{8C77EB18-FFAC-4D36-9198-B3B1DCD08B84}" destId="{FA4152EB-5AAD-435C-A4ED-B9226E8A9F80}" srcOrd="0" destOrd="0" presId="urn:microsoft.com/office/officeart/2005/8/layout/hList1"/>
    <dgm:cxn modelId="{512A7034-85B0-4B89-A392-729C678384DB}" type="presOf" srcId="{5906CD9B-6B16-479E-B7B4-17ACDC427163}" destId="{C155E6F1-3FE7-4729-873A-C829471EC7EA}" srcOrd="0" destOrd="0" presId="urn:microsoft.com/office/officeart/2005/8/layout/hList1"/>
    <dgm:cxn modelId="{62D30546-B06C-4B60-8FA7-8F93CFDD8009}" type="presOf" srcId="{2D62AAFB-52C8-477E-89D1-8462C31AF0F8}" destId="{EC96A8A7-6772-47B9-81E2-5CC35241ED7D}" srcOrd="0" destOrd="0" presId="urn:microsoft.com/office/officeart/2005/8/layout/hList1"/>
    <dgm:cxn modelId="{0941DC67-799B-4631-ABDB-C83DF4DD6D89}" type="presOf" srcId="{6F073814-C4B0-4B79-993E-5CDDFC6A7DA7}" destId="{B037279D-16AC-46A3-889D-4833885ECDDE}" srcOrd="0" destOrd="0" presId="urn:microsoft.com/office/officeart/2005/8/layout/hList1"/>
    <dgm:cxn modelId="{D4DDB76D-7485-4AC0-9D7B-53FBF808D6E4}" srcId="{233A9EF6-6968-4CF9-BF76-504789FC1B5E}" destId="{5D824C9C-59C7-485F-9F50-FC81B20E6818}" srcOrd="1" destOrd="0" parTransId="{0A22C30F-8930-451E-BD73-AF9CE59EA673}" sibTransId="{996DFA5E-C6D9-4218-813D-18A34CE9A74B}"/>
    <dgm:cxn modelId="{AED8016E-963B-4398-9DF4-F28322DF12F3}" type="presOf" srcId="{233A9EF6-6968-4CF9-BF76-504789FC1B5E}" destId="{6AA8C00E-D33D-4BCA-842A-028427772D50}" srcOrd="0" destOrd="0" presId="urn:microsoft.com/office/officeart/2005/8/layout/hList1"/>
    <dgm:cxn modelId="{72C4B971-1F96-442C-AC80-760BCB4DEFBD}" type="presOf" srcId="{07AF037D-CB5C-4293-831A-F9BDDE6C3C16}" destId="{30EF6B71-19FD-4380-B776-F164A15B4938}" srcOrd="0" destOrd="0" presId="urn:microsoft.com/office/officeart/2005/8/layout/hList1"/>
    <dgm:cxn modelId="{3C46C383-08F7-489B-9D6D-59DFF9DEE0F0}" srcId="{233A9EF6-6968-4CF9-BF76-504789FC1B5E}" destId="{8C77EB18-FFAC-4D36-9198-B3B1DCD08B84}" srcOrd="0" destOrd="0" parTransId="{8501B694-77D5-4F09-BE3F-FCE80EF9033D}" sibTransId="{5E4FF6B6-41B3-48DE-B6BB-B3AE14DD21A5}"/>
    <dgm:cxn modelId="{882D9597-1247-480D-9989-DCDF6ABECE5F}" type="presOf" srcId="{91B52CDC-915C-4308-8B87-9C16DE684B05}" destId="{B3F7F618-D783-4C4E-9A8B-FC48714D6A03}" srcOrd="0" destOrd="0" presId="urn:microsoft.com/office/officeart/2005/8/layout/hList1"/>
    <dgm:cxn modelId="{B477E6A7-BA71-4B91-B887-97825A7A7180}" srcId="{5D824C9C-59C7-485F-9F50-FC81B20E6818}" destId="{07AF037D-CB5C-4293-831A-F9BDDE6C3C16}" srcOrd="0" destOrd="0" parTransId="{FF57C919-8B29-4DCB-ADD5-9359A9047981}" sibTransId="{DA172A99-6719-4689-AEEB-F3D3DE85EB01}"/>
    <dgm:cxn modelId="{8B1BAEAD-88DC-47B4-9CF3-AD05AC173BB1}" type="presOf" srcId="{E0F8E8B3-8FDA-4281-A992-510FECD42291}" destId="{790BE199-BD4B-4A46-B7F9-1D02AF169914}" srcOrd="0" destOrd="0" presId="urn:microsoft.com/office/officeart/2005/8/layout/hList1"/>
    <dgm:cxn modelId="{0F1C74B2-A221-47A4-9504-475A98E3E0E8}" srcId="{8C77EB18-FFAC-4D36-9198-B3B1DCD08B84}" destId="{2D62AAFB-52C8-477E-89D1-8462C31AF0F8}" srcOrd="0" destOrd="0" parTransId="{7B812E57-39F4-4925-9250-24798C38F325}" sibTransId="{36D3F452-8781-4D21-986D-36D33C5B495F}"/>
    <dgm:cxn modelId="{23193BE4-6672-4F90-BAF1-7C8E59F3FBB4}" srcId="{233A9EF6-6968-4CF9-BF76-504789FC1B5E}" destId="{91B52CDC-915C-4308-8B87-9C16DE684B05}" srcOrd="2" destOrd="0" parTransId="{01434183-F630-4BD2-B5C1-A0589976D99B}" sibTransId="{97B6C7B8-41C9-4E23-BB38-F887EE62DF48}"/>
    <dgm:cxn modelId="{2B8AFEE4-CB1C-47B0-81E3-0052871B0DF9}" srcId="{91B52CDC-915C-4308-8B87-9C16DE684B05}" destId="{5906CD9B-6B16-479E-B7B4-17ACDC427163}" srcOrd="0" destOrd="0" parTransId="{77B5F48E-3347-4C2B-B069-0EE26EBF4087}" sibTransId="{C156EF26-0441-4CF6-B894-48315E179838}"/>
    <dgm:cxn modelId="{BFD6A95C-EE53-4BF7-BB3B-32172CDCC46A}" type="presParOf" srcId="{6AA8C00E-D33D-4BCA-842A-028427772D50}" destId="{777CF3EC-E61D-4C8A-9B3E-04EF10C0F891}" srcOrd="0" destOrd="0" presId="urn:microsoft.com/office/officeart/2005/8/layout/hList1"/>
    <dgm:cxn modelId="{0CD1B623-D657-41A8-87C6-367E662A4591}" type="presParOf" srcId="{777CF3EC-E61D-4C8A-9B3E-04EF10C0F891}" destId="{FA4152EB-5AAD-435C-A4ED-B9226E8A9F80}" srcOrd="0" destOrd="0" presId="urn:microsoft.com/office/officeart/2005/8/layout/hList1"/>
    <dgm:cxn modelId="{92243899-CBD0-4E74-9DD7-DA1E3DD6A517}" type="presParOf" srcId="{777CF3EC-E61D-4C8A-9B3E-04EF10C0F891}" destId="{EC96A8A7-6772-47B9-81E2-5CC35241ED7D}" srcOrd="1" destOrd="0" presId="urn:microsoft.com/office/officeart/2005/8/layout/hList1"/>
    <dgm:cxn modelId="{E7EFFBFE-4F67-4A97-BB1C-62D86CAE0B5A}" type="presParOf" srcId="{6AA8C00E-D33D-4BCA-842A-028427772D50}" destId="{AB7521FF-248D-4C84-A8F1-0446F58CEF4D}" srcOrd="1" destOrd="0" presId="urn:microsoft.com/office/officeart/2005/8/layout/hList1"/>
    <dgm:cxn modelId="{19F84D2B-C511-4EED-8697-B13A0F109B6A}" type="presParOf" srcId="{6AA8C00E-D33D-4BCA-842A-028427772D50}" destId="{B07CE33E-128D-4A39-A6AC-FC0F8C8EB828}" srcOrd="2" destOrd="0" presId="urn:microsoft.com/office/officeart/2005/8/layout/hList1"/>
    <dgm:cxn modelId="{B0FA452E-2963-4A57-8EA3-4A7A72C3127F}" type="presParOf" srcId="{B07CE33E-128D-4A39-A6AC-FC0F8C8EB828}" destId="{EDF02699-E48E-48AC-88BB-42A5AFCFBEF6}" srcOrd="0" destOrd="0" presId="urn:microsoft.com/office/officeart/2005/8/layout/hList1"/>
    <dgm:cxn modelId="{A57A10DF-49F7-4DEE-A22C-6BC6A2400608}" type="presParOf" srcId="{B07CE33E-128D-4A39-A6AC-FC0F8C8EB828}" destId="{30EF6B71-19FD-4380-B776-F164A15B4938}" srcOrd="1" destOrd="0" presId="urn:microsoft.com/office/officeart/2005/8/layout/hList1"/>
    <dgm:cxn modelId="{D1D948E4-FABE-421A-A32B-202CB6026C2A}" type="presParOf" srcId="{6AA8C00E-D33D-4BCA-842A-028427772D50}" destId="{26981C2B-E6F3-43E6-ABC6-01DADF4689F5}" srcOrd="3" destOrd="0" presId="urn:microsoft.com/office/officeart/2005/8/layout/hList1"/>
    <dgm:cxn modelId="{12CC4B2A-28A4-423C-A165-9F4437938C57}" type="presParOf" srcId="{6AA8C00E-D33D-4BCA-842A-028427772D50}" destId="{73F59AD1-3B52-4E29-A65F-10A22B6380A3}" srcOrd="4" destOrd="0" presId="urn:microsoft.com/office/officeart/2005/8/layout/hList1"/>
    <dgm:cxn modelId="{A757218E-BB5B-45C8-A4EF-6185844FDD01}" type="presParOf" srcId="{73F59AD1-3B52-4E29-A65F-10A22B6380A3}" destId="{B3F7F618-D783-4C4E-9A8B-FC48714D6A03}" srcOrd="0" destOrd="0" presId="urn:microsoft.com/office/officeart/2005/8/layout/hList1"/>
    <dgm:cxn modelId="{EAD344C7-C2B0-4E6A-A45A-16E6DAE761FC}" type="presParOf" srcId="{73F59AD1-3B52-4E29-A65F-10A22B6380A3}" destId="{C155E6F1-3FE7-4729-873A-C829471EC7EA}" srcOrd="1" destOrd="0" presId="urn:microsoft.com/office/officeart/2005/8/layout/hList1"/>
    <dgm:cxn modelId="{6EB909EF-310B-4784-97CC-5C7E59111FAF}" type="presParOf" srcId="{6AA8C00E-D33D-4BCA-842A-028427772D50}" destId="{7AAB618D-8B64-4DB6-BA05-70C792BA15D0}" srcOrd="5" destOrd="0" presId="urn:microsoft.com/office/officeart/2005/8/layout/hList1"/>
    <dgm:cxn modelId="{F7378D38-8832-4ABD-A1CA-5E931A161565}" type="presParOf" srcId="{6AA8C00E-D33D-4BCA-842A-028427772D50}" destId="{6A5CF5DE-C3E2-401E-8CA3-64E2D4D678FA}" srcOrd="6" destOrd="0" presId="urn:microsoft.com/office/officeart/2005/8/layout/hList1"/>
    <dgm:cxn modelId="{A15614FE-3C68-490C-A9B5-38320700B3B0}" type="presParOf" srcId="{6A5CF5DE-C3E2-401E-8CA3-64E2D4D678FA}" destId="{B037279D-16AC-46A3-889D-4833885ECDDE}" srcOrd="0" destOrd="0" presId="urn:microsoft.com/office/officeart/2005/8/layout/hList1"/>
    <dgm:cxn modelId="{CF5A9FAF-3C1F-44F3-868D-FF9F21FBBD14}" type="presParOf" srcId="{6A5CF5DE-C3E2-401E-8CA3-64E2D4D678FA}" destId="{790BE199-BD4B-4A46-B7F9-1D02AF16991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E88520-F094-4AB5-AE39-BDACEC21F00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CO"/>
        </a:p>
      </dgm:t>
    </dgm:pt>
    <dgm:pt modelId="{2488E620-80FE-4C9A-8539-C9EF3CBED98A}" type="pres">
      <dgm:prSet presAssocID="{95E88520-F094-4AB5-AE39-BDACEC21F00E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CB1FA22A-8BE9-47A1-B8F5-49EBB37A50AC}" type="presOf" srcId="{95E88520-F094-4AB5-AE39-BDACEC21F00E}" destId="{2488E620-80FE-4C9A-8539-C9EF3CBED98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5E88520-F094-4AB5-AE39-BDACEC21F00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CO"/>
        </a:p>
      </dgm:t>
    </dgm:pt>
    <dgm:pt modelId="{2488E620-80FE-4C9A-8539-C9EF3CBED98A}" type="pres">
      <dgm:prSet presAssocID="{95E88520-F094-4AB5-AE39-BDACEC21F00E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CB1FA22A-8BE9-47A1-B8F5-49EBB37A50AC}" type="presOf" srcId="{95E88520-F094-4AB5-AE39-BDACEC21F00E}" destId="{2488E620-80FE-4C9A-8539-C9EF3CBED98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5E88520-F094-4AB5-AE39-BDACEC21F00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CO"/>
        </a:p>
      </dgm:t>
    </dgm:pt>
    <dgm:pt modelId="{2488E620-80FE-4C9A-8539-C9EF3CBED98A}" type="pres">
      <dgm:prSet presAssocID="{95E88520-F094-4AB5-AE39-BDACEC21F00E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CB1FA22A-8BE9-47A1-B8F5-49EBB37A50AC}" type="presOf" srcId="{95E88520-F094-4AB5-AE39-BDACEC21F00E}" destId="{2488E620-80FE-4C9A-8539-C9EF3CBED98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4152EB-5AAD-435C-A4ED-B9226E8A9F80}">
      <dsp:nvSpPr>
        <dsp:cNvPr id="0" name=""/>
        <dsp:cNvSpPr/>
      </dsp:nvSpPr>
      <dsp:spPr>
        <a:xfrm>
          <a:off x="5202" y="14448"/>
          <a:ext cx="3128006" cy="10720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b="1" i="0" kern="1200"/>
            <a:t>Orientado a Temas</a:t>
          </a:r>
          <a:endParaRPr lang="es-CO" sz="3100" kern="1200"/>
        </a:p>
      </dsp:txBody>
      <dsp:txXfrm>
        <a:off x="5202" y="14448"/>
        <a:ext cx="3128006" cy="1072001"/>
      </dsp:txXfrm>
    </dsp:sp>
    <dsp:sp modelId="{EC96A8A7-6772-47B9-81E2-5CC35241ED7D}">
      <dsp:nvSpPr>
        <dsp:cNvPr id="0" name=""/>
        <dsp:cNvSpPr/>
      </dsp:nvSpPr>
      <dsp:spPr>
        <a:xfrm>
          <a:off x="5202" y="1086450"/>
          <a:ext cx="3128006" cy="4084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3100" b="0" i="0" kern="1200"/>
            <a:t>Organizado por entidades clave (Cliente, Producto, Ventas) en lugar de procesos de aplicaciones.</a:t>
          </a:r>
          <a:endParaRPr lang="es-CO" sz="3100" kern="1200"/>
        </a:p>
      </dsp:txBody>
      <dsp:txXfrm>
        <a:off x="5202" y="1086450"/>
        <a:ext cx="3128006" cy="4084560"/>
      </dsp:txXfrm>
    </dsp:sp>
    <dsp:sp modelId="{EDF02699-E48E-48AC-88BB-42A5AFCFBEF6}">
      <dsp:nvSpPr>
        <dsp:cNvPr id="0" name=""/>
        <dsp:cNvSpPr/>
      </dsp:nvSpPr>
      <dsp:spPr>
        <a:xfrm>
          <a:off x="3571129" y="14448"/>
          <a:ext cx="3128006" cy="10720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b="1" i="0" kern="1200"/>
            <a:t>Integrado</a:t>
          </a:r>
          <a:endParaRPr lang="es-CO" sz="3100" kern="1200"/>
        </a:p>
      </dsp:txBody>
      <dsp:txXfrm>
        <a:off x="3571129" y="14448"/>
        <a:ext cx="3128006" cy="1072001"/>
      </dsp:txXfrm>
    </dsp:sp>
    <dsp:sp modelId="{30EF6B71-19FD-4380-B776-F164A15B4938}">
      <dsp:nvSpPr>
        <dsp:cNvPr id="0" name=""/>
        <dsp:cNvSpPr/>
      </dsp:nvSpPr>
      <dsp:spPr>
        <a:xfrm>
          <a:off x="3571129" y="1086450"/>
          <a:ext cx="3128006" cy="4084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3100" b="0" i="0" kern="1200"/>
            <a:t>Datos unificados de múltiples fuentes con formatos, codificación y convenciones consistentes.</a:t>
          </a:r>
          <a:endParaRPr lang="es-CO" sz="3100" kern="1200"/>
        </a:p>
      </dsp:txBody>
      <dsp:txXfrm>
        <a:off x="3571129" y="1086450"/>
        <a:ext cx="3128006" cy="4084560"/>
      </dsp:txXfrm>
    </dsp:sp>
    <dsp:sp modelId="{B3F7F618-D783-4C4E-9A8B-FC48714D6A03}">
      <dsp:nvSpPr>
        <dsp:cNvPr id="0" name=""/>
        <dsp:cNvSpPr/>
      </dsp:nvSpPr>
      <dsp:spPr>
        <a:xfrm>
          <a:off x="7137056" y="14448"/>
          <a:ext cx="3128006" cy="10720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b="1" i="0" kern="1200"/>
            <a:t>Variante en Tiempo</a:t>
          </a:r>
          <a:endParaRPr lang="es-CO" sz="3100" kern="1200"/>
        </a:p>
      </dsp:txBody>
      <dsp:txXfrm>
        <a:off x="7137056" y="14448"/>
        <a:ext cx="3128006" cy="1072001"/>
      </dsp:txXfrm>
    </dsp:sp>
    <dsp:sp modelId="{C155E6F1-3FE7-4729-873A-C829471EC7EA}">
      <dsp:nvSpPr>
        <dsp:cNvPr id="0" name=""/>
        <dsp:cNvSpPr/>
      </dsp:nvSpPr>
      <dsp:spPr>
        <a:xfrm>
          <a:off x="7137056" y="1086450"/>
          <a:ext cx="3128006" cy="4084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3100" b="0" i="0" kern="1200"/>
            <a:t>Mantiene un historial de datos para analizar tendencias a lo largo de meses o años.</a:t>
          </a:r>
          <a:endParaRPr lang="es-CO" sz="3100" kern="1200"/>
        </a:p>
      </dsp:txBody>
      <dsp:txXfrm>
        <a:off x="7137056" y="1086450"/>
        <a:ext cx="3128006" cy="4084560"/>
      </dsp:txXfrm>
    </dsp:sp>
    <dsp:sp modelId="{B037279D-16AC-46A3-889D-4833885ECDDE}">
      <dsp:nvSpPr>
        <dsp:cNvPr id="0" name=""/>
        <dsp:cNvSpPr/>
      </dsp:nvSpPr>
      <dsp:spPr>
        <a:xfrm>
          <a:off x="10702983" y="14448"/>
          <a:ext cx="3128006" cy="10720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b="1" i="0" kern="1200"/>
            <a:t>No Volátil</a:t>
          </a:r>
          <a:endParaRPr lang="es-CO" sz="3100" kern="1200"/>
        </a:p>
      </dsp:txBody>
      <dsp:txXfrm>
        <a:off x="10702983" y="14448"/>
        <a:ext cx="3128006" cy="1072001"/>
      </dsp:txXfrm>
    </dsp:sp>
    <dsp:sp modelId="{790BE199-BD4B-4A46-B7F9-1D02AF169914}">
      <dsp:nvSpPr>
        <dsp:cNvPr id="0" name=""/>
        <dsp:cNvSpPr/>
      </dsp:nvSpPr>
      <dsp:spPr>
        <a:xfrm>
          <a:off x="10702983" y="1086450"/>
          <a:ext cx="3128006" cy="4084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3100" b="0" i="0" kern="1200"/>
            <a:t>Los datos son de solo lectura para los usuarios; no se modifican una vez cargados.</a:t>
          </a:r>
          <a:endParaRPr lang="es-CO" sz="3100" kern="1200"/>
        </a:p>
      </dsp:txBody>
      <dsp:txXfrm>
        <a:off x="10702983" y="1086450"/>
        <a:ext cx="3128006" cy="40845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8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6" r:id="rId4"/>
    <p:sldLayoutId id="2147483657" r:id="rId5"/>
    <p:sldLayoutId id="2147483658" r:id="rId6"/>
    <p:sldLayoutId id="2147483659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diagramColors" Target="../diagrams/colors2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1.xml"/><Relationship Id="rId12" Type="http://schemas.openxmlformats.org/officeDocument/2006/relationships/diagramQuickStyle" Target="../diagrams/quickStyl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11" Type="http://schemas.openxmlformats.org/officeDocument/2006/relationships/diagramLayout" Target="../diagrams/layout2.xml"/><Relationship Id="rId5" Type="http://schemas.openxmlformats.org/officeDocument/2006/relationships/diagramData" Target="../diagrams/data1.xml"/><Relationship Id="rId10" Type="http://schemas.openxmlformats.org/officeDocument/2006/relationships/diagramData" Target="../diagrams/data2.xml"/><Relationship Id="rId4" Type="http://schemas.openxmlformats.org/officeDocument/2006/relationships/image" Target="../media/image8.svg"/><Relationship Id="rId9" Type="http://schemas.microsoft.com/office/2007/relationships/diagramDrawing" Target="../diagrams/drawing1.xml"/><Relationship Id="rId14" Type="http://schemas.microsoft.com/office/2007/relationships/diagramDrawing" Target="../diagrams/drawing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8.svg"/><Relationship Id="rId9" Type="http://schemas.microsoft.com/office/2007/relationships/diagramDrawing" Target="../diagrams/drawing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8.svg"/><Relationship Id="rId9" Type="http://schemas.microsoft.com/office/2007/relationships/diagramDrawing" Target="../diagrams/drawing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5.xml"/><Relationship Id="rId11" Type="http://schemas.openxmlformats.org/officeDocument/2006/relationships/image" Target="../media/image11.png"/><Relationship Id="rId5" Type="http://schemas.openxmlformats.org/officeDocument/2006/relationships/diagramData" Target="../diagrams/data5.xml"/><Relationship Id="rId10" Type="http://schemas.openxmlformats.org/officeDocument/2006/relationships/image" Target="../media/image10.png"/><Relationship Id="rId4" Type="http://schemas.openxmlformats.org/officeDocument/2006/relationships/image" Target="../media/image8.svg"/><Relationship Id="rId9" Type="http://schemas.microsoft.com/office/2007/relationships/diagramDrawing" Target="../diagrams/drawing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gif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8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8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8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8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eg"/><Relationship Id="rId4" Type="http://schemas.openxmlformats.org/officeDocument/2006/relationships/image" Target="../media/image8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8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8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8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enyoi.co" TargetMode="External"/><Relationship Id="rId13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instagram.com/enyoi.co/" TargetMode="External"/><Relationship Id="rId11" Type="http://schemas.openxmlformats.org/officeDocument/2006/relationships/hyperlink" Target="https://www.tiktok.com/@enyoi.co" TargetMode="External"/><Relationship Id="rId5" Type="http://schemas.openxmlformats.org/officeDocument/2006/relationships/image" Target="../media/image25.png"/><Relationship Id="rId10" Type="http://schemas.openxmlformats.org/officeDocument/2006/relationships/image" Target="../media/image28.png"/><Relationship Id="rId4" Type="http://schemas.openxmlformats.org/officeDocument/2006/relationships/hyperlink" Target="https://wa.me/573206649412" TargetMode="External"/><Relationship Id="rId9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358764" y="455568"/>
            <a:ext cx="3004519" cy="1201808"/>
          </a:xfrm>
          <a:custGeom>
            <a:avLst/>
            <a:gdLst/>
            <a:ahLst/>
            <a:cxnLst/>
            <a:rect l="l" t="t" r="r" b="b"/>
            <a:pathLst>
              <a:path w="3457174" h="1382870" extrusionOk="0">
                <a:moveTo>
                  <a:pt x="0" y="0"/>
                </a:moveTo>
                <a:lnTo>
                  <a:pt x="3457174" y="0"/>
                </a:lnTo>
                <a:lnTo>
                  <a:pt x="3457174" y="1382870"/>
                </a:lnTo>
                <a:lnTo>
                  <a:pt x="0" y="13828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" name="Google Shape;89;p1"/>
          <p:cNvGrpSpPr/>
          <p:nvPr/>
        </p:nvGrpSpPr>
        <p:grpSpPr>
          <a:xfrm rot="10800000">
            <a:off x="10392303" y="15240"/>
            <a:ext cx="7895697" cy="10431661"/>
            <a:chOff x="0" y="-38100"/>
            <a:chExt cx="2079525" cy="2747433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2079525" cy="2709333"/>
            </a:xfrm>
            <a:custGeom>
              <a:avLst/>
              <a:gdLst/>
              <a:ahLst/>
              <a:cxnLst/>
              <a:rect l="l" t="t" r="r" b="b"/>
              <a:pathLst>
                <a:path w="2079525" h="2709333" extrusionOk="0">
                  <a:moveTo>
                    <a:pt x="0" y="0"/>
                  </a:moveTo>
                  <a:lnTo>
                    <a:pt x="2079525" y="0"/>
                  </a:lnTo>
                  <a:lnTo>
                    <a:pt x="2079525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0" y="-38100"/>
              <a:ext cx="2079525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"/>
          <p:cNvSpPr/>
          <p:nvPr/>
        </p:nvSpPr>
        <p:spPr>
          <a:xfrm>
            <a:off x="9562641" y="4953536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 extrusionOk="0">
                <a:moveTo>
                  <a:pt x="0" y="0"/>
                </a:moveTo>
                <a:lnTo>
                  <a:pt x="4777511" y="0"/>
                </a:lnTo>
                <a:lnTo>
                  <a:pt x="4777511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 rot="10800000">
            <a:off x="14340152" y="455568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 extrusionOk="0">
                <a:moveTo>
                  <a:pt x="0" y="0"/>
                </a:moveTo>
                <a:lnTo>
                  <a:pt x="4777510" y="0"/>
                </a:lnTo>
                <a:lnTo>
                  <a:pt x="4777510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 rot="1460314">
            <a:off x="10691684" y="4380706"/>
            <a:ext cx="7356554" cy="1393786"/>
            <a:chOff x="0" y="-38100"/>
            <a:chExt cx="1937529" cy="367088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1937528" cy="328988"/>
            </a:xfrm>
            <a:custGeom>
              <a:avLst/>
              <a:gdLst/>
              <a:ahLst/>
              <a:cxnLst/>
              <a:rect l="l" t="t" r="r" b="b"/>
              <a:pathLst>
                <a:path w="1937528" h="328988" extrusionOk="0">
                  <a:moveTo>
                    <a:pt x="105238" y="0"/>
                  </a:moveTo>
                  <a:lnTo>
                    <a:pt x="1832290" y="0"/>
                  </a:lnTo>
                  <a:cubicBezTo>
                    <a:pt x="1860201" y="0"/>
                    <a:pt x="1886969" y="11088"/>
                    <a:pt x="1906705" y="30824"/>
                  </a:cubicBezTo>
                  <a:cubicBezTo>
                    <a:pt x="1926441" y="50560"/>
                    <a:pt x="1937528" y="77327"/>
                    <a:pt x="1937528" y="105238"/>
                  </a:cubicBezTo>
                  <a:lnTo>
                    <a:pt x="1937528" y="223749"/>
                  </a:lnTo>
                  <a:cubicBezTo>
                    <a:pt x="1937528" y="281871"/>
                    <a:pt x="1890412" y="328988"/>
                    <a:pt x="1832290" y="328988"/>
                  </a:cubicBezTo>
                  <a:lnTo>
                    <a:pt x="105238" y="328988"/>
                  </a:lnTo>
                  <a:cubicBezTo>
                    <a:pt x="77327" y="328988"/>
                    <a:pt x="50560" y="317900"/>
                    <a:pt x="30824" y="298164"/>
                  </a:cubicBezTo>
                  <a:cubicBezTo>
                    <a:pt x="11088" y="278428"/>
                    <a:pt x="0" y="251660"/>
                    <a:pt x="0" y="223749"/>
                  </a:cubicBezTo>
                  <a:lnTo>
                    <a:pt x="0" y="105238"/>
                  </a:lnTo>
                  <a:cubicBezTo>
                    <a:pt x="0" y="47117"/>
                    <a:pt x="47117" y="0"/>
                    <a:pt x="1052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38100"/>
              <a:ext cx="1937529" cy="3670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 rot="10800000">
            <a:off x="-536261" y="9574006"/>
            <a:ext cx="8704395" cy="279585"/>
            <a:chOff x="0" y="-38100"/>
            <a:chExt cx="2292515" cy="73635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2292515" cy="35535"/>
            </a:xfrm>
            <a:custGeom>
              <a:avLst/>
              <a:gdLst/>
              <a:ahLst/>
              <a:cxnLst/>
              <a:rect l="l" t="t" r="r" b="b"/>
              <a:pathLst>
                <a:path w="2292515" h="35535" extrusionOk="0">
                  <a:moveTo>
                    <a:pt x="17768" y="0"/>
                  </a:moveTo>
                  <a:lnTo>
                    <a:pt x="2274747" y="0"/>
                  </a:lnTo>
                  <a:cubicBezTo>
                    <a:pt x="2284560" y="0"/>
                    <a:pt x="2292515" y="7955"/>
                    <a:pt x="2292515" y="17768"/>
                  </a:cubicBezTo>
                  <a:lnTo>
                    <a:pt x="2292515" y="17768"/>
                  </a:lnTo>
                  <a:cubicBezTo>
                    <a:pt x="2292515" y="22480"/>
                    <a:pt x="2290643" y="26999"/>
                    <a:pt x="2287311" y="30331"/>
                  </a:cubicBezTo>
                  <a:cubicBezTo>
                    <a:pt x="2283978" y="33663"/>
                    <a:pt x="2279459" y="35535"/>
                    <a:pt x="2274747" y="35535"/>
                  </a:cubicBezTo>
                  <a:lnTo>
                    <a:pt x="17768" y="35535"/>
                  </a:lnTo>
                  <a:cubicBezTo>
                    <a:pt x="13055" y="35535"/>
                    <a:pt x="8536" y="33663"/>
                    <a:pt x="5204" y="30331"/>
                  </a:cubicBezTo>
                  <a:cubicBezTo>
                    <a:pt x="1872" y="26999"/>
                    <a:pt x="0" y="22480"/>
                    <a:pt x="0" y="17768"/>
                  </a:cubicBezTo>
                  <a:lnTo>
                    <a:pt x="0" y="17768"/>
                  </a:lnTo>
                  <a:cubicBezTo>
                    <a:pt x="0" y="13055"/>
                    <a:pt x="1872" y="8536"/>
                    <a:pt x="5204" y="5204"/>
                  </a:cubicBezTo>
                  <a:cubicBezTo>
                    <a:pt x="8536" y="1872"/>
                    <a:pt x="13055" y="0"/>
                    <a:pt x="17768" y="0"/>
                  </a:cubicBez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38100"/>
              <a:ext cx="2292514" cy="73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1"/>
          <p:cNvSpPr txBox="1"/>
          <p:nvPr/>
        </p:nvSpPr>
        <p:spPr>
          <a:xfrm>
            <a:off x="907966" y="4667931"/>
            <a:ext cx="8115300" cy="94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399" b="1" dirty="0">
                <a:solidFill>
                  <a:srgbClr val="700A89"/>
                </a:solidFill>
                <a:latin typeface="Poppins"/>
                <a:ea typeface="Poppins"/>
                <a:cs typeface="Poppins"/>
                <a:sym typeface="Poppins"/>
              </a:rPr>
              <a:t>Bodegas de Datos</a:t>
            </a:r>
            <a:endParaRPr dirty="0"/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5">
            <a:alphaModFix/>
          </a:blip>
          <a:srcRect l="53990" t="15859" r="8554" b="69322"/>
          <a:stretch/>
        </p:blipFill>
        <p:spPr>
          <a:xfrm>
            <a:off x="5181600" y="609324"/>
            <a:ext cx="4721448" cy="1048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629EE-1985-2225-31E2-050DC896E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8E846FC-1099-F5A4-7D4D-94754DDF4519}"/>
              </a:ext>
            </a:extLst>
          </p:cNvPr>
          <p:cNvSpPr/>
          <p:nvPr/>
        </p:nvSpPr>
        <p:spPr>
          <a:xfrm>
            <a:off x="-437361" y="8801100"/>
            <a:ext cx="1656562" cy="1607056"/>
          </a:xfrm>
          <a:custGeom>
            <a:avLst/>
            <a:gdLst/>
            <a:ahLst/>
            <a:cxnLst/>
            <a:rect l="l" t="t" r="r" b="b"/>
            <a:pathLst>
              <a:path w="2052835" h="2064911">
                <a:moveTo>
                  <a:pt x="0" y="0"/>
                </a:moveTo>
                <a:lnTo>
                  <a:pt x="2052835" y="0"/>
                </a:lnTo>
                <a:lnTo>
                  <a:pt x="2052835" y="2064910"/>
                </a:lnTo>
                <a:lnTo>
                  <a:pt x="0" y="2064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848" t="-49459" r="-26429" b="-59444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433B88B-431D-F520-8A64-604BAC5A4F71}"/>
              </a:ext>
            </a:extLst>
          </p:cNvPr>
          <p:cNvSpPr/>
          <p:nvPr/>
        </p:nvSpPr>
        <p:spPr>
          <a:xfrm rot="-10800000">
            <a:off x="16136495" y="-695866"/>
            <a:ext cx="1607799" cy="1648365"/>
          </a:xfrm>
          <a:custGeom>
            <a:avLst/>
            <a:gdLst/>
            <a:ahLst/>
            <a:cxnLst/>
            <a:rect l="l" t="t" r="r" b="b"/>
            <a:pathLst>
              <a:path w="1607799" h="1648365">
                <a:moveTo>
                  <a:pt x="0" y="0"/>
                </a:moveTo>
                <a:lnTo>
                  <a:pt x="1607799" y="0"/>
                </a:lnTo>
                <a:lnTo>
                  <a:pt x="1607799" y="1648364"/>
                </a:lnTo>
                <a:lnTo>
                  <a:pt x="0" y="1648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892" t="-49695" r="-28270" b="-60205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9" name="Freeform 21">
            <a:extLst>
              <a:ext uri="{FF2B5EF4-FFF2-40B4-BE49-F238E27FC236}">
                <a16:creationId xmlns:a16="http://schemas.microsoft.com/office/drawing/2014/main" id="{1D05F255-F2E3-68A0-D911-D29FFBA02339}"/>
              </a:ext>
            </a:extLst>
          </p:cNvPr>
          <p:cNvSpPr/>
          <p:nvPr/>
        </p:nvSpPr>
        <p:spPr>
          <a:xfrm>
            <a:off x="14954160" y="7813562"/>
            <a:ext cx="2743200" cy="2438400"/>
          </a:xfrm>
          <a:custGeom>
            <a:avLst/>
            <a:gdLst/>
            <a:ahLst/>
            <a:cxnLst/>
            <a:rect l="l" t="t" r="r" b="b"/>
            <a:pathLst>
              <a:path w="5397947" h="4972858">
                <a:moveTo>
                  <a:pt x="0" y="0"/>
                </a:moveTo>
                <a:lnTo>
                  <a:pt x="5397947" y="0"/>
                </a:lnTo>
                <a:lnTo>
                  <a:pt x="5397947" y="4972859"/>
                </a:lnTo>
                <a:lnTo>
                  <a:pt x="0" y="49728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96DCFA7-361F-02A9-70F0-6BC7CADA3C28}"/>
              </a:ext>
            </a:extLst>
          </p:cNvPr>
          <p:cNvSpPr txBox="1"/>
          <p:nvPr/>
        </p:nvSpPr>
        <p:spPr>
          <a:xfrm>
            <a:off x="2000250" y="1952625"/>
            <a:ext cx="146685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>
                <a:latin typeface="Poppins" panose="00000500000000000000" pitchFamily="2" charset="0"/>
                <a:cs typeface="Poppins" panose="00000500000000000000" pitchFamily="2" charset="0"/>
              </a:rPr>
              <a:t>Objetivo</a:t>
            </a:r>
          </a:p>
          <a:p>
            <a:endParaRPr lang="es-MX"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s-MX"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s-MX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461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BE647-2F94-13D5-27DE-4A5DB74E1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3863DAD-F684-284C-2ED7-62294E5E5950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898E5CA-37A9-0597-9D10-9A6A87597AAC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9C395F84-2666-E01F-7240-1F6F93BDA7B3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86FA7629-9511-F4A4-7613-1B201C33252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E446395D-E9BA-9E85-56A5-2F6A6409A8F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9A0ECEB-C6B6-16E0-C6D1-98D056177F2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513AD4A-301F-94CD-5896-56702A74C75B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2FBD03C7-19EF-C8F7-680E-2A1D5D5406DD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8FEA821-FD08-DD49-404E-B2A3BAB88CF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11FD1F1-29DA-B476-936B-2C9DEF53253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7BA99F3-AD4F-5DD2-1C4B-646F8957AD1B}"/>
              </a:ext>
            </a:extLst>
          </p:cNvPr>
          <p:cNvSpPr txBox="1"/>
          <p:nvPr/>
        </p:nvSpPr>
        <p:spPr>
          <a:xfrm>
            <a:off x="1950461" y="509599"/>
            <a:ext cx="145542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>
                <a:latin typeface="Poppins 1 Bold" panose="020B0604020202020204" charset="0"/>
                <a:cs typeface="Poppins 1 Bold" panose="020B0604020202020204" charset="0"/>
              </a:rPr>
              <a:t>Agenda</a:t>
            </a:r>
          </a:p>
          <a:p>
            <a:endParaRPr lang="es-ES" sz="3600" b="1" dirty="0">
              <a:latin typeface="Poppins 1 Bold" panose="020B0604020202020204" charset="0"/>
              <a:cs typeface="Poppins 1 Bold" panose="020B0604020202020204" charset="0"/>
            </a:endParaRPr>
          </a:p>
          <a:p>
            <a:endParaRPr lang="es-ES" sz="3600" b="1" dirty="0">
              <a:latin typeface="Poppins 1 Bold" panose="020B0604020202020204" charset="0"/>
              <a:cs typeface="Poppins 1 Bold" panose="020B0604020202020204" charset="0"/>
            </a:endParaRPr>
          </a:p>
          <a:p>
            <a:pPr marL="742950" indent="-742950">
              <a:buFont typeface="+mj-lt"/>
              <a:buAutoNum type="arabicPeriod"/>
            </a:pPr>
            <a:endParaRPr lang="es-CO" sz="3600" dirty="0"/>
          </a:p>
          <a:p>
            <a:pPr lvl="0"/>
            <a:endParaRPr lang="es-CO" sz="3600" dirty="0"/>
          </a:p>
          <a:p>
            <a:endParaRPr lang="es-ES" sz="2400" dirty="0"/>
          </a:p>
          <a:p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3263708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C4226-BBB1-6642-7911-7297143A8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B60FF4C-FF87-D353-AFE0-71BE03429A3A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2AA98C1-EAED-B60E-B81B-AB86FB64550F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7B1D0DB6-D090-DFDF-0241-FFA609884136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835E6491-FD97-9A1F-BC8E-662CF6390478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BC613C70-2465-A8BB-131F-005D8F185AE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F2B1638-D7B1-7E0B-A4C3-DA55F09E0056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8DD7AC1-63D7-F518-130F-C85ACD8DE3C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0538ED31-8B20-7FDB-ACC5-5A1FC351211B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838245AA-8E1E-F9F6-B0EF-CE296347D8E7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93CD9DE-5B2E-AC36-54E2-1F8BC6F4E7D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3633100-C115-A98D-6890-ABBD4799B29A}"/>
              </a:ext>
            </a:extLst>
          </p:cNvPr>
          <p:cNvSpPr txBox="1"/>
          <p:nvPr/>
        </p:nvSpPr>
        <p:spPr>
          <a:xfrm>
            <a:off x="1417161" y="1484806"/>
            <a:ext cx="6624687" cy="7317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s-ES" sz="3600" b="1" i="0" dirty="0">
                <a:solidFill>
                  <a:schemeClr val="tx1"/>
                </a:solidFill>
                <a:effectLst/>
                <a:latin typeface="Inter"/>
              </a:rPr>
              <a:t>¿Qué es un Data </a:t>
            </a:r>
            <a:r>
              <a:rPr lang="es-ES" sz="3600" b="1" i="0" dirty="0" err="1">
                <a:solidFill>
                  <a:schemeClr val="tx1"/>
                </a:solidFill>
                <a:effectLst/>
                <a:latin typeface="Inter"/>
              </a:rPr>
              <a:t>Warehouse</a:t>
            </a:r>
            <a:r>
              <a:rPr lang="es-ES" sz="3600" b="1" i="0" dirty="0">
                <a:solidFill>
                  <a:schemeClr val="tx1"/>
                </a:solidFill>
                <a:effectLst/>
                <a:latin typeface="Inter"/>
              </a:rPr>
              <a:t>?</a:t>
            </a:r>
          </a:p>
          <a:p>
            <a:pPr algn="l">
              <a:buNone/>
            </a:pPr>
            <a:r>
              <a:rPr lang="es-ES" sz="3600" b="0" i="0" dirty="0">
                <a:solidFill>
                  <a:schemeClr val="tx1"/>
                </a:solidFill>
                <a:effectLst/>
                <a:latin typeface="Inter"/>
              </a:rPr>
              <a:t>Según </a:t>
            </a:r>
            <a:r>
              <a:rPr lang="es-ES" sz="3600" b="1" i="0" dirty="0">
                <a:solidFill>
                  <a:schemeClr val="tx1"/>
                </a:solidFill>
                <a:effectLst/>
                <a:latin typeface="Inter"/>
              </a:rPr>
              <a:t>Bill </a:t>
            </a:r>
            <a:r>
              <a:rPr lang="es-ES" sz="3600" b="1" i="0" dirty="0" err="1">
                <a:solidFill>
                  <a:schemeClr val="tx1"/>
                </a:solidFill>
                <a:effectLst/>
                <a:latin typeface="Inter"/>
              </a:rPr>
              <a:t>Inmon</a:t>
            </a:r>
            <a:r>
              <a:rPr lang="es-ES" sz="3600" b="0" i="0" dirty="0">
                <a:solidFill>
                  <a:schemeClr val="tx1"/>
                </a:solidFill>
                <a:effectLst/>
                <a:latin typeface="Inter"/>
              </a:rPr>
              <a:t>, el padre del data </a:t>
            </a:r>
            <a:r>
              <a:rPr lang="es-ES" sz="3600" b="0" i="0" dirty="0" err="1">
                <a:solidFill>
                  <a:schemeClr val="tx1"/>
                </a:solidFill>
                <a:effectLst/>
                <a:latin typeface="Inter"/>
              </a:rPr>
              <a:t>warehousing</a:t>
            </a:r>
            <a:r>
              <a:rPr lang="es-ES" sz="3600" b="0" i="0" dirty="0">
                <a:solidFill>
                  <a:schemeClr val="tx1"/>
                </a:solidFill>
                <a:effectLst/>
                <a:latin typeface="Inter"/>
              </a:rPr>
              <a:t>, es una colección de datos orientada a temas, integrada, variante en el tiempo y no volátil.</a:t>
            </a:r>
          </a:p>
          <a:p>
            <a:pPr algn="l">
              <a:spcBef>
                <a:spcPts val="1500"/>
              </a:spcBef>
              <a:buNone/>
            </a:pPr>
            <a:r>
              <a:rPr lang="es-ES" sz="3600" b="0" i="0" dirty="0">
                <a:solidFill>
                  <a:schemeClr val="tx1"/>
                </a:solidFill>
                <a:effectLst/>
                <a:latin typeface="Inter"/>
              </a:rPr>
              <a:t>Su propósito principal es soportar el proceso de </a:t>
            </a:r>
            <a:r>
              <a:rPr lang="es-ES" sz="3600" b="1" i="0" dirty="0">
                <a:solidFill>
                  <a:schemeClr val="tx1"/>
                </a:solidFill>
                <a:effectLst/>
                <a:latin typeface="Inter"/>
              </a:rPr>
              <a:t>toma de decisiones</a:t>
            </a:r>
            <a:r>
              <a:rPr lang="es-ES" sz="3600" b="0" i="0" dirty="0">
                <a:solidFill>
                  <a:schemeClr val="tx1"/>
                </a:solidFill>
                <a:effectLst/>
                <a:latin typeface="Inter"/>
              </a:rPr>
              <a:t> de la gerencia, actuando como una "única fuente de verdad" separada de los sistemas operativos diarios.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DD930319-3BCE-A7CC-CE5D-0BDC56BD58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856652"/>
            <a:ext cx="7935432" cy="857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932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92828-1556-0618-F727-174C54B3E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2A2A98E-16D2-BEC6-280C-34CE999CD89F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1B8AA29-F2BB-F7C9-D717-F8849DB8BC73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AC1127A9-D747-D544-6EBF-E5694C1F4FA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3A365942-A523-4FA5-FC69-97A62978E10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153C4E51-4971-5952-5C36-230B14DFA84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A47702A-9E15-0E67-8E38-68C19DF11DCF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FEBBCD5-E9E9-F902-1ABE-5DF3ACD954E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48950FDE-A6BE-24EA-12F8-A0D67C9A2CEC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6EF016B0-AD68-CE71-0ED5-370A00085A5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D254D337-C658-D018-EF97-692A7BC064A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4" name="Diagrama 13">
            <a:extLst>
              <a:ext uri="{FF2B5EF4-FFF2-40B4-BE49-F238E27FC236}">
                <a16:creationId xmlns:a16="http://schemas.microsoft.com/office/drawing/2014/main" id="{C98A5D66-C2FD-5831-D243-7EF74CAF9C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2440293"/>
              </p:ext>
            </p:extLst>
          </p:nvPr>
        </p:nvGraphicFramePr>
        <p:xfrm>
          <a:off x="3261674" y="3346809"/>
          <a:ext cx="11161335" cy="4854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20" name="Diagrama 19">
            <a:extLst>
              <a:ext uri="{FF2B5EF4-FFF2-40B4-BE49-F238E27FC236}">
                <a16:creationId xmlns:a16="http://schemas.microsoft.com/office/drawing/2014/main" id="{915EDA5E-700B-27A4-C135-F851B6821E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4712917"/>
              </p:ext>
            </p:extLst>
          </p:nvPr>
        </p:nvGraphicFramePr>
        <p:xfrm>
          <a:off x="2151668" y="2940446"/>
          <a:ext cx="13836192" cy="51854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CEDF66FF-9FDB-1BC7-F282-1B9B2C9FCB93}"/>
              </a:ext>
            </a:extLst>
          </p:cNvPr>
          <p:cNvSpPr txBox="1"/>
          <p:nvPr/>
        </p:nvSpPr>
        <p:spPr>
          <a:xfrm>
            <a:off x="2047974" y="1363827"/>
            <a:ext cx="9186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s-ES" sz="2800" b="1" i="0" dirty="0">
                <a:solidFill>
                  <a:schemeClr val="tx1"/>
                </a:solidFill>
                <a:effectLst/>
                <a:latin typeface="Inter"/>
              </a:rPr>
              <a:t>Las 4 Características Clave</a:t>
            </a:r>
          </a:p>
        </p:txBody>
      </p:sp>
    </p:spTree>
    <p:extLst>
      <p:ext uri="{BB962C8B-B14F-4D97-AF65-F5344CB8AC3E}">
        <p14:creationId xmlns:p14="http://schemas.microsoft.com/office/powerpoint/2010/main" val="2890891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B1DA61A-F91E-0A06-1A4B-9F2DDDCD2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36A5492-D8E3-4E1A-103B-C014B1B7317D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5FAE180-6631-6CE2-9675-DBA55717804E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6C4630F3-767E-2A30-5613-3975E38DDD0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DF3C1F95-0738-85FC-5B0C-D6ADED5CFDD5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D40D98D1-AF07-5ADF-6F15-E849128439C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018C10-FF47-988E-D295-3146173B851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F141C71-2917-B461-BCB1-CF208D088D7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503317EE-34B0-9CE0-9E31-2A9C5685141B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2DED0428-6C22-2088-5252-4908ADF0BF37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F59A5F0E-E9FA-8AB0-CFA8-2783E58590A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4" name="Diagrama 13">
            <a:extLst>
              <a:ext uri="{FF2B5EF4-FFF2-40B4-BE49-F238E27FC236}">
                <a16:creationId xmlns:a16="http://schemas.microsoft.com/office/drawing/2014/main" id="{DE492A0B-0B5F-8380-1623-E58C011FE519}"/>
              </a:ext>
            </a:extLst>
          </p:cNvPr>
          <p:cNvGraphicFramePr/>
          <p:nvPr/>
        </p:nvGraphicFramePr>
        <p:xfrm>
          <a:off x="3261674" y="3346809"/>
          <a:ext cx="11161335" cy="4854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52744457-F3C2-A8AA-A24C-9355EFD18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42177"/>
              </p:ext>
            </p:extLst>
          </p:nvPr>
        </p:nvGraphicFramePr>
        <p:xfrm>
          <a:off x="2064470" y="2803083"/>
          <a:ext cx="13386063" cy="5854078"/>
        </p:xfrm>
        <a:graphic>
          <a:graphicData uri="http://schemas.openxmlformats.org/drawingml/2006/table">
            <a:tbl>
              <a:tblPr/>
              <a:tblGrid>
                <a:gridCol w="3176833">
                  <a:extLst>
                    <a:ext uri="{9D8B030D-6E8A-4147-A177-3AD203B41FA5}">
                      <a16:colId xmlns:a16="http://schemas.microsoft.com/office/drawing/2014/main" val="3659434484"/>
                    </a:ext>
                  </a:extLst>
                </a:gridCol>
                <a:gridCol w="4854644">
                  <a:extLst>
                    <a:ext uri="{9D8B030D-6E8A-4147-A177-3AD203B41FA5}">
                      <a16:colId xmlns:a16="http://schemas.microsoft.com/office/drawing/2014/main" val="2797480003"/>
                    </a:ext>
                  </a:extLst>
                </a:gridCol>
                <a:gridCol w="5354586">
                  <a:extLst>
                    <a:ext uri="{9D8B030D-6E8A-4147-A177-3AD203B41FA5}">
                      <a16:colId xmlns:a16="http://schemas.microsoft.com/office/drawing/2014/main" val="1387501103"/>
                    </a:ext>
                  </a:extLst>
                </a:gridCol>
              </a:tblGrid>
              <a:tr h="10067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 b="1" cap="all">
                          <a:solidFill>
                            <a:schemeClr val="tx1"/>
                          </a:solidFill>
                          <a:effectLst/>
                        </a:rPr>
                        <a:t>Característica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 b="1" cap="all">
                          <a:solidFill>
                            <a:schemeClr val="tx1"/>
                          </a:solidFill>
                          <a:effectLst/>
                        </a:rPr>
                        <a:t>OLTP (Operacional)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 b="1" cap="all">
                          <a:solidFill>
                            <a:schemeClr val="tx1"/>
                          </a:solidFill>
                          <a:effectLst/>
                        </a:rPr>
                        <a:t>OLAP (Analítico)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198133"/>
                  </a:ext>
                </a:extLst>
              </a:tr>
              <a:tr h="10067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 b="1" dirty="0">
                          <a:solidFill>
                            <a:schemeClr val="tx1"/>
                          </a:solidFill>
                          <a:effectLst/>
                        </a:rPr>
                        <a:t>Objetivo</a:t>
                      </a:r>
                      <a:endParaRPr lang="es-CO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>
                          <a:solidFill>
                            <a:schemeClr val="tx1"/>
                          </a:solidFill>
                          <a:effectLst/>
                        </a:rPr>
                        <a:t>Operaciones diarias (Transacciones)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400">
                          <a:solidFill>
                            <a:schemeClr val="tx1"/>
                          </a:solidFill>
                          <a:effectLst/>
                        </a:rPr>
                        <a:t>Análisis y toma de decisiones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378748"/>
                  </a:ext>
                </a:extLst>
              </a:tr>
              <a:tr h="10067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 b="1">
                          <a:solidFill>
                            <a:schemeClr val="tx1"/>
                          </a:solidFill>
                          <a:effectLst/>
                        </a:rPr>
                        <a:t>Datos</a:t>
                      </a:r>
                      <a:endParaRPr lang="es-CO" sz="24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>
                          <a:solidFill>
                            <a:schemeClr val="tx1"/>
                          </a:solidFill>
                          <a:effectLst/>
                        </a:rPr>
                        <a:t>Detallados, actuales, normalizados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>
                          <a:solidFill>
                            <a:schemeClr val="tx1"/>
                          </a:solidFill>
                          <a:effectLst/>
                        </a:rPr>
                        <a:t>Resumidos, históricos, multidimensionales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02976"/>
                  </a:ext>
                </a:extLst>
              </a:tr>
              <a:tr h="10067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 b="1">
                          <a:solidFill>
                            <a:schemeClr val="tx1"/>
                          </a:solidFill>
                          <a:effectLst/>
                        </a:rPr>
                        <a:t>Acceso</a:t>
                      </a:r>
                      <a:endParaRPr lang="es-CO" sz="24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400">
                          <a:solidFill>
                            <a:schemeClr val="tx1"/>
                          </a:solidFill>
                          <a:effectLst/>
                        </a:rPr>
                        <a:t>Lectura/Escritura rápida y corta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>
                          <a:solidFill>
                            <a:schemeClr val="tx1"/>
                          </a:solidFill>
                          <a:effectLst/>
                        </a:rPr>
                        <a:t>Consultas complejas de lectura masiva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119780"/>
                  </a:ext>
                </a:extLst>
              </a:tr>
              <a:tr h="10067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 b="1">
                          <a:solidFill>
                            <a:schemeClr val="tx1"/>
                          </a:solidFill>
                          <a:effectLst/>
                        </a:rPr>
                        <a:t>Usuarios</a:t>
                      </a:r>
                      <a:endParaRPr lang="es-CO" sz="24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>
                          <a:solidFill>
                            <a:schemeClr val="tx1"/>
                          </a:solidFill>
                          <a:effectLst/>
                        </a:rPr>
                        <a:t>Empleados operativos, Clientes (Cajeros)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>
                          <a:solidFill>
                            <a:schemeClr val="tx1"/>
                          </a:solidFill>
                          <a:effectLst/>
                        </a:rPr>
                        <a:t>Ejecutivos, Gerentes, Analistas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7158801"/>
                  </a:ext>
                </a:extLst>
              </a:tr>
              <a:tr h="6848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 b="1">
                          <a:solidFill>
                            <a:schemeClr val="tx1"/>
                          </a:solidFill>
                          <a:effectLst/>
                        </a:rPr>
                        <a:t>Volumen</a:t>
                      </a:r>
                      <a:endParaRPr lang="es-CO" sz="24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>
                          <a:solidFill>
                            <a:schemeClr val="tx1"/>
                          </a:solidFill>
                          <a:effectLst/>
                        </a:rPr>
                        <a:t>Megabytes a Gigabytes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 dirty="0">
                          <a:solidFill>
                            <a:schemeClr val="tx1"/>
                          </a:solidFill>
                          <a:effectLst/>
                        </a:rPr>
                        <a:t>Terabytes a </a:t>
                      </a:r>
                      <a:r>
                        <a:rPr lang="es-CO" sz="2400" dirty="0" err="1">
                          <a:solidFill>
                            <a:schemeClr val="tx1"/>
                          </a:solidFill>
                          <a:effectLst/>
                        </a:rPr>
                        <a:t>Petabytes</a:t>
                      </a:r>
                      <a:endParaRPr lang="es-CO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124116"/>
                  </a:ext>
                </a:extLst>
              </a:tr>
            </a:tbl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5D087B8A-24A0-0B11-CD48-CE7F2DA3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0075" y="1208348"/>
            <a:ext cx="3666068" cy="1304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856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800" b="1" i="0" u="none" strike="noStrike" cap="none" normalizeH="0" baseline="0" dirty="0">
                <a:ln>
                  <a:noFill/>
                </a:ln>
                <a:effectLst/>
                <a:latin typeface="Inter"/>
              </a:rPr>
              <a:t>OLTP vs. OLAP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411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0F74C-0C4A-C8E1-B69A-C2EB246D1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0AF7C0B-EA18-C0D7-C4A1-016A36FDA7B3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43C5B71-76EB-E885-44A0-A8B62D4154E5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7360313D-E44D-5317-EF98-B43A3D616168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341942F2-908D-036D-842F-60A6276AD935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116020BE-2188-D4E7-0878-6A2E1F0B5FA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70EA18D-57AB-BA71-B370-A4F5A37DF5DE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4876D3F-B0DD-9FF4-1F73-20F851F199B6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BE9EC8F-4EE4-BFFA-F4BD-49BF60E063A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1EFF523-6071-3E11-F6F0-57644341FF4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3DA4ABAE-5D91-BDA2-4900-C18E54AF68E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4" name="Diagrama 13">
            <a:extLst>
              <a:ext uri="{FF2B5EF4-FFF2-40B4-BE49-F238E27FC236}">
                <a16:creationId xmlns:a16="http://schemas.microsoft.com/office/drawing/2014/main" id="{D197170E-C532-D3C7-AA8A-23C12F0ACE38}"/>
              </a:ext>
            </a:extLst>
          </p:cNvPr>
          <p:cNvGraphicFramePr/>
          <p:nvPr/>
        </p:nvGraphicFramePr>
        <p:xfrm>
          <a:off x="3261674" y="3346809"/>
          <a:ext cx="11161335" cy="4854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825CFBBF-2552-5BCD-CFDF-E8BF20710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0075" y="1208348"/>
            <a:ext cx="3666068" cy="1304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856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800" b="1" i="0" u="none" strike="noStrike" cap="none" normalizeH="0" baseline="0" dirty="0">
                <a:ln>
                  <a:noFill/>
                </a:ln>
                <a:effectLst/>
                <a:latin typeface="Inter"/>
              </a:rPr>
              <a:t>OLTP vs. OLAP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29458A53-E17E-9971-9013-D62BE1A39A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034201"/>
              </p:ext>
            </p:extLst>
          </p:nvPr>
        </p:nvGraphicFramePr>
        <p:xfrm>
          <a:off x="5085507" y="2705787"/>
          <a:ext cx="8248962" cy="5688860"/>
        </p:xfrm>
        <a:graphic>
          <a:graphicData uri="http://schemas.openxmlformats.org/drawingml/2006/table">
            <a:tbl>
              <a:tblPr/>
              <a:tblGrid>
                <a:gridCol w="2749654">
                  <a:extLst>
                    <a:ext uri="{9D8B030D-6E8A-4147-A177-3AD203B41FA5}">
                      <a16:colId xmlns:a16="http://schemas.microsoft.com/office/drawing/2014/main" val="1443258468"/>
                    </a:ext>
                  </a:extLst>
                </a:gridCol>
                <a:gridCol w="2749654">
                  <a:extLst>
                    <a:ext uri="{9D8B030D-6E8A-4147-A177-3AD203B41FA5}">
                      <a16:colId xmlns:a16="http://schemas.microsoft.com/office/drawing/2014/main" val="351878765"/>
                    </a:ext>
                  </a:extLst>
                </a:gridCol>
                <a:gridCol w="2749654">
                  <a:extLst>
                    <a:ext uri="{9D8B030D-6E8A-4147-A177-3AD203B41FA5}">
                      <a16:colId xmlns:a16="http://schemas.microsoft.com/office/drawing/2014/main" val="3200898724"/>
                    </a:ext>
                  </a:extLst>
                </a:gridCol>
              </a:tblGrid>
              <a:tr h="6171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 b="1" dirty="0"/>
                        <a:t>Aspecto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 b="1" dirty="0"/>
                        <a:t>Bases de datos operacionales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 b="1" dirty="0"/>
                        <a:t>Almacenes de datos (Data </a:t>
                      </a:r>
                      <a:r>
                        <a:rPr lang="es-CO" sz="1600" b="1" dirty="0" err="1"/>
                        <a:t>Warehouses</a:t>
                      </a:r>
                      <a:r>
                        <a:rPr lang="es-CO" sz="1600" b="1" dirty="0"/>
                        <a:t>)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1763127"/>
                  </a:ext>
                </a:extLst>
              </a:tr>
              <a:tr h="513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/>
                        <a:t>Tipo de usuario</a:t>
                      </a:r>
                      <a:endParaRPr lang="es-CO" sz="1200"/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dirty="0"/>
                        <a:t>Operadores, empleados de oficina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dirty="0"/>
                        <a:t>Gerentes, ejecutivos de cuentas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239514"/>
                  </a:ext>
                </a:extLst>
              </a:tr>
              <a:tr h="301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/>
                        <a:t>Uso</a:t>
                      </a:r>
                      <a:endParaRPr lang="es-CO" sz="1200"/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/>
                        <a:t>Predecible, repetitivo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/>
                        <a:t>Ad hoc, no estructurado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01530"/>
                  </a:ext>
                </a:extLst>
              </a:tr>
              <a:tr h="301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/>
                        <a:t>Contenido de datos</a:t>
                      </a:r>
                      <a:endParaRPr lang="es-CO" sz="1200"/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/>
                        <a:t>Datos actuales y detallados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/>
                        <a:t>Datos históricos y resumidos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368984"/>
                  </a:ext>
                </a:extLst>
              </a:tr>
              <a:tr h="301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/>
                        <a:t>Organización de datos</a:t>
                      </a:r>
                      <a:endParaRPr lang="es-CO" sz="1200"/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/>
                        <a:t>Según necesidades operativas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/>
                        <a:t>Según necesidades de análisis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879581"/>
                  </a:ext>
                </a:extLst>
              </a:tr>
              <a:tr h="513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/>
                        <a:t>Estructuras de datos</a:t>
                      </a:r>
                      <a:endParaRPr lang="es-CO" sz="1200"/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/>
                        <a:t>Optimizadas para transacciones pequeñas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/>
                        <a:t>Optimizadas para consultas complejas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59866"/>
                  </a:ext>
                </a:extLst>
              </a:tr>
              <a:tr h="301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/>
                        <a:t>Frecuencia de acceso</a:t>
                      </a:r>
                      <a:endParaRPr lang="es-CO" sz="1200"/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/>
                        <a:t>Alta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/>
                        <a:t>De media a baja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3146528"/>
                  </a:ext>
                </a:extLst>
              </a:tr>
              <a:tr h="513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/>
                        <a:t>Tipo de acceso</a:t>
                      </a:r>
                      <a:endParaRPr lang="es-CO" sz="1200"/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dirty="0"/>
                        <a:t>Lectura </a:t>
                      </a:r>
                      <a:r>
                        <a:rPr lang="es-CO" sz="1200" b="1" dirty="0"/>
                        <a:t>(No masivas)*, </a:t>
                      </a:r>
                      <a:r>
                        <a:rPr lang="es-CO" sz="1200" dirty="0"/>
                        <a:t>inserción, actualización, eliminación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/>
                        <a:t>Lectura, solo agregar (append)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117083"/>
                  </a:ext>
                </a:extLst>
              </a:tr>
              <a:tr h="301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/>
                        <a:t># registros/acceso</a:t>
                      </a:r>
                      <a:endParaRPr lang="es-CO" sz="1200"/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/>
                        <a:t>Pocos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/>
                        <a:t>Muchos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355620"/>
                  </a:ext>
                </a:extLst>
              </a:tr>
              <a:tr h="301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/>
                        <a:t>Tiempo de respuesta</a:t>
                      </a:r>
                      <a:endParaRPr lang="es-CO" sz="1200"/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/>
                        <a:t>Corto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/>
                        <a:t>Puede ser largo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0246525"/>
                  </a:ext>
                </a:extLst>
              </a:tr>
              <a:tr h="301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/>
                        <a:t>Nivel de concurrencia</a:t>
                      </a:r>
                      <a:endParaRPr lang="es-CO" sz="1200"/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/>
                        <a:t>Alto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/>
                        <a:t>Bajo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733859"/>
                  </a:ext>
                </a:extLst>
              </a:tr>
              <a:tr h="301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/>
                        <a:t>Uso de bloqueos</a:t>
                      </a:r>
                      <a:endParaRPr lang="es-CO" sz="1200"/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/>
                        <a:t>Necesario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/>
                        <a:t>No necesario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726367"/>
                  </a:ext>
                </a:extLst>
              </a:tr>
              <a:tr h="301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/>
                        <a:t>Frecuencia de actualización</a:t>
                      </a:r>
                      <a:endParaRPr lang="es-CO" sz="1200"/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/>
                        <a:t>Alta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/>
                        <a:t>Ninguna / Nula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736190"/>
                  </a:ext>
                </a:extLst>
              </a:tr>
              <a:tr h="301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/>
                        <a:t>Redundancia de datos</a:t>
                      </a:r>
                      <a:endParaRPr lang="es-CO" sz="1200"/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/>
                        <a:t>Baja (tablas normalizadas)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/>
                        <a:t>Alta (tablas desnormalizadas)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90374"/>
                  </a:ext>
                </a:extLst>
              </a:tr>
              <a:tr h="513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/>
                        <a:t>Modelado de datos</a:t>
                      </a:r>
                      <a:endParaRPr lang="es-CO" sz="1200"/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/>
                        <a:t>UML, modelo ER (Entidad-Relación)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dirty="0"/>
                        <a:t>Modelo multidimensional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019954"/>
                  </a:ext>
                </a:extLst>
              </a:tr>
            </a:tbl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57920E9B-4032-54DC-6EB1-FC3FF4E440C9}"/>
              </a:ext>
            </a:extLst>
          </p:cNvPr>
          <p:cNvSpPr txBox="1"/>
          <p:nvPr/>
        </p:nvSpPr>
        <p:spPr>
          <a:xfrm>
            <a:off x="5085507" y="8751942"/>
            <a:ext cx="712086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Tomado de </a:t>
            </a:r>
            <a:r>
              <a:rPr lang="es-CO" b="1" dirty="0" err="1"/>
              <a:t>Vaisman</a:t>
            </a:r>
            <a:r>
              <a:rPr lang="es-CO" b="1" dirty="0"/>
              <a:t>, A., &amp; </a:t>
            </a:r>
            <a:r>
              <a:rPr lang="es-CO" b="1" dirty="0" err="1"/>
              <a:t>Zimányi</a:t>
            </a:r>
            <a:r>
              <a:rPr lang="es-CO" b="1" dirty="0"/>
              <a:t>, E. (2022). </a:t>
            </a:r>
            <a:r>
              <a:rPr lang="es-CO" b="1" i="1" dirty="0"/>
              <a:t>Data </a:t>
            </a:r>
            <a:r>
              <a:rPr lang="es-CO" b="1" i="1" dirty="0" err="1"/>
              <a:t>Warehouse</a:t>
            </a:r>
            <a:r>
              <a:rPr lang="es-CO" b="1" i="1" dirty="0"/>
              <a:t> </a:t>
            </a:r>
            <a:r>
              <a:rPr lang="es-CO" b="1" i="1" dirty="0" err="1"/>
              <a:t>Systems</a:t>
            </a:r>
            <a:r>
              <a:rPr lang="es-CO" b="1" dirty="0"/>
              <a:t>. Springer.</a:t>
            </a:r>
          </a:p>
          <a:p>
            <a:r>
              <a:rPr lang="es-CO" dirty="0"/>
              <a:t>Traducción propia </a:t>
            </a:r>
          </a:p>
          <a:p>
            <a:r>
              <a:rPr lang="es-CO" dirty="0"/>
              <a:t>*Agregado</a:t>
            </a:r>
          </a:p>
          <a:p>
            <a:r>
              <a:rPr lang="es-CO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7230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AB296-26ED-AD76-28A4-9D9C9D6CB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E347AB8-3D89-7B06-F0BD-E7E266E1F393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F1B1358-1D24-11E5-4B7E-F5B5D322E270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74BB63CC-8A12-EC06-CB3E-A9B21603ACF8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0E9EF38F-CB3E-A9DA-9B28-5E9AC8F1DB9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608B07ED-F34D-0C48-7C13-73FF44926C6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1D8A52E-D26C-83CD-DA0A-7C61C4F278BB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B6028CA-BA57-B752-8269-787A0A9F097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63F7CDFB-22C1-334A-4DB6-6780ADC1588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4EEC771C-0489-DF7C-FA97-DB7DDE42356C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11F97C7-9A3F-640A-FC24-EE9EF4A92C8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4" name="Diagrama 13">
            <a:extLst>
              <a:ext uri="{FF2B5EF4-FFF2-40B4-BE49-F238E27FC236}">
                <a16:creationId xmlns:a16="http://schemas.microsoft.com/office/drawing/2014/main" id="{81EBFA72-3B7D-3632-091D-0F06DCBF03E5}"/>
              </a:ext>
            </a:extLst>
          </p:cNvPr>
          <p:cNvGraphicFramePr/>
          <p:nvPr/>
        </p:nvGraphicFramePr>
        <p:xfrm>
          <a:off x="3261674" y="3346809"/>
          <a:ext cx="11161335" cy="4854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2" name="Imagen 11">
            <a:extLst>
              <a:ext uri="{FF2B5EF4-FFF2-40B4-BE49-F238E27FC236}">
                <a16:creationId xmlns:a16="http://schemas.microsoft.com/office/drawing/2014/main" id="{CC9E7FE1-6636-DC7A-6938-1D16B66D9A4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14847" y="2637583"/>
            <a:ext cx="7524872" cy="476996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8B971E1-6E74-C97C-96F3-356FA9ECFA8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90305" y="3103485"/>
            <a:ext cx="7783959" cy="4080027"/>
          </a:xfrm>
          <a:prstGeom prst="rect">
            <a:avLst/>
          </a:prstGeom>
        </p:spPr>
      </p:pic>
      <p:grpSp>
        <p:nvGrpSpPr>
          <p:cNvPr id="15" name="Google Shape;108;p2">
            <a:extLst>
              <a:ext uri="{FF2B5EF4-FFF2-40B4-BE49-F238E27FC236}">
                <a16:creationId xmlns:a16="http://schemas.microsoft.com/office/drawing/2014/main" id="{48F6728C-10A1-BA04-BF09-76F6BEFB4C0F}"/>
              </a:ext>
            </a:extLst>
          </p:cNvPr>
          <p:cNvGrpSpPr/>
          <p:nvPr/>
        </p:nvGrpSpPr>
        <p:grpSpPr>
          <a:xfrm>
            <a:off x="1952032" y="7314814"/>
            <a:ext cx="6450502" cy="1492780"/>
            <a:chOff x="0" y="-375833"/>
            <a:chExt cx="7433261" cy="1990374"/>
          </a:xfrm>
        </p:grpSpPr>
        <p:grpSp>
          <p:nvGrpSpPr>
            <p:cNvPr id="16" name="Google Shape;109;p2">
              <a:extLst>
                <a:ext uri="{FF2B5EF4-FFF2-40B4-BE49-F238E27FC236}">
                  <a16:creationId xmlns:a16="http://schemas.microsoft.com/office/drawing/2014/main" id="{3233C1EA-E32D-091D-CBF4-3D47C857C180}"/>
                </a:ext>
              </a:extLst>
            </p:cNvPr>
            <p:cNvGrpSpPr/>
            <p:nvPr/>
          </p:nvGrpSpPr>
          <p:grpSpPr>
            <a:xfrm>
              <a:off x="0" y="-375833"/>
              <a:ext cx="7433261" cy="1268555"/>
              <a:chOff x="0" y="-88088"/>
              <a:chExt cx="1742214" cy="297325"/>
            </a:xfrm>
          </p:grpSpPr>
          <p:sp>
            <p:nvSpPr>
              <p:cNvPr id="18" name="Google Shape;110;p2">
                <a:extLst>
                  <a:ext uri="{FF2B5EF4-FFF2-40B4-BE49-F238E27FC236}">
                    <a16:creationId xmlns:a16="http://schemas.microsoft.com/office/drawing/2014/main" id="{2D601888-F44D-B77E-E5A5-5108C76A5B73}"/>
                  </a:ext>
                </a:extLst>
              </p:cNvPr>
              <p:cNvSpPr/>
              <p:nvPr/>
            </p:nvSpPr>
            <p:spPr>
              <a:xfrm>
                <a:off x="0" y="0"/>
                <a:ext cx="1742214" cy="209237"/>
              </a:xfrm>
              <a:custGeom>
                <a:avLst/>
                <a:gdLst/>
                <a:ahLst/>
                <a:cxnLst/>
                <a:rect l="l" t="t" r="r" b="b"/>
                <a:pathLst>
                  <a:path w="1742214" h="209237" extrusionOk="0">
                    <a:moveTo>
                      <a:pt x="39813" y="0"/>
                    </a:moveTo>
                    <a:lnTo>
                      <a:pt x="1702400" y="0"/>
                    </a:lnTo>
                    <a:cubicBezTo>
                      <a:pt x="1712959" y="0"/>
                      <a:pt x="1723086" y="4195"/>
                      <a:pt x="1730553" y="11661"/>
                    </a:cubicBezTo>
                    <a:cubicBezTo>
                      <a:pt x="1738019" y="19127"/>
                      <a:pt x="1742214" y="29254"/>
                      <a:pt x="1742214" y="39813"/>
                    </a:cubicBezTo>
                    <a:lnTo>
                      <a:pt x="1742214" y="169424"/>
                    </a:lnTo>
                    <a:cubicBezTo>
                      <a:pt x="1742214" y="179983"/>
                      <a:pt x="1738019" y="190109"/>
                      <a:pt x="1730553" y="197576"/>
                    </a:cubicBezTo>
                    <a:cubicBezTo>
                      <a:pt x="1723086" y="205042"/>
                      <a:pt x="1712959" y="209237"/>
                      <a:pt x="1702400" y="209237"/>
                    </a:cubicBezTo>
                    <a:lnTo>
                      <a:pt x="39813" y="209237"/>
                    </a:lnTo>
                    <a:cubicBezTo>
                      <a:pt x="29254" y="209237"/>
                      <a:pt x="19127" y="205042"/>
                      <a:pt x="11661" y="197576"/>
                    </a:cubicBezTo>
                    <a:cubicBezTo>
                      <a:pt x="4195" y="190109"/>
                      <a:pt x="0" y="179983"/>
                      <a:pt x="0" y="169424"/>
                    </a:cubicBezTo>
                    <a:lnTo>
                      <a:pt x="0" y="39813"/>
                    </a:lnTo>
                    <a:cubicBezTo>
                      <a:pt x="0" y="29254"/>
                      <a:pt x="4195" y="19127"/>
                      <a:pt x="11661" y="11661"/>
                    </a:cubicBezTo>
                    <a:cubicBezTo>
                      <a:pt x="19127" y="4195"/>
                      <a:pt x="29254" y="0"/>
                      <a:pt x="39813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0055"/>
                  </a:gs>
                  <a:gs pos="33333">
                    <a:srgbClr val="C20052"/>
                  </a:gs>
                  <a:gs pos="66667">
                    <a:srgbClr val="6B1374"/>
                  </a:gs>
                  <a:gs pos="100000">
                    <a:srgbClr val="700A89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11;p2">
                <a:extLst>
                  <a:ext uri="{FF2B5EF4-FFF2-40B4-BE49-F238E27FC236}">
                    <a16:creationId xmlns:a16="http://schemas.microsoft.com/office/drawing/2014/main" id="{4C86E8E9-EE67-7F4D-E8B0-85B0432DC013}"/>
                  </a:ext>
                </a:extLst>
              </p:cNvPr>
              <p:cNvSpPr txBox="1"/>
              <p:nvPr/>
            </p:nvSpPr>
            <p:spPr>
              <a:xfrm>
                <a:off x="0" y="-88088"/>
                <a:ext cx="1742214" cy="2092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39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" name="Google Shape;112;p2">
              <a:extLst>
                <a:ext uri="{FF2B5EF4-FFF2-40B4-BE49-F238E27FC236}">
                  <a16:creationId xmlns:a16="http://schemas.microsoft.com/office/drawing/2014/main" id="{820DB663-E605-AC34-F9FD-6AB2C33DE9D5}"/>
                </a:ext>
              </a:extLst>
            </p:cNvPr>
            <p:cNvSpPr txBox="1"/>
            <p:nvPr/>
          </p:nvSpPr>
          <p:spPr>
            <a:xfrm>
              <a:off x="251861" y="70528"/>
              <a:ext cx="7181400" cy="15440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20026"/>
                </a:lnSpc>
              </a:pPr>
              <a:r>
                <a:rPr lang="es-CO" sz="3200" dirty="0">
                  <a:solidFill>
                    <a:schemeClr val="bg1"/>
                  </a:solidFill>
                </a:rPr>
                <a:t>Metodología de </a:t>
              </a:r>
              <a:r>
                <a:rPr lang="es-CO" sz="3200" dirty="0" err="1">
                  <a:solidFill>
                    <a:schemeClr val="bg1"/>
                  </a:solidFill>
                </a:rPr>
                <a:t>Inmon</a:t>
              </a:r>
              <a:endParaRPr lang="es-CO" sz="3200" dirty="0">
                <a:solidFill>
                  <a:schemeClr val="bg1"/>
                </a:solidFill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" name="Google Shape;108;p2">
            <a:extLst>
              <a:ext uri="{FF2B5EF4-FFF2-40B4-BE49-F238E27FC236}">
                <a16:creationId xmlns:a16="http://schemas.microsoft.com/office/drawing/2014/main" id="{C3E78533-F9D3-EBB2-1A18-514977FF93B8}"/>
              </a:ext>
            </a:extLst>
          </p:cNvPr>
          <p:cNvGrpSpPr/>
          <p:nvPr/>
        </p:nvGrpSpPr>
        <p:grpSpPr>
          <a:xfrm>
            <a:off x="10623087" y="7289047"/>
            <a:ext cx="6450502" cy="1492780"/>
            <a:chOff x="0" y="-375833"/>
            <a:chExt cx="7433261" cy="1990374"/>
          </a:xfrm>
        </p:grpSpPr>
        <p:grpSp>
          <p:nvGrpSpPr>
            <p:cNvPr id="21" name="Google Shape;109;p2">
              <a:extLst>
                <a:ext uri="{FF2B5EF4-FFF2-40B4-BE49-F238E27FC236}">
                  <a16:creationId xmlns:a16="http://schemas.microsoft.com/office/drawing/2014/main" id="{79314E65-0F80-C305-02CA-25F01E7875AC}"/>
                </a:ext>
              </a:extLst>
            </p:cNvPr>
            <p:cNvGrpSpPr/>
            <p:nvPr/>
          </p:nvGrpSpPr>
          <p:grpSpPr>
            <a:xfrm>
              <a:off x="0" y="-375833"/>
              <a:ext cx="7433261" cy="1268555"/>
              <a:chOff x="0" y="-88088"/>
              <a:chExt cx="1742214" cy="297325"/>
            </a:xfrm>
          </p:grpSpPr>
          <p:sp>
            <p:nvSpPr>
              <p:cNvPr id="23" name="Google Shape;110;p2">
                <a:extLst>
                  <a:ext uri="{FF2B5EF4-FFF2-40B4-BE49-F238E27FC236}">
                    <a16:creationId xmlns:a16="http://schemas.microsoft.com/office/drawing/2014/main" id="{584DF550-7380-FE1B-C62F-2B3889AA66CD}"/>
                  </a:ext>
                </a:extLst>
              </p:cNvPr>
              <p:cNvSpPr/>
              <p:nvPr/>
            </p:nvSpPr>
            <p:spPr>
              <a:xfrm>
                <a:off x="0" y="0"/>
                <a:ext cx="1742214" cy="209237"/>
              </a:xfrm>
              <a:custGeom>
                <a:avLst/>
                <a:gdLst/>
                <a:ahLst/>
                <a:cxnLst/>
                <a:rect l="l" t="t" r="r" b="b"/>
                <a:pathLst>
                  <a:path w="1742214" h="209237" extrusionOk="0">
                    <a:moveTo>
                      <a:pt x="39813" y="0"/>
                    </a:moveTo>
                    <a:lnTo>
                      <a:pt x="1702400" y="0"/>
                    </a:lnTo>
                    <a:cubicBezTo>
                      <a:pt x="1712959" y="0"/>
                      <a:pt x="1723086" y="4195"/>
                      <a:pt x="1730553" y="11661"/>
                    </a:cubicBezTo>
                    <a:cubicBezTo>
                      <a:pt x="1738019" y="19127"/>
                      <a:pt x="1742214" y="29254"/>
                      <a:pt x="1742214" y="39813"/>
                    </a:cubicBezTo>
                    <a:lnTo>
                      <a:pt x="1742214" y="169424"/>
                    </a:lnTo>
                    <a:cubicBezTo>
                      <a:pt x="1742214" y="179983"/>
                      <a:pt x="1738019" y="190109"/>
                      <a:pt x="1730553" y="197576"/>
                    </a:cubicBezTo>
                    <a:cubicBezTo>
                      <a:pt x="1723086" y="205042"/>
                      <a:pt x="1712959" y="209237"/>
                      <a:pt x="1702400" y="209237"/>
                    </a:cubicBezTo>
                    <a:lnTo>
                      <a:pt x="39813" y="209237"/>
                    </a:lnTo>
                    <a:cubicBezTo>
                      <a:pt x="29254" y="209237"/>
                      <a:pt x="19127" y="205042"/>
                      <a:pt x="11661" y="197576"/>
                    </a:cubicBezTo>
                    <a:cubicBezTo>
                      <a:pt x="4195" y="190109"/>
                      <a:pt x="0" y="179983"/>
                      <a:pt x="0" y="169424"/>
                    </a:cubicBezTo>
                    <a:lnTo>
                      <a:pt x="0" y="39813"/>
                    </a:lnTo>
                    <a:cubicBezTo>
                      <a:pt x="0" y="29254"/>
                      <a:pt x="4195" y="19127"/>
                      <a:pt x="11661" y="11661"/>
                    </a:cubicBezTo>
                    <a:cubicBezTo>
                      <a:pt x="19127" y="4195"/>
                      <a:pt x="29254" y="0"/>
                      <a:pt x="39813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0055"/>
                  </a:gs>
                  <a:gs pos="33333">
                    <a:srgbClr val="C20052"/>
                  </a:gs>
                  <a:gs pos="66667">
                    <a:srgbClr val="6B1374"/>
                  </a:gs>
                  <a:gs pos="100000">
                    <a:srgbClr val="700A89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111;p2">
                <a:extLst>
                  <a:ext uri="{FF2B5EF4-FFF2-40B4-BE49-F238E27FC236}">
                    <a16:creationId xmlns:a16="http://schemas.microsoft.com/office/drawing/2014/main" id="{6755ACFF-34AB-309D-AB22-9FD8D8D85529}"/>
                  </a:ext>
                </a:extLst>
              </p:cNvPr>
              <p:cNvSpPr txBox="1"/>
              <p:nvPr/>
            </p:nvSpPr>
            <p:spPr>
              <a:xfrm>
                <a:off x="0" y="-88088"/>
                <a:ext cx="1742214" cy="2092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39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" name="Google Shape;112;p2">
              <a:extLst>
                <a:ext uri="{FF2B5EF4-FFF2-40B4-BE49-F238E27FC236}">
                  <a16:creationId xmlns:a16="http://schemas.microsoft.com/office/drawing/2014/main" id="{6EBB9F37-33E9-E4EE-9901-1CA01B72BE9B}"/>
                </a:ext>
              </a:extLst>
            </p:cNvPr>
            <p:cNvSpPr txBox="1"/>
            <p:nvPr/>
          </p:nvSpPr>
          <p:spPr>
            <a:xfrm>
              <a:off x="251861" y="70528"/>
              <a:ext cx="7181400" cy="15440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20026"/>
                </a:lnSpc>
              </a:pPr>
              <a:r>
                <a:rPr lang="es-CO" sz="3200" dirty="0">
                  <a:solidFill>
                    <a:schemeClr val="bg1"/>
                  </a:solidFill>
                </a:rPr>
                <a:t>Metodología de Kimball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2172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C4777-CE19-DF1E-6D68-A3E2B3544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597AC62-28E4-EF0A-88CB-07F6C4FEBF54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49A270D-D2B7-4443-874B-011ABF863EAC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1E317018-B149-DE3B-59D5-1A451EB4BFA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2F102A1E-3BA5-D5D9-FC39-746996B039E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F4383DAD-152D-5B21-6256-75C043DF0E6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6A3B189-0457-DCA0-B787-72D45D42A0B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A4F90C0-5961-8BA0-8EB2-8AD084D83EF6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D858D4B7-30A5-D0F4-28CD-9AF841DC4684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EA90DEC6-CB7E-78FE-B2D8-8249A6B5367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8FCCA11-F1D9-2CA9-D008-5C5A83982AF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5" name="Google Shape;108;p2">
            <a:extLst>
              <a:ext uri="{FF2B5EF4-FFF2-40B4-BE49-F238E27FC236}">
                <a16:creationId xmlns:a16="http://schemas.microsoft.com/office/drawing/2014/main" id="{2826A940-3241-996B-C4ED-3A589E58E499}"/>
              </a:ext>
            </a:extLst>
          </p:cNvPr>
          <p:cNvGrpSpPr/>
          <p:nvPr/>
        </p:nvGrpSpPr>
        <p:grpSpPr>
          <a:xfrm>
            <a:off x="720000" y="683793"/>
            <a:ext cx="7909650" cy="1519861"/>
            <a:chOff x="0" y="-375833"/>
            <a:chExt cx="7433261" cy="2026482"/>
          </a:xfrm>
        </p:grpSpPr>
        <p:grpSp>
          <p:nvGrpSpPr>
            <p:cNvPr id="16" name="Google Shape;109;p2">
              <a:extLst>
                <a:ext uri="{FF2B5EF4-FFF2-40B4-BE49-F238E27FC236}">
                  <a16:creationId xmlns:a16="http://schemas.microsoft.com/office/drawing/2014/main" id="{6C507C3F-80BA-C17F-AADB-C61374D04D7C}"/>
                </a:ext>
              </a:extLst>
            </p:cNvPr>
            <p:cNvGrpSpPr/>
            <p:nvPr/>
          </p:nvGrpSpPr>
          <p:grpSpPr>
            <a:xfrm>
              <a:off x="0" y="-375833"/>
              <a:ext cx="7433261" cy="1268555"/>
              <a:chOff x="0" y="-88088"/>
              <a:chExt cx="1742214" cy="297325"/>
            </a:xfrm>
          </p:grpSpPr>
          <p:sp>
            <p:nvSpPr>
              <p:cNvPr id="18" name="Google Shape;110;p2">
                <a:extLst>
                  <a:ext uri="{FF2B5EF4-FFF2-40B4-BE49-F238E27FC236}">
                    <a16:creationId xmlns:a16="http://schemas.microsoft.com/office/drawing/2014/main" id="{0B99483E-072D-9B56-DDCB-1E395792632B}"/>
                  </a:ext>
                </a:extLst>
              </p:cNvPr>
              <p:cNvSpPr/>
              <p:nvPr/>
            </p:nvSpPr>
            <p:spPr>
              <a:xfrm>
                <a:off x="0" y="0"/>
                <a:ext cx="1742214" cy="209237"/>
              </a:xfrm>
              <a:custGeom>
                <a:avLst/>
                <a:gdLst/>
                <a:ahLst/>
                <a:cxnLst/>
                <a:rect l="l" t="t" r="r" b="b"/>
                <a:pathLst>
                  <a:path w="1742214" h="209237" extrusionOk="0">
                    <a:moveTo>
                      <a:pt x="39813" y="0"/>
                    </a:moveTo>
                    <a:lnTo>
                      <a:pt x="1702400" y="0"/>
                    </a:lnTo>
                    <a:cubicBezTo>
                      <a:pt x="1712959" y="0"/>
                      <a:pt x="1723086" y="4195"/>
                      <a:pt x="1730553" y="11661"/>
                    </a:cubicBezTo>
                    <a:cubicBezTo>
                      <a:pt x="1738019" y="19127"/>
                      <a:pt x="1742214" y="29254"/>
                      <a:pt x="1742214" y="39813"/>
                    </a:cubicBezTo>
                    <a:lnTo>
                      <a:pt x="1742214" y="169424"/>
                    </a:lnTo>
                    <a:cubicBezTo>
                      <a:pt x="1742214" y="179983"/>
                      <a:pt x="1738019" y="190109"/>
                      <a:pt x="1730553" y="197576"/>
                    </a:cubicBezTo>
                    <a:cubicBezTo>
                      <a:pt x="1723086" y="205042"/>
                      <a:pt x="1712959" y="209237"/>
                      <a:pt x="1702400" y="209237"/>
                    </a:cubicBezTo>
                    <a:lnTo>
                      <a:pt x="39813" y="209237"/>
                    </a:lnTo>
                    <a:cubicBezTo>
                      <a:pt x="29254" y="209237"/>
                      <a:pt x="19127" y="205042"/>
                      <a:pt x="11661" y="197576"/>
                    </a:cubicBezTo>
                    <a:cubicBezTo>
                      <a:pt x="4195" y="190109"/>
                      <a:pt x="0" y="179983"/>
                      <a:pt x="0" y="169424"/>
                    </a:cubicBezTo>
                    <a:lnTo>
                      <a:pt x="0" y="39813"/>
                    </a:lnTo>
                    <a:cubicBezTo>
                      <a:pt x="0" y="29254"/>
                      <a:pt x="4195" y="19127"/>
                      <a:pt x="11661" y="11661"/>
                    </a:cubicBezTo>
                    <a:cubicBezTo>
                      <a:pt x="19127" y="4195"/>
                      <a:pt x="29254" y="0"/>
                      <a:pt x="39813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0055"/>
                  </a:gs>
                  <a:gs pos="33333">
                    <a:srgbClr val="C20052"/>
                  </a:gs>
                  <a:gs pos="66667">
                    <a:srgbClr val="6B1374"/>
                  </a:gs>
                  <a:gs pos="100000">
                    <a:srgbClr val="700A89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11;p2">
                <a:extLst>
                  <a:ext uri="{FF2B5EF4-FFF2-40B4-BE49-F238E27FC236}">
                    <a16:creationId xmlns:a16="http://schemas.microsoft.com/office/drawing/2014/main" id="{186FC3FF-F5D4-EDBA-C3FF-A459EA9C2DDC}"/>
                  </a:ext>
                </a:extLst>
              </p:cNvPr>
              <p:cNvSpPr txBox="1"/>
              <p:nvPr/>
            </p:nvSpPr>
            <p:spPr>
              <a:xfrm>
                <a:off x="0" y="-88088"/>
                <a:ext cx="1742214" cy="2092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39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" name="Google Shape;112;p2">
              <a:extLst>
                <a:ext uri="{FF2B5EF4-FFF2-40B4-BE49-F238E27FC236}">
                  <a16:creationId xmlns:a16="http://schemas.microsoft.com/office/drawing/2014/main" id="{CA2A194C-94BB-9530-8839-CE35FD37C789}"/>
                </a:ext>
              </a:extLst>
            </p:cNvPr>
            <p:cNvSpPr txBox="1"/>
            <p:nvPr/>
          </p:nvSpPr>
          <p:spPr>
            <a:xfrm>
              <a:off x="126003" y="106636"/>
              <a:ext cx="7181400" cy="15440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20026"/>
                </a:lnSpc>
              </a:pPr>
              <a:r>
                <a:rPr lang="es-CO" sz="3200" dirty="0">
                  <a:solidFill>
                    <a:schemeClr val="bg1"/>
                  </a:solidFill>
                </a:rPr>
                <a:t>Almacén de datos (Data </a:t>
              </a:r>
              <a:r>
                <a:rPr lang="es-CO" sz="3200" dirty="0" err="1">
                  <a:solidFill>
                    <a:schemeClr val="bg1"/>
                  </a:solidFill>
                </a:rPr>
                <a:t>Warehouse</a:t>
              </a:r>
              <a:r>
                <a:rPr lang="es-CO" sz="3200" dirty="0">
                  <a:solidFill>
                    <a:schemeClr val="bg1"/>
                  </a:solidFill>
                </a:rPr>
                <a:t>)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32C07F4C-D7FB-233A-DFEF-B626C034C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89648"/>
              </p:ext>
            </p:extLst>
          </p:nvPr>
        </p:nvGraphicFramePr>
        <p:xfrm>
          <a:off x="4093446" y="2697480"/>
          <a:ext cx="10180338" cy="6153915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3393446">
                  <a:extLst>
                    <a:ext uri="{9D8B030D-6E8A-4147-A177-3AD203B41FA5}">
                      <a16:colId xmlns:a16="http://schemas.microsoft.com/office/drawing/2014/main" val="1063870790"/>
                    </a:ext>
                  </a:extLst>
                </a:gridCol>
                <a:gridCol w="3393446">
                  <a:extLst>
                    <a:ext uri="{9D8B030D-6E8A-4147-A177-3AD203B41FA5}">
                      <a16:colId xmlns:a16="http://schemas.microsoft.com/office/drawing/2014/main" val="2748177755"/>
                    </a:ext>
                  </a:extLst>
                </a:gridCol>
                <a:gridCol w="3393446">
                  <a:extLst>
                    <a:ext uri="{9D8B030D-6E8A-4147-A177-3AD203B41FA5}">
                      <a16:colId xmlns:a16="http://schemas.microsoft.com/office/drawing/2014/main" val="1314264647"/>
                    </a:ext>
                  </a:extLst>
                </a:gridCol>
              </a:tblGrid>
              <a:tr h="394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Aspecto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Inmon</a:t>
                      </a:r>
                      <a:endParaRPr lang="es-CO" sz="20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Kimball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231605003"/>
                  </a:ext>
                </a:extLst>
              </a:tr>
              <a:tr h="670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Enfoque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Top-</a:t>
                      </a:r>
                      <a:r>
                        <a:rPr lang="es-CO" sz="16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down</a:t>
                      </a:r>
                      <a:r>
                        <a:rPr lang="es-CO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(EDW a </a:t>
                      </a:r>
                      <a:r>
                        <a:rPr lang="es-CO" sz="16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marts</a:t>
                      </a:r>
                      <a:r>
                        <a:rPr lang="es-CO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)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Bottom-up (</a:t>
                      </a:r>
                      <a:r>
                        <a:rPr lang="es-CO" sz="16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marts</a:t>
                      </a:r>
                      <a:r>
                        <a:rPr lang="es-CO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 “bus” corporativo)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4130316053"/>
                  </a:ext>
                </a:extLst>
              </a:tr>
              <a:tr h="670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Modelo base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3NF, orientado a integración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Dimensional (hechos/dimensiones)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869720717"/>
                  </a:ext>
                </a:extLst>
              </a:tr>
              <a:tr h="394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Punto de partida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Temas/entidades corporativas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Procesos de negocio/analítica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251448708"/>
                  </a:ext>
                </a:extLst>
              </a:tr>
              <a:tr h="670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Consultas BI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Menos amigable directo; se consulta vía marts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Muy amigable (estrella)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2293893160"/>
                  </a:ext>
                </a:extLst>
              </a:tr>
              <a:tr h="670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Integración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Máxima consistencia desde el núcleo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Dimensiones conformadas</a:t>
                      </a: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para consistencia entre marts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3617427547"/>
                  </a:ext>
                </a:extLst>
              </a:tr>
              <a:tr h="394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Time-to-value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Más lento al inicio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Rápido (valor incremental)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108730395"/>
                  </a:ext>
                </a:extLst>
              </a:tr>
              <a:tr h="670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Complejidad ETL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Alta en el EDW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ETL/ELT centrado en modelado dimensional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3014606982"/>
                  </a:ext>
                </a:extLst>
              </a:tr>
              <a:tr h="670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Riesgos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“Nunca llegar” si el EDW tarda demasiado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Silos si no se gobiernan dimensiones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2802431479"/>
                  </a:ext>
                </a:extLst>
              </a:tr>
              <a:tr h="9467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Cuándo conviene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Entorno regulado, muchas fuentes, foco en gobierno corporativo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Necesidad de reporteo y </a:t>
                      </a:r>
                      <a:r>
                        <a:rPr lang="es-ES" sz="16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KPIs</a:t>
                      </a:r>
                      <a:r>
                        <a:rPr lang="es-ES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rápidos, orientación a autoservicio BI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3906258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338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246C7-0C23-A288-E224-8366305CD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669BF41-0E60-41F7-F1F3-0918564F5239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B7FC4AC-3FA5-B490-7009-6B97A2FD68F0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60AAE44F-1BBD-26B3-6522-AB2850E18A2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47F4F85-ABDD-4AB1-4D68-3CC43D64D4D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6ED24452-0B04-AE2E-C36D-EE0BE531F43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A14D8E7-5A29-F477-7AE7-940DA9F5ED00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689DD07-8599-35F0-5B3D-B8518ADB964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7F438971-626E-EA62-8CE5-C4BCFCA5C97E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F9E586B-DBD3-BD56-FBFF-1FBD5C21B34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0A4A3C4A-DE8B-915E-345E-5B30C8CA0B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5250A88-5F1F-C2D4-0AAC-FA39A130586A}"/>
              </a:ext>
            </a:extLst>
          </p:cNvPr>
          <p:cNvSpPr txBox="1"/>
          <p:nvPr/>
        </p:nvSpPr>
        <p:spPr>
          <a:xfrm>
            <a:off x="1077012" y="2696160"/>
            <a:ext cx="7510808" cy="4750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es-ES" sz="3200" b="1" i="0" dirty="0">
                <a:solidFill>
                  <a:schemeClr val="tx1"/>
                </a:solidFill>
                <a:effectLst/>
                <a:latin typeface="JetBrains Mono"/>
              </a:rPr>
              <a:t>El Enfoque "Fábrica"</a:t>
            </a:r>
          </a:p>
          <a:p>
            <a:pPr algn="l">
              <a:buNone/>
            </a:pP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El núcleo es el </a:t>
            </a:r>
            <a:r>
              <a:rPr lang="es-ES" sz="3200" b="1" i="0" dirty="0">
                <a:solidFill>
                  <a:schemeClr val="tx1"/>
                </a:solidFill>
                <a:effectLst/>
                <a:latin typeface="Space Grotesk"/>
              </a:rPr>
              <a:t>Enterprise Data </a:t>
            </a:r>
            <a:r>
              <a:rPr lang="es-ES" sz="3200" b="1" i="0" dirty="0" err="1">
                <a:solidFill>
                  <a:schemeClr val="tx1"/>
                </a:solidFill>
                <a:effectLst/>
                <a:latin typeface="Space Grotesk"/>
              </a:rPr>
              <a:t>Warehouse</a:t>
            </a:r>
            <a:r>
              <a:rPr lang="es-ES" sz="3200" b="1" i="0" dirty="0">
                <a:solidFill>
                  <a:schemeClr val="tx1"/>
                </a:solidFill>
                <a:effectLst/>
                <a:latin typeface="Space Grotesk"/>
              </a:rPr>
              <a:t> (EDW)</a:t>
            </a: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.</a:t>
            </a:r>
          </a:p>
          <a:p>
            <a:pPr algn="l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Los datos se extraen de las fuentes.</a:t>
            </a:r>
          </a:p>
          <a:p>
            <a:pPr algn="l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Se limpian y normalizan (3NF) en el EDW central.</a:t>
            </a:r>
          </a:p>
          <a:p>
            <a:pPr algn="l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Luego, se alimentan Data </a:t>
            </a:r>
            <a:r>
              <a:rPr lang="es-ES" sz="3200" b="0" i="0" dirty="0" err="1">
                <a:solidFill>
                  <a:schemeClr val="tx1"/>
                </a:solidFill>
                <a:effectLst/>
                <a:latin typeface="Space Grotesk"/>
              </a:rPr>
              <a:t>Marts</a:t>
            </a: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 departamentales para análisis específicos.</a:t>
            </a:r>
            <a:endParaRPr lang="es-ES" b="0" i="0" dirty="0">
              <a:solidFill>
                <a:schemeClr val="tx1"/>
              </a:solidFill>
              <a:effectLst/>
              <a:latin typeface="Space Grotesk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B9CD90F-5048-7635-29C9-3ED6D9B6A6FF}"/>
              </a:ext>
            </a:extLst>
          </p:cNvPr>
          <p:cNvSpPr txBox="1"/>
          <p:nvPr/>
        </p:nvSpPr>
        <p:spPr>
          <a:xfrm>
            <a:off x="1077012" y="619028"/>
            <a:ext cx="91864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s-ES" sz="3200" b="1" i="0" dirty="0" err="1">
                <a:solidFill>
                  <a:schemeClr val="tx1"/>
                </a:solidFill>
                <a:effectLst/>
                <a:latin typeface="JetBrains Mono"/>
              </a:rPr>
              <a:t>Corporate</a:t>
            </a:r>
            <a:r>
              <a:rPr lang="es-ES" sz="3200" b="1" i="0" dirty="0">
                <a:solidFill>
                  <a:schemeClr val="tx1"/>
                </a:solidFill>
                <a:effectLst/>
                <a:latin typeface="JetBrains Mono"/>
              </a:rPr>
              <a:t> </a:t>
            </a:r>
            <a:r>
              <a:rPr lang="es-ES" sz="3200" b="1" i="0" dirty="0" err="1">
                <a:solidFill>
                  <a:schemeClr val="tx1"/>
                </a:solidFill>
                <a:effectLst/>
                <a:latin typeface="JetBrains Mono"/>
              </a:rPr>
              <a:t>Information</a:t>
            </a:r>
            <a:r>
              <a:rPr lang="es-ES" sz="3200" b="1" i="0" dirty="0">
                <a:solidFill>
                  <a:schemeClr val="tx1"/>
                </a:solidFill>
                <a:effectLst/>
                <a:latin typeface="JetBrains Mono"/>
              </a:rPr>
              <a:t> Factory (CIF)</a:t>
            </a:r>
          </a:p>
        </p:txBody>
      </p:sp>
      <p:pic>
        <p:nvPicPr>
          <p:cNvPr id="2050" name="Picture 2" descr="Diagrama de Arquitectura Inmon CIF">
            <a:extLst>
              <a:ext uri="{FF2B5EF4-FFF2-40B4-BE49-F238E27FC236}">
                <a16:creationId xmlns:a16="http://schemas.microsoft.com/office/drawing/2014/main" id="{7FBA5521-07DC-A9F2-9B18-AE12E3795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1994" y="3132416"/>
            <a:ext cx="7497545" cy="4909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118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2BA2C-C166-CF2B-3D49-8E98E7AA1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AE00EBE-B007-2216-BC5F-AF5ED8A3DA86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6522FB3-1364-9DD8-B79A-7CB24CC4742A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F764FB7F-3D36-3D81-0F1A-CDA2F954F516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720DDBD4-DD79-8D65-DF61-21134652441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6C9BB678-A6E4-1062-46CD-26BF02EE3C4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263CEDC-00DE-E2B7-17EE-AA43D7417228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2EE58AD-FC76-EEDC-72B8-8CE893DDA46C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0B536051-2E2F-4409-15B4-253547ACA5DF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1F9390B3-2FF7-575E-31B8-277BB2861DC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CE02EBAD-5860-8F6F-A3DF-AD60AEB5BE7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D01F8C5-9D92-2390-571E-28827630C7EB}"/>
              </a:ext>
            </a:extLst>
          </p:cNvPr>
          <p:cNvSpPr txBox="1"/>
          <p:nvPr/>
        </p:nvSpPr>
        <p:spPr>
          <a:xfrm>
            <a:off x="9990054" y="2597415"/>
            <a:ext cx="6099143" cy="4947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es-ES" sz="3600" b="1" i="0" cap="all" dirty="0">
                <a:solidFill>
                  <a:srgbClr val="F87171"/>
                </a:solidFill>
                <a:effectLst/>
                <a:latin typeface="JetBrains Mono"/>
              </a:rPr>
              <a:t> Desventajas</a:t>
            </a:r>
          </a:p>
          <a:p>
            <a:pPr marL="571500" indent="-571500"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Alto costo y tiempo inicial (Startup).</a:t>
            </a:r>
          </a:p>
          <a:p>
            <a:pPr marL="571500" indent="-571500"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Complejidad técnica alta (Modelado 3NF).</a:t>
            </a:r>
          </a:p>
          <a:p>
            <a:pPr marL="571500" indent="-571500"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Difícil de consultar directamente por usuarios finales (muchos JOINS).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D13E2BB-DB9E-CC2C-260D-700ECEBDA85B}"/>
              </a:ext>
            </a:extLst>
          </p:cNvPr>
          <p:cNvSpPr txBox="1"/>
          <p:nvPr/>
        </p:nvSpPr>
        <p:spPr>
          <a:xfrm>
            <a:off x="1652047" y="1172510"/>
            <a:ext cx="91864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s-ES" sz="3200" b="1" i="0" dirty="0">
                <a:solidFill>
                  <a:schemeClr val="tx1"/>
                </a:solidFill>
                <a:effectLst/>
                <a:latin typeface="JetBrains Mono"/>
              </a:rPr>
              <a:t>Ventajas y Desventajas (</a:t>
            </a:r>
            <a:r>
              <a:rPr lang="es-ES" sz="3200" b="1" i="0" dirty="0" err="1">
                <a:solidFill>
                  <a:schemeClr val="tx1"/>
                </a:solidFill>
                <a:effectLst/>
                <a:latin typeface="JetBrains Mono"/>
              </a:rPr>
              <a:t>Inmon</a:t>
            </a:r>
            <a:r>
              <a:rPr lang="es-ES" sz="3200" b="1" i="0" dirty="0">
                <a:solidFill>
                  <a:schemeClr val="tx1"/>
                </a:solidFill>
                <a:effectLst/>
                <a:latin typeface="JetBrains Mono"/>
              </a:rPr>
              <a:t>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0EECD2E-5D18-E4BB-EC89-46216E7BC527}"/>
              </a:ext>
            </a:extLst>
          </p:cNvPr>
          <p:cNvSpPr txBox="1"/>
          <p:nvPr/>
        </p:nvSpPr>
        <p:spPr>
          <a:xfrm>
            <a:off x="2052292" y="2494035"/>
            <a:ext cx="5936529" cy="6196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es-ES" sz="3600" b="1" i="0" cap="all" dirty="0">
                <a:solidFill>
                  <a:schemeClr val="tx1"/>
                </a:solidFill>
                <a:effectLst/>
                <a:latin typeface="JetBrains Mono"/>
              </a:rPr>
              <a:t> </a:t>
            </a:r>
            <a:r>
              <a:rPr lang="es-ES" sz="3600" b="1" i="0" cap="all" dirty="0">
                <a:solidFill>
                  <a:srgbClr val="00B050"/>
                </a:solidFill>
                <a:effectLst/>
                <a:latin typeface="JetBrains Mono"/>
              </a:rPr>
              <a:t>Ventajas</a:t>
            </a:r>
          </a:p>
          <a:p>
            <a:pPr marL="571500" indent="-571500"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Integridad de datos superior.</a:t>
            </a:r>
          </a:p>
          <a:p>
            <a:pPr marL="571500" indent="-571500"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Menor redundancia de almacenamiento.</a:t>
            </a:r>
          </a:p>
          <a:p>
            <a:pPr marL="571500" indent="-571500"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Facilita la actualización de datos (</a:t>
            </a:r>
            <a:r>
              <a:rPr lang="es-ES" sz="3600" b="0" i="0" dirty="0" err="1">
                <a:solidFill>
                  <a:schemeClr val="tx1"/>
                </a:solidFill>
                <a:effectLst/>
                <a:latin typeface="Space Grotesk"/>
              </a:rPr>
              <a:t>Update</a:t>
            </a: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 </a:t>
            </a:r>
            <a:r>
              <a:rPr lang="es-ES" sz="3600" b="0" i="0" dirty="0" err="1">
                <a:solidFill>
                  <a:schemeClr val="tx1"/>
                </a:solidFill>
                <a:effectLst/>
                <a:latin typeface="Space Grotesk"/>
              </a:rPr>
              <a:t>Anomalies</a:t>
            </a: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 reducidas).</a:t>
            </a:r>
          </a:p>
          <a:p>
            <a:pPr marL="571500" indent="-571500"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Visión holística de la empresa.</a:t>
            </a:r>
          </a:p>
        </p:txBody>
      </p:sp>
    </p:spTree>
    <p:extLst>
      <p:ext uri="{BB962C8B-B14F-4D97-AF65-F5344CB8AC3E}">
        <p14:creationId xmlns:p14="http://schemas.microsoft.com/office/powerpoint/2010/main" val="1801455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E085B-392F-8BB5-2686-900C822D1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B457A95-89B0-BBC2-8076-CA6C9BC4012C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55052B6-1DCC-C2B5-D1AC-6F30461FA716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1D612F21-3803-AD33-2469-FA3DF6AEF36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E4424BDF-84C3-88DB-FF01-964748E921C3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959C6471-D18B-E409-85BA-FDAAE76804D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77F2F9-4C32-56C9-4C33-047BE80E848E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7570CB3-2CA5-FB93-13A5-6A3AEB683B5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1C58BCF7-AF1B-023E-22AB-31E95D78EF56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FE32EF4-3D30-E8AF-12DE-448FAD157C32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2A0BF25E-FE2F-986D-674C-96D5F16C84E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pic>
        <p:nvPicPr>
          <p:cNvPr id="12" name="Imagen 11">
            <a:extLst>
              <a:ext uri="{FF2B5EF4-FFF2-40B4-BE49-F238E27FC236}">
                <a16:creationId xmlns:a16="http://schemas.microsoft.com/office/drawing/2014/main" id="{854ECDF3-A07D-AD0F-9602-0CB052C45D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4716" y="3438525"/>
            <a:ext cx="6572250" cy="340995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5543D6DC-008B-5520-061E-655B8ED00BF8}"/>
              </a:ext>
            </a:extLst>
          </p:cNvPr>
          <p:cNvSpPr txBox="1"/>
          <p:nvPr/>
        </p:nvSpPr>
        <p:spPr>
          <a:xfrm>
            <a:off x="1378670" y="2532730"/>
            <a:ext cx="8151830" cy="5434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s-ES" sz="3200" b="1" i="0" dirty="0">
                <a:solidFill>
                  <a:schemeClr val="tx1"/>
                </a:solidFill>
                <a:effectLst/>
                <a:latin typeface="JetBrains Mono"/>
              </a:rPr>
              <a:t>Bus </a:t>
            </a:r>
            <a:r>
              <a:rPr lang="es-ES" sz="3200" b="1" i="0" dirty="0" err="1">
                <a:solidFill>
                  <a:schemeClr val="tx1"/>
                </a:solidFill>
                <a:effectLst/>
                <a:latin typeface="JetBrains Mono"/>
              </a:rPr>
              <a:t>Architecture</a:t>
            </a:r>
            <a:endParaRPr lang="es-ES" sz="3200" b="1" i="0" dirty="0">
              <a:solidFill>
                <a:schemeClr val="tx1"/>
              </a:solidFill>
              <a:effectLst/>
              <a:latin typeface="JetBrains Mono"/>
            </a:endParaRPr>
          </a:p>
          <a:p>
            <a:pPr algn="l">
              <a:spcAft>
                <a:spcPts val="1125"/>
              </a:spcAft>
              <a:buNone/>
            </a:pPr>
            <a:r>
              <a:rPr lang="es-ES" sz="3200" b="1" i="0" dirty="0">
                <a:solidFill>
                  <a:schemeClr val="tx1"/>
                </a:solidFill>
                <a:effectLst/>
                <a:latin typeface="JetBrains Mono"/>
              </a:rPr>
              <a:t>El Enfoque "Bus"</a:t>
            </a:r>
          </a:p>
          <a:p>
            <a:pPr algn="l">
              <a:buNone/>
            </a:pP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No existe un repositorio central normalizado previo.</a:t>
            </a:r>
          </a:p>
          <a:p>
            <a:pPr marL="457200" indent="-457200" algn="l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Los datos van de </a:t>
            </a:r>
            <a:r>
              <a:rPr lang="es-ES" sz="3200" b="0" i="0" dirty="0" err="1">
                <a:solidFill>
                  <a:schemeClr val="tx1"/>
                </a:solidFill>
                <a:effectLst/>
                <a:latin typeface="Space Grotesk"/>
              </a:rPr>
              <a:t>Staging</a:t>
            </a: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 directamente a </a:t>
            </a:r>
            <a:r>
              <a:rPr lang="es-ES" sz="3200" b="1" i="0" dirty="0">
                <a:solidFill>
                  <a:schemeClr val="tx1"/>
                </a:solidFill>
                <a:effectLst/>
                <a:latin typeface="Space Grotesk"/>
              </a:rPr>
              <a:t>Data </a:t>
            </a:r>
            <a:r>
              <a:rPr lang="es-ES" sz="3200" b="1" i="0" dirty="0" err="1">
                <a:solidFill>
                  <a:schemeClr val="tx1"/>
                </a:solidFill>
                <a:effectLst/>
                <a:latin typeface="Space Grotesk"/>
              </a:rPr>
              <a:t>Marts</a:t>
            </a:r>
            <a:r>
              <a:rPr lang="es-ES" sz="3200" b="1" i="0" dirty="0">
                <a:solidFill>
                  <a:schemeClr val="tx1"/>
                </a:solidFill>
                <a:effectLst/>
                <a:latin typeface="Space Grotesk"/>
              </a:rPr>
              <a:t> Dimensionales</a:t>
            </a: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.</a:t>
            </a:r>
          </a:p>
          <a:p>
            <a:pPr marL="457200" indent="-457200" algn="l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La integración se logra mediante el </a:t>
            </a:r>
            <a:r>
              <a:rPr lang="es-ES" sz="3200" b="1" i="0" dirty="0">
                <a:solidFill>
                  <a:schemeClr val="tx1"/>
                </a:solidFill>
                <a:effectLst/>
                <a:latin typeface="Space Grotesk"/>
              </a:rPr>
              <a:t>Bus de Dimensiones Conformadas</a:t>
            </a: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 (ej. Cliente, Fecha son idénticos en todos los </a:t>
            </a:r>
            <a:r>
              <a:rPr lang="es-ES" sz="3200" b="0" i="0" dirty="0" err="1">
                <a:solidFill>
                  <a:schemeClr val="tx1"/>
                </a:solidFill>
                <a:effectLst/>
                <a:latin typeface="Space Grotesk"/>
              </a:rPr>
              <a:t>marts</a:t>
            </a: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21785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9E037-9D89-B7A5-A072-0F3FD6EBB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E0E360C-712F-9C2B-7F67-E4B8F7CDD5EB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843A975-F458-F350-B062-00C77796F317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503CD38A-551F-2A0A-7A68-648CCF74081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25034573-C12E-3809-05B4-95800204F96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ECE125FB-AAA4-7A15-0E80-A7D97E8FE02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A2CDA01-8980-23F7-F25D-B8751AF1B340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CC696CA-315C-9F78-7372-65FBB97F631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D28D5A74-8241-F36D-B743-00AEB5A0817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E1E499F1-2A84-5568-7A88-D3FCC119C26B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02724794-7A04-7F80-CB7A-AA1FD39B458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0966F67-ED62-85B1-B520-9B3083C6D7BF}"/>
              </a:ext>
            </a:extLst>
          </p:cNvPr>
          <p:cNvSpPr txBox="1"/>
          <p:nvPr/>
        </p:nvSpPr>
        <p:spPr>
          <a:xfrm>
            <a:off x="9694083" y="2966746"/>
            <a:ext cx="7527116" cy="4947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es-ES" sz="3600" b="1" i="0" cap="all" dirty="0">
                <a:solidFill>
                  <a:srgbClr val="F87171"/>
                </a:solidFill>
                <a:effectLst/>
                <a:latin typeface="JetBrains Mono"/>
              </a:rPr>
              <a:t> Desventajas</a:t>
            </a:r>
          </a:p>
          <a:p>
            <a:pPr marL="571500" indent="-571500"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i="0" dirty="0">
                <a:solidFill>
                  <a:schemeClr val="tx1"/>
                </a:solidFill>
                <a:effectLst/>
                <a:latin typeface="Space Grotesk"/>
              </a:rPr>
              <a:t>Redundancia de datos (desnormalizado).</a:t>
            </a:r>
          </a:p>
          <a:p>
            <a:pPr marL="571500" indent="-571500"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i="0" dirty="0">
                <a:solidFill>
                  <a:schemeClr val="tx1"/>
                </a:solidFill>
                <a:effectLst/>
                <a:latin typeface="Space Grotesk"/>
              </a:rPr>
              <a:t>Difícil mantener la consistencia (ETL complejo para sincronizar dimensiones).</a:t>
            </a:r>
          </a:p>
          <a:p>
            <a:pPr marL="571500" indent="-571500"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i="0" dirty="0">
                <a:solidFill>
                  <a:schemeClr val="tx1"/>
                </a:solidFill>
                <a:effectLst/>
                <a:latin typeface="Space Grotesk"/>
              </a:rPr>
              <a:t>Menos flexible para preguntas no previstas en el modelo.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CA5049F-C8AF-D7FE-9799-B6FE138495A1}"/>
              </a:ext>
            </a:extLst>
          </p:cNvPr>
          <p:cNvSpPr txBox="1"/>
          <p:nvPr/>
        </p:nvSpPr>
        <p:spPr>
          <a:xfrm>
            <a:off x="1774596" y="1420388"/>
            <a:ext cx="91864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s-ES" sz="3200" b="1" i="0" dirty="0">
                <a:solidFill>
                  <a:schemeClr val="tx1"/>
                </a:solidFill>
                <a:effectLst/>
                <a:latin typeface="JetBrains Mono"/>
              </a:rPr>
              <a:t>Ventajas y Desventajas (Kimball)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73B5BF4-B335-A53A-81CB-1D3B1861CB01}"/>
              </a:ext>
            </a:extLst>
          </p:cNvPr>
          <p:cNvSpPr txBox="1"/>
          <p:nvPr/>
        </p:nvSpPr>
        <p:spPr>
          <a:xfrm>
            <a:off x="1859437" y="2966746"/>
            <a:ext cx="5663152" cy="3980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es-ES" sz="3600" b="1" i="0" cap="all" dirty="0">
                <a:solidFill>
                  <a:schemeClr val="tx1"/>
                </a:solidFill>
                <a:effectLst/>
                <a:latin typeface="JetBrains Mono"/>
              </a:rPr>
              <a:t> </a:t>
            </a:r>
            <a:r>
              <a:rPr lang="es-ES" sz="3600" b="1" i="0" cap="all" dirty="0">
                <a:solidFill>
                  <a:srgbClr val="00B050"/>
                </a:solidFill>
                <a:effectLst/>
                <a:latin typeface="JetBrains Mono"/>
              </a:rPr>
              <a:t>Ventajas</a:t>
            </a:r>
          </a:p>
          <a:p>
            <a:pPr marL="571500" indent="-571500"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Rápido "Time-</a:t>
            </a:r>
            <a:r>
              <a:rPr lang="es-ES" sz="3600" b="0" i="0" dirty="0" err="1">
                <a:solidFill>
                  <a:schemeClr val="tx1"/>
                </a:solidFill>
                <a:effectLst/>
                <a:latin typeface="Space Grotesk"/>
              </a:rPr>
              <a:t>to</a:t>
            </a: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-</a:t>
            </a:r>
            <a:r>
              <a:rPr lang="es-ES" sz="3600" b="0" i="0" dirty="0" err="1">
                <a:solidFill>
                  <a:schemeClr val="tx1"/>
                </a:solidFill>
                <a:effectLst/>
                <a:latin typeface="Space Grotesk"/>
              </a:rPr>
              <a:t>Market</a:t>
            </a: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".</a:t>
            </a:r>
          </a:p>
          <a:p>
            <a:pPr marL="571500" indent="-571500"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Fácil de entender para usuarios de negocio.</a:t>
            </a:r>
          </a:p>
          <a:p>
            <a:pPr marL="571500" indent="-571500"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Menor costo inicial.</a:t>
            </a:r>
          </a:p>
          <a:p>
            <a:pPr marL="571500" indent="-571500"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Consultas muy rápidas.</a:t>
            </a:r>
          </a:p>
        </p:txBody>
      </p:sp>
    </p:spTree>
    <p:extLst>
      <p:ext uri="{BB962C8B-B14F-4D97-AF65-F5344CB8AC3E}">
        <p14:creationId xmlns:p14="http://schemas.microsoft.com/office/powerpoint/2010/main" val="469380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9BD23-4B38-A632-A173-166F43AF0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E75D1B8-8A2A-6B0B-0C40-35C5C6617680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0204130-0C61-7492-78D8-3637F39E051B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681F181B-C15B-8B67-58B7-4296BB224A79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E8511C4-A5E9-7088-2257-D2BBEBBA875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FE503961-D259-8917-B54D-7CB926F3FE0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DA3D25C-4323-2139-BC23-FD49EFA60FD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B468319-327C-143E-74CF-418294EBFF8A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1820CADC-EE0A-F17C-C71D-ACED37DD215F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3BF5079-D812-6AB9-AFB9-F2E6B3D4D0B6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28D8C174-F441-4F5E-CF9B-A7A5A67D173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DDC8CB7-BB76-0755-C041-C2276A185DF7}"/>
              </a:ext>
            </a:extLst>
          </p:cNvPr>
          <p:cNvSpPr txBox="1"/>
          <p:nvPr/>
        </p:nvSpPr>
        <p:spPr>
          <a:xfrm>
            <a:off x="1384463" y="2030391"/>
            <a:ext cx="1440543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El Problema Relacional (Las Tablas Originales)</a:t>
            </a:r>
          </a:p>
          <a:p>
            <a:pPr>
              <a:buNone/>
            </a:pPr>
            <a:endParaRPr lang="es-ES" sz="3200" b="1" dirty="0"/>
          </a:p>
          <a:p>
            <a:pPr>
              <a:buNone/>
            </a:pPr>
            <a:r>
              <a:rPr lang="es-ES" sz="3200" dirty="0"/>
              <a:t>En la base de datos original de </a:t>
            </a:r>
            <a:r>
              <a:rPr lang="es-ES" sz="3200" dirty="0" err="1"/>
              <a:t>Olist</a:t>
            </a:r>
            <a:r>
              <a:rPr lang="es-ES" sz="3200" dirty="0"/>
              <a:t>, si quieres saber </a:t>
            </a:r>
            <a:r>
              <a:rPr lang="es-ES" sz="3200" i="1" dirty="0"/>
              <a:t>"¿Cuánto vendimos en la categoría '</a:t>
            </a:r>
            <a:r>
              <a:rPr lang="es-ES" sz="3200" i="1" dirty="0" err="1"/>
              <a:t>Beleza</a:t>
            </a:r>
            <a:r>
              <a:rPr lang="es-ES" sz="3200" i="1" dirty="0"/>
              <a:t>' en 'Sao Paulo' en 2017?"</a:t>
            </a:r>
            <a:r>
              <a:rPr lang="es-ES" sz="3200" dirty="0"/>
              <a:t>, tienes que hacer un </a:t>
            </a:r>
            <a:r>
              <a:rPr lang="es-ES" sz="3200" b="1" dirty="0"/>
              <a:t>JOIN gigante</a:t>
            </a:r>
            <a:r>
              <a:rPr lang="es-ES" sz="3200" dirty="0"/>
              <a:t> de al menos 4 o 5 tablas:</a:t>
            </a:r>
          </a:p>
          <a:p>
            <a:pPr>
              <a:buNone/>
            </a:pPr>
            <a:endParaRPr lang="es-ES" sz="3200" dirty="0"/>
          </a:p>
          <a:p>
            <a:pPr marL="514350" lvl="1" indent="-514350">
              <a:buFont typeface="+mj-lt"/>
              <a:buAutoNum type="arabicPeriod"/>
            </a:pPr>
            <a:r>
              <a:rPr lang="es-ES" sz="3200" dirty="0" err="1">
                <a:latin typeface="Courier New" panose="02070309020205020404" pitchFamily="49" charset="0"/>
              </a:rPr>
              <a:t>olist_orders_dataset</a:t>
            </a:r>
            <a:r>
              <a:rPr lang="es-ES" sz="3200" dirty="0"/>
              <a:t> (Para la fecha).</a:t>
            </a:r>
          </a:p>
          <a:p>
            <a:pPr marL="514350" lvl="1" indent="-514350">
              <a:buFont typeface="+mj-lt"/>
              <a:buAutoNum type="arabicPeriod"/>
            </a:pPr>
            <a:r>
              <a:rPr lang="es-ES" sz="3200" dirty="0" err="1">
                <a:latin typeface="Courier New" panose="02070309020205020404" pitchFamily="49" charset="0"/>
              </a:rPr>
              <a:t>olist_order_items_dataset</a:t>
            </a:r>
            <a:r>
              <a:rPr lang="es-ES" sz="3200" dirty="0"/>
              <a:t> (Para el precio y la conexión producto-orden).</a:t>
            </a:r>
          </a:p>
          <a:p>
            <a:pPr marL="514350" lvl="1" indent="-514350">
              <a:buFont typeface="+mj-lt"/>
              <a:buAutoNum type="arabicPeriod"/>
            </a:pPr>
            <a:r>
              <a:rPr lang="es-ES" sz="3200" dirty="0" err="1">
                <a:latin typeface="Courier New" panose="02070309020205020404" pitchFamily="49" charset="0"/>
              </a:rPr>
              <a:t>olist_products_dataset</a:t>
            </a:r>
            <a:r>
              <a:rPr lang="es-ES" sz="3200" dirty="0"/>
              <a:t> (Para saber la categoría del producto).</a:t>
            </a:r>
          </a:p>
          <a:p>
            <a:pPr marL="514350" lvl="1" indent="-514350">
              <a:buFont typeface="+mj-lt"/>
              <a:buAutoNum type="arabicPeriod"/>
            </a:pPr>
            <a:r>
              <a:rPr lang="es-ES" sz="3200" dirty="0" err="1">
                <a:latin typeface="Courier New" panose="02070309020205020404" pitchFamily="49" charset="0"/>
              </a:rPr>
              <a:t>olist_customers_dataset</a:t>
            </a:r>
            <a:r>
              <a:rPr lang="es-ES" sz="3200" dirty="0"/>
              <a:t> (Para saber la ciudad/estado del cliente).</a:t>
            </a:r>
          </a:p>
          <a:p>
            <a:pPr marL="514350" lvl="1" indent="-514350">
              <a:buFont typeface="+mj-lt"/>
              <a:buAutoNum type="arabicPeriod"/>
            </a:pPr>
            <a:r>
              <a:rPr lang="es-ES" sz="3200" dirty="0"/>
              <a:t>Esto es lento y difícil de visualizar.</a:t>
            </a:r>
          </a:p>
        </p:txBody>
      </p:sp>
    </p:spTree>
    <p:extLst>
      <p:ext uri="{BB962C8B-B14F-4D97-AF65-F5344CB8AC3E}">
        <p14:creationId xmlns:p14="http://schemas.microsoft.com/office/powerpoint/2010/main" val="3519132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FD782-4178-38FA-6902-F1D4235E2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1025A2F-7535-124A-8422-906905D324B6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94F8C3B-183D-6ABC-CB5C-725D1DD64830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796DF881-E1D8-D8BA-943F-B766FC15E81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91EFCF0-51BB-D8D7-218B-EB920943912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60271A8E-DB4B-B3B1-C052-FD6D5C9D157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A94DC99-600B-38CF-3BC4-1F87C2D3BA2F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977B8BB-91B4-D5A8-6C86-CF70FCE16C5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03C53239-5EAC-8A3C-8E8F-04E4A229C590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818F6D29-83F8-4681-31EE-C0A84A695796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BDBD81F4-8EC0-7F35-4BB7-B26165F313D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9D2C927-74E9-F539-CC01-8781B753A7BA}"/>
              </a:ext>
            </a:extLst>
          </p:cNvPr>
          <p:cNvSpPr txBox="1"/>
          <p:nvPr/>
        </p:nvSpPr>
        <p:spPr>
          <a:xfrm>
            <a:off x="1307988" y="619028"/>
            <a:ext cx="15368027" cy="8710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/>
              <a:t>El Modelo Multidimensional y el Cubo de Datos</a:t>
            </a:r>
          </a:p>
          <a:p>
            <a:pPr>
              <a:buNone/>
            </a:pPr>
            <a:endParaRPr lang="es-ES" sz="2800" b="1" dirty="0"/>
          </a:p>
          <a:p>
            <a:pPr>
              <a:buNone/>
            </a:pPr>
            <a:endParaRPr lang="es-ES" sz="2800" b="1" dirty="0"/>
          </a:p>
          <a:p>
            <a:pPr>
              <a:buNone/>
            </a:pPr>
            <a:r>
              <a:rPr lang="es-ES" sz="2800" dirty="0"/>
              <a:t>Los sistemas OLAP y Data </a:t>
            </a:r>
            <a:r>
              <a:rPr lang="es-ES" sz="2800" dirty="0" err="1"/>
              <a:t>Warehouses</a:t>
            </a:r>
            <a:r>
              <a:rPr lang="es-ES" sz="2800" dirty="0"/>
              <a:t> se basan en el modelo multidimensional, que visualiza los datos en un espacio de </a:t>
            </a:r>
            <a:r>
              <a:rPr lang="es-ES" sz="2800" i="1" dirty="0"/>
              <a:t>n-dimensiones</a:t>
            </a:r>
            <a:r>
              <a:rPr lang="es-ES" sz="2800" dirty="0"/>
              <a:t>, usualmente llamado </a:t>
            </a:r>
            <a:r>
              <a:rPr lang="es-ES" sz="2800" b="1" dirty="0"/>
              <a:t>Cubo de Datos</a:t>
            </a:r>
            <a:r>
              <a:rPr lang="es-ES" sz="2800" dirty="0"/>
              <a:t> o </a:t>
            </a:r>
            <a:r>
              <a:rPr lang="es-ES" sz="2800" b="1" dirty="0"/>
              <a:t>Hipercubo</a:t>
            </a:r>
            <a:r>
              <a:rPr lang="es-ES" sz="2800" dirty="0"/>
              <a:t>.</a:t>
            </a:r>
          </a:p>
          <a:p>
            <a:pPr>
              <a:buNone/>
            </a:pPr>
            <a:endParaRPr lang="es-ES" sz="2800" dirty="0"/>
          </a:p>
          <a:p>
            <a:pPr>
              <a:buNone/>
            </a:pPr>
            <a:r>
              <a:rPr lang="es-ES" sz="2800" dirty="0"/>
              <a:t>Un cubo de datos se define por sus dimensiones y sus hechos. A continuación, desglosamos sus componentes clave utilizando un ejemplo de ventas (basado en la base de datos </a:t>
            </a:r>
            <a:r>
              <a:rPr lang="es-ES" sz="2800" i="1" dirty="0" err="1"/>
              <a:t>Olist</a:t>
            </a:r>
            <a:r>
              <a:rPr lang="es-ES" sz="2800" dirty="0"/>
              <a:t>):</a:t>
            </a:r>
          </a:p>
          <a:p>
            <a:pPr>
              <a:buNone/>
            </a:pPr>
            <a:endParaRPr lang="es-ES" sz="2800" dirty="0"/>
          </a:p>
          <a:p>
            <a:pPr marL="514350" indent="-514350">
              <a:buAutoNum type="alphaUcPeriod"/>
            </a:pPr>
            <a:r>
              <a:rPr lang="es-ES" sz="2800" b="1" dirty="0"/>
              <a:t>Dimensiones y Atributos</a:t>
            </a:r>
          </a:p>
          <a:p>
            <a:pPr marL="514350" indent="-514350">
              <a:buAutoNum type="alphaUcPeriod"/>
            </a:pPr>
            <a:endParaRPr lang="es-ES" sz="2800" b="1" dirty="0"/>
          </a:p>
          <a:p>
            <a:pPr>
              <a:buNone/>
            </a:pPr>
            <a:r>
              <a:rPr lang="es-ES" sz="2800" dirty="0"/>
              <a:t>Las dimensiones son las perspectivas utilizadas para analizar los datos. En nuestro ejemplo, el cubo tiene tres dimensiones principales:</a:t>
            </a:r>
          </a:p>
          <a:p>
            <a:pPr>
              <a:buNone/>
            </a:pPr>
            <a:endParaRPr lang="es-ES" sz="2800" dirty="0"/>
          </a:p>
          <a:p>
            <a:pPr marL="514350" indent="-514350">
              <a:buFont typeface="+mj-lt"/>
              <a:buAutoNum type="arabicPeriod"/>
            </a:pPr>
            <a:r>
              <a:rPr lang="es-ES" sz="2800" b="1" dirty="0"/>
              <a:t>Producto</a:t>
            </a:r>
            <a:r>
              <a:rPr lang="es-ES" sz="2800" dirty="0"/>
              <a:t> (</a:t>
            </a:r>
            <a:r>
              <a:rPr lang="es-ES" sz="2800" dirty="0" err="1"/>
              <a:t>Product</a:t>
            </a:r>
            <a:r>
              <a:rPr lang="es-ES" sz="28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2800" b="1" dirty="0"/>
              <a:t>Tiempo</a:t>
            </a:r>
            <a:r>
              <a:rPr lang="es-ES" sz="2800" dirty="0"/>
              <a:t> (Time)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2800" b="1" dirty="0"/>
              <a:t>Cliente</a:t>
            </a:r>
            <a:r>
              <a:rPr lang="es-ES" sz="2800" dirty="0"/>
              <a:t> (</a:t>
            </a:r>
            <a:r>
              <a:rPr lang="es-ES" sz="2800" dirty="0" err="1"/>
              <a:t>Customer</a:t>
            </a:r>
            <a:r>
              <a:rPr lang="es-ES" sz="2800" dirty="0"/>
              <a:t>)</a:t>
            </a:r>
          </a:p>
          <a:p>
            <a:pPr marL="514350" indent="-514350">
              <a:buFont typeface="+mj-lt"/>
              <a:buAutoNum type="arabicPeriod"/>
            </a:pPr>
            <a:endParaRPr lang="es-ES" sz="2800" dirty="0"/>
          </a:p>
          <a:p>
            <a:pPr>
              <a:buNone/>
            </a:pPr>
            <a:r>
              <a:rPr lang="es-ES" sz="2800" dirty="0"/>
              <a:t>Las dimensiones contienen </a:t>
            </a:r>
            <a:r>
              <a:rPr lang="es-ES" sz="2800" b="1" dirty="0"/>
              <a:t>atributos</a:t>
            </a:r>
            <a:r>
              <a:rPr lang="es-ES" sz="2800" dirty="0"/>
              <a:t> que las describen. Por ejemplo, la dimensión Producto podría tener atributos como </a:t>
            </a:r>
            <a:r>
              <a:rPr lang="es-ES" sz="2800" dirty="0" err="1">
                <a:latin typeface="Courier New" panose="02070309020205020404" pitchFamily="49" charset="0"/>
              </a:rPr>
              <a:t>product_id</a:t>
            </a:r>
            <a:r>
              <a:rPr lang="es-ES" sz="2800" dirty="0"/>
              <a:t> y </a:t>
            </a:r>
            <a:r>
              <a:rPr lang="es-ES" sz="2800" dirty="0" err="1">
                <a:latin typeface="Courier New" panose="02070309020205020404" pitchFamily="49" charset="0"/>
              </a:rPr>
              <a:t>product_category_name</a:t>
            </a:r>
            <a:r>
              <a:rPr lang="es-E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5870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3A622-6816-E1F1-D75E-2D54133E3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7F1070F-4B9A-00C5-68DE-15A2A3FF71E9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1D82242-CD38-6CFE-C56A-BAD4E0A16262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9BC55CB2-D109-8941-96B1-67BCB9926EA0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D57FCFAE-451D-B6FE-7AD5-4A924C6ABE4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2C8DA3F0-23EC-5B39-BCCB-2A260D07A72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593F69F-E0EF-F9B2-7667-321C0DF0FEC0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7EC472B-EBBC-F6A8-5A30-55DBFAFDA896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1F27A2B8-C431-B2D3-A141-CB79747AD620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D5C0E07C-2A5E-98C0-CA08-ECFB0FFAEC4B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154F6B0B-7147-E529-3125-AB596E8816D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pic>
        <p:nvPicPr>
          <p:cNvPr id="13" name="Imagen 12">
            <a:extLst>
              <a:ext uri="{FF2B5EF4-FFF2-40B4-BE49-F238E27FC236}">
                <a16:creationId xmlns:a16="http://schemas.microsoft.com/office/drawing/2014/main" id="{57AB4450-E3EF-55E9-E47B-2B003F2E45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6486" y="2341432"/>
            <a:ext cx="13064537" cy="5897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561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0DE72-AD50-A4ED-B586-1C3A1406F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E71A472-EC20-FCB6-5F9E-D3069B9E9E4B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F2FF105-1D88-86D2-2CAD-DE1001634B9C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D2425CDD-C6CC-646C-B999-693DD9EF1E6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4399CF45-C2DD-9186-2DD3-DB9021FC2E00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286A1D22-C3B9-CE88-81F2-038B3633177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6979986-6831-ACC2-6EFB-0851BCABE1E5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D0CD829-D93E-A8F9-2B08-322FF1CB3AA9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7AF39FDF-8E33-E21A-A568-BA363888751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F43755F-1CF1-9774-014F-44BE4CD7CB1C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B2F7B1DB-60D0-E1E0-7E9D-597DFC73CE8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1E15BE9-28E6-0F7F-0E81-05E9D52E1BA0}"/>
              </a:ext>
            </a:extLst>
          </p:cNvPr>
          <p:cNvSpPr txBox="1"/>
          <p:nvPr/>
        </p:nvSpPr>
        <p:spPr>
          <a:xfrm>
            <a:off x="583233" y="207818"/>
            <a:ext cx="10342434" cy="9818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Jerarquías (</a:t>
            </a:r>
            <a:r>
              <a:rPr lang="es-ES" sz="3200" b="1" dirty="0" err="1"/>
              <a:t>Hierarchies</a:t>
            </a:r>
            <a:r>
              <a:rPr lang="es-ES" sz="3200" b="1" dirty="0"/>
              <a:t>)</a:t>
            </a:r>
          </a:p>
          <a:p>
            <a:pPr>
              <a:buNone/>
            </a:pPr>
            <a:endParaRPr lang="es-ES" sz="2000" b="1" dirty="0"/>
          </a:p>
          <a:p>
            <a:pPr>
              <a:buNone/>
            </a:pPr>
            <a:endParaRPr lang="es-ES" sz="2000" b="1" dirty="0"/>
          </a:p>
          <a:p>
            <a:pPr>
              <a:buNone/>
            </a:pPr>
            <a:r>
              <a:rPr lang="es-ES" sz="2800" dirty="0"/>
              <a:t>Las jerarquías definen una secuencia lógica de niveles que permite a los usuarios navegar por los datos desde un resumen general hasta el detalle específico. Son el camino predefinido para el análisis.</a:t>
            </a:r>
          </a:p>
          <a:p>
            <a:pPr>
              <a:buNone/>
            </a:pPr>
            <a:endParaRPr lang="es-ES" sz="2800" dirty="0"/>
          </a:p>
          <a:p>
            <a:pPr>
              <a:buNone/>
            </a:pPr>
            <a:r>
              <a:rPr lang="es-ES" sz="2800" b="1" dirty="0"/>
              <a:t>Ejemplos en </a:t>
            </a:r>
            <a:r>
              <a:rPr lang="es-ES" sz="2800" b="1" dirty="0" err="1"/>
              <a:t>Olist</a:t>
            </a:r>
            <a:r>
              <a:rPr lang="es-ES" sz="2800" b="1" dirty="0"/>
              <a:t>:</a:t>
            </a:r>
          </a:p>
          <a:p>
            <a:pPr>
              <a:buNone/>
            </a:pPr>
            <a:endParaRPr lang="es-ES" sz="2800" dirty="0"/>
          </a:p>
          <a:p>
            <a:pPr>
              <a:buFont typeface="+mj-lt"/>
              <a:buAutoNum type="arabicPeriod"/>
            </a:pPr>
            <a:r>
              <a:rPr lang="es-ES" sz="2800" b="1" dirty="0"/>
              <a:t>Jerarquía de Ubicación (Geografía):</a:t>
            </a:r>
            <a:endParaRPr lang="es-ES" sz="2800" dirty="0"/>
          </a:p>
          <a:p>
            <a:pPr marL="742950" lvl="1" indent="-285750">
              <a:buFont typeface="+mj-lt"/>
              <a:buAutoNum type="arabicPeriod"/>
            </a:pPr>
            <a:r>
              <a:rPr lang="es-ES" sz="2800" dirty="0"/>
              <a:t>Nivel Superior: </a:t>
            </a:r>
            <a:r>
              <a:rPr lang="es-ES" sz="2800" dirty="0">
                <a:latin typeface="Courier New" panose="02070309020205020404" pitchFamily="49" charset="0"/>
              </a:rPr>
              <a:t>Estado</a:t>
            </a:r>
            <a:r>
              <a:rPr lang="es-ES" sz="2800" dirty="0"/>
              <a:t> (ej. SP, RJ)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800" dirty="0"/>
              <a:t>Nivel Inferior: </a:t>
            </a:r>
            <a:r>
              <a:rPr lang="es-ES" sz="2800" dirty="0">
                <a:latin typeface="Courier New" panose="02070309020205020404" pitchFamily="49" charset="0"/>
              </a:rPr>
              <a:t>Ciudad</a:t>
            </a:r>
            <a:r>
              <a:rPr lang="es-ES" sz="2800" dirty="0"/>
              <a:t> (ej. Sao Paulo, Campinas)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800" i="1" dirty="0"/>
              <a:t>Uso:</a:t>
            </a:r>
            <a:r>
              <a:rPr lang="es-ES" sz="2800" dirty="0"/>
              <a:t> Permite ver las ventas totales de "Sao Paulo (Estado)" y luego desglosarlas por sus ciudades.</a:t>
            </a:r>
          </a:p>
          <a:p>
            <a:pPr marL="742950" lvl="1" indent="-285750">
              <a:buFont typeface="+mj-lt"/>
              <a:buAutoNum type="arabicPeriod"/>
            </a:pPr>
            <a:endParaRPr lang="es-ES" sz="2800" dirty="0"/>
          </a:p>
          <a:p>
            <a:pPr>
              <a:buFont typeface="+mj-lt"/>
              <a:buAutoNum type="arabicPeriod"/>
            </a:pPr>
            <a:r>
              <a:rPr lang="es-ES" sz="2800" b="1" dirty="0"/>
              <a:t>Jerarquía de Tiempo (Calendario):</a:t>
            </a:r>
            <a:endParaRPr lang="es-ES" sz="2800" dirty="0"/>
          </a:p>
          <a:p>
            <a:pPr marL="742950" lvl="1" indent="-285750">
              <a:buFont typeface="+mj-lt"/>
              <a:buAutoNum type="arabicPeriod"/>
            </a:pPr>
            <a:r>
              <a:rPr lang="es-ES" sz="2800" dirty="0"/>
              <a:t>Nivel 1: </a:t>
            </a:r>
            <a:r>
              <a:rPr lang="es-ES" sz="2800" dirty="0">
                <a:latin typeface="Courier New" panose="02070309020205020404" pitchFamily="49" charset="0"/>
              </a:rPr>
              <a:t>Año</a:t>
            </a:r>
            <a:r>
              <a:rPr lang="es-ES" sz="2800" dirty="0"/>
              <a:t> (2017)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800" dirty="0"/>
              <a:t>Nivel 2: </a:t>
            </a:r>
            <a:r>
              <a:rPr lang="es-ES" sz="2800" dirty="0">
                <a:latin typeface="Courier New" panose="02070309020205020404" pitchFamily="49" charset="0"/>
              </a:rPr>
              <a:t>Trimestre</a:t>
            </a:r>
            <a:r>
              <a:rPr lang="es-ES" sz="2800" dirty="0"/>
              <a:t> (Q4)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800" dirty="0"/>
              <a:t>Nivel 3: </a:t>
            </a:r>
            <a:r>
              <a:rPr lang="es-ES" sz="2800" dirty="0">
                <a:latin typeface="Courier New" panose="02070309020205020404" pitchFamily="49" charset="0"/>
              </a:rPr>
              <a:t>Mes</a:t>
            </a:r>
            <a:r>
              <a:rPr lang="es-ES" sz="2800" dirty="0"/>
              <a:t> (Octubre)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800" dirty="0"/>
              <a:t>Nivel 4: </a:t>
            </a:r>
            <a:r>
              <a:rPr lang="es-ES" sz="2800" dirty="0">
                <a:latin typeface="Courier New" panose="02070309020205020404" pitchFamily="49" charset="0"/>
              </a:rPr>
              <a:t>Día</a:t>
            </a:r>
            <a:r>
              <a:rPr lang="es-ES" sz="2800" dirty="0"/>
              <a:t> (25)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800" i="1" dirty="0"/>
              <a:t>Uso:</a:t>
            </a:r>
            <a:r>
              <a:rPr lang="es-ES" sz="2800" dirty="0"/>
              <a:t> Permite hacer </a:t>
            </a:r>
            <a:r>
              <a:rPr lang="es-ES" sz="2800" i="1" dirty="0"/>
              <a:t>Drill-</a:t>
            </a:r>
            <a:r>
              <a:rPr lang="es-ES" sz="2800" i="1" dirty="0" err="1"/>
              <a:t>down</a:t>
            </a:r>
            <a:r>
              <a:rPr lang="es-ES" sz="2800" dirty="0"/>
              <a:t> desde un año completo hasta un día específico para encontrar picos de venta.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12FD18D-95C8-587B-5DF8-4A60C5DDAF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551" y="2411778"/>
            <a:ext cx="7125903" cy="510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76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669DF-EB34-68AC-0C3C-CA5B7584B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ED74B9D-55B8-CB2D-8BD0-C73C9501A883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B1310D3-307A-FA0F-9E00-7CC25CE4C52B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A87834BF-2C38-3D5B-C556-07F58E21B1D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B39693FE-DA25-C35B-118C-456E23958253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FCFA8A81-4EEE-15D7-5480-BCF3271F721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05A743C-C61C-35C7-E48C-E2487963324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84ABD29-D67C-440B-5624-A325511A6ACA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6A01EDB8-029B-D9D8-083F-65F38338515C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9B56CE85-5ED4-6CD4-F1B7-FC11EFB801F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1929BE36-A39F-7D2E-CB41-75118B0ACA4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DC900A6-E108-DA5D-6913-BE31E86AE78A}"/>
              </a:ext>
            </a:extLst>
          </p:cNvPr>
          <p:cNvSpPr txBox="1"/>
          <p:nvPr/>
        </p:nvSpPr>
        <p:spPr>
          <a:xfrm>
            <a:off x="1576633" y="1172510"/>
            <a:ext cx="14505496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4400" b="1" dirty="0"/>
              <a:t>Niveles y Granularidad (</a:t>
            </a:r>
            <a:r>
              <a:rPr lang="es-ES" sz="4400" b="1" dirty="0" err="1"/>
              <a:t>Levels</a:t>
            </a:r>
            <a:r>
              <a:rPr lang="es-ES" sz="4400" b="1" dirty="0"/>
              <a:t>)</a:t>
            </a:r>
          </a:p>
          <a:p>
            <a:pPr>
              <a:buNone/>
            </a:pPr>
            <a:endParaRPr lang="es-ES" sz="4400" b="1" dirty="0"/>
          </a:p>
          <a:p>
            <a:pPr>
              <a:buNone/>
            </a:pPr>
            <a:r>
              <a:rPr lang="es-ES" sz="4400" dirty="0"/>
              <a:t>Un nivel representa la </a:t>
            </a:r>
            <a:r>
              <a:rPr lang="es-ES" sz="4400" b="1" dirty="0"/>
              <a:t>granularidad</a:t>
            </a:r>
            <a:r>
              <a:rPr lang="es-ES" sz="4400" dirty="0"/>
              <a:t> o el nivel de detalle al cual las medidas son representadas o agregadas. En el ejemplo de ventas, las cifras pueden estar agregadas a los siguientes niveles:</a:t>
            </a:r>
          </a:p>
          <a:p>
            <a:pPr>
              <a:buNone/>
            </a:pPr>
            <a:endParaRPr lang="es-ES" sz="4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4400" b="1" dirty="0"/>
              <a:t>Categoría</a:t>
            </a:r>
            <a:r>
              <a:rPr lang="es-ES" sz="4400" dirty="0"/>
              <a:t> (para la dimensión Producto).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4400" b="1" dirty="0"/>
              <a:t>Trimestre/</a:t>
            </a:r>
            <a:r>
              <a:rPr lang="es-ES" sz="4400" b="1" dirty="0" err="1"/>
              <a:t>Quarter</a:t>
            </a:r>
            <a:r>
              <a:rPr lang="es-ES" sz="4400" dirty="0"/>
              <a:t> (para la dimensión Tiempo).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4400" b="1" dirty="0"/>
              <a:t>Ciudad</a:t>
            </a:r>
            <a:r>
              <a:rPr lang="es-ES" sz="4400" dirty="0"/>
              <a:t> (para la dimensión Cliente).</a:t>
            </a:r>
          </a:p>
        </p:txBody>
      </p:sp>
    </p:spTree>
    <p:extLst>
      <p:ext uri="{BB962C8B-B14F-4D97-AF65-F5344CB8AC3E}">
        <p14:creationId xmlns:p14="http://schemas.microsoft.com/office/powerpoint/2010/main" val="2482974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82D80-7E86-F072-2D3C-637448583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E2FE181-6B75-9E6C-BE06-575E802252CF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19953AC-69E6-568A-EB87-A2D9FC2B0B54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270591CC-D0E8-9674-CF26-D7C359F01D8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4FECB33E-BBE8-EEE9-79AC-3BFDCF8D10AA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5DF60C77-9A16-1A33-794D-1D3EAA378AD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FFFB35A-61E9-0603-B74E-D6CA7E5A538F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593834F-25E0-B681-33EA-CFF16887370F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F1FA5E5C-A833-0A51-69AB-85004364EB44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6420AC3F-AE8C-34F6-20FC-B552D298779B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09594A43-FC70-2CF3-FABA-3D0538E9EA0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ED719A7-2A7F-C169-FB73-364DFD346D61}"/>
              </a:ext>
            </a:extLst>
          </p:cNvPr>
          <p:cNvSpPr txBox="1"/>
          <p:nvPr/>
        </p:nvSpPr>
        <p:spPr>
          <a:xfrm>
            <a:off x="1485900" y="763222"/>
            <a:ext cx="15316200" cy="821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/>
              <a:t>Dinámica de las Medidas y Agregación</a:t>
            </a:r>
          </a:p>
          <a:p>
            <a:endParaRPr lang="es-ES" sz="3600" b="1" dirty="0"/>
          </a:p>
          <a:p>
            <a:endParaRPr lang="es-ES" sz="3600" b="1" dirty="0"/>
          </a:p>
          <a:p>
            <a:r>
              <a:rPr lang="es-ES" sz="2800" dirty="0"/>
              <a:t>Cada medida en un cubo tiene una </a:t>
            </a:r>
            <a:r>
              <a:rPr lang="es-ES" sz="2800" b="1" dirty="0"/>
              <a:t>instrucción matemática</a:t>
            </a:r>
            <a:r>
              <a:rPr lang="es-ES" sz="2800" dirty="0"/>
              <a:t> (función) que le dice cómo comportarse cuando "alejamos" la vista (Zoom </a:t>
            </a:r>
            <a:r>
              <a:rPr lang="es-ES" sz="2800" dirty="0" err="1"/>
              <a:t>Out</a:t>
            </a:r>
            <a:r>
              <a:rPr lang="es-ES" sz="2800" dirty="0"/>
              <a:t>).</a:t>
            </a:r>
          </a:p>
          <a:p>
            <a:endParaRPr lang="es-ES" sz="2800" dirty="0"/>
          </a:p>
          <a:p>
            <a:r>
              <a:rPr lang="es-ES" sz="2800" b="1" dirty="0"/>
              <a:t>¿Qué es la Agregación?</a:t>
            </a:r>
            <a:r>
              <a:rPr lang="es-ES" sz="2800" dirty="0"/>
              <a:t> Es el proceso de combinar muchos valores individuales en uno solo. Ocurre automáticamente cuando cambiamos el nivel de detalle (granularidad) usando las jerarquías.</a:t>
            </a:r>
          </a:p>
          <a:p>
            <a:endParaRPr lang="es-ES" sz="2800" dirty="0"/>
          </a:p>
          <a:p>
            <a:r>
              <a:rPr lang="es-ES" sz="2800" b="1" dirty="0"/>
              <a:t>Ejemplo :</a:t>
            </a:r>
            <a:endParaRPr lang="es-ES" sz="2800" dirty="0"/>
          </a:p>
          <a:p>
            <a:pPr lvl="1"/>
            <a:r>
              <a:rPr lang="es-ES" sz="2800" i="1" dirty="0"/>
              <a:t>Vista Detallada:</a:t>
            </a:r>
            <a:r>
              <a:rPr lang="es-ES" sz="2800" dirty="0"/>
              <a:t> Ventas por </a:t>
            </a:r>
            <a:r>
              <a:rPr lang="es-ES" sz="2800" b="1" dirty="0"/>
              <a:t>Ciudad</a:t>
            </a:r>
            <a:r>
              <a:rPr lang="es-ES" sz="2800" dirty="0"/>
              <a:t>.</a:t>
            </a:r>
          </a:p>
          <a:p>
            <a:pPr lvl="1"/>
            <a:r>
              <a:rPr lang="es-ES" sz="2800" i="1" dirty="0"/>
              <a:t>Acción:</a:t>
            </a:r>
            <a:r>
              <a:rPr lang="es-ES" sz="2800" dirty="0"/>
              <a:t> Subir de nivel a </a:t>
            </a:r>
            <a:r>
              <a:rPr lang="es-ES" sz="2800" b="1" dirty="0"/>
              <a:t>País</a:t>
            </a:r>
            <a:r>
              <a:rPr lang="es-ES" sz="2800" dirty="0"/>
              <a:t> (Roll-up).</a:t>
            </a:r>
          </a:p>
          <a:p>
            <a:pPr lvl="1"/>
            <a:r>
              <a:rPr lang="es-ES" sz="2800" i="1" dirty="0"/>
              <a:t>Resultado:</a:t>
            </a:r>
            <a:r>
              <a:rPr lang="es-ES" sz="2800" dirty="0"/>
              <a:t> El sistema aplica la operación </a:t>
            </a:r>
            <a:r>
              <a:rPr lang="es-ES" sz="2800" b="1" dirty="0"/>
              <a:t>SUMA (SUM)</a:t>
            </a:r>
            <a:r>
              <a:rPr lang="es-ES" sz="2800" dirty="0"/>
              <a:t> a todas las ciudades para mostrar el total del país.</a:t>
            </a:r>
          </a:p>
          <a:p>
            <a:pPr lvl="1"/>
            <a:endParaRPr lang="es-ES" sz="2800" dirty="0"/>
          </a:p>
          <a:p>
            <a:r>
              <a:rPr lang="es-ES" sz="2800" b="1" dirty="0"/>
              <a:t>El objetivo final:</a:t>
            </a:r>
            <a:r>
              <a:rPr lang="es-ES" sz="2800" dirty="0"/>
              <a:t> Si subimos al nivel más alto ("</a:t>
            </a:r>
            <a:r>
              <a:rPr lang="es-ES" sz="2800" dirty="0" err="1"/>
              <a:t>All</a:t>
            </a:r>
            <a:r>
              <a:rPr lang="es-ES" sz="2800" dirty="0"/>
              <a:t>"), el cubo nos dará un solo número: la venta total histórica de toda la empresa.</a:t>
            </a:r>
          </a:p>
        </p:txBody>
      </p:sp>
    </p:spTree>
    <p:extLst>
      <p:ext uri="{BB962C8B-B14F-4D97-AF65-F5344CB8AC3E}">
        <p14:creationId xmlns:p14="http://schemas.microsoft.com/office/powerpoint/2010/main" val="78908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12366-2354-C73D-69DD-A3A27AB76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8688110-1ADD-5B3F-4E66-B34E01F38070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F5C4DDE-0D5E-6666-4059-26DBF8855916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66BFE120-2439-C009-E244-EA36643FDD9B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74C46836-6FAF-E382-77EA-78E55B9F1E38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BE74CBCC-B072-575C-CE83-44D635EF54E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4F32E6A-F981-E33C-166A-B26984CF0BB9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23C9CFB-0E82-89ED-2B01-B9E43E487292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139B98ED-E2D5-7F4B-7852-C36C0FE464EA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6142CF59-8474-9FF1-1B0A-1F10A0E211EC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21974779-F337-FDFB-CCE4-EE6EC99B9B3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EBC99FC-0F23-559C-AE29-1188A8F998C7}"/>
              </a:ext>
            </a:extLst>
          </p:cNvPr>
          <p:cNvSpPr txBox="1"/>
          <p:nvPr/>
        </p:nvSpPr>
        <p:spPr>
          <a:xfrm>
            <a:off x="1361479" y="474835"/>
            <a:ext cx="14118996" cy="8525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/>
              <a:t>Reglas de Oro para la Agregación (</a:t>
            </a:r>
            <a:r>
              <a:rPr lang="es-ES" sz="2800" b="1" dirty="0" err="1"/>
              <a:t>Resumibilidad</a:t>
            </a:r>
            <a:r>
              <a:rPr lang="es-ES" sz="2800" b="1" dirty="0"/>
              <a:t>)</a:t>
            </a:r>
          </a:p>
          <a:p>
            <a:pPr>
              <a:buNone/>
            </a:pPr>
            <a:endParaRPr lang="es-ES" sz="2800" b="1" dirty="0"/>
          </a:p>
          <a:p>
            <a:pPr>
              <a:buNone/>
            </a:pPr>
            <a:r>
              <a:rPr lang="es-ES" sz="2800" dirty="0"/>
              <a:t>Para que los números sean confiables al sumarlos, el modelo debe cumplir tres condiciones lógicas:</a:t>
            </a:r>
          </a:p>
          <a:p>
            <a:pPr>
              <a:buNone/>
            </a:pPr>
            <a:endParaRPr lang="es-ES" sz="2800" dirty="0"/>
          </a:p>
          <a:p>
            <a:pPr>
              <a:buNone/>
            </a:pPr>
            <a:r>
              <a:rPr lang="es-ES" sz="2400" b="1" dirty="0"/>
              <a:t>A. No Duplicar (Disyunción)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b="1" dirty="0"/>
              <a:t>Regla:</a:t>
            </a:r>
            <a:r>
              <a:rPr lang="es-ES" sz="2400" dirty="0"/>
              <a:t> Un elemento no puede pertenecer a dos grupos al mismo tiempo en el nivel superior.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b="1" dirty="0"/>
              <a:t>Ejemplo de Error:</a:t>
            </a:r>
            <a:r>
              <a:rPr lang="es-ES" sz="2400" dirty="0"/>
              <a:t> Si un producto pertenece a la categoría "Hogar" y también a "Decoración", al sumar las categorías, ese producto se sumaría dos veces.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b="1" dirty="0"/>
              <a:t>Solución:</a:t>
            </a:r>
            <a:r>
              <a:rPr lang="es-ES" sz="2400" dirty="0"/>
              <a:t> Estructuras jerárquicas limpias y únicas.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ES" sz="2400" dirty="0"/>
          </a:p>
          <a:p>
            <a:pPr>
              <a:buNone/>
            </a:pPr>
            <a:r>
              <a:rPr lang="es-ES" sz="2400" b="1" dirty="0"/>
              <a:t>B. No Perder Datos (Completitud)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b="1" dirty="0"/>
              <a:t>Regla:</a:t>
            </a:r>
            <a:r>
              <a:rPr lang="es-ES" sz="2400" dirty="0"/>
              <a:t> Todos los elementos deben tener un "padre" en el nivel superior.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b="1" dirty="0"/>
              <a:t>Ejemplo de Error:</a:t>
            </a:r>
            <a:r>
              <a:rPr lang="es-ES" sz="2400" dirty="0"/>
              <a:t> Si hay ventas registradas el día "31 de Febrero" (fecha inválida) o en una fecha que no está asignada a ningún mes en la dimensión tiempo, esas ventas desaparecerán al ver el reporte mensual.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b="1" dirty="0"/>
              <a:t>Solución:</a:t>
            </a:r>
            <a:r>
              <a:rPr lang="es-ES" sz="2400" dirty="0"/>
              <a:t> Integridad referencial y limpieza de datos (Data </a:t>
            </a:r>
            <a:r>
              <a:rPr lang="es-ES" sz="2400" dirty="0" err="1"/>
              <a:t>Quality</a:t>
            </a:r>
            <a:r>
              <a:rPr lang="es-ES" sz="2400" dirty="0"/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ES" sz="2400" dirty="0"/>
          </a:p>
          <a:p>
            <a:pPr>
              <a:buNone/>
            </a:pPr>
            <a:r>
              <a:rPr lang="es-ES" sz="2400" b="1" dirty="0"/>
              <a:t>C. Operación Correcta (Corrección)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b="1" dirty="0"/>
              <a:t>Regla:</a:t>
            </a:r>
            <a:r>
              <a:rPr lang="es-ES" sz="2400" dirty="0"/>
              <a:t> Usar la función matemática que tenga sentido para el tipo de dato.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b="1" dirty="0"/>
              <a:t>Ejemplo:</a:t>
            </a:r>
            <a:r>
              <a:rPr lang="es-ES" sz="2400" dirty="0"/>
              <a:t> No tiene sentido "Sumar" las temperaturas de los pacientes de un hospital para ver el estado general. Sería mejor usar "Promedio".</a:t>
            </a:r>
          </a:p>
        </p:txBody>
      </p:sp>
    </p:spTree>
    <p:extLst>
      <p:ext uri="{BB962C8B-B14F-4D97-AF65-F5344CB8AC3E}">
        <p14:creationId xmlns:p14="http://schemas.microsoft.com/office/powerpoint/2010/main" val="13005717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D5A90-BD9A-94FD-1FED-88A30DD02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C9B4F90-2466-0582-6A6F-9A9A7CE0399D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320ACB5-0EAB-8709-4750-31525290EE88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91FBA73B-6142-B5F4-F237-8A461A2EBCB3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60FA561-223E-4A35-7FCE-51DD339C3601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91799A1E-A9D6-0BDA-A8D3-77EC8B209C4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85B2FF9-6AC9-F565-4C27-0AE25BBEA0C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883F93D-E287-68A6-E530-81578EC32AF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DF1E12A-ED29-BEA6-2431-DE5517F6A3F8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1BAAF05C-0B63-DC7B-3FB4-05E321F0FE2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46C6D9B-AFD2-8CC5-3210-F675D4001A1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DA2DCF1-0D61-0E11-777A-5DEDB2E43E56}"/>
              </a:ext>
            </a:extLst>
          </p:cNvPr>
          <p:cNvSpPr txBox="1"/>
          <p:nvPr/>
        </p:nvSpPr>
        <p:spPr>
          <a:xfrm>
            <a:off x="1311504" y="665351"/>
            <a:ext cx="15835853" cy="9325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Clasificación de Medidas</a:t>
            </a:r>
          </a:p>
          <a:p>
            <a:endParaRPr lang="es-ES" sz="2400" b="1" dirty="0"/>
          </a:p>
          <a:p>
            <a:r>
              <a:rPr lang="es-ES" sz="2400" dirty="0"/>
              <a:t>No todos los datos se pueden sumar. Dependiendo de cómo se comportan, las medidas se dividen en tres tipos:</a:t>
            </a:r>
          </a:p>
          <a:p>
            <a:endParaRPr lang="es-ES" sz="2400" dirty="0"/>
          </a:p>
          <a:p>
            <a:pPr marL="342900" indent="-342900">
              <a:buFont typeface="+mj-lt"/>
              <a:buAutoNum type="arabicPeriod"/>
            </a:pPr>
            <a:r>
              <a:rPr lang="es-ES" sz="2400" b="1" dirty="0"/>
              <a:t>Medidas Aditivas (Las fáciles)</a:t>
            </a:r>
          </a:p>
          <a:p>
            <a:pPr marL="342900" indent="-342900">
              <a:buFont typeface="+mj-lt"/>
              <a:buAutoNum type="arabicPeriod"/>
            </a:pPr>
            <a:endParaRPr lang="es-ES" sz="2400" b="1" dirty="0"/>
          </a:p>
          <a:p>
            <a:r>
              <a:rPr lang="es-ES" sz="2400" dirty="0"/>
              <a:t>Se pueden sumar a través de </a:t>
            </a:r>
            <a:r>
              <a:rPr lang="es-ES" sz="2400" b="1" dirty="0"/>
              <a:t>todas</a:t>
            </a:r>
            <a:r>
              <a:rPr lang="es-ES" sz="2400" dirty="0"/>
              <a:t> las dimensiones (Tiempo, Producto, Cliente).</a:t>
            </a:r>
          </a:p>
          <a:p>
            <a:r>
              <a:rPr lang="es-ES" sz="2400" i="1" dirty="0"/>
              <a:t>Ejemplo:</a:t>
            </a:r>
            <a:r>
              <a:rPr lang="es-ES" sz="2400" dirty="0"/>
              <a:t> </a:t>
            </a:r>
            <a:r>
              <a:rPr lang="es-ES" sz="2400" b="1" dirty="0"/>
              <a:t>Cantidad Vendida</a:t>
            </a:r>
            <a:r>
              <a:rPr lang="es-ES" sz="2400" dirty="0"/>
              <a:t>, </a:t>
            </a:r>
            <a:r>
              <a:rPr lang="es-ES" sz="2400" b="1" dirty="0"/>
              <a:t>Monto de Venta</a:t>
            </a:r>
            <a:r>
              <a:rPr lang="es-ES" sz="2400" dirty="0"/>
              <a:t>.</a:t>
            </a:r>
          </a:p>
          <a:p>
            <a:r>
              <a:rPr lang="es-ES" sz="2400" i="1" dirty="0"/>
              <a:t>Lógica:</a:t>
            </a:r>
            <a:r>
              <a:rPr lang="es-ES" sz="2400" dirty="0"/>
              <a:t> Venta Enero + Venta Febrero = Venta Total.</a:t>
            </a:r>
          </a:p>
          <a:p>
            <a:endParaRPr lang="es-ES" sz="2400" dirty="0"/>
          </a:p>
          <a:p>
            <a:pPr marL="342900" indent="-342900">
              <a:buFont typeface="+mj-lt"/>
              <a:buAutoNum type="arabicPeriod"/>
            </a:pPr>
            <a:r>
              <a:rPr lang="es-ES" sz="2400" b="1" dirty="0"/>
              <a:t>Medidas Semi-Aditivas (Las cuidadosas)</a:t>
            </a:r>
          </a:p>
          <a:p>
            <a:endParaRPr lang="es-ES" sz="2400" b="1" dirty="0"/>
          </a:p>
          <a:p>
            <a:r>
              <a:rPr lang="es-ES" sz="2400" dirty="0"/>
              <a:t>Se pueden sumar en algunas dimensiones, pero </a:t>
            </a:r>
            <a:r>
              <a:rPr lang="es-ES" sz="2400" b="1" dirty="0"/>
              <a:t>NO en el tiempo</a:t>
            </a:r>
            <a:r>
              <a:rPr lang="es-ES" sz="2400" dirty="0"/>
              <a:t>.</a:t>
            </a:r>
          </a:p>
          <a:p>
            <a:r>
              <a:rPr lang="es-ES" sz="2400" i="1" dirty="0"/>
              <a:t>Ejemplo:</a:t>
            </a:r>
            <a:r>
              <a:rPr lang="es-ES" sz="2400" dirty="0"/>
              <a:t> </a:t>
            </a:r>
            <a:r>
              <a:rPr lang="es-ES" sz="2400" b="1" dirty="0"/>
              <a:t>Inventario (Stock)</a:t>
            </a:r>
            <a:r>
              <a:rPr lang="es-ES" sz="2400" dirty="0"/>
              <a:t> o </a:t>
            </a:r>
            <a:r>
              <a:rPr lang="es-ES" sz="2400" b="1" dirty="0"/>
              <a:t>Saldo Bancario</a:t>
            </a:r>
            <a:r>
              <a:rPr lang="es-ES" sz="2400" dirty="0"/>
              <a:t>.</a:t>
            </a:r>
          </a:p>
          <a:p>
            <a:r>
              <a:rPr lang="es-ES" sz="2400" i="1" dirty="0"/>
              <a:t>Lógica:</a:t>
            </a:r>
            <a:endParaRPr lang="es-ES" sz="24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Stock Tienda A + Stock Tienda B = Stock Total (Correcto).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Stock Enero + Stock Febrero = ¿Stock Total? (</a:t>
            </a:r>
            <a:r>
              <a:rPr lang="es-ES" sz="2400" b="1" dirty="0"/>
              <a:t>Incorrecto</a:t>
            </a:r>
            <a:r>
              <a:rPr lang="es-ES" sz="2400" dirty="0"/>
              <a:t>, no tiene sentido sumar inventarios de meses distintos).</a:t>
            </a:r>
          </a:p>
          <a:p>
            <a:r>
              <a:rPr lang="es-ES" sz="2400" i="1" dirty="0"/>
              <a:t>Solución:</a:t>
            </a:r>
            <a:r>
              <a:rPr lang="es-ES" sz="2400" dirty="0"/>
              <a:t> Para el tiempo, se usa "Promedio" o "Último valor del mes".</a:t>
            </a:r>
          </a:p>
          <a:p>
            <a:endParaRPr lang="es-ES" sz="2400" dirty="0"/>
          </a:p>
          <a:p>
            <a:r>
              <a:rPr lang="es-ES" sz="2400" b="1" dirty="0"/>
              <a:t>3. Medidas No-Aditivas (Las complejas)</a:t>
            </a:r>
          </a:p>
          <a:p>
            <a:r>
              <a:rPr lang="es-ES" sz="2400" dirty="0"/>
              <a:t>No se pueden sumar en </a:t>
            </a:r>
            <a:r>
              <a:rPr lang="es-ES" sz="2400" b="1" dirty="0"/>
              <a:t>ninguna</a:t>
            </a:r>
            <a:r>
              <a:rPr lang="es-ES" sz="2400" dirty="0"/>
              <a:t> dimensión.</a:t>
            </a:r>
          </a:p>
          <a:p>
            <a:r>
              <a:rPr lang="es-ES" sz="2400" i="1" dirty="0"/>
              <a:t>Ejemplo:</a:t>
            </a:r>
            <a:r>
              <a:rPr lang="es-ES" sz="2400" dirty="0"/>
              <a:t> </a:t>
            </a:r>
            <a:r>
              <a:rPr lang="es-ES" sz="2400" b="1" dirty="0"/>
              <a:t>Precio Unitario</a:t>
            </a:r>
            <a:r>
              <a:rPr lang="es-ES" sz="2400" dirty="0"/>
              <a:t>, </a:t>
            </a:r>
            <a:r>
              <a:rPr lang="es-ES" sz="2400" b="1" dirty="0"/>
              <a:t>Margen de Ganancia (%)</a:t>
            </a:r>
            <a:r>
              <a:rPr lang="es-ES" sz="2400" dirty="0"/>
              <a:t>, </a:t>
            </a:r>
            <a:r>
              <a:rPr lang="es-ES" sz="2400" b="1" dirty="0"/>
              <a:t>Temperatura</a:t>
            </a:r>
            <a:r>
              <a:rPr lang="es-ES" sz="2400" dirty="0"/>
              <a:t>.</a:t>
            </a:r>
          </a:p>
          <a:p>
            <a:r>
              <a:rPr lang="es-ES" sz="2400" i="1" dirty="0"/>
              <a:t>Solución:</a:t>
            </a:r>
            <a:r>
              <a:rPr lang="es-ES" sz="2400" dirty="0"/>
              <a:t> Nunca se suman. Se calculan promedios, máximos/mínimos, o se recalculan los porcentajes al final.</a:t>
            </a:r>
          </a:p>
          <a:p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3309549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3DD86-ACC6-9A50-4024-1B3FC52BC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834E515-4B76-FE91-3DEC-B8C548C48689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717A987-59A2-99CC-7018-D7206E8AA416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1FA0B46D-1DE7-4B32-F89B-85E7852EA0B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6781E57D-0082-6AB0-543F-D039DB706100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C73A6C47-384E-E7EC-EEE2-F53FF7317F5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EB35B7C-9054-E062-3E2C-AA6ACBA90E7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8C6493A-3511-7921-D5B1-187DE7C1DD3B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82CD4972-2B85-24E5-DCAA-43ABF73FCBEA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764B4CA3-3F6B-C396-DC79-B81B79249FE6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AB0BD6F4-8C44-1F6B-31B5-2FD7C8A8978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4888AC0-DF75-F519-B914-A3DAF0260CF5}"/>
              </a:ext>
            </a:extLst>
          </p:cNvPr>
          <p:cNvSpPr txBox="1"/>
          <p:nvPr/>
        </p:nvSpPr>
        <p:spPr>
          <a:xfrm>
            <a:off x="1437194" y="1172510"/>
            <a:ext cx="15784005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/>
              <a:t>Optimización del Cubo (Cómo hacerlo rápido)</a:t>
            </a:r>
          </a:p>
          <a:p>
            <a:pPr>
              <a:buNone/>
            </a:pPr>
            <a:endParaRPr lang="es-ES" sz="2800" b="1" dirty="0"/>
          </a:p>
          <a:p>
            <a:pPr>
              <a:buNone/>
            </a:pPr>
            <a:r>
              <a:rPr lang="es-ES" sz="2800" dirty="0"/>
              <a:t>Para que el cubo responda instantáneamente, usamos </a:t>
            </a:r>
            <a:r>
              <a:rPr lang="es-ES" sz="2800" b="1" dirty="0" err="1"/>
              <a:t>pre-cálculos</a:t>
            </a:r>
            <a:r>
              <a:rPr lang="es-ES" sz="2800" dirty="0"/>
              <a:t>. Dependiendo de la función, esto es fácil o difícil:</a:t>
            </a:r>
          </a:p>
          <a:p>
            <a:pPr>
              <a:buNone/>
            </a:pPr>
            <a:endParaRPr lang="es-E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/>
              <a:t>Medidas Distributivas (Rápidas):</a:t>
            </a:r>
            <a:r>
              <a:rPr lang="es-ES" sz="2800" dirty="0"/>
              <a:t> Podemos calcular pedacitos por separado y luego juntarlos.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i="1" dirty="0"/>
              <a:t>Funciones:</a:t>
            </a:r>
            <a:r>
              <a:rPr lang="es-ES" sz="2800" dirty="0"/>
              <a:t> </a:t>
            </a:r>
            <a:r>
              <a:rPr lang="es-ES" sz="2800" dirty="0">
                <a:latin typeface="Courier New" panose="02070309020205020404" pitchFamily="49" charset="0"/>
              </a:rPr>
              <a:t>SUM</a:t>
            </a:r>
            <a:r>
              <a:rPr lang="es-ES" sz="2800" dirty="0"/>
              <a:t>, </a:t>
            </a:r>
            <a:r>
              <a:rPr lang="es-ES" sz="2800" dirty="0">
                <a:latin typeface="Courier New" panose="02070309020205020404" pitchFamily="49" charset="0"/>
              </a:rPr>
              <a:t>COUNT</a:t>
            </a:r>
            <a:r>
              <a:rPr lang="es-ES" sz="2800" dirty="0"/>
              <a:t>, </a:t>
            </a:r>
            <a:r>
              <a:rPr lang="es-ES" sz="2800" dirty="0">
                <a:latin typeface="Courier New" panose="02070309020205020404" pitchFamily="49" charset="0"/>
              </a:rPr>
              <a:t>MIN</a:t>
            </a:r>
            <a:r>
              <a:rPr lang="es-ES" sz="2800" dirty="0"/>
              <a:t>, </a:t>
            </a:r>
            <a:r>
              <a:rPr lang="es-ES" sz="2800" dirty="0">
                <a:latin typeface="Courier New" panose="02070309020205020404" pitchFamily="49" charset="0"/>
              </a:rPr>
              <a:t>MAX</a:t>
            </a:r>
            <a:r>
              <a:rPr lang="es-ES" sz="28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i="1" dirty="0"/>
              <a:t>Ejemplo:</a:t>
            </a:r>
            <a:r>
              <a:rPr lang="es-ES" sz="2800" dirty="0"/>
              <a:t> Sumo las ventas del Norte, sumo las del Sur, y luego sumo esos dos resultados.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/>
              <a:t>Medidas Algebraicas (Intermedias):</a:t>
            </a:r>
            <a:r>
              <a:rPr lang="es-ES" sz="2800" dirty="0"/>
              <a:t> Requieren una fórmula simple con datos distributivos.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i="1" dirty="0"/>
              <a:t>Funciones:</a:t>
            </a:r>
            <a:r>
              <a:rPr lang="es-ES" sz="2800" dirty="0"/>
              <a:t> </a:t>
            </a:r>
            <a:r>
              <a:rPr lang="es-ES" sz="2800" dirty="0">
                <a:latin typeface="Courier New" panose="02070309020205020404" pitchFamily="49" charset="0"/>
              </a:rPr>
              <a:t>AVERAGE</a:t>
            </a:r>
            <a:r>
              <a:rPr lang="es-ES" sz="2800" dirty="0"/>
              <a:t> (Promedio).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i="1" dirty="0"/>
              <a:t>Lógica:</a:t>
            </a:r>
            <a:r>
              <a:rPr lang="es-ES" sz="2800" dirty="0"/>
              <a:t> Guardo la Suma y el Conteo por separado, y al final divido.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/>
              <a:t>Medidas Holísticas (Lentas):</a:t>
            </a:r>
            <a:r>
              <a:rPr lang="es-ES" sz="2800" dirty="0"/>
              <a:t> No se pueden </a:t>
            </a:r>
            <a:r>
              <a:rPr lang="es-ES" sz="2800" dirty="0" err="1"/>
              <a:t>pre-calcular</a:t>
            </a:r>
            <a:r>
              <a:rPr lang="es-ES" sz="2800" dirty="0"/>
              <a:t> por partes; requieren leer todos los datos originales cada vez.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i="1" dirty="0"/>
              <a:t>Funciones:</a:t>
            </a:r>
            <a:r>
              <a:rPr lang="es-ES" sz="2800" dirty="0"/>
              <a:t> </a:t>
            </a:r>
            <a:r>
              <a:rPr lang="es-ES" sz="2800" dirty="0">
                <a:latin typeface="Courier New" panose="02070309020205020404" pitchFamily="49" charset="0"/>
              </a:rPr>
              <a:t>MEDIAN</a:t>
            </a:r>
            <a:r>
              <a:rPr lang="es-ES" sz="2800" dirty="0"/>
              <a:t> (Mediana), </a:t>
            </a:r>
            <a:r>
              <a:rPr lang="es-ES" sz="2800" dirty="0">
                <a:latin typeface="Courier New" panose="02070309020205020404" pitchFamily="49" charset="0"/>
              </a:rPr>
              <a:t>MODE</a:t>
            </a:r>
            <a:r>
              <a:rPr lang="es-ES" sz="2800" dirty="0"/>
              <a:t> (Moda), </a:t>
            </a:r>
            <a:r>
              <a:rPr lang="es-ES" sz="2800" dirty="0">
                <a:latin typeface="Courier New" panose="02070309020205020404" pitchFamily="49" charset="0"/>
              </a:rPr>
              <a:t>DISTINCT COUNT</a:t>
            </a:r>
            <a:r>
              <a:rPr lang="es-ES" sz="2800" dirty="0"/>
              <a:t> (Conteo Distinto).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i="1" dirty="0"/>
              <a:t>Costo:</a:t>
            </a:r>
            <a:r>
              <a:rPr lang="es-ES" sz="2800" dirty="0"/>
              <a:t> Son las más pesadas para el servidor.</a:t>
            </a:r>
          </a:p>
        </p:txBody>
      </p:sp>
    </p:spTree>
    <p:extLst>
      <p:ext uri="{BB962C8B-B14F-4D97-AF65-F5344CB8AC3E}">
        <p14:creationId xmlns:p14="http://schemas.microsoft.com/office/powerpoint/2010/main" val="2566311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4F22D-9844-F8CF-E839-67CF06CE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B7FD5BD-9F5A-DA5C-511A-949FCB2FBEE4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A83DF57-9DEE-9FA8-3F8C-E07D4DAC4489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48E42E81-E158-78CE-135C-13EEA95B0C36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02C92BDA-38D3-E5A6-E472-11BB685D8A33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A85EE2B2-82CE-4B77-CD5B-360227F56D4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62EE2B9-159C-FD96-029A-8412B117A3BD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7FD2224-A51A-EFC9-F93B-A7D9D660D2D7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C7D06870-1807-320A-1DB5-AAAC440E012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8CFDF23C-34D1-E81D-0676-3A70A12C7B21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8E9857AA-243F-A56C-41D6-794C1980CBF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3A1CE4A-108E-C43D-C82A-481169D19C67}"/>
              </a:ext>
            </a:extLst>
          </p:cNvPr>
          <p:cNvSpPr txBox="1"/>
          <p:nvPr/>
        </p:nvSpPr>
        <p:spPr>
          <a:xfrm>
            <a:off x="1024890" y="2290360"/>
            <a:ext cx="8119110" cy="6878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s-ES" sz="3200" b="0" i="0" dirty="0">
                <a:solidFill>
                  <a:srgbClr val="475569"/>
                </a:solidFill>
                <a:effectLst/>
                <a:latin typeface="DM Sans" pitchFamily="2" charset="0"/>
              </a:rPr>
              <a:t>Las operaciones OLAP (Online </a:t>
            </a:r>
            <a:r>
              <a:rPr lang="es-ES" sz="3200" b="0" i="0" dirty="0" err="1">
                <a:solidFill>
                  <a:srgbClr val="475569"/>
                </a:solidFill>
                <a:effectLst/>
                <a:latin typeface="DM Sans" pitchFamily="2" charset="0"/>
              </a:rPr>
              <a:t>Analytical</a:t>
            </a:r>
            <a:r>
              <a:rPr lang="es-ES" sz="3200" b="0" i="0" dirty="0">
                <a:solidFill>
                  <a:srgbClr val="475569"/>
                </a:solidFill>
                <a:effectLst/>
                <a:latin typeface="DM Sans" pitchFamily="2" charset="0"/>
              </a:rPr>
              <a:t> Processing) son herramientas fundamentales que permiten a los analistas navegar interactivamente a través de los datos.</a:t>
            </a:r>
          </a:p>
          <a:p>
            <a:pPr algn="l">
              <a:buNone/>
            </a:pPr>
            <a:endParaRPr lang="es-ES" sz="3200" b="0" i="0" dirty="0">
              <a:solidFill>
                <a:srgbClr val="475569"/>
              </a:solidFill>
              <a:effectLst/>
              <a:latin typeface="DM Sans" pitchFamily="2" charset="0"/>
            </a:endParaRP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s-ES" sz="3200" b="1" i="0" dirty="0">
                <a:solidFill>
                  <a:srgbClr val="005088"/>
                </a:solidFill>
                <a:effectLst/>
                <a:latin typeface="DM Sans" pitchFamily="2" charset="0"/>
              </a:rPr>
              <a:t>Interactividad:</a:t>
            </a:r>
            <a:r>
              <a:rPr lang="es-ES" sz="32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Permiten explorar diferentes perspectivas de la información en tiempo real.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s-ES" sz="3200" b="1" i="0" dirty="0">
                <a:solidFill>
                  <a:srgbClr val="005088"/>
                </a:solidFill>
                <a:effectLst/>
                <a:latin typeface="DM Sans" pitchFamily="2" charset="0"/>
              </a:rPr>
              <a:t>Jerarquías:</a:t>
            </a:r>
            <a:r>
              <a:rPr lang="es-ES" sz="32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Facilitan el movimiento entre distintos niveles de detalle (grano).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s-ES" sz="3200" b="1" i="0" dirty="0">
                <a:solidFill>
                  <a:srgbClr val="005088"/>
                </a:solidFill>
                <a:effectLst/>
                <a:latin typeface="DM Sans" pitchFamily="2" charset="0"/>
              </a:rPr>
              <a:t>Estructura:</a:t>
            </a:r>
            <a:r>
              <a:rPr lang="es-ES" sz="32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Se aplican sobre estructuras de cubos de datos multidimensionales.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6666BE9-8702-87DB-6813-F137B32398D1}"/>
              </a:ext>
            </a:extLst>
          </p:cNvPr>
          <p:cNvSpPr txBox="1"/>
          <p:nvPr/>
        </p:nvSpPr>
        <p:spPr>
          <a:xfrm>
            <a:off x="1024890" y="515747"/>
            <a:ext cx="9182100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s-CO" sz="3600" b="1" i="0" dirty="0">
                <a:solidFill>
                  <a:srgbClr val="005088"/>
                </a:solidFill>
                <a:effectLst/>
                <a:latin typeface="Merriweather" panose="00000500000000000000" pitchFamily="2" charset="0"/>
              </a:rPr>
              <a:t>El Modelo Multidimensional</a:t>
            </a:r>
          </a:p>
          <a:p>
            <a:pPr>
              <a:buNone/>
            </a:pPr>
            <a:br>
              <a:rPr lang="es-CO" b="0" i="0" dirty="0">
                <a:solidFill>
                  <a:srgbClr val="000000"/>
                </a:solidFill>
                <a:effectLst/>
                <a:latin typeface="DM Sans" pitchFamily="2" charset="0"/>
              </a:rPr>
            </a:br>
            <a:endParaRPr lang="es-CO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C0346426-24A0-9FF1-7297-22B752EC81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6470" y="2812984"/>
            <a:ext cx="7833224" cy="545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594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F3C51-322D-54B8-82A3-2AF3ED3D0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5251943-3428-E6B7-27CA-0C09C20D525F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F759DAD-689C-7D97-0E86-5D1E1065C48D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8CFBFD79-E458-CED1-FBC3-5A8732911648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6C7036AB-90A7-C4A6-37C2-03C9528BA251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425B412E-4186-76DC-81C2-B3DCDEAE9DD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27E0A-C0EF-73FC-1DC0-D5D12472439A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1707BD7-61C0-B9B1-7885-74D3907DC126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8D275CC6-D9B4-950D-49FA-3AFC32318B8F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A81EAC05-953B-C7C3-79CC-3D0ECE83CCC4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F6573070-DB9C-9428-9542-8D2BCA8B00D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71BBF63-7CFE-E1C9-3EFA-6F6602416316}"/>
              </a:ext>
            </a:extLst>
          </p:cNvPr>
          <p:cNvSpPr txBox="1"/>
          <p:nvPr/>
        </p:nvSpPr>
        <p:spPr>
          <a:xfrm>
            <a:off x="1131570" y="941799"/>
            <a:ext cx="918210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s-CO" sz="3200" b="1" i="0">
                <a:solidFill>
                  <a:srgbClr val="005088"/>
                </a:solidFill>
                <a:effectLst/>
                <a:latin typeface="Merriweather" panose="00000500000000000000" pitchFamily="2" charset="0"/>
              </a:rPr>
              <a:t>Roll-up (Agregación)</a:t>
            </a:r>
          </a:p>
          <a:p>
            <a:pPr>
              <a:buNone/>
            </a:pPr>
            <a:br>
              <a:rPr lang="es-CO" b="0" i="0">
                <a:solidFill>
                  <a:srgbClr val="000000"/>
                </a:solidFill>
                <a:effectLst/>
                <a:latin typeface="DM Sans" pitchFamily="2" charset="0"/>
              </a:rPr>
            </a:br>
            <a:endParaRPr lang="es-CO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0973A3C-A99C-3A83-9498-4C55B70F0130}"/>
              </a:ext>
            </a:extLst>
          </p:cNvPr>
          <p:cNvSpPr txBox="1"/>
          <p:nvPr/>
        </p:nvSpPr>
        <p:spPr>
          <a:xfrm>
            <a:off x="948690" y="2774171"/>
            <a:ext cx="7936230" cy="657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La operación de </a:t>
            </a:r>
            <a:r>
              <a:rPr lang="es-ES" sz="3600" b="1" i="0" dirty="0">
                <a:solidFill>
                  <a:srgbClr val="475569"/>
                </a:solidFill>
                <a:effectLst/>
                <a:latin typeface="DM Sans" pitchFamily="2" charset="0"/>
              </a:rPr>
              <a:t>Roll-up</a:t>
            </a: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realiza una agregación de los datos moviéndose hacia arriba en la jerarquía de una dimensión.</a:t>
            </a:r>
          </a:p>
          <a:p>
            <a:pPr marL="571500" indent="-57150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s-ES" sz="3600" b="1" i="0" dirty="0">
                <a:solidFill>
                  <a:srgbClr val="005088"/>
                </a:solidFill>
                <a:effectLst/>
                <a:latin typeface="DM Sans" pitchFamily="2" charset="0"/>
              </a:rPr>
              <a:t>Acción:</a:t>
            </a: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Subir en la jerarquía (ej. de Ciudad a País).</a:t>
            </a:r>
          </a:p>
          <a:p>
            <a:pPr marL="571500" indent="-57150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s-ES" sz="3600" b="1" i="0" dirty="0">
                <a:solidFill>
                  <a:srgbClr val="005088"/>
                </a:solidFill>
                <a:effectLst/>
                <a:latin typeface="DM Sans" pitchFamily="2" charset="0"/>
              </a:rPr>
              <a:t>Efecto:</a:t>
            </a: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Reduce el detalle y disminuye el número de dimensiones visibles.</a:t>
            </a:r>
          </a:p>
          <a:p>
            <a:pPr marL="571500" indent="-57150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s-ES" sz="3600" b="1" i="0" dirty="0">
                <a:solidFill>
                  <a:srgbClr val="005088"/>
                </a:solidFill>
                <a:effectLst/>
                <a:latin typeface="DM Sans" pitchFamily="2" charset="0"/>
              </a:rPr>
              <a:t>Ejemplo:</a:t>
            </a: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Sumar las ventas diarias para ver el total mensual.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FB5636DA-CDBF-9859-AFDD-5A840D6D1A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4920" y="3200891"/>
            <a:ext cx="8921665" cy="531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1327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C34A7-707D-5F7A-03C6-2193FACFF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084A7DB-3854-610C-6AAE-CF999FA4A920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71B4A7A-911D-3C21-F80A-B0D798959B33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90F31717-1403-A43C-3C99-22608A98C85C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71C3AC95-ABA8-2093-CA3D-47EB0E8377FC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34CC613B-65D2-21AD-865D-0D529259388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69BE295-68A0-7CBA-6E09-C7BF4339D4A3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4A30DAE-57B2-4AE9-BE4B-C1E1F4D937B7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38122E9D-34BB-1F59-0DA8-28BE7331CC8B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99CA36D-6367-131B-1EC1-696DFEC26E7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7C249B88-B38D-4F1B-BF95-92CEAC40224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E487640-D6F8-3B02-F2B7-F0239F00A3E3}"/>
              </a:ext>
            </a:extLst>
          </p:cNvPr>
          <p:cNvSpPr txBox="1"/>
          <p:nvPr/>
        </p:nvSpPr>
        <p:spPr>
          <a:xfrm>
            <a:off x="1558290" y="1172510"/>
            <a:ext cx="918210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s-CO" sz="3200" b="1" i="0" dirty="0">
                <a:solidFill>
                  <a:srgbClr val="005088"/>
                </a:solidFill>
                <a:effectLst/>
                <a:latin typeface="Merriweather" panose="00000500000000000000" pitchFamily="2" charset="0"/>
              </a:rPr>
              <a:t>Drill-</a:t>
            </a:r>
            <a:r>
              <a:rPr lang="es-CO" sz="3200" b="1" i="0" dirty="0" err="1">
                <a:solidFill>
                  <a:srgbClr val="005088"/>
                </a:solidFill>
                <a:effectLst/>
                <a:latin typeface="Merriweather" panose="00000500000000000000" pitchFamily="2" charset="0"/>
              </a:rPr>
              <a:t>down</a:t>
            </a:r>
            <a:r>
              <a:rPr lang="es-CO" sz="3200" b="1" i="0" dirty="0">
                <a:solidFill>
                  <a:srgbClr val="005088"/>
                </a:solidFill>
                <a:effectLst/>
                <a:latin typeface="Merriweather" panose="00000500000000000000" pitchFamily="2" charset="0"/>
              </a:rPr>
              <a:t> (Desglose)</a:t>
            </a:r>
          </a:p>
          <a:p>
            <a:pPr>
              <a:buNone/>
            </a:pPr>
            <a:br>
              <a:rPr lang="es-CO" b="0" i="0" dirty="0">
                <a:solidFill>
                  <a:srgbClr val="000000"/>
                </a:solidFill>
                <a:effectLst/>
                <a:latin typeface="DM Sans" pitchFamily="2" charset="0"/>
              </a:rPr>
            </a:br>
            <a:endParaRPr lang="es-CO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FB78635-14F4-EE8B-E80E-466E9CA6CA45}"/>
              </a:ext>
            </a:extLst>
          </p:cNvPr>
          <p:cNvSpPr txBox="1"/>
          <p:nvPr/>
        </p:nvSpPr>
        <p:spPr>
          <a:xfrm>
            <a:off x="1360170" y="2572893"/>
            <a:ext cx="8622030" cy="657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El </a:t>
            </a:r>
            <a:r>
              <a:rPr lang="es-ES" sz="3600" b="1" i="0" dirty="0">
                <a:solidFill>
                  <a:srgbClr val="475569"/>
                </a:solidFill>
                <a:effectLst/>
                <a:latin typeface="DM Sans" pitchFamily="2" charset="0"/>
              </a:rPr>
              <a:t>Drill-</a:t>
            </a:r>
            <a:r>
              <a:rPr lang="es-ES" sz="3600" b="1" i="0" dirty="0" err="1">
                <a:solidFill>
                  <a:srgbClr val="475569"/>
                </a:solidFill>
                <a:effectLst/>
                <a:latin typeface="DM Sans" pitchFamily="2" charset="0"/>
              </a:rPr>
              <a:t>down</a:t>
            </a: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es la operación inversa al Roll-up. Permite navegar desde datos muy resumidos hacia datos más detallados.</a:t>
            </a:r>
          </a:p>
          <a:p>
            <a:pPr marL="571500" indent="-57150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s-ES" sz="3600" b="1" i="0" dirty="0">
                <a:solidFill>
                  <a:srgbClr val="005088"/>
                </a:solidFill>
                <a:effectLst/>
                <a:latin typeface="DM Sans" pitchFamily="2" charset="0"/>
              </a:rPr>
              <a:t>Acción:</a:t>
            </a: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Bajar en la jerarquía o introducir nuevas dimensiones.</a:t>
            </a:r>
          </a:p>
          <a:p>
            <a:pPr marL="571500" indent="-57150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s-ES" sz="3600" b="1" i="0" dirty="0">
                <a:solidFill>
                  <a:srgbClr val="005088"/>
                </a:solidFill>
                <a:effectLst/>
                <a:latin typeface="DM Sans" pitchFamily="2" charset="0"/>
              </a:rPr>
              <a:t>Efecto:</a:t>
            </a: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Aumenta la granularidad y el detalle de la información mostrada.</a:t>
            </a:r>
          </a:p>
          <a:p>
            <a:pPr marL="571500" indent="-57150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s-ES" sz="3600" b="1" i="0" dirty="0">
                <a:solidFill>
                  <a:srgbClr val="005088"/>
                </a:solidFill>
                <a:effectLst/>
                <a:latin typeface="DM Sans" pitchFamily="2" charset="0"/>
              </a:rPr>
              <a:t>Ejemplo:</a:t>
            </a: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Desglosar las ventas anuales por trimestres o por categorías de producto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33E54C6-7F9B-A1D7-7F1D-3FC7DF2F35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0390" y="3877350"/>
            <a:ext cx="6792098" cy="383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7645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B87AE-BA23-9AA1-0B98-5D93A9F3D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F60B9C5-0653-C872-8E19-9D0C3A0C7368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FA12210-D747-A514-3914-907FBB2BC2F6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2248C68C-8775-7CE1-8E3D-4AA247AC5B1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4FA18B31-FD89-04AB-E38F-83C14EFF295D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1E831609-EDB9-043F-DAB2-AA79D546A22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AF62283-881B-C7FA-3D1C-ABF60EA0B1F8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62EC59B-6E99-C419-A3B2-1090E4CF88D6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55D70D47-E3CD-A0C8-8193-72EECC656C4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2DC6A3BE-D17C-5163-9536-6126682496D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820BC35C-6211-BEB6-A060-F5AB8DF4C39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BBE0DD2-5477-F97F-9F9F-83A508473D2B}"/>
              </a:ext>
            </a:extLst>
          </p:cNvPr>
          <p:cNvSpPr txBox="1"/>
          <p:nvPr/>
        </p:nvSpPr>
        <p:spPr>
          <a:xfrm>
            <a:off x="833998" y="1608569"/>
            <a:ext cx="9182100" cy="7578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s-ES" sz="3600" b="1" dirty="0" err="1">
                <a:solidFill>
                  <a:srgbClr val="005088"/>
                </a:solidFill>
                <a:effectLst/>
                <a:latin typeface="Merriweather" panose="00000500000000000000" pitchFamily="2" charset="0"/>
              </a:rPr>
              <a:t>Pivot</a:t>
            </a:r>
            <a:r>
              <a:rPr lang="es-ES" sz="3600" b="1" dirty="0">
                <a:solidFill>
                  <a:srgbClr val="005088"/>
                </a:solidFill>
                <a:effectLst/>
                <a:latin typeface="Merriweather" panose="00000500000000000000" pitchFamily="2" charset="0"/>
              </a:rPr>
              <a:t> (Rotación)</a:t>
            </a:r>
          </a:p>
          <a:p>
            <a:pPr algn="l">
              <a:buNone/>
            </a:pP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La operación </a:t>
            </a:r>
            <a:r>
              <a:rPr lang="es-ES" sz="3600" b="1" i="0" dirty="0" err="1">
                <a:solidFill>
                  <a:srgbClr val="475569"/>
                </a:solidFill>
                <a:effectLst/>
                <a:latin typeface="DM Sans" pitchFamily="2" charset="0"/>
              </a:rPr>
              <a:t>Pivot</a:t>
            </a: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o Rotación cambia la orientación dimensional de los datos para verlos desde una nueva perspectiva.</a:t>
            </a:r>
          </a:p>
          <a:p>
            <a:pPr marL="571500" indent="-57150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s-ES" sz="3600" b="1" i="0" dirty="0">
                <a:solidFill>
                  <a:srgbClr val="005088"/>
                </a:solidFill>
                <a:effectLst/>
                <a:latin typeface="DM Sans" pitchFamily="2" charset="0"/>
              </a:rPr>
              <a:t>Acción:</a:t>
            </a: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Rotar los ejes de visualización (filas por columnas).</a:t>
            </a:r>
          </a:p>
          <a:p>
            <a:pPr marL="571500" indent="-57150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s-ES" sz="3600" b="1" i="0" dirty="0">
                <a:solidFill>
                  <a:srgbClr val="005088"/>
                </a:solidFill>
                <a:effectLst/>
                <a:latin typeface="DM Sans" pitchFamily="2" charset="0"/>
              </a:rPr>
              <a:t>Efecto:</a:t>
            </a: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No cambia los datos, solo su presentación visual.</a:t>
            </a:r>
          </a:p>
          <a:p>
            <a:pPr marL="571500" indent="-57150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s-ES" sz="3600" b="1" i="0" dirty="0">
                <a:solidFill>
                  <a:srgbClr val="005088"/>
                </a:solidFill>
                <a:effectLst/>
                <a:latin typeface="DM Sans" pitchFamily="2" charset="0"/>
              </a:rPr>
              <a:t>Utilidad:</a:t>
            </a: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Facilita la comparación de datos correlacionados al reorganizar la tabla cruzada.</a:t>
            </a:r>
          </a:p>
          <a:p>
            <a:pPr>
              <a:buNone/>
            </a:pPr>
            <a:br>
              <a:rPr lang="es-ES" b="0" i="0" dirty="0">
                <a:solidFill>
                  <a:srgbClr val="000000"/>
                </a:solidFill>
                <a:effectLst/>
                <a:latin typeface="DM Sans" pitchFamily="2" charset="0"/>
              </a:rPr>
            </a:br>
            <a:endParaRPr lang="es-CO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F29A35D4-A879-3275-65E7-09E7D8CE17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8546" y="3049664"/>
            <a:ext cx="7959454" cy="509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4143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A9787-85CA-E1D0-9F71-94457B87D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4D9F3A3-D021-DB53-9532-F7DA91F916D4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243ACE2-64DE-99B7-8D23-F4A2B3A24EF5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BCF128FB-4B5B-84A5-A6B6-890DE5B184F4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C59979C0-B15A-BE67-E608-D0D3C8AA3FC4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70673E45-1C95-3494-235B-437D16F3539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291FDF4-058C-8055-4192-32B92231298E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2E67045-7FB6-8894-2D6E-F718818D1FD9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C315711-215C-8FC8-706E-B0CB0D1E934E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1E32D9A-89C4-9356-356A-7B0651DD0D6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13B43D54-87BC-A9CD-1743-E0159A4774B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BA257AA-6B3C-A041-CAA5-86929FCC85C3}"/>
              </a:ext>
            </a:extLst>
          </p:cNvPr>
          <p:cNvSpPr txBox="1"/>
          <p:nvPr/>
        </p:nvSpPr>
        <p:spPr>
          <a:xfrm>
            <a:off x="1620126" y="1718049"/>
            <a:ext cx="7714373" cy="6763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s-ES" sz="3600" b="1" i="0" dirty="0" err="1">
                <a:solidFill>
                  <a:srgbClr val="005088"/>
                </a:solidFill>
                <a:effectLst/>
                <a:latin typeface="Merriweather" panose="00000500000000000000" pitchFamily="2" charset="0"/>
              </a:rPr>
              <a:t>Slice</a:t>
            </a:r>
            <a:r>
              <a:rPr lang="es-ES" sz="3600" b="1" i="0" dirty="0">
                <a:solidFill>
                  <a:srgbClr val="005088"/>
                </a:solidFill>
                <a:effectLst/>
                <a:latin typeface="Merriweather" panose="00000500000000000000" pitchFamily="2" charset="0"/>
              </a:rPr>
              <a:t> &amp; Dice (Selección)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s-ES" sz="3600" b="1" i="0" dirty="0" err="1">
                <a:solidFill>
                  <a:srgbClr val="005088"/>
                </a:solidFill>
                <a:effectLst/>
                <a:latin typeface="DM Sans" pitchFamily="2" charset="0"/>
              </a:rPr>
              <a:t>Slice</a:t>
            </a:r>
            <a:r>
              <a:rPr lang="es-ES" sz="3600" b="1" i="0" dirty="0">
                <a:solidFill>
                  <a:srgbClr val="005088"/>
                </a:solidFill>
                <a:effectLst/>
                <a:latin typeface="DM Sans" pitchFamily="2" charset="0"/>
              </a:rPr>
              <a:t> (Rebanar):</a:t>
            </a: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Selecciona un solo valor para una de las dimensiones, creando un </a:t>
            </a:r>
            <a:r>
              <a:rPr lang="es-ES" sz="3600" b="0" i="0" dirty="0" err="1">
                <a:solidFill>
                  <a:srgbClr val="475569"/>
                </a:solidFill>
                <a:effectLst/>
                <a:latin typeface="DM Sans" pitchFamily="2" charset="0"/>
              </a:rPr>
              <a:t>sub-cubo</a:t>
            </a: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 con una dimensión menos (ej. "Ventas solo en 2023").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s-ES" sz="3600" b="1" i="0" dirty="0">
                <a:solidFill>
                  <a:srgbClr val="005088"/>
                </a:solidFill>
                <a:effectLst/>
                <a:latin typeface="DM Sans" pitchFamily="2" charset="0"/>
              </a:rPr>
              <a:t>Dice (Trocear):</a:t>
            </a: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Define un </a:t>
            </a:r>
            <a:r>
              <a:rPr lang="es-ES" sz="3600" b="0" i="0" dirty="0" err="1">
                <a:solidFill>
                  <a:srgbClr val="475569"/>
                </a:solidFill>
                <a:effectLst/>
                <a:latin typeface="DM Sans" pitchFamily="2" charset="0"/>
              </a:rPr>
              <a:t>sub-cubo</a:t>
            </a: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 seleccionando valores específicos para dos o más dimensiones (ej. "Ventas en 2023 Y en la región Norte").</a:t>
            </a:r>
          </a:p>
        </p:txBody>
      </p:sp>
      <p:pic>
        <p:nvPicPr>
          <p:cNvPr id="3074" name="Picture 2" descr="Business Intelligence and Analytics – From A to Z (Part 4)">
            <a:extLst>
              <a:ext uri="{FF2B5EF4-FFF2-40B4-BE49-F238E27FC236}">
                <a16:creationId xmlns:a16="http://schemas.microsoft.com/office/drawing/2014/main" id="{7AC001CF-6146-5A3F-6A38-65D30C4087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38"/>
          <a:stretch>
            <a:fillRect/>
          </a:stretch>
        </p:blipFill>
        <p:spPr bwMode="auto">
          <a:xfrm>
            <a:off x="12163615" y="1914524"/>
            <a:ext cx="3190685" cy="3328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Business Intelligence and Analytics – From A to Z (Part 4)">
            <a:extLst>
              <a:ext uri="{FF2B5EF4-FFF2-40B4-BE49-F238E27FC236}">
                <a16:creationId xmlns:a16="http://schemas.microsoft.com/office/drawing/2014/main" id="{3157169C-3F0A-0A5F-371D-91CD59DFE6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75"/>
          <a:stretch>
            <a:fillRect/>
          </a:stretch>
        </p:blipFill>
        <p:spPr bwMode="auto">
          <a:xfrm>
            <a:off x="11493144" y="6296025"/>
            <a:ext cx="5456121" cy="332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8671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7BF08-1E29-A2BC-FBBB-69F23C0C7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451FAE8-7647-D8A1-DD92-EB7245781C3F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3606119-78B4-5CFC-0009-85A17CDDB7A5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F9B00DD8-4DF9-26EF-65E2-55EA0DF5819C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E11523AC-0EB9-86A6-999C-DBB4F2DB943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80615578-4FCE-9055-0BCA-C1D965A7A0B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B6FB7AB-1B4F-95A6-F643-D623FBB20F25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D3A0340-7C05-60E5-9734-F27A6DF36C85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7DF80386-B891-2C79-4BB8-1A360FDAAC3E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1EC2CF17-FC79-A059-61F7-CFD4638550B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C2C3B22E-2C0C-CD61-022A-0CC6E3CF8F6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13A58976-2BBD-0752-5721-AD9A8E0B67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819780"/>
              </p:ext>
            </p:extLst>
          </p:nvPr>
        </p:nvGraphicFramePr>
        <p:xfrm>
          <a:off x="1430214" y="968983"/>
          <a:ext cx="16224739" cy="8684624"/>
        </p:xfrm>
        <a:graphic>
          <a:graphicData uri="http://schemas.openxmlformats.org/drawingml/2006/table">
            <a:tbl>
              <a:tblPr/>
              <a:tblGrid>
                <a:gridCol w="3476730">
                  <a:extLst>
                    <a:ext uri="{9D8B030D-6E8A-4147-A177-3AD203B41FA5}">
                      <a16:colId xmlns:a16="http://schemas.microsoft.com/office/drawing/2014/main" val="1038320174"/>
                    </a:ext>
                  </a:extLst>
                </a:gridCol>
                <a:gridCol w="12748009">
                  <a:extLst>
                    <a:ext uri="{9D8B030D-6E8A-4147-A177-3AD203B41FA5}">
                      <a16:colId xmlns:a16="http://schemas.microsoft.com/office/drawing/2014/main" val="468376969"/>
                    </a:ext>
                  </a:extLst>
                </a:gridCol>
              </a:tblGrid>
              <a:tr h="239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/>
                        <a:t>Operación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/>
                        <a:t>Propósito (resumen en español)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174879"/>
                  </a:ext>
                </a:extLst>
              </a:tr>
              <a:tr h="575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 dirty="0" err="1"/>
                        <a:t>Add</a:t>
                      </a:r>
                      <a:r>
                        <a:rPr lang="es-CO" sz="2000" b="1" dirty="0"/>
                        <a:t> </a:t>
                      </a:r>
                      <a:r>
                        <a:rPr lang="es-CO" sz="2000" b="1" dirty="0" err="1"/>
                        <a:t>measure</a:t>
                      </a:r>
                      <a:endParaRPr lang="es-CO" sz="2000" dirty="0"/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/>
                        <a:t>Agrega nuevas medidas a un cubo, calculadas a partir de otras medidas o de niveles de dimensión.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908322"/>
                  </a:ext>
                </a:extLst>
              </a:tr>
              <a:tr h="407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 dirty="0" err="1"/>
                        <a:t>Aggregation</a:t>
                      </a:r>
                      <a:r>
                        <a:rPr lang="es-CO" sz="2000" b="1" dirty="0"/>
                        <a:t> </a:t>
                      </a:r>
                      <a:r>
                        <a:rPr lang="es-CO" sz="2000" b="1" dirty="0" err="1"/>
                        <a:t>operations</a:t>
                      </a:r>
                      <a:endParaRPr lang="es-CO" sz="2000" dirty="0"/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/>
                        <a:t>Agregan las celdas de un cubo, posiblemente después de realizar una agrupación de celdas.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082177"/>
                  </a:ext>
                </a:extLst>
              </a:tr>
              <a:tr h="575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/>
                        <a:t>Dice</a:t>
                      </a:r>
                      <a:endParaRPr lang="es-CO" sz="2000"/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/>
                        <a:t>Mantiene solo las celdas de un cubo que satisfacen una condición booleana sobre niveles de dimensión, atributos y medidas.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212818"/>
                  </a:ext>
                </a:extLst>
              </a:tr>
              <a:tr h="575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 dirty="0" err="1"/>
                        <a:t>Difference</a:t>
                      </a:r>
                      <a:endParaRPr lang="es-CO" sz="2000" dirty="0"/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/>
                        <a:t>Elimina del primer cubo las celdas que también están en otro cubo. Ambos cubos deben tener el mismo esquema.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092510"/>
                  </a:ext>
                </a:extLst>
              </a:tr>
              <a:tr h="407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/>
                        <a:t>Drill-across</a:t>
                      </a:r>
                      <a:endParaRPr lang="es-CO" sz="2000"/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/>
                        <a:t>Fusiona dos cubos que tienen el mismo esquema e instancias usando una condición de join.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591426"/>
                  </a:ext>
                </a:extLst>
              </a:tr>
              <a:tr h="575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/>
                        <a:t>Drill-down</a:t>
                      </a:r>
                      <a:endParaRPr lang="es-CO" sz="2000"/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dirty="0"/>
                        <a:t>Desagrega las medidas a lo largo de una jerarquía para obtener datos a una granularidad más fina. Es la operación opuesta a </a:t>
                      </a:r>
                      <a:r>
                        <a:rPr lang="es-ES" sz="2000" i="1" dirty="0"/>
                        <a:t>roll-up</a:t>
                      </a:r>
                      <a:r>
                        <a:rPr lang="es-ES" sz="2000" dirty="0"/>
                        <a:t>.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563862"/>
                  </a:ext>
                </a:extLst>
              </a:tr>
              <a:tr h="571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/>
                        <a:t>Drop measure</a:t>
                      </a:r>
                      <a:endParaRPr lang="es-CO" sz="2000"/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/>
                        <a:t>Elimina medidas de un cubo.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671031"/>
                  </a:ext>
                </a:extLst>
              </a:tr>
              <a:tr h="407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/>
                        <a:t>Pivot</a:t>
                      </a:r>
                      <a:endParaRPr lang="es-CO" sz="2000"/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/>
                        <a:t>Rota los ejes de un cubo para ofrecer una presentación alternativa de los datos.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770150"/>
                  </a:ext>
                </a:extLst>
              </a:tr>
              <a:tr h="575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 dirty="0"/>
                        <a:t>Recursive roll-up</a:t>
                      </a:r>
                      <a:endParaRPr lang="es-CO" sz="2000" dirty="0"/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/>
                        <a:t>Ejecuta iterativamente operaciones de </a:t>
                      </a:r>
                      <a:r>
                        <a:rPr lang="es-ES" sz="2000" i="1"/>
                        <a:t>roll-up</a:t>
                      </a:r>
                      <a:r>
                        <a:rPr lang="es-ES" sz="2000"/>
                        <a:t> sobre una jerarquía recursiva hasta alcanzar el nivel superior.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2950508"/>
                  </a:ext>
                </a:extLst>
              </a:tr>
              <a:tr h="575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/>
                        <a:t>Rename</a:t>
                      </a:r>
                      <a:endParaRPr lang="es-CO" sz="2000"/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dirty="0"/>
                        <a:t>Cambia el nombre de uno o varios elementos del esquema de un cubo (dimensiones, niveles, medidas, etc.).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44863"/>
                  </a:ext>
                </a:extLst>
              </a:tr>
              <a:tr h="575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/>
                        <a:t>Roll-up</a:t>
                      </a:r>
                      <a:endParaRPr lang="es-CO" sz="2000"/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/>
                        <a:t>Agrega las medidas a lo largo de una jerarquía para obtener datos a una granularidad más gruesa. Es la operación opuesta a </a:t>
                      </a:r>
                      <a:r>
                        <a:rPr lang="es-ES" sz="2000" i="1"/>
                        <a:t>drill-down</a:t>
                      </a:r>
                      <a:r>
                        <a:rPr lang="es-ES" sz="2000"/>
                        <a:t>.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0984643"/>
                  </a:ext>
                </a:extLst>
              </a:tr>
              <a:tr h="407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/>
                        <a:t>Roll-up*</a:t>
                      </a:r>
                      <a:endParaRPr lang="es-CO" sz="2000"/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/>
                        <a:t>Notación abreviada para una secuencia de operaciones </a:t>
                      </a:r>
                      <a:r>
                        <a:rPr lang="es-ES" sz="2000" i="1"/>
                        <a:t>roll-up</a:t>
                      </a:r>
                      <a:r>
                        <a:rPr lang="es-ES" sz="2000"/>
                        <a:t>.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21680"/>
                  </a:ext>
                </a:extLst>
              </a:tr>
              <a:tr h="575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/>
                        <a:t>Slice</a:t>
                      </a:r>
                      <a:endParaRPr lang="es-CO" sz="2000"/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/>
                        <a:t>Elimina una dimensión del cubo seleccionando una instancia específica en un nivel de esa dimensión.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686188"/>
                  </a:ext>
                </a:extLst>
              </a:tr>
              <a:tr h="575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/>
                        <a:t>Sort</a:t>
                      </a:r>
                      <a:endParaRPr lang="es-CO" sz="2000"/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dirty="0"/>
                        <a:t>Ordena los miembros de una dimensión de acuerdo con una expresión (por ejemplo, alfabéticamente o por valor de una medida).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687"/>
                  </a:ext>
                </a:extLst>
              </a:tr>
              <a:tr h="575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/>
                        <a:t>Union</a:t>
                      </a:r>
                      <a:endParaRPr lang="es-CO" sz="2000"/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dirty="0"/>
                        <a:t>Combina las celdas de dos cubos que tienen el mismo esquema pero miembros disjuntos (no se superponen).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7539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8880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0AE49-4BA3-724E-2720-C1FF52E08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DE818A9-9C2C-8712-4B29-7E88BF4A90F5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7582D66-090D-8A9E-979D-FCE94DE6551C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78081333-F7C0-0B1B-9F28-2488EED162D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AFE15AAF-10E6-5D2A-52BB-3CF19A6661F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F3505D2F-2330-4863-7D8E-C99324B8CA9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1E4F3CA-FB7D-EB5F-315F-F05B02052168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0BE0B18-AFAA-7DED-1B1A-035234D405F2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07A48EEA-873F-653B-6347-634BCB7E4BB4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B48A56D4-991E-F47E-70D2-42F639F0869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7BD44A7E-0A57-EC66-492F-00B843C1CD4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pic>
        <p:nvPicPr>
          <p:cNvPr id="13" name="Imagen 12">
            <a:extLst>
              <a:ext uri="{FF2B5EF4-FFF2-40B4-BE49-F238E27FC236}">
                <a16:creationId xmlns:a16="http://schemas.microsoft.com/office/drawing/2014/main" id="{00803477-2ED9-AF26-BD11-7BE26AA797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2169" y="968983"/>
            <a:ext cx="9539142" cy="817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1473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2D088-C9BD-5A1A-AF6D-FF50E3656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EF02397-641B-4F39-6646-5F0EF72BE4C5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E030B2D-0A4C-1F0C-4A9E-48A4F0C75593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B99CB7B3-F698-AFA0-2574-1BB99B2EC214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CBAFB26D-989A-20F4-22F7-6357F3AC50F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E32D3CD0-FEA1-B611-7C59-E400418DD51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2D7D38E-1B7B-7F19-FDE4-2E263E33F03B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BDEAC7F-5157-901F-2D66-DE28FFE0D054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73A0590A-93FF-1436-6812-37895233E28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19DAC07A-347D-2763-87AE-44C0B8D8A5FE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757AB8CD-AD57-93EC-0A37-9D1262793B8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55593B2-C622-B08E-3981-E966F5B866CC}"/>
              </a:ext>
            </a:extLst>
          </p:cNvPr>
          <p:cNvSpPr txBox="1"/>
          <p:nvPr/>
        </p:nvSpPr>
        <p:spPr>
          <a:xfrm>
            <a:off x="4508369" y="4917732"/>
            <a:ext cx="91864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b="1" dirty="0"/>
              <a:t>Diseño Conceptual de Bodegas de Datos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9291195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D6D2D-7214-1BC9-DBBA-75F81D411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0AB4FCB-CF2A-DFFC-5FD7-CFD7B7A3FE5D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6DF7C73-19A0-2E46-F106-20919DBB7296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BDE8BEAF-964B-19E1-9A8C-E63E4D258BE3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31E493A1-9A2A-4B05-D623-C548A69CEB8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792DF05F-683E-E62F-A500-47632A41C26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5B2CC5C-36E4-6A6F-6D9D-4FE40011C12D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FF7BD3A-C3F6-8FBD-4637-B247EDE901D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7CBDE3A2-CB93-8FF9-DE93-08C547C769B3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8D1DE440-B615-7BD1-A4EB-C9ECE5B085DC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EC75635C-F5F2-3AB9-D891-54DCA82C0CB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F548FE46-23B8-EC13-7551-5CCEB529B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377564"/>
              </p:ext>
            </p:extLst>
          </p:nvPr>
        </p:nvGraphicFramePr>
        <p:xfrm>
          <a:off x="4278492" y="4312107"/>
          <a:ext cx="10647576" cy="2011680"/>
        </p:xfrm>
        <a:graphic>
          <a:graphicData uri="http://schemas.openxmlformats.org/drawingml/2006/table">
            <a:tbl>
              <a:tblPr/>
              <a:tblGrid>
                <a:gridCol w="2661894">
                  <a:extLst>
                    <a:ext uri="{9D8B030D-6E8A-4147-A177-3AD203B41FA5}">
                      <a16:colId xmlns:a16="http://schemas.microsoft.com/office/drawing/2014/main" val="2686910103"/>
                    </a:ext>
                  </a:extLst>
                </a:gridCol>
                <a:gridCol w="2661894">
                  <a:extLst>
                    <a:ext uri="{9D8B030D-6E8A-4147-A177-3AD203B41FA5}">
                      <a16:colId xmlns:a16="http://schemas.microsoft.com/office/drawing/2014/main" val="469097363"/>
                    </a:ext>
                  </a:extLst>
                </a:gridCol>
                <a:gridCol w="2661894">
                  <a:extLst>
                    <a:ext uri="{9D8B030D-6E8A-4147-A177-3AD203B41FA5}">
                      <a16:colId xmlns:a16="http://schemas.microsoft.com/office/drawing/2014/main" val="3947608745"/>
                    </a:ext>
                  </a:extLst>
                </a:gridCol>
                <a:gridCol w="2661894">
                  <a:extLst>
                    <a:ext uri="{9D8B030D-6E8A-4147-A177-3AD203B41FA5}">
                      <a16:colId xmlns:a16="http://schemas.microsoft.com/office/drawing/2014/main" val="15227992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dirty="0"/>
                        <a:t>Nivel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Enfoque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Usuario Principal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Ejemplo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865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Conceptual</a:t>
                      </a:r>
                      <a:endParaRPr lang="es-CO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dirty="0"/>
                        <a:t>Requisitos de Negocio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dirty="0"/>
                        <a:t>Usuarios y Analistas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Modelo MultiDim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158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Lógico</a:t>
                      </a:r>
                      <a:endParaRPr lang="es-CO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/>
                        <a:t>Estructura de Base de Datos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dirty="0"/>
                        <a:t>Arquitectos de Datos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dirty="0"/>
                        <a:t>Esquema Estrella / ROLAP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088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Físico</a:t>
                      </a:r>
                      <a:endParaRPr lang="es-CO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Rendimiento y Almacenamiento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DBAs / Ingenieros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dirty="0"/>
                        <a:t>Índices, Particiones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9385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29414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81EA6-438B-773D-865D-B2048BB7B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F97EF19-E8CB-3549-D76D-E86D2296F805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F000286-5244-D67A-2A56-3E0AC03FB48F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84190175-FFED-3481-A36A-81C56204CF3B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E39931D0-62CD-BA72-8855-D82FCBBA0A1C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17499778-0FD4-B4C8-2AF5-7AC6757B58F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ED8473E-DD74-5711-754D-C108BC0E6D6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4035DB5-B6EA-806D-D152-6B0E6E29B21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130087C-6A51-8438-3ADD-7A473737E37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93E35DC3-BC5E-148B-EEE2-0CDC7391F2AD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170B5BFA-DDE8-69A9-FC5B-0EAC40AD54D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0DC1E02-EDA8-7BA4-5F33-6A9334BD1C9A}"/>
              </a:ext>
            </a:extLst>
          </p:cNvPr>
          <p:cNvSpPr txBox="1"/>
          <p:nvPr/>
        </p:nvSpPr>
        <p:spPr>
          <a:xfrm>
            <a:off x="1504753" y="1496347"/>
            <a:ext cx="15278494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600" b="1" dirty="0"/>
              <a:t>El "Pecado Original" de los proyectos de DW</a:t>
            </a:r>
          </a:p>
          <a:p>
            <a:pPr>
              <a:buNone/>
            </a:pPr>
            <a:endParaRPr lang="es-ES" sz="3600" b="1" dirty="0"/>
          </a:p>
          <a:p>
            <a:pPr>
              <a:buNone/>
            </a:pPr>
            <a:r>
              <a:rPr lang="es-ES" sz="3600" dirty="0"/>
              <a:t>Muchos ingenieros escuchan al cliente e inmediatamente abren su herramienta de base de datos para crear una tabla de hechos (</a:t>
            </a:r>
            <a:r>
              <a:rPr lang="es-ES" sz="3600" dirty="0" err="1">
                <a:latin typeface="Courier New" panose="02070309020205020404" pitchFamily="49" charset="0"/>
              </a:rPr>
              <a:t>Fact_Ventas</a:t>
            </a:r>
            <a:r>
              <a:rPr lang="es-ES" sz="3600" dirty="0"/>
              <a:t>).</a:t>
            </a:r>
          </a:p>
          <a:p>
            <a:pPr>
              <a:buNone/>
            </a:pPr>
            <a:endParaRPr lang="es-E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b="1" dirty="0"/>
              <a:t>El riesgo:</a:t>
            </a:r>
            <a:r>
              <a:rPr lang="es-ES" sz="3600" dirty="0"/>
              <a:t> Si diseñas pensando en tablas, terminas creando una base de datos que es fácil de construir para el ingeniero, pero difícil de usar para el analista.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s-E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b="1" dirty="0"/>
              <a:t>La solución:</a:t>
            </a:r>
            <a:r>
              <a:rPr lang="es-ES" sz="3600" dirty="0"/>
              <a:t> El diseño conceptual obliga a detenerse y preguntar: "¿Qué significa realmente una 'Venta' para este negocio? ¿Incluye devoluciones? ¿Es la fecha de envío o de pedido?".</a:t>
            </a:r>
          </a:p>
        </p:txBody>
      </p:sp>
    </p:spTree>
    <p:extLst>
      <p:ext uri="{BB962C8B-B14F-4D97-AF65-F5344CB8AC3E}">
        <p14:creationId xmlns:p14="http://schemas.microsoft.com/office/powerpoint/2010/main" val="9613848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84354-A522-1CBB-89C1-2AB4F8A56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4E1CFC8-BB81-8208-0E8F-0C8ABA74B68B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2865577-FD88-5881-2021-F77EE668472C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9BF72AF7-96E1-A569-336A-5E4F43E0C9CF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067E9D0-D0A2-523C-DBB9-00D58811B278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CB1FD6F9-EC8C-5653-5A16-C058FE71D12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C0F1519-FCC7-2D79-4D18-F4C63D5176A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305DE9E-4667-B05B-6147-F5356A5FF2BC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E14BEFE0-3B1C-4CA9-1E65-F0F0DC09C5BD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667113DD-F241-6B4A-4678-BBFE6A66083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A0E98BAA-BAC9-5DBF-2C03-E3EF0C0A1D7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A83916D-D3D5-54E3-7D16-2331F578CD23}"/>
              </a:ext>
            </a:extLst>
          </p:cNvPr>
          <p:cNvSpPr txBox="1"/>
          <p:nvPr/>
        </p:nvSpPr>
        <p:spPr>
          <a:xfrm>
            <a:off x="584803" y="280518"/>
            <a:ext cx="17118393" cy="9325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400" b="1" dirty="0"/>
              <a:t>Los Tres Pilares del Diseño Conceptual</a:t>
            </a:r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endParaRPr lang="es-ES" sz="2400" dirty="0"/>
          </a:p>
          <a:p>
            <a:pPr>
              <a:buNone/>
            </a:pPr>
            <a:r>
              <a:rPr lang="es-ES" sz="2400" b="1" dirty="0"/>
              <a:t>A. Abstracción (Ocultar la complejidad)</a:t>
            </a:r>
          </a:p>
          <a:p>
            <a:pPr>
              <a:buNone/>
            </a:pPr>
            <a:r>
              <a:rPr lang="es-ES" sz="2400" dirty="0"/>
              <a:t>Un Data </a:t>
            </a:r>
            <a:r>
              <a:rPr lang="es-ES" sz="2400" dirty="0" err="1"/>
              <a:t>Warehouse</a:t>
            </a:r>
            <a:r>
              <a:rPr lang="es-ES" sz="2400" dirty="0"/>
              <a:t> integra datos de sistemas muy complejos (ERP, CRM, Excel). Si le muestras esa complejidad a un gerente, se abrumará.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El modelo conceptual actúa como un filtro. Elimina los detalles técnicos irrelevantes (</a:t>
            </a:r>
            <a:r>
              <a:rPr lang="es-ES" sz="2400" dirty="0" err="1"/>
              <a:t>IDs</a:t>
            </a:r>
            <a:r>
              <a:rPr lang="es-ES" sz="2400" dirty="0"/>
              <a:t> de sistema, logs de auditoría) y deja solo lo que sirve para tomar decisiones (Cliente, Producto, Tiempo, Monto).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Ejemplo:</a:t>
            </a:r>
            <a:r>
              <a:rPr lang="es-ES" sz="2400" dirty="0"/>
              <a:t> En el sistema operativo, un "Cliente" puede estar dividido en 3 tablas para ahorrar espacio. En el modelo conceptual, "Cliente" es una sola caja simple con sus atributos.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400" dirty="0"/>
          </a:p>
          <a:p>
            <a:pPr>
              <a:buNone/>
            </a:pPr>
            <a:r>
              <a:rPr lang="es-ES" sz="2400" b="1" dirty="0"/>
              <a:t>B. Independencia de la Plataforma</a:t>
            </a:r>
          </a:p>
          <a:p>
            <a:pPr>
              <a:buNone/>
            </a:pPr>
            <a:r>
              <a:rPr lang="es-ES" sz="2400" dirty="0"/>
              <a:t>Un buen modelo conceptual debe sobrevivir a la tecnología.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Si hoy usas Oracle y mañana migras a </a:t>
            </a:r>
            <a:r>
              <a:rPr lang="es-ES" sz="2400" dirty="0" err="1"/>
              <a:t>Snowflake</a:t>
            </a:r>
            <a:r>
              <a:rPr lang="es-ES" sz="2400" dirty="0"/>
              <a:t> o </a:t>
            </a:r>
            <a:r>
              <a:rPr lang="es-ES" sz="2400" dirty="0" err="1"/>
              <a:t>BigQuery</a:t>
            </a:r>
            <a:r>
              <a:rPr lang="es-ES" sz="2400" dirty="0"/>
              <a:t>, tu </a:t>
            </a:r>
            <a:r>
              <a:rPr lang="es-ES" sz="2400" b="1" dirty="0"/>
              <a:t>modelo conceptual no debería cambiar ni una línea</a:t>
            </a:r>
            <a:r>
              <a:rPr lang="es-E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El negocio sigue siendo el mismo: siguen vendiendo productos a clientes en fechas específicas. La tecnología cambia (cíclicamente), pero las reglas de negocio son estables. Diseñar a nivel conceptual protege la inversión intelectual de la empresa.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400" dirty="0"/>
          </a:p>
          <a:p>
            <a:pPr>
              <a:buNone/>
            </a:pPr>
            <a:r>
              <a:rPr lang="es-ES" sz="2400" b="1" dirty="0"/>
              <a:t>C. Comunicación (El Lenguaje Común)</a:t>
            </a:r>
          </a:p>
          <a:p>
            <a:pPr>
              <a:buNone/>
            </a:pPr>
            <a:r>
              <a:rPr lang="es-ES" sz="2400" dirty="0"/>
              <a:t>Este es el punto más fuerte. Los usuarios de negocio (Gerentes, Marketing) no hablan SQL ni entienden Diagramas Entidad-Relación (ER) complejos.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El Diseño Conceptual (usando notaciones como </a:t>
            </a:r>
            <a:r>
              <a:rPr lang="es-ES" sz="2400" dirty="0" err="1"/>
              <a:t>MultiDim</a:t>
            </a:r>
            <a:r>
              <a:rPr lang="es-ES" sz="2400" dirty="0"/>
              <a:t>) utiliza gráficos intuitivos.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Permite que el usuario señale un dibujo y diga: </a:t>
            </a:r>
            <a:r>
              <a:rPr lang="es-ES" sz="2400" i="1" dirty="0"/>
              <a:t>"No, espera, nosotros no analizamos las ventas por 'Ciudad', las analizamos por 'Territorio de Ventas', que es diferente"</a:t>
            </a:r>
            <a:r>
              <a:rPr lang="es-E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Detectar ese error en esta etapa cuesta $0. Detectarlo cuando ya construiste el ETL y las tablas cuesta miles de dólares.</a:t>
            </a:r>
          </a:p>
        </p:txBody>
      </p:sp>
    </p:spTree>
    <p:extLst>
      <p:ext uri="{BB962C8B-B14F-4D97-AF65-F5344CB8AC3E}">
        <p14:creationId xmlns:p14="http://schemas.microsoft.com/office/powerpoint/2010/main" val="24461376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7787E-9BF7-5F7F-A6E3-906E30812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DEA3E62-1E45-1795-B480-039D287353A8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106B25A-83B0-D1EE-D6FD-967F2C973B66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6773BD3D-5CBD-BC3B-1664-EE9755D1250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9DBA8FC-AB62-68AC-4666-D5758657110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2ECC9F92-84FD-6948-B19A-8287FCB07E4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89DA3CF-FDAC-943E-20BF-CC4FA2D69D2F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1C04A15-EC7D-19FC-2573-E4EED84DE3D4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B4159DEF-6D7E-C110-A3E3-D55000445B9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7D5044B5-FEB3-60AC-F37D-A53567391D3B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79D865D-26BE-26C3-CCE7-C4898108DBA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A277353-183B-DAE9-62C4-90364947C629}"/>
              </a:ext>
            </a:extLst>
          </p:cNvPr>
          <p:cNvSpPr txBox="1"/>
          <p:nvPr/>
        </p:nvSpPr>
        <p:spPr>
          <a:xfrm>
            <a:off x="1044309" y="1172510"/>
            <a:ext cx="15482636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600" b="1" dirty="0"/>
              <a:t>¿Qué es y por qué no usar simplemente ER (Entidad-Relación)?</a:t>
            </a:r>
          </a:p>
          <a:p>
            <a:pPr>
              <a:buNone/>
            </a:pPr>
            <a:endParaRPr lang="es-ES" sz="36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600" b="1" dirty="0"/>
              <a:t>Modelo ER (Clásico):</a:t>
            </a:r>
            <a:r>
              <a:rPr lang="es-ES" sz="3600" dirty="0"/>
              <a:t> Está obsesionado con </a:t>
            </a:r>
            <a:r>
              <a:rPr lang="es-ES" sz="3600" b="1" dirty="0"/>
              <a:t>eliminar redundancia</a:t>
            </a:r>
            <a:r>
              <a:rPr lang="es-ES" sz="3600" dirty="0"/>
              <a:t>. Divide los datos en muchas tablas pequeñas para que nada se repita. Es excelente para guardar datos rápido, pero pésimo para analizarlos.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ES" sz="3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600" b="1" dirty="0"/>
              <a:t>Modelo </a:t>
            </a:r>
            <a:r>
              <a:rPr lang="es-ES" sz="3600" b="1" dirty="0" err="1"/>
              <a:t>MultiDim</a:t>
            </a:r>
            <a:r>
              <a:rPr lang="es-ES" sz="3600" b="1" dirty="0"/>
              <a:t>:</a:t>
            </a:r>
            <a:r>
              <a:rPr lang="es-ES" sz="3600" dirty="0"/>
              <a:t> Está obsesionado con la </a:t>
            </a:r>
            <a:r>
              <a:rPr lang="es-ES" sz="3600" b="1" dirty="0"/>
              <a:t>navegación</a:t>
            </a:r>
            <a:r>
              <a:rPr lang="es-ES" sz="3600" dirty="0"/>
              <a:t>. No le importa cómo se guardan los datos, sino cómo el usuario "viaja" a través de ellos.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3600" dirty="0"/>
          </a:p>
          <a:p>
            <a:pPr>
              <a:buNone/>
            </a:pPr>
            <a:r>
              <a:rPr lang="es-ES" sz="3600" b="1" dirty="0"/>
              <a:t>Definición técnica:</a:t>
            </a:r>
            <a:r>
              <a:rPr lang="es-ES" sz="3600" dirty="0"/>
              <a:t> El </a:t>
            </a:r>
            <a:r>
              <a:rPr lang="es-ES" sz="3600" dirty="0" err="1"/>
              <a:t>MultiDim</a:t>
            </a:r>
            <a:r>
              <a:rPr lang="es-ES" sz="3600" dirty="0"/>
              <a:t> es un modelo conceptual gráfico que permite representar datos analíticos de forma intuitiva, soportando jerarquías complejas y diferentes tipos de medidas, independientemente de cómo se implemente luego (SQL, NoSQL, Cubos OLAP).</a:t>
            </a:r>
          </a:p>
        </p:txBody>
      </p:sp>
    </p:spTree>
    <p:extLst>
      <p:ext uri="{BB962C8B-B14F-4D97-AF65-F5344CB8AC3E}">
        <p14:creationId xmlns:p14="http://schemas.microsoft.com/office/powerpoint/2010/main" val="32414055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16499-1C23-CEFF-0B9E-6B46B8350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EA8FF91-3378-654F-500E-062DBE8B7D1A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5EDC3A4-9DDF-79CF-7532-4424B789848E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05D133EA-ADF8-C849-3D60-E1BB06DF7AA3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07C5E6CA-B110-880C-DAE3-CCF86A4DE2F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F29CD095-4EE6-0098-5BAB-095D58770D4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21B50CE-5090-B5D3-CB08-832D1BE8D234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1AF8320-1E8A-BE9A-549E-BE5C2EAF68D4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7679B405-DF25-BADF-FC95-33B476F3A62D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4041AACE-6F25-4CA1-B99C-FD81DE210861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30FCBF56-7CCE-8CE5-045E-64ED2D58F83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857F639-7A4E-88FC-6AF5-D091DF461F4F}"/>
              </a:ext>
            </a:extLst>
          </p:cNvPr>
          <p:cNvSpPr txBox="1"/>
          <p:nvPr/>
        </p:nvSpPr>
        <p:spPr>
          <a:xfrm>
            <a:off x="1333291" y="968983"/>
            <a:ext cx="15089959" cy="7971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>
                <a:latin typeface="+mn-lt"/>
              </a:rPr>
              <a:t>La Anatomía del Modelo </a:t>
            </a:r>
            <a:r>
              <a:rPr lang="es-ES" sz="3200" b="1" dirty="0" err="1">
                <a:latin typeface="+mn-lt"/>
              </a:rPr>
              <a:t>MultiDim</a:t>
            </a:r>
            <a:endParaRPr lang="es-ES" sz="3200" b="1" dirty="0">
              <a:latin typeface="+mn-lt"/>
            </a:endParaRPr>
          </a:p>
          <a:p>
            <a:pPr>
              <a:buNone/>
            </a:pPr>
            <a:endParaRPr lang="es-ES" sz="3200" b="1" dirty="0">
              <a:latin typeface="+mn-lt"/>
            </a:endParaRPr>
          </a:p>
          <a:p>
            <a:pPr>
              <a:buNone/>
            </a:pPr>
            <a:r>
              <a:rPr lang="es-ES" sz="3200" dirty="0">
                <a:latin typeface="+mn-lt"/>
              </a:rPr>
              <a:t>El modelo se compone de tres estructuras principales:</a:t>
            </a:r>
          </a:p>
          <a:p>
            <a:pPr>
              <a:buNone/>
            </a:pPr>
            <a:endParaRPr lang="es-ES" sz="3200" dirty="0">
              <a:latin typeface="+mn-lt"/>
            </a:endParaRPr>
          </a:p>
          <a:p>
            <a:pPr marL="514350" indent="-514350">
              <a:buAutoNum type="alphaUcPeriod"/>
            </a:pPr>
            <a:r>
              <a:rPr lang="es-ES" sz="3200" b="1" dirty="0">
                <a:latin typeface="+mn-lt"/>
              </a:rPr>
              <a:t>Las Dimensiones y Niveles (El "Contexto")</a:t>
            </a:r>
          </a:p>
          <a:p>
            <a:pPr marL="514350" indent="-514350">
              <a:buAutoNum type="alphaUcPeriod"/>
            </a:pPr>
            <a:endParaRPr lang="es-ES" sz="3200" b="1" dirty="0">
              <a:latin typeface="+mn-lt"/>
            </a:endParaRPr>
          </a:p>
          <a:p>
            <a:pPr>
              <a:buNone/>
            </a:pPr>
            <a:r>
              <a:rPr lang="es-ES" sz="3200" dirty="0">
                <a:latin typeface="+mn-lt"/>
              </a:rPr>
              <a:t>En </a:t>
            </a:r>
            <a:r>
              <a:rPr lang="es-ES" sz="3200" dirty="0" err="1">
                <a:latin typeface="+mn-lt"/>
              </a:rPr>
              <a:t>MultiDim</a:t>
            </a:r>
            <a:r>
              <a:rPr lang="es-ES" sz="3200" dirty="0">
                <a:latin typeface="+mn-lt"/>
              </a:rPr>
              <a:t>, una dimensión no es una simple lista; es una estructura organizada.</a:t>
            </a:r>
          </a:p>
          <a:p>
            <a:pPr>
              <a:buNone/>
            </a:pPr>
            <a:endParaRPr lang="es-ES" sz="32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200" b="1" dirty="0">
                <a:latin typeface="+mn-lt"/>
              </a:rPr>
              <a:t>Niveles (</a:t>
            </a:r>
            <a:r>
              <a:rPr lang="es-ES" sz="3200" b="1" dirty="0" err="1">
                <a:latin typeface="+mn-lt"/>
              </a:rPr>
              <a:t>Levels</a:t>
            </a:r>
            <a:r>
              <a:rPr lang="es-ES" sz="3200" b="1" dirty="0">
                <a:latin typeface="+mn-lt"/>
              </a:rPr>
              <a:t>):</a:t>
            </a:r>
            <a:r>
              <a:rPr lang="es-ES" sz="3200" dirty="0">
                <a:latin typeface="+mn-lt"/>
              </a:rPr>
              <a:t> Son los diferentes grados de detalle (granularidad).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i="1" dirty="0">
                <a:latin typeface="+mn-lt"/>
              </a:rPr>
              <a:t>Ejemplo:</a:t>
            </a:r>
            <a:r>
              <a:rPr lang="es-ES" sz="3200" dirty="0">
                <a:latin typeface="+mn-lt"/>
              </a:rPr>
              <a:t> En la Dimensión Geografía, los niveles podrían ser: Ciudad, Estado, País.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i="1" dirty="0">
                <a:latin typeface="+mn-lt"/>
              </a:rPr>
              <a:t>Detalle clave:</a:t>
            </a:r>
            <a:r>
              <a:rPr lang="es-ES" sz="3200" dirty="0">
                <a:latin typeface="+mn-lt"/>
              </a:rPr>
              <a:t> Cada nivel tiene atributos. Ciudad tiene "Nombre" y "Código Postal". País tiene "Nombre" y "Población".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32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200" b="1" dirty="0">
                <a:latin typeface="+mn-lt"/>
              </a:rPr>
              <a:t>Identificadores:</a:t>
            </a:r>
            <a:r>
              <a:rPr lang="es-ES" sz="3200" dirty="0">
                <a:latin typeface="+mn-lt"/>
              </a:rPr>
              <a:t> Cada nivel tiene un ID conceptual que distingue a sus miembros (ej. el código ISO de un país).</a:t>
            </a:r>
          </a:p>
        </p:txBody>
      </p:sp>
    </p:spTree>
    <p:extLst>
      <p:ext uri="{BB962C8B-B14F-4D97-AF65-F5344CB8AC3E}">
        <p14:creationId xmlns:p14="http://schemas.microsoft.com/office/powerpoint/2010/main" val="2279208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49A48-0FD4-76D1-FE24-2C79F9163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B58BF99-D9C5-A4C0-4194-8F1128C586B2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28477F0-C322-AA8E-39B0-985131045665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C7AA7AA5-7C9C-3959-9AFE-7DDD42F62BB4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E709D3B6-20D5-31DF-8EE1-CEFE390B1260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4C9DE362-202C-3749-1B29-23BF6776094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9637A42-E49B-B9A1-6369-765E754DE350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1B415D1-1871-C33F-C2DF-A375061A129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C1A9C786-3AE0-8119-B928-07BA04C34D41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3200C2D3-CCE2-DA5A-3E37-470B5B9EA2B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E01652B-E817-F6A2-4957-20D67F45745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16D7FE8-C947-4DA3-4EE0-6330BE74F00F}"/>
              </a:ext>
            </a:extLst>
          </p:cNvPr>
          <p:cNvSpPr txBox="1"/>
          <p:nvPr/>
        </p:nvSpPr>
        <p:spPr>
          <a:xfrm>
            <a:off x="1576632" y="968983"/>
            <a:ext cx="14850849" cy="7971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Las Jerarquías (El "Mapa de Navegación")</a:t>
            </a:r>
          </a:p>
          <a:p>
            <a:pPr>
              <a:buNone/>
            </a:pPr>
            <a:endParaRPr lang="es-ES" sz="3200" b="1" dirty="0"/>
          </a:p>
          <a:p>
            <a:pPr>
              <a:buNone/>
            </a:pPr>
            <a:r>
              <a:rPr lang="es-ES" sz="3200" dirty="0"/>
              <a:t>Aquí es donde </a:t>
            </a:r>
            <a:r>
              <a:rPr lang="es-ES" sz="3200" dirty="0" err="1"/>
              <a:t>MultiDim</a:t>
            </a:r>
            <a:r>
              <a:rPr lang="es-ES" sz="3200" dirty="0"/>
              <a:t> brilla sobre otros modelos. Define cómo se relacionan los niveles entre sí.</a:t>
            </a:r>
          </a:p>
          <a:p>
            <a:pPr>
              <a:buNone/>
            </a:pPr>
            <a:endParaRPr lang="es-ES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3200" b="1" dirty="0"/>
              <a:t>Relación Padre-Hijo:</a:t>
            </a:r>
            <a:r>
              <a:rPr lang="es-ES" sz="3200" dirty="0"/>
              <a:t> Define que varias </a:t>
            </a:r>
            <a:r>
              <a:rPr lang="es-ES" sz="3200" dirty="0">
                <a:latin typeface="Courier New" panose="02070309020205020404" pitchFamily="49" charset="0"/>
              </a:rPr>
              <a:t>Ciudades</a:t>
            </a:r>
            <a:r>
              <a:rPr lang="es-ES" sz="3200" dirty="0"/>
              <a:t> pertenecen a un </a:t>
            </a:r>
            <a:r>
              <a:rPr lang="es-ES" sz="3200" dirty="0">
                <a:latin typeface="Courier New" panose="02070309020205020404" pitchFamily="49" charset="0"/>
              </a:rPr>
              <a:t>Estado</a:t>
            </a:r>
            <a:r>
              <a:rPr lang="es-ES" sz="32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3200" b="1" dirty="0"/>
              <a:t>Análisis Drill-</a:t>
            </a:r>
            <a:r>
              <a:rPr lang="es-ES" sz="3200" b="1" dirty="0" err="1"/>
              <a:t>down</a:t>
            </a:r>
            <a:r>
              <a:rPr lang="es-ES" sz="3200" b="1" dirty="0"/>
              <a:t> / Roll-up:</a:t>
            </a:r>
            <a:endParaRPr lang="es-ES" sz="3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3200" i="1" dirty="0"/>
              <a:t>Roll-up (Subir):</a:t>
            </a:r>
            <a:r>
              <a:rPr lang="es-ES" sz="3200" dirty="0"/>
              <a:t> Si sumamos las ventas de todas las </a:t>
            </a:r>
            <a:r>
              <a:rPr lang="es-ES" sz="3200" dirty="0">
                <a:latin typeface="Courier New" panose="02070309020205020404" pitchFamily="49" charset="0"/>
              </a:rPr>
              <a:t>Ciudades</a:t>
            </a:r>
            <a:r>
              <a:rPr lang="es-ES" sz="3200" dirty="0"/>
              <a:t>, obtenemos las ventas del </a:t>
            </a:r>
            <a:r>
              <a:rPr lang="es-ES" sz="3200" dirty="0">
                <a:latin typeface="Courier New" panose="02070309020205020404" pitchFamily="49" charset="0"/>
              </a:rPr>
              <a:t>Estado</a:t>
            </a:r>
            <a:r>
              <a:rPr lang="es-ES" sz="32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3200" i="1" dirty="0"/>
              <a:t>Drill-</a:t>
            </a:r>
            <a:r>
              <a:rPr lang="es-ES" sz="3200" i="1" dirty="0" err="1"/>
              <a:t>down</a:t>
            </a:r>
            <a:r>
              <a:rPr lang="es-ES" sz="3200" i="1" dirty="0"/>
              <a:t> (Bajar):</a:t>
            </a:r>
            <a:r>
              <a:rPr lang="es-ES" sz="3200" dirty="0"/>
              <a:t> Si veo las ventas del </a:t>
            </a:r>
            <a:r>
              <a:rPr lang="es-ES" sz="3200" dirty="0">
                <a:latin typeface="Courier New" panose="02070309020205020404" pitchFamily="49" charset="0"/>
              </a:rPr>
              <a:t>País</a:t>
            </a:r>
            <a:r>
              <a:rPr lang="es-ES" sz="3200" dirty="0"/>
              <a:t>, puedo desglosarlas para ver qué </a:t>
            </a:r>
            <a:r>
              <a:rPr lang="es-ES" sz="3200" dirty="0">
                <a:latin typeface="Courier New" panose="02070309020205020404" pitchFamily="49" charset="0"/>
              </a:rPr>
              <a:t>Estado</a:t>
            </a:r>
            <a:r>
              <a:rPr lang="es-ES" sz="3200" dirty="0"/>
              <a:t> vendió más.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3200" b="1" dirty="0"/>
              <a:t>Jerarquías Múltiples:</a:t>
            </a:r>
            <a:r>
              <a:rPr lang="es-ES" sz="3200" dirty="0"/>
              <a:t> </a:t>
            </a:r>
            <a:r>
              <a:rPr lang="es-ES" sz="3200" dirty="0" err="1"/>
              <a:t>MultiDim</a:t>
            </a:r>
            <a:r>
              <a:rPr lang="es-ES" sz="3200" dirty="0"/>
              <a:t> permite que una dimensión tenga varios caminos.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3200" i="1" dirty="0"/>
              <a:t>Ejemplo en Tiempo:</a:t>
            </a:r>
            <a:r>
              <a:rPr lang="es-ES" sz="3200" dirty="0"/>
              <a:t> Un día puede pertenecer a la jerarquía </a:t>
            </a:r>
            <a:r>
              <a:rPr lang="es-ES" sz="3200" dirty="0">
                <a:latin typeface="Courier New" panose="02070309020205020404" pitchFamily="49" charset="0"/>
              </a:rPr>
              <a:t>Día -&gt; Mes -&gt; Año</a:t>
            </a:r>
            <a:r>
              <a:rPr lang="es-ES" sz="3200" dirty="0"/>
              <a:t> Y TAMBIÉN a la jerarquía </a:t>
            </a:r>
            <a:r>
              <a:rPr lang="es-ES" sz="3200" dirty="0">
                <a:latin typeface="Courier New" panose="02070309020205020404" pitchFamily="49" charset="0"/>
              </a:rPr>
              <a:t>Día -&gt; Semana -&gt; Año</a:t>
            </a:r>
            <a:r>
              <a:rPr lang="es-ES" sz="3200" dirty="0"/>
              <a:t>. El modelo gráfico muestra ambos caminos claramente.</a:t>
            </a:r>
          </a:p>
        </p:txBody>
      </p:sp>
    </p:spTree>
    <p:extLst>
      <p:ext uri="{BB962C8B-B14F-4D97-AF65-F5344CB8AC3E}">
        <p14:creationId xmlns:p14="http://schemas.microsoft.com/office/powerpoint/2010/main" val="38607240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1ECE9-051B-9E78-1906-AA7827BE9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2FBB88C-7CE7-D53F-D240-9215A0B1E8B9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5B0FDC8-CA24-83DD-749A-CE5DD075C1AA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064B19CD-00E4-8381-3384-60759B7BFB68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4540EA8A-A024-AC5C-8E77-D07FADAF3487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8E34E214-8219-181D-D339-65B84067953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E66FD87-8333-37AC-2A04-FDC21059E9F3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1763DA2-2783-CE00-EA75-66C1792282F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A6711E7E-3FBF-2230-80C3-933127A0C66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28688547-9317-0AE0-E3B7-67DE11BD7DCC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EFE772C5-6B92-1417-0947-C3C6ED41C42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pic>
        <p:nvPicPr>
          <p:cNvPr id="13" name="Imagen 12">
            <a:extLst>
              <a:ext uri="{FF2B5EF4-FFF2-40B4-BE49-F238E27FC236}">
                <a16:creationId xmlns:a16="http://schemas.microsoft.com/office/drawing/2014/main" id="{5D994B52-8601-B521-9951-65DAF10F17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3668" y="1770268"/>
            <a:ext cx="9620010" cy="234924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77BA5F2E-6B8B-E9C9-A070-317325A03B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8840" y="5143500"/>
            <a:ext cx="10462761" cy="393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040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1599B-E9B7-620F-B84C-033A532B4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6D33C61-F12B-5EF4-E332-2683265E35E2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7C65DE8-7A50-D5C7-88AD-15D9E7A0FDE9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9D2D7DED-467D-FECA-BC64-EBFD7427D739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334EB361-D969-A771-1CC5-07F2E52BD71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77266AFA-C9C9-8546-8CBA-7A3605E9A97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80CDABB-B053-FBAD-58B1-DB9010F036BE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794536E-AC67-D804-C25F-FB963775BE23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B4F2586A-D86A-D350-73B3-0C2F6F408B2C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71057B9D-11B8-05A7-15DF-02F4B6A9585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52DCA5D7-0FDF-B882-89FD-AA0398F1005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1DE4DE0-EA62-DE9A-97A2-D62035A346EB}"/>
              </a:ext>
            </a:extLst>
          </p:cNvPr>
          <p:cNvSpPr txBox="1"/>
          <p:nvPr/>
        </p:nvSpPr>
        <p:spPr>
          <a:xfrm>
            <a:off x="1369243" y="1064915"/>
            <a:ext cx="1479772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600" b="1" dirty="0"/>
              <a:t>Los Hechos y Medidas (El "Foco de Análisis")</a:t>
            </a:r>
          </a:p>
          <a:p>
            <a:pPr>
              <a:buNone/>
            </a:pPr>
            <a:endParaRPr lang="es-ES" sz="3600" b="1" dirty="0"/>
          </a:p>
          <a:p>
            <a:pPr>
              <a:buNone/>
            </a:pPr>
            <a:r>
              <a:rPr lang="es-ES" sz="3600" dirty="0"/>
              <a:t>El </a:t>
            </a:r>
            <a:r>
              <a:rPr lang="es-ES" sz="3600" b="1" dirty="0"/>
              <a:t>Hecho (</a:t>
            </a:r>
            <a:r>
              <a:rPr lang="es-ES" sz="3600" b="1" dirty="0" err="1"/>
              <a:t>Fact</a:t>
            </a:r>
            <a:r>
              <a:rPr lang="es-ES" sz="3600" b="1" dirty="0"/>
              <a:t>)</a:t>
            </a:r>
            <a:r>
              <a:rPr lang="es-ES" sz="3600" dirty="0"/>
              <a:t> conecta las dimensiones. Es el evento que ocurrió.</a:t>
            </a:r>
          </a:p>
          <a:p>
            <a:pPr>
              <a:buNone/>
            </a:pPr>
            <a:endParaRPr lang="es-E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b="1" dirty="0"/>
              <a:t>Medidas (</a:t>
            </a:r>
            <a:r>
              <a:rPr lang="es-ES" sz="3600" b="1" dirty="0" err="1"/>
              <a:t>Measures</a:t>
            </a:r>
            <a:r>
              <a:rPr lang="es-ES" sz="3600" b="1" dirty="0"/>
              <a:t>):</a:t>
            </a:r>
            <a:r>
              <a:rPr lang="es-ES" sz="3600" dirty="0"/>
              <a:t> Son los datos numéricos dentro del hecho.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b="1" dirty="0"/>
              <a:t>La "firma" del Hecho:</a:t>
            </a:r>
            <a:r>
              <a:rPr lang="es-ES" sz="3600" dirty="0"/>
              <a:t> Un hecho se define por la combinación de los niveles más bajos de sus dimensiones (ej. Ventas del </a:t>
            </a:r>
            <a:r>
              <a:rPr lang="es-ES" sz="3600" dirty="0">
                <a:latin typeface="Courier New" panose="02070309020205020404" pitchFamily="49" charset="0"/>
              </a:rPr>
              <a:t>Producto X</a:t>
            </a:r>
            <a:r>
              <a:rPr lang="es-ES" sz="3600" dirty="0"/>
              <a:t>, en la </a:t>
            </a:r>
            <a:r>
              <a:rPr lang="es-ES" sz="3600" dirty="0">
                <a:latin typeface="Courier New" panose="02070309020205020404" pitchFamily="49" charset="0"/>
              </a:rPr>
              <a:t>Tienda Y</a:t>
            </a:r>
            <a:r>
              <a:rPr lang="es-ES" sz="3600" dirty="0"/>
              <a:t>, el </a:t>
            </a:r>
            <a:r>
              <a:rPr lang="es-ES" sz="3600" dirty="0">
                <a:latin typeface="Courier New" panose="02070309020205020404" pitchFamily="49" charset="0"/>
              </a:rPr>
              <a:t>Día Z</a:t>
            </a:r>
            <a:r>
              <a:rPr lang="es-ES" sz="36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2342533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34646-7DC5-8262-7C9C-056897F6D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49A36E6-33F0-7233-394B-D98280DCA5E3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1BBF619-F5EC-4BD2-F88F-E14802592615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DE68EF79-9253-5EDD-A2CB-04049E8A1701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567F8EF4-9C61-A19F-A22E-51BD005B02B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7F82CC90-DA58-7F31-23B3-C8C707C0C07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70B93E8-9C29-E176-5034-E067B9FB229E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643DB08-515F-5FDA-6C34-191B07F452B6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CAB45191-1555-02C4-FFA7-B9CE10A912DE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A731EE33-3B4C-09A6-DEFB-9AB364AA777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D090714E-5251-AC79-29B3-F1919BEAD7F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611E88E-28DB-B177-0887-59AEB577FC15}"/>
              </a:ext>
            </a:extLst>
          </p:cNvPr>
          <p:cNvSpPr txBox="1"/>
          <p:nvPr/>
        </p:nvSpPr>
        <p:spPr>
          <a:xfrm>
            <a:off x="1425803" y="1287438"/>
            <a:ext cx="14411227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/>
              <a:t>La "Salsa Secreta": </a:t>
            </a:r>
            <a:r>
              <a:rPr lang="es-ES" sz="2800" b="1" dirty="0" err="1"/>
              <a:t>Agregabilidad</a:t>
            </a:r>
            <a:r>
              <a:rPr lang="es-ES" sz="2800" b="1" dirty="0"/>
              <a:t> y </a:t>
            </a:r>
            <a:r>
              <a:rPr lang="es-ES" sz="2800" b="1" dirty="0" err="1"/>
              <a:t>Aditividad</a:t>
            </a:r>
            <a:endParaRPr lang="es-ES" sz="2800" b="1" dirty="0"/>
          </a:p>
          <a:p>
            <a:pPr>
              <a:buNone/>
            </a:pPr>
            <a:endParaRPr lang="es-ES" sz="2800" b="1" dirty="0"/>
          </a:p>
          <a:p>
            <a:pPr>
              <a:buNone/>
            </a:pPr>
            <a:r>
              <a:rPr lang="es-ES" sz="2800" dirty="0"/>
              <a:t>El modelo </a:t>
            </a:r>
            <a:r>
              <a:rPr lang="es-ES" sz="2800" dirty="0" err="1"/>
              <a:t>MultiDim</a:t>
            </a:r>
            <a:r>
              <a:rPr lang="es-ES" sz="2800" dirty="0"/>
              <a:t> obliga a definir </a:t>
            </a:r>
            <a:r>
              <a:rPr lang="es-ES" sz="2800" b="1" dirty="0"/>
              <a:t>cómo se comportan los números</a:t>
            </a:r>
            <a:r>
              <a:rPr lang="es-ES" sz="2800" dirty="0"/>
              <a:t>.</a:t>
            </a:r>
          </a:p>
          <a:p>
            <a:pPr>
              <a:buNone/>
            </a:pPr>
            <a:endParaRPr lang="es-ES" sz="2800" dirty="0"/>
          </a:p>
          <a:p>
            <a:pPr>
              <a:buNone/>
            </a:pPr>
            <a:r>
              <a:rPr lang="es-ES" sz="2800" dirty="0"/>
              <a:t>En un diagrama ER normal, solo ves </a:t>
            </a:r>
            <a:r>
              <a:rPr lang="es-ES" sz="2800" dirty="0" err="1">
                <a:latin typeface="Courier New" panose="02070309020205020404" pitchFamily="49" charset="0"/>
              </a:rPr>
              <a:t>int</a:t>
            </a:r>
            <a:r>
              <a:rPr lang="es-ES" sz="2800" dirty="0"/>
              <a:t> o </a:t>
            </a:r>
            <a:r>
              <a:rPr lang="es-ES" sz="2800" dirty="0" err="1">
                <a:latin typeface="Courier New" panose="02070309020205020404" pitchFamily="49" charset="0"/>
              </a:rPr>
              <a:t>float</a:t>
            </a:r>
            <a:r>
              <a:rPr lang="es-ES" sz="2800" dirty="0"/>
              <a:t>. En </a:t>
            </a:r>
            <a:r>
              <a:rPr lang="es-ES" sz="2800" dirty="0" err="1"/>
              <a:t>MultiDim</a:t>
            </a:r>
            <a:r>
              <a:rPr lang="es-ES" sz="2800" dirty="0"/>
              <a:t>, defines la </a:t>
            </a:r>
            <a:r>
              <a:rPr lang="es-ES" sz="2800" b="1" dirty="0"/>
              <a:t>función de agregación</a:t>
            </a:r>
            <a:r>
              <a:rPr lang="es-ES" sz="2800" dirty="0"/>
              <a:t>:</a:t>
            </a:r>
          </a:p>
          <a:p>
            <a:pPr>
              <a:buNone/>
            </a:pPr>
            <a:endParaRPr lang="es-ES" sz="2800" dirty="0"/>
          </a:p>
          <a:p>
            <a:pPr marL="514350" indent="-514350">
              <a:buFont typeface="+mj-lt"/>
              <a:buAutoNum type="arabicPeriod"/>
            </a:pPr>
            <a:r>
              <a:rPr lang="es-ES" sz="2800" b="1" dirty="0"/>
              <a:t>Aditivas (SUM):</a:t>
            </a:r>
            <a:r>
              <a:rPr lang="es-ES" sz="2800" dirty="0"/>
              <a:t> Se suman siempre. (Ej. </a:t>
            </a:r>
            <a:r>
              <a:rPr lang="es-ES" sz="2800" dirty="0">
                <a:latin typeface="Courier New" panose="02070309020205020404" pitchFamily="49" charset="0"/>
              </a:rPr>
              <a:t>Ventas Totales</a:t>
            </a:r>
            <a:r>
              <a:rPr lang="es-ES" sz="2800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2800" b="1" dirty="0" err="1"/>
              <a:t>Semi-aditivas</a:t>
            </a:r>
            <a:r>
              <a:rPr lang="es-ES" sz="2800" b="1" dirty="0"/>
              <a:t>:</a:t>
            </a:r>
            <a:r>
              <a:rPr lang="es-ES" sz="2800" dirty="0"/>
              <a:t> Se suman en unas dimensiones pero no en otras.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sz="2800" i="1" dirty="0"/>
              <a:t>En el diagrama </a:t>
            </a:r>
            <a:r>
              <a:rPr lang="es-ES" sz="2800" i="1" dirty="0" err="1"/>
              <a:t>MultiDim</a:t>
            </a:r>
            <a:r>
              <a:rPr lang="es-ES" sz="2800" i="1" dirty="0"/>
              <a:t>:</a:t>
            </a:r>
            <a:r>
              <a:rPr lang="es-ES" sz="2800" dirty="0"/>
              <a:t> Se anota explícitamente. Por ejemplo, al lado de la medida </a:t>
            </a:r>
            <a:r>
              <a:rPr lang="es-ES" sz="2800" dirty="0">
                <a:latin typeface="Courier New" panose="02070309020205020404" pitchFamily="49" charset="0"/>
              </a:rPr>
              <a:t>Inventario</a:t>
            </a:r>
            <a:r>
              <a:rPr lang="es-ES" sz="2800" dirty="0"/>
              <a:t>, se coloca una nota gráfica indicando: </a:t>
            </a:r>
            <a:r>
              <a:rPr lang="es-ES" sz="2800" i="1" dirty="0"/>
              <a:t>SUM(Geografía), AVG(Tiempo)</a:t>
            </a:r>
            <a:r>
              <a:rPr lang="es-ES" sz="2800" dirty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sz="2800" dirty="0"/>
              <a:t>Esto evita el error de "sumar inventarios de meses distintos" que discutimos antes. El modelo conceptual </a:t>
            </a:r>
            <a:r>
              <a:rPr lang="es-ES" sz="2800" b="1" dirty="0"/>
              <a:t>prohíbe</a:t>
            </a:r>
            <a:r>
              <a:rPr lang="es-ES" sz="2800" dirty="0"/>
              <a:t> esa operación por diseño.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2800" b="1" dirty="0"/>
              <a:t>No-aditivas:</a:t>
            </a:r>
            <a:r>
              <a:rPr lang="es-ES" sz="2800" dirty="0"/>
              <a:t> No se pueden sumar nunca (ej. </a:t>
            </a:r>
            <a:r>
              <a:rPr lang="es-ES" sz="2800" dirty="0">
                <a:latin typeface="Courier New" panose="02070309020205020404" pitchFamily="49" charset="0"/>
              </a:rPr>
              <a:t>Porcentaje de Margen</a:t>
            </a:r>
            <a:r>
              <a:rPr lang="es-ES" sz="2800" dirty="0"/>
              <a:t> o </a:t>
            </a:r>
            <a:r>
              <a:rPr lang="es-ES" sz="2800" dirty="0">
                <a:latin typeface="Courier New" panose="02070309020205020404" pitchFamily="49" charset="0"/>
              </a:rPr>
              <a:t>Temperatura</a:t>
            </a:r>
            <a:r>
              <a:rPr lang="es-ES" sz="2800" dirty="0"/>
              <a:t>). Deben recalcularse.</a:t>
            </a:r>
          </a:p>
        </p:txBody>
      </p:sp>
    </p:spTree>
    <p:extLst>
      <p:ext uri="{BB962C8B-B14F-4D97-AF65-F5344CB8AC3E}">
        <p14:creationId xmlns:p14="http://schemas.microsoft.com/office/powerpoint/2010/main" val="30449593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26776-EADD-0C35-BAA4-BA8999393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BBA3DAA-28EC-C8A8-3DBA-C215F49CDE8B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D5350F6-D3D3-706B-A5B6-932F3C63736C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11D0956D-9D2B-5CF9-8317-8B50B2C9D0B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F928FDC5-94F4-A80E-E51F-B4A868FD5BDC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AC7570F2-1AFD-1E32-FE42-1662B63E7D7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02DFAE7-3CE2-61C8-2093-D1A697C1E959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6E665A0-FE82-C300-9A82-657ECF62E19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744931CE-E2C2-5630-0B67-5D0CB022E346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14F04BD0-1F08-0F14-FD30-A731DCAD043F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F11BB22C-22ED-2278-1CA8-9AA33053388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888D51D-27FE-DB54-56A0-AAC2DB632296}"/>
              </a:ext>
            </a:extLst>
          </p:cNvPr>
          <p:cNvSpPr txBox="1"/>
          <p:nvPr/>
        </p:nvSpPr>
        <p:spPr>
          <a:xfrm>
            <a:off x="1774595" y="1873956"/>
            <a:ext cx="1551416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Representación Gráfica (Cómo se dibuja)</a:t>
            </a:r>
          </a:p>
          <a:p>
            <a:pPr>
              <a:buNone/>
            </a:pPr>
            <a:endParaRPr lang="es-ES" sz="3200" b="1" dirty="0"/>
          </a:p>
          <a:p>
            <a:pPr marL="514350" indent="-514350">
              <a:buFont typeface="+mj-lt"/>
              <a:buAutoNum type="arabicPeriod"/>
            </a:pPr>
            <a:r>
              <a:rPr lang="es-ES" sz="3200" b="1" dirty="0"/>
              <a:t>Esquema (</a:t>
            </a:r>
            <a:r>
              <a:rPr lang="es-ES" sz="3200" b="1" dirty="0" err="1"/>
              <a:t>Schema</a:t>
            </a:r>
            <a:r>
              <a:rPr lang="es-ES" sz="3200" b="1" dirty="0"/>
              <a:t>):</a:t>
            </a:r>
            <a:r>
              <a:rPr lang="es-ES" sz="3200" dirty="0"/>
              <a:t> Es el dibujo completo.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b="1" dirty="0"/>
              <a:t>Dimensiones:</a:t>
            </a:r>
            <a:r>
              <a:rPr lang="es-ES" sz="3200" dirty="0"/>
              <a:t> Se suelen representar como óvalos o círculos que contienen el nombre de la dimensión.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b="1" dirty="0"/>
              <a:t>Niveles:</a:t>
            </a:r>
            <a:r>
              <a:rPr lang="es-ES" sz="3200" dirty="0"/>
              <a:t> Son nodos dentro o conectados a la dimensión.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b="1" dirty="0"/>
              <a:t>Relaciones:</a:t>
            </a:r>
            <a:r>
              <a:rPr lang="es-ES" sz="3200" dirty="0"/>
              <a:t> Flechas que van del nivel hijo al nivel padre (ej. de </a:t>
            </a:r>
            <a:r>
              <a:rPr lang="es-ES" sz="3200" dirty="0">
                <a:latin typeface="Courier New" panose="02070309020205020404" pitchFamily="49" charset="0"/>
              </a:rPr>
              <a:t>Ciudad</a:t>
            </a:r>
            <a:r>
              <a:rPr lang="es-ES" sz="3200" dirty="0"/>
              <a:t> -&gt; a -&gt; </a:t>
            </a:r>
            <a:r>
              <a:rPr lang="es-ES" sz="3200" dirty="0">
                <a:latin typeface="Courier New" panose="02070309020205020404" pitchFamily="49" charset="0"/>
              </a:rPr>
              <a:t>País</a:t>
            </a:r>
            <a:r>
              <a:rPr lang="es-ES" sz="3200" dirty="0"/>
              <a:t>). Esto indica "Muchos a Uno" (Muchas ciudades pertenecen a un país).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b="1" dirty="0"/>
              <a:t>Hecho:</a:t>
            </a:r>
            <a:r>
              <a:rPr lang="es-ES" sz="3200" dirty="0"/>
              <a:t> Un rectángulo central conectado a los niveles base de las dimensiones.</a:t>
            </a:r>
          </a:p>
        </p:txBody>
      </p:sp>
    </p:spTree>
    <p:extLst>
      <p:ext uri="{BB962C8B-B14F-4D97-AF65-F5344CB8AC3E}">
        <p14:creationId xmlns:p14="http://schemas.microsoft.com/office/powerpoint/2010/main" val="2196284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3525C-78FB-9EC6-0138-8FCD87B63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4DC1E07-89A0-6EAF-4614-FDEA47383B8E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4C53418-C9CC-C55D-45AD-024D8648E8F4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049FA807-6686-500F-188C-539AEEBAAD6A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4421C6B0-0A42-EE7B-329B-17F035AE133D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278DA887-A993-FAFA-AE0A-01E16E71214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89E7B14-ADF5-4624-E9D0-5AFFB85C97C6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8CCE3F2-7688-CCCD-69B8-103F3FBBA6FB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F1914865-0914-1796-6B93-6DDB775E7733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50F0701-0D39-256A-DDFF-6A754506E43E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11E0623-865E-222E-69F9-81630442254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pic>
        <p:nvPicPr>
          <p:cNvPr id="13" name="Imagen 12">
            <a:extLst>
              <a:ext uri="{FF2B5EF4-FFF2-40B4-BE49-F238E27FC236}">
                <a16:creationId xmlns:a16="http://schemas.microsoft.com/office/drawing/2014/main" id="{5F75CDEE-31C1-20E0-BB41-5D00448293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363" y="59993"/>
            <a:ext cx="7636507" cy="1016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527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9B27D-9817-5DB5-1926-746031C8C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7958051-63C4-990F-2C14-964F6A5EF24B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48B2334-E522-1B78-C760-5870292EC8D3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809DA798-98FD-C946-F9D4-C0E807397D2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0F88D2F2-0735-ABB2-3EFB-655A38886A7D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A4D9D0C5-C14E-4CB6-36D5-F49D0493773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83C9038-B91F-F0EB-B276-5560FBB23ED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C6D137F-4AA2-62B3-9869-00C1A8383095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79572DB6-309A-635F-75FE-6F11B4B7A99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7D229BC1-69A1-09B9-A96A-3236256B9F2F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014287F2-DCBF-54CF-9B64-DB3B13ABFA6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587A459-A53D-C9EF-46DA-BBBF3C4A6C5B}"/>
              </a:ext>
            </a:extLst>
          </p:cNvPr>
          <p:cNvSpPr txBox="1"/>
          <p:nvPr/>
        </p:nvSpPr>
        <p:spPr>
          <a:xfrm>
            <a:off x="2208230" y="1082105"/>
            <a:ext cx="1366826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400" b="1" dirty="0"/>
              <a:t>Modelo </a:t>
            </a:r>
            <a:r>
              <a:rPr lang="es-ES" sz="2400" b="1" dirty="0" err="1"/>
              <a:t>Logico</a:t>
            </a:r>
            <a:endParaRPr lang="es-ES" sz="2400" b="1" dirty="0"/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r>
              <a:rPr lang="es-ES" sz="2400" b="1" dirty="0"/>
              <a:t>El Gran Cambio: De "Niveles" a "Tablas"</a:t>
            </a:r>
          </a:p>
          <a:p>
            <a:pPr>
              <a:buNone/>
            </a:pPr>
            <a:r>
              <a:rPr lang="es-ES" sz="2400" dirty="0"/>
              <a:t>En el diseño conceptual (</a:t>
            </a:r>
            <a:r>
              <a:rPr lang="es-ES" sz="2400" dirty="0" err="1"/>
              <a:t>MultiDim</a:t>
            </a:r>
            <a:r>
              <a:rPr lang="es-ES" sz="2400" dirty="0"/>
              <a:t>), nos preocupábamos por la navegación. En el diseño lógico, nos preocupamos por </a:t>
            </a:r>
            <a:r>
              <a:rPr lang="es-ES" sz="2400" b="1" dirty="0"/>
              <a:t>cómo organizar tablas y columnas</a:t>
            </a:r>
            <a:r>
              <a:rPr lang="es-ES" sz="2400" dirty="0"/>
              <a:t> para que las consultas sean rápidas.</a:t>
            </a:r>
          </a:p>
          <a:p>
            <a:pPr>
              <a:buNone/>
            </a:pPr>
            <a:r>
              <a:rPr lang="es-ES" sz="2400" dirty="0"/>
              <a:t>El objetivo principal aquí es transformar el gráfico </a:t>
            </a:r>
            <a:r>
              <a:rPr lang="es-ES" sz="2400" dirty="0" err="1"/>
              <a:t>MultiDim</a:t>
            </a:r>
            <a:r>
              <a:rPr lang="es-ES" sz="2400" dirty="0"/>
              <a:t> en un conjunto de tablas relacionales.</a:t>
            </a:r>
          </a:p>
        </p:txBody>
      </p:sp>
    </p:spTree>
    <p:extLst>
      <p:ext uri="{BB962C8B-B14F-4D97-AF65-F5344CB8AC3E}">
        <p14:creationId xmlns:p14="http://schemas.microsoft.com/office/powerpoint/2010/main" val="33253879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4A72D-A1C3-0E9D-B15E-90C21ED33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57FA892-B37B-D42B-69CB-DCC1125D2122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26380C0-8B04-9D32-5619-856E49583476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1E6B59DE-8542-F3B3-9E31-40247B75910C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26D4AD40-7308-0128-6DF8-F39BD2C2B47C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AA3EA76D-FAA3-0CE6-27B1-43CFD93B390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B80C29F-747F-9A6E-E1F4-DE06205DF90B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328910D-84C7-91CA-7292-8120F613176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A4264118-671F-B88D-9748-EC42169432DB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47BDF49-64CE-50FB-D4A9-C0A7C5F55EB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C4D3248E-16BD-09FE-3125-34A3B79E39B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B2A86D7-493F-4D8D-77E3-E8CDA77B0782}"/>
              </a:ext>
            </a:extLst>
          </p:cNvPr>
          <p:cNvSpPr txBox="1"/>
          <p:nvPr/>
        </p:nvSpPr>
        <p:spPr>
          <a:xfrm>
            <a:off x="1444657" y="1172510"/>
            <a:ext cx="15636712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/>
              <a:t>2. Los Dos Protagonistas</a:t>
            </a:r>
          </a:p>
          <a:p>
            <a:pPr>
              <a:buNone/>
            </a:pPr>
            <a:endParaRPr lang="es-ES" sz="2800" b="1" dirty="0"/>
          </a:p>
          <a:p>
            <a:pPr>
              <a:buNone/>
            </a:pPr>
            <a:r>
              <a:rPr lang="es-ES" sz="2800" dirty="0"/>
              <a:t>El modelo lógico divide el mundo en dos tipos de tablas muy diferentes:</a:t>
            </a:r>
          </a:p>
          <a:p>
            <a:pPr>
              <a:buNone/>
            </a:pPr>
            <a:endParaRPr lang="es-ES" sz="2800" dirty="0"/>
          </a:p>
          <a:p>
            <a:pPr>
              <a:buNone/>
            </a:pPr>
            <a:r>
              <a:rPr lang="es-ES" sz="2800" b="1" dirty="0"/>
              <a:t>A. Tabla de Hechos (</a:t>
            </a:r>
            <a:r>
              <a:rPr lang="es-ES" sz="2800" b="1" dirty="0" err="1"/>
              <a:t>Fact</a:t>
            </a:r>
            <a:r>
              <a:rPr lang="es-ES" sz="2800" b="1" dirty="0"/>
              <a:t> Table)</a:t>
            </a:r>
          </a:p>
          <a:p>
            <a:pPr>
              <a:buNone/>
            </a:pPr>
            <a:r>
              <a:rPr lang="es-ES" sz="2800" dirty="0"/>
              <a:t>Es la tabla central, generalmente enorme (millones de filas).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Contenido:</a:t>
            </a:r>
            <a:r>
              <a:rPr lang="es-ES" sz="2800" dirty="0"/>
              <a:t> Contiene las </a:t>
            </a:r>
            <a:r>
              <a:rPr lang="es-ES" sz="2800" b="1" dirty="0"/>
              <a:t>Medidas</a:t>
            </a:r>
            <a:r>
              <a:rPr lang="es-ES" sz="2800" dirty="0"/>
              <a:t> (números, métricas) y las </a:t>
            </a:r>
            <a:r>
              <a:rPr lang="es-ES" sz="2800" b="1" dirty="0"/>
              <a:t>Claves Foráneas</a:t>
            </a:r>
            <a:r>
              <a:rPr lang="es-ES" sz="2800" dirty="0"/>
              <a:t> (</a:t>
            </a:r>
            <a:r>
              <a:rPr lang="es-ES" sz="2800" dirty="0" err="1"/>
              <a:t>Foreign</a:t>
            </a:r>
            <a:r>
              <a:rPr lang="es-ES" sz="2800" dirty="0"/>
              <a:t> </a:t>
            </a:r>
            <a:r>
              <a:rPr lang="es-ES" sz="2800" dirty="0" err="1"/>
              <a:t>Keys</a:t>
            </a:r>
            <a:r>
              <a:rPr lang="es-ES" sz="2800" dirty="0"/>
              <a:t>) que apuntan a las dimensiones.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Características:</a:t>
            </a:r>
            <a:r>
              <a:rPr lang="es-ES" sz="2800" dirty="0"/>
              <a:t> Es "delgada" (pocas columnas) pero muy "larga" (muchas filas).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Ejemplo:</a:t>
            </a:r>
            <a:r>
              <a:rPr lang="es-ES" sz="2800" dirty="0"/>
              <a:t> </a:t>
            </a:r>
            <a:r>
              <a:rPr lang="es-ES" sz="2800" dirty="0" err="1">
                <a:latin typeface="Courier New" panose="02070309020205020404" pitchFamily="49" charset="0"/>
              </a:rPr>
              <a:t>Fact_Ventas</a:t>
            </a:r>
            <a:r>
              <a:rPr lang="es-ES" sz="2800" dirty="0"/>
              <a:t> (contiene </a:t>
            </a:r>
            <a:r>
              <a:rPr lang="es-ES" sz="2800" dirty="0" err="1">
                <a:latin typeface="Courier New" panose="02070309020205020404" pitchFamily="49" charset="0"/>
              </a:rPr>
              <a:t>id_producto</a:t>
            </a:r>
            <a:r>
              <a:rPr lang="es-ES" sz="2800" dirty="0"/>
              <a:t>, </a:t>
            </a:r>
            <a:r>
              <a:rPr lang="es-ES" sz="2800" dirty="0" err="1">
                <a:latin typeface="Courier New" panose="02070309020205020404" pitchFamily="49" charset="0"/>
              </a:rPr>
              <a:t>id_tiempo</a:t>
            </a:r>
            <a:r>
              <a:rPr lang="es-ES" sz="2800" dirty="0"/>
              <a:t>, </a:t>
            </a:r>
            <a:r>
              <a:rPr lang="es-ES" sz="2800" dirty="0" err="1">
                <a:latin typeface="Courier New" panose="02070309020205020404" pitchFamily="49" charset="0"/>
              </a:rPr>
              <a:t>id_tienda</a:t>
            </a:r>
            <a:r>
              <a:rPr lang="es-ES" sz="2800" dirty="0"/>
              <a:t>, </a:t>
            </a:r>
            <a:r>
              <a:rPr lang="es-ES" sz="2800" dirty="0">
                <a:latin typeface="Courier New" panose="02070309020205020404" pitchFamily="49" charset="0"/>
              </a:rPr>
              <a:t>cantidad</a:t>
            </a:r>
            <a:r>
              <a:rPr lang="es-ES" sz="2800" dirty="0"/>
              <a:t>, </a:t>
            </a:r>
            <a:r>
              <a:rPr lang="es-ES" sz="2800" dirty="0" err="1">
                <a:latin typeface="Courier New" panose="02070309020205020404" pitchFamily="49" charset="0"/>
              </a:rPr>
              <a:t>monto_total</a:t>
            </a:r>
            <a:r>
              <a:rPr lang="es-ES" sz="28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800" dirty="0"/>
          </a:p>
          <a:p>
            <a:pPr>
              <a:buNone/>
            </a:pPr>
            <a:r>
              <a:rPr lang="es-ES" sz="2800" b="1" dirty="0"/>
              <a:t>B. Tabla de Dimensiones (</a:t>
            </a:r>
            <a:r>
              <a:rPr lang="es-ES" sz="2800" b="1" dirty="0" err="1"/>
              <a:t>Dimension</a:t>
            </a:r>
            <a:r>
              <a:rPr lang="es-ES" sz="2800" b="1" dirty="0"/>
              <a:t> Table)</a:t>
            </a:r>
          </a:p>
          <a:p>
            <a:pPr>
              <a:buNone/>
            </a:pPr>
            <a:r>
              <a:rPr lang="es-ES" sz="2800" dirty="0"/>
              <a:t>Son las tablas satélite que rodean al hecho.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Contenido:</a:t>
            </a:r>
            <a:r>
              <a:rPr lang="es-ES" sz="2800" dirty="0"/>
              <a:t> Contiene los atributos descriptivos (texto) que usamos para filtrar y agrupar.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Características:</a:t>
            </a:r>
            <a:r>
              <a:rPr lang="es-ES" sz="2800" dirty="0"/>
              <a:t> Es "ancha" (muchas columnas descriptivas) pero "corta" (pocas filas comparada con la de hechos).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Ejemplo:</a:t>
            </a:r>
            <a:r>
              <a:rPr lang="es-ES" sz="2800" dirty="0"/>
              <a:t> </a:t>
            </a:r>
            <a:r>
              <a:rPr lang="es-ES" sz="2800" dirty="0" err="1">
                <a:latin typeface="Courier New" panose="02070309020205020404" pitchFamily="49" charset="0"/>
              </a:rPr>
              <a:t>Dim_Producto</a:t>
            </a:r>
            <a:r>
              <a:rPr lang="es-ES" sz="2800" dirty="0"/>
              <a:t> (contiene </a:t>
            </a:r>
            <a:r>
              <a:rPr lang="es-ES" sz="2800" dirty="0">
                <a:latin typeface="Courier New" panose="02070309020205020404" pitchFamily="49" charset="0"/>
              </a:rPr>
              <a:t>nombre</a:t>
            </a:r>
            <a:r>
              <a:rPr lang="es-ES" sz="2800" dirty="0"/>
              <a:t>, </a:t>
            </a:r>
            <a:r>
              <a:rPr lang="es-ES" sz="2800" dirty="0">
                <a:latin typeface="Courier New" panose="02070309020205020404" pitchFamily="49" charset="0"/>
              </a:rPr>
              <a:t>categoría</a:t>
            </a:r>
            <a:r>
              <a:rPr lang="es-ES" sz="2800" dirty="0"/>
              <a:t>, </a:t>
            </a:r>
            <a:r>
              <a:rPr lang="es-ES" sz="2800" dirty="0">
                <a:latin typeface="Courier New" panose="02070309020205020404" pitchFamily="49" charset="0"/>
              </a:rPr>
              <a:t>color</a:t>
            </a:r>
            <a:r>
              <a:rPr lang="es-ES" sz="2800" dirty="0"/>
              <a:t>, </a:t>
            </a:r>
            <a:r>
              <a:rPr lang="es-ES" sz="2800" dirty="0">
                <a:latin typeface="Courier New" panose="02070309020205020404" pitchFamily="49" charset="0"/>
              </a:rPr>
              <a:t>peso</a:t>
            </a:r>
            <a:r>
              <a:rPr lang="es-ES" sz="2800" dirty="0"/>
              <a:t>, </a:t>
            </a:r>
            <a:r>
              <a:rPr lang="es-ES" sz="2800" dirty="0">
                <a:latin typeface="Courier New" panose="02070309020205020404" pitchFamily="49" charset="0"/>
              </a:rPr>
              <a:t>proveedor</a:t>
            </a:r>
            <a:r>
              <a:rPr lang="es-ES" sz="2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01395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B39D3-3A8E-1C89-6B8D-2F2AEED69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C84256C-2082-CE65-342B-AAE7522BE4B1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26CDC7B-506F-6616-0E71-F311CD33F82C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7C4150F4-8E0A-207D-E824-C65A03693280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8618BAB2-EB9F-58C7-65B1-0C51219A16F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2633797D-3D4F-6DE4-C39A-C62F7925828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F55BB2B-850F-0BFC-C4E4-12FFD1C1549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891F31-2012-3C2B-F785-B4AEFCB8CAB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68175150-21B2-8954-8CA8-4012DB6F5F81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BF8F982F-431F-25E1-E7A8-93A1B2F5F9D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FDF859C3-F9A1-E70F-5160-6E446B49AF1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88225F1-6E4C-B4EF-998B-C32F637C86AC}"/>
              </a:ext>
            </a:extLst>
          </p:cNvPr>
          <p:cNvSpPr txBox="1"/>
          <p:nvPr/>
        </p:nvSpPr>
        <p:spPr>
          <a:xfrm>
            <a:off x="4508369" y="4810010"/>
            <a:ext cx="91864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2400" b="1" dirty="0"/>
              <a:t>Los Esquemas (Topologías)</a:t>
            </a:r>
          </a:p>
          <a:p>
            <a:pPr algn="ctr">
              <a:buNone/>
            </a:pPr>
            <a:r>
              <a:rPr lang="es-ES" sz="2400" dirty="0"/>
              <a:t>Esta es la parte más famosa del diseño lógico de DW. ¿Cómo conectamos estas tablas?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14021916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EA5F2-E493-1DBA-0E2C-C4AA715E6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92906BA-7430-E377-CDF0-4249C0D14419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5B64C54-EDC8-2F1A-C8E9-038E8984C656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4AED5FB2-E213-6976-3DD0-FEAB8A50DB7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7528E193-1CB2-8B80-3013-BB5C75FC2DD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AE61CB5F-77AE-A48E-2636-AB0F7EF4796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E273C2D-AF48-4867-AEA3-9AC361A09A55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ECEBB01-F494-7E4B-8360-25F56ADE69A7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4B6E306F-ED7D-CD94-A8AC-98023145563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51784EDA-3AC6-E929-BF77-E28A9F6C7F57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25B9FF43-F296-448A-94F1-0F4C2840EC6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61CE560-1962-7BA4-4160-73535CE52257}"/>
              </a:ext>
            </a:extLst>
          </p:cNvPr>
          <p:cNvSpPr txBox="1"/>
          <p:nvPr/>
        </p:nvSpPr>
        <p:spPr>
          <a:xfrm>
            <a:off x="1246644" y="968983"/>
            <a:ext cx="7897356" cy="8279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AutoNum type="alphaUcPeriod"/>
            </a:pPr>
            <a:r>
              <a:rPr lang="es-ES" sz="2800" b="1" dirty="0"/>
              <a:t>Esquema en Estrella (</a:t>
            </a:r>
            <a:r>
              <a:rPr lang="es-ES" sz="2800" b="1" dirty="0" err="1"/>
              <a:t>Star</a:t>
            </a:r>
            <a:r>
              <a:rPr lang="es-ES" sz="2800" b="1" dirty="0"/>
              <a:t> </a:t>
            </a:r>
            <a:r>
              <a:rPr lang="es-ES" sz="2800" b="1" dirty="0" err="1"/>
              <a:t>Schema</a:t>
            </a:r>
            <a:r>
              <a:rPr lang="es-ES" sz="2800" b="1" dirty="0"/>
              <a:t>)</a:t>
            </a:r>
          </a:p>
          <a:p>
            <a:endParaRPr lang="es-ES" sz="2800" b="1" dirty="0"/>
          </a:p>
          <a:p>
            <a:pPr>
              <a:buNone/>
            </a:pPr>
            <a:r>
              <a:rPr lang="es-ES" sz="2800" dirty="0"/>
              <a:t>Es el diseño más simple y popular.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Estructura:</a:t>
            </a:r>
            <a:r>
              <a:rPr lang="es-ES" sz="2800" dirty="0"/>
              <a:t> Una tabla de hechos en el centro rodeada directamente por tablas de dimensiones.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Clave:</a:t>
            </a:r>
            <a:r>
              <a:rPr lang="es-ES" sz="2800" dirty="0"/>
              <a:t> Las dimensiones están </a:t>
            </a:r>
            <a:r>
              <a:rPr lang="es-ES" sz="2800" b="1" dirty="0"/>
              <a:t>Desnormalizadas</a:t>
            </a:r>
            <a:r>
              <a:rPr lang="es-ES" sz="2800" dirty="0"/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ES" sz="2800" i="1" dirty="0"/>
              <a:t>¿Qué significa?</a:t>
            </a:r>
            <a:r>
              <a:rPr lang="es-ES" sz="2800" dirty="0"/>
              <a:t> Que toda la información del producto (incluida su categoría y subcategoría) está en una sola tabla </a:t>
            </a:r>
            <a:r>
              <a:rPr lang="es-ES" sz="2800" dirty="0" err="1">
                <a:latin typeface="Courier New" panose="02070309020205020404" pitchFamily="49" charset="0"/>
              </a:rPr>
              <a:t>Dim_Producto</a:t>
            </a:r>
            <a:r>
              <a:rPr lang="es-ES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Ventaja:</a:t>
            </a:r>
            <a:r>
              <a:rPr lang="es-ES" sz="2800" dirty="0"/>
              <a:t> Las consultas SQL son sencillas (menos </a:t>
            </a:r>
            <a:r>
              <a:rPr lang="es-ES" sz="2800" dirty="0" err="1">
                <a:latin typeface="Courier New" panose="02070309020205020404" pitchFamily="49" charset="0"/>
              </a:rPr>
              <a:t>JOINs</a:t>
            </a:r>
            <a:r>
              <a:rPr lang="es-ES" sz="2800" dirty="0"/>
              <a:t>) y rápidas.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Desventaja:</a:t>
            </a:r>
            <a:r>
              <a:rPr lang="es-ES" sz="2800" dirty="0"/>
              <a:t> Hay redundancia de datos (el nombre de la categoría "Electrónica" se repite miles de veces), pero en DW el almacenamiento es barato, así que esto se acepta.</a:t>
            </a:r>
          </a:p>
        </p:txBody>
      </p:sp>
    </p:spTree>
    <p:extLst>
      <p:ext uri="{BB962C8B-B14F-4D97-AF65-F5344CB8AC3E}">
        <p14:creationId xmlns:p14="http://schemas.microsoft.com/office/powerpoint/2010/main" val="21544387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09FF5-458A-C703-BE7F-B513E3EE8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B91989D-ECA7-E500-7EAC-398F841E3846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683C63E-9717-124E-948E-4FD709D092F0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CCC71413-D28F-C088-252E-01E05953DAF8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BF98E6D9-98AA-2AC9-B015-34F93F14AF1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D69CD66C-2DAA-E6CC-7B8D-859CCECD5FB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E4D4748-4E32-F554-4A42-667865E7469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7CEDCEA-6C98-6472-AE08-0AD70D73B053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19CDE364-4AE9-7887-3865-5D3B6C9B7806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CF6D350A-CB90-F93B-C086-9C4A4B576E4A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7843089E-9F35-821C-FC36-A75B059FDE2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2637B25-F400-422F-B5CF-BE1E83A6FCB4}"/>
              </a:ext>
            </a:extLst>
          </p:cNvPr>
          <p:cNvSpPr txBox="1"/>
          <p:nvPr/>
        </p:nvSpPr>
        <p:spPr>
          <a:xfrm>
            <a:off x="1579474" y="788461"/>
            <a:ext cx="6980064" cy="8710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/>
              <a:t>B. Esquema en Copo de Nieve (</a:t>
            </a:r>
            <a:r>
              <a:rPr lang="es-ES" sz="2800" b="1" dirty="0" err="1"/>
              <a:t>Snowflake</a:t>
            </a:r>
            <a:r>
              <a:rPr lang="es-ES" sz="2800" b="1" dirty="0"/>
              <a:t> </a:t>
            </a:r>
            <a:r>
              <a:rPr lang="es-ES" sz="2800" b="1" dirty="0" err="1"/>
              <a:t>Schema</a:t>
            </a:r>
            <a:r>
              <a:rPr lang="es-ES" sz="2800" b="1" dirty="0"/>
              <a:t>)</a:t>
            </a:r>
          </a:p>
          <a:p>
            <a:pPr>
              <a:buNone/>
            </a:pPr>
            <a:r>
              <a:rPr lang="es-ES" sz="2800" dirty="0"/>
              <a:t>Es una variación más compleja.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Estructura:</a:t>
            </a:r>
            <a:r>
              <a:rPr lang="es-ES" sz="2800" dirty="0"/>
              <a:t> La tabla de hechos está en el centro, pero las dimensiones se ramifican hacia afuera.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Clave:</a:t>
            </a:r>
            <a:r>
              <a:rPr lang="es-ES" sz="2800" dirty="0"/>
              <a:t> Las dimensiones están </a:t>
            </a:r>
            <a:r>
              <a:rPr lang="es-ES" sz="2800" b="1" dirty="0"/>
              <a:t>Normalizadas</a:t>
            </a:r>
            <a:r>
              <a:rPr lang="es-ES" sz="28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i="1" dirty="0"/>
              <a:t>¿Qué significa?</a:t>
            </a:r>
            <a:r>
              <a:rPr lang="es-ES" sz="2800" dirty="0"/>
              <a:t> La tabla </a:t>
            </a:r>
            <a:r>
              <a:rPr lang="es-ES" sz="2800" dirty="0" err="1">
                <a:latin typeface="Courier New" panose="02070309020205020404" pitchFamily="49" charset="0"/>
              </a:rPr>
              <a:t>Dim_Producto</a:t>
            </a:r>
            <a:r>
              <a:rPr lang="es-ES" sz="2800" dirty="0"/>
              <a:t> solo tiene datos del producto y apunta a otra tabla </a:t>
            </a:r>
            <a:r>
              <a:rPr lang="es-ES" sz="2800" dirty="0" err="1">
                <a:latin typeface="Courier New" panose="02070309020205020404" pitchFamily="49" charset="0"/>
              </a:rPr>
              <a:t>Dim_Categoria</a:t>
            </a:r>
            <a:r>
              <a:rPr lang="es-ES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Ventaja:</a:t>
            </a:r>
            <a:r>
              <a:rPr lang="es-ES" sz="2800" dirty="0"/>
              <a:t> Ahorra espacio de almacenamiento y facilita el mantenimiento si cambian las descripciones.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Desventaja:</a:t>
            </a:r>
            <a:r>
              <a:rPr lang="es-ES" sz="2800" dirty="0"/>
              <a:t> Las consultas son más lentas y complejas porque requieren muchos más </a:t>
            </a:r>
            <a:r>
              <a:rPr lang="es-ES" sz="2800" dirty="0" err="1">
                <a:latin typeface="Courier New" panose="02070309020205020404" pitchFamily="49" charset="0"/>
              </a:rPr>
              <a:t>JOINs</a:t>
            </a:r>
            <a:r>
              <a:rPr lang="es-ES" sz="2800" dirty="0"/>
              <a:t> para llegar a la información.</a:t>
            </a:r>
          </a:p>
        </p:txBody>
      </p:sp>
    </p:spTree>
    <p:extLst>
      <p:ext uri="{BB962C8B-B14F-4D97-AF65-F5344CB8AC3E}">
        <p14:creationId xmlns:p14="http://schemas.microsoft.com/office/powerpoint/2010/main" val="33418987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6A09D-D227-66CE-3988-37EF0F509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803A8AF-3384-9FFC-FD7A-DFD7F4E91A7E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3976B5B-4DD5-9792-7699-03A989B62AAD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8181FDB5-9C39-FA64-2C3A-88265ACD504D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9127B930-0856-C23C-3AA0-0EFD16B3613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1B9D0886-74C5-75A8-E794-C9BD116F66C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7C9D5CC-88BA-CCCC-44FA-DADE7F96B1F5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D0BB510-0334-EFDE-4153-286614ED15CB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5C4A0346-4EB9-4B63-2876-4F26AE725E51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52A3DFDC-FD8F-FEE5-0B55-746CD93AA602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7B6817AF-3DD1-D837-DA40-60DB909717D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F97E0CF-5BE3-1EA4-F083-AD3B5E81AA38}"/>
              </a:ext>
            </a:extLst>
          </p:cNvPr>
          <p:cNvSpPr txBox="1"/>
          <p:nvPr/>
        </p:nvSpPr>
        <p:spPr>
          <a:xfrm>
            <a:off x="1444657" y="1913328"/>
            <a:ext cx="6992333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/>
              <a:t>C. Constelación de Hechos (</a:t>
            </a:r>
            <a:r>
              <a:rPr lang="es-ES" sz="2800" b="1" dirty="0" err="1"/>
              <a:t>Fact</a:t>
            </a:r>
            <a:r>
              <a:rPr lang="es-ES" sz="2800" b="1" dirty="0"/>
              <a:t> </a:t>
            </a:r>
            <a:r>
              <a:rPr lang="es-ES" sz="2800" b="1" dirty="0" err="1"/>
              <a:t>Constellation</a:t>
            </a:r>
            <a:r>
              <a:rPr lang="es-ES" sz="2800" b="1" dirty="0"/>
              <a:t>)</a:t>
            </a:r>
          </a:p>
          <a:p>
            <a:pPr>
              <a:buNone/>
            </a:pPr>
            <a:endParaRPr lang="es-ES" sz="2800" b="1" dirty="0"/>
          </a:p>
          <a:p>
            <a:pPr>
              <a:buNone/>
            </a:pPr>
            <a:r>
              <a:rPr lang="es-ES" sz="2800" dirty="0"/>
              <a:t>Es lo que sucede en la realidad en empresas grandes.</a:t>
            </a:r>
          </a:p>
          <a:p>
            <a:pPr>
              <a:buNone/>
            </a:pPr>
            <a:endParaRPr lang="es-E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Estructura:</a:t>
            </a:r>
            <a:r>
              <a:rPr lang="es-ES" sz="2800" dirty="0"/>
              <a:t> Múltiples tablas de hechos comparten tablas de dimensiones.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Ejemplo:</a:t>
            </a:r>
            <a:r>
              <a:rPr lang="es-ES" sz="2800" dirty="0"/>
              <a:t> Una </a:t>
            </a:r>
            <a:r>
              <a:rPr lang="es-ES" sz="2800" dirty="0" err="1">
                <a:latin typeface="Courier New" panose="02070309020205020404" pitchFamily="49" charset="0"/>
              </a:rPr>
              <a:t>Fact_Ventas</a:t>
            </a:r>
            <a:r>
              <a:rPr lang="es-ES" sz="2800" dirty="0"/>
              <a:t> y una </a:t>
            </a:r>
            <a:r>
              <a:rPr lang="es-ES" sz="2800" dirty="0" err="1">
                <a:latin typeface="Courier New" panose="02070309020205020404" pitchFamily="49" charset="0"/>
              </a:rPr>
              <a:t>Fact_Inventario</a:t>
            </a:r>
            <a:r>
              <a:rPr lang="es-ES" sz="2800" dirty="0"/>
              <a:t> comparten las mismas dimensiones </a:t>
            </a:r>
            <a:r>
              <a:rPr lang="es-ES" sz="2800" dirty="0" err="1">
                <a:latin typeface="Courier New" panose="02070309020205020404" pitchFamily="49" charset="0"/>
              </a:rPr>
              <a:t>Dim_Producto</a:t>
            </a:r>
            <a:r>
              <a:rPr lang="es-ES" sz="2800" dirty="0"/>
              <a:t> y </a:t>
            </a:r>
            <a:r>
              <a:rPr lang="es-ES" sz="2800" dirty="0" err="1">
                <a:latin typeface="Courier New" panose="02070309020205020404" pitchFamily="49" charset="0"/>
              </a:rPr>
              <a:t>Dim_Tiempo</a:t>
            </a:r>
            <a:r>
              <a:rPr lang="es-ES" sz="2800" dirty="0"/>
              <a:t>. Esto permite cruzar procesos de negocio (Ventas vs. Stock).</a:t>
            </a:r>
          </a:p>
        </p:txBody>
      </p:sp>
    </p:spTree>
    <p:extLst>
      <p:ext uri="{BB962C8B-B14F-4D97-AF65-F5344CB8AC3E}">
        <p14:creationId xmlns:p14="http://schemas.microsoft.com/office/powerpoint/2010/main" val="13815749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E2D10-4F9B-5DC0-CA99-B7509FF08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6B8B82E-7837-55B3-0918-D97218CF5746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236060E-2178-23D5-0D9A-B2EE061853A9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854C5AC0-7C26-7EEC-DD30-5D2AA7B2C91A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8511221B-7BE4-F308-7A24-4257E6D9B07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0E094243-0EB4-2068-B90F-D1D35533AA9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7A4D188-100D-74F8-7311-817839F85D44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1710856-D9BA-8F37-AEA8-92BAD77AD81A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E4D37654-FE6A-9DE3-7C89-EE0431C3BD18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B6706282-6A5D-4817-B78A-7FF07459DD2A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3AD5A9C3-2377-A355-CAE0-F04636D6094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C624F80-E5E8-A794-953C-027747C7DCB3}"/>
              </a:ext>
            </a:extLst>
          </p:cNvPr>
          <p:cNvSpPr txBox="1"/>
          <p:nvPr/>
        </p:nvSpPr>
        <p:spPr>
          <a:xfrm>
            <a:off x="1340963" y="1824126"/>
            <a:ext cx="15966649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Un Detalle Técnico Crucial: Las Claves </a:t>
            </a:r>
            <a:r>
              <a:rPr lang="es-ES" sz="3200" b="1" dirty="0" err="1"/>
              <a:t>Surrogadas</a:t>
            </a:r>
            <a:r>
              <a:rPr lang="es-ES" sz="3200" b="1" dirty="0"/>
              <a:t> (</a:t>
            </a:r>
            <a:r>
              <a:rPr lang="es-ES" sz="3200" b="1" dirty="0" err="1"/>
              <a:t>Surrogate</a:t>
            </a:r>
            <a:r>
              <a:rPr lang="es-ES" sz="3200" b="1" dirty="0"/>
              <a:t> </a:t>
            </a:r>
            <a:r>
              <a:rPr lang="es-ES" sz="3200" b="1" dirty="0" err="1"/>
              <a:t>Keys</a:t>
            </a:r>
            <a:r>
              <a:rPr lang="es-ES" sz="3200" b="1" dirty="0"/>
              <a:t>)</a:t>
            </a:r>
          </a:p>
          <a:p>
            <a:pPr>
              <a:buNone/>
            </a:pPr>
            <a:endParaRPr lang="es-ES" sz="3200" b="1" dirty="0"/>
          </a:p>
          <a:p>
            <a:pPr>
              <a:buNone/>
            </a:pPr>
            <a:r>
              <a:rPr lang="es-ES" sz="3200" dirty="0"/>
              <a:t>En el modelo lógico de DW, </a:t>
            </a:r>
            <a:r>
              <a:rPr lang="es-ES" sz="3200" b="1" dirty="0"/>
              <a:t>NUNCA</a:t>
            </a:r>
            <a:r>
              <a:rPr lang="es-ES" sz="3200" dirty="0"/>
              <a:t> confiamos en las claves primarias del sistema operacional (como el RUT, DNI o el ID del producto en el ERP).</a:t>
            </a:r>
          </a:p>
          <a:p>
            <a:pPr>
              <a:buNone/>
            </a:pPr>
            <a:endParaRPr lang="es-E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b="1" dirty="0"/>
              <a:t>Problema:</a:t>
            </a:r>
            <a:r>
              <a:rPr lang="es-ES" sz="3200" dirty="0"/>
              <a:t> Si el ERP recicla los </a:t>
            </a:r>
            <a:r>
              <a:rPr lang="es-ES" sz="3200" dirty="0" err="1"/>
              <a:t>IDs</a:t>
            </a:r>
            <a:r>
              <a:rPr lang="es-ES" sz="3200" dirty="0"/>
              <a:t> o si fusionamos dos empresas con sistemas diferentes, los </a:t>
            </a:r>
            <a:r>
              <a:rPr lang="es-ES" sz="3200" dirty="0" err="1"/>
              <a:t>IDs</a:t>
            </a:r>
            <a:r>
              <a:rPr lang="es-ES" sz="3200" dirty="0"/>
              <a:t> pueden chocar.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b="1" dirty="0"/>
              <a:t>Solución (</a:t>
            </a:r>
            <a:r>
              <a:rPr lang="es-ES" sz="3200" b="1" dirty="0" err="1"/>
              <a:t>Surrogate</a:t>
            </a:r>
            <a:r>
              <a:rPr lang="es-ES" sz="3200" b="1" dirty="0"/>
              <a:t> </a:t>
            </a:r>
            <a:r>
              <a:rPr lang="es-ES" sz="3200" b="1" dirty="0" err="1"/>
              <a:t>Keys</a:t>
            </a:r>
            <a:r>
              <a:rPr lang="es-ES" sz="3200" b="1" dirty="0"/>
              <a:t>):</a:t>
            </a:r>
            <a:r>
              <a:rPr lang="es-ES" sz="3200" dirty="0"/>
              <a:t> Creamos nuestros propios </a:t>
            </a:r>
            <a:r>
              <a:rPr lang="es-ES" sz="3200" dirty="0" err="1"/>
              <a:t>IDs</a:t>
            </a:r>
            <a:r>
              <a:rPr lang="es-ES" sz="3200" dirty="0"/>
              <a:t> sintéticos (generalmente enteros secuenciales: 1, 2, 3...) para cada fila en las tablas de dimensiones.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b="1" dirty="0"/>
              <a:t>Beneficio:</a:t>
            </a:r>
            <a:r>
              <a:rPr lang="es-ES" sz="3200" dirty="0"/>
              <a:t> Nos aísla de los cambios en los sistemas fuente y permite manejar el histórico (si un empleado cambia de cargo, podemos tener dos registros con diferentes claves </a:t>
            </a:r>
            <a:r>
              <a:rPr lang="es-ES" sz="3200" dirty="0" err="1"/>
              <a:t>surrogadas</a:t>
            </a:r>
            <a:r>
              <a:rPr lang="es-ES" sz="3200" dirty="0"/>
              <a:t> pero el mismo ID de empleado original).</a:t>
            </a:r>
          </a:p>
        </p:txBody>
      </p:sp>
    </p:spTree>
    <p:extLst>
      <p:ext uri="{BB962C8B-B14F-4D97-AF65-F5344CB8AC3E}">
        <p14:creationId xmlns:p14="http://schemas.microsoft.com/office/powerpoint/2010/main" val="478762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A49B7-22D2-DD7F-D395-9539E9DF3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A9CC241-D931-D175-B2EC-8CF03BD455DE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1150301-1A22-35E4-AE50-989781A1DA53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77C355F2-B2DD-72E2-9D0D-D042A1C34F3B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6D9F2EBA-7718-0F95-F420-65A87408252C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FC9ECA92-7D8A-8B1F-4223-C691DCE0658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17592DD-68A5-C611-9756-0F6919FE55D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F843BC9-5CF3-CE9A-3ABB-A4C9D673D363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6D8FC6C7-0C05-14DB-19CA-01E6A1369BDB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6A5A3026-EE08-8EB6-FBBA-02E2326C420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55BAFC04-2EAF-6C96-631A-DCE3808ABD1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73200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D14C7-3B5E-1A70-992B-B09FDCFDA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1D9F085-91FA-81B3-CC62-B31C31FABC84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8553112-EF87-F2B3-B6D8-809EC183AD07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B2228278-288F-16B3-4350-93C5BB1F465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B911FA6F-BA2F-0356-30C6-BEC6C34DAFE3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77F69085-FDF3-B74B-F1CC-F6E49A61585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C650FCC-0C4E-83A7-5D24-7111486E0A4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B97EA0C-CF38-8FBB-4D33-8FF3F65F172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E0029B75-72E1-6E07-5CED-FAFFD8BCEC6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8DF359A-547D-5CA6-17B5-43D4219C22D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C992A5C-20D9-8ED2-6D60-72BC099A171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920475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E2C8DF-811D-4FA0-C9C9-229A0380E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E95965-2499-E5CB-0279-31FD43684D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6FA565D-01B3-807E-3A08-574156D92B8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15595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8"/>
          <p:cNvGrpSpPr/>
          <p:nvPr/>
        </p:nvGrpSpPr>
        <p:grpSpPr>
          <a:xfrm rot="10800000">
            <a:off x="10392303" y="0"/>
            <a:ext cx="7895697" cy="10431661"/>
            <a:chOff x="0" y="-38100"/>
            <a:chExt cx="2079525" cy="2747433"/>
          </a:xfrm>
        </p:grpSpPr>
        <p:sp>
          <p:nvSpPr>
            <p:cNvPr id="362" name="Google Shape;362;p8"/>
            <p:cNvSpPr/>
            <p:nvPr/>
          </p:nvSpPr>
          <p:spPr>
            <a:xfrm>
              <a:off x="0" y="0"/>
              <a:ext cx="2079525" cy="2709333"/>
            </a:xfrm>
            <a:custGeom>
              <a:avLst/>
              <a:gdLst/>
              <a:ahLst/>
              <a:cxnLst/>
              <a:rect l="l" t="t" r="r" b="b"/>
              <a:pathLst>
                <a:path w="2079525" h="2709333" extrusionOk="0">
                  <a:moveTo>
                    <a:pt x="0" y="0"/>
                  </a:moveTo>
                  <a:lnTo>
                    <a:pt x="2079525" y="0"/>
                  </a:lnTo>
                  <a:lnTo>
                    <a:pt x="2079525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8"/>
            <p:cNvSpPr txBox="1"/>
            <p:nvPr/>
          </p:nvSpPr>
          <p:spPr>
            <a:xfrm>
              <a:off x="0" y="-38100"/>
              <a:ext cx="2079525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4" name="Google Shape;364;p8"/>
          <p:cNvSpPr/>
          <p:nvPr/>
        </p:nvSpPr>
        <p:spPr>
          <a:xfrm>
            <a:off x="9562641" y="4953536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 extrusionOk="0">
                <a:moveTo>
                  <a:pt x="0" y="0"/>
                </a:moveTo>
                <a:lnTo>
                  <a:pt x="4777511" y="0"/>
                </a:lnTo>
                <a:lnTo>
                  <a:pt x="4777511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8"/>
          <p:cNvSpPr/>
          <p:nvPr/>
        </p:nvSpPr>
        <p:spPr>
          <a:xfrm rot="10800000">
            <a:off x="14340152" y="455568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 extrusionOk="0">
                <a:moveTo>
                  <a:pt x="0" y="0"/>
                </a:moveTo>
                <a:lnTo>
                  <a:pt x="4777510" y="0"/>
                </a:lnTo>
                <a:lnTo>
                  <a:pt x="4777510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6" name="Google Shape;366;p8"/>
          <p:cNvGrpSpPr/>
          <p:nvPr/>
        </p:nvGrpSpPr>
        <p:grpSpPr>
          <a:xfrm rot="1460314">
            <a:off x="11030759" y="4449732"/>
            <a:ext cx="7356554" cy="1393786"/>
            <a:chOff x="0" y="-38100"/>
            <a:chExt cx="1937529" cy="367088"/>
          </a:xfrm>
        </p:grpSpPr>
        <p:sp>
          <p:nvSpPr>
            <p:cNvPr id="367" name="Google Shape;367;p8"/>
            <p:cNvSpPr/>
            <p:nvPr/>
          </p:nvSpPr>
          <p:spPr>
            <a:xfrm>
              <a:off x="0" y="0"/>
              <a:ext cx="1937528" cy="328988"/>
            </a:xfrm>
            <a:custGeom>
              <a:avLst/>
              <a:gdLst/>
              <a:ahLst/>
              <a:cxnLst/>
              <a:rect l="l" t="t" r="r" b="b"/>
              <a:pathLst>
                <a:path w="1937528" h="328988" extrusionOk="0">
                  <a:moveTo>
                    <a:pt x="105238" y="0"/>
                  </a:moveTo>
                  <a:lnTo>
                    <a:pt x="1832290" y="0"/>
                  </a:lnTo>
                  <a:cubicBezTo>
                    <a:pt x="1860201" y="0"/>
                    <a:pt x="1886969" y="11088"/>
                    <a:pt x="1906705" y="30824"/>
                  </a:cubicBezTo>
                  <a:cubicBezTo>
                    <a:pt x="1926441" y="50560"/>
                    <a:pt x="1937528" y="77327"/>
                    <a:pt x="1937528" y="105238"/>
                  </a:cubicBezTo>
                  <a:lnTo>
                    <a:pt x="1937528" y="223749"/>
                  </a:lnTo>
                  <a:cubicBezTo>
                    <a:pt x="1937528" y="281871"/>
                    <a:pt x="1890412" y="328988"/>
                    <a:pt x="1832290" y="328988"/>
                  </a:cubicBezTo>
                  <a:lnTo>
                    <a:pt x="105238" y="328988"/>
                  </a:lnTo>
                  <a:cubicBezTo>
                    <a:pt x="77327" y="328988"/>
                    <a:pt x="50560" y="317900"/>
                    <a:pt x="30824" y="298164"/>
                  </a:cubicBezTo>
                  <a:cubicBezTo>
                    <a:pt x="11088" y="278428"/>
                    <a:pt x="0" y="251660"/>
                    <a:pt x="0" y="223749"/>
                  </a:cubicBezTo>
                  <a:lnTo>
                    <a:pt x="0" y="105238"/>
                  </a:lnTo>
                  <a:cubicBezTo>
                    <a:pt x="0" y="47117"/>
                    <a:pt x="47117" y="0"/>
                    <a:pt x="1052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8"/>
            <p:cNvSpPr txBox="1"/>
            <p:nvPr/>
          </p:nvSpPr>
          <p:spPr>
            <a:xfrm>
              <a:off x="0" y="-38100"/>
              <a:ext cx="1937529" cy="3670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8"/>
          <p:cNvGrpSpPr/>
          <p:nvPr/>
        </p:nvGrpSpPr>
        <p:grpSpPr>
          <a:xfrm>
            <a:off x="2068637" y="2993049"/>
            <a:ext cx="6434234" cy="2940731"/>
            <a:chOff x="0" y="-560842"/>
            <a:chExt cx="8578979" cy="3920975"/>
          </a:xfrm>
        </p:grpSpPr>
        <p:grpSp>
          <p:nvGrpSpPr>
            <p:cNvPr id="370" name="Google Shape;370;p8"/>
            <p:cNvGrpSpPr/>
            <p:nvPr/>
          </p:nvGrpSpPr>
          <p:grpSpPr>
            <a:xfrm>
              <a:off x="0" y="-560842"/>
              <a:ext cx="8578979" cy="3920975"/>
              <a:chOff x="0" y="-38100"/>
              <a:chExt cx="582801" cy="266366"/>
            </a:xfrm>
          </p:grpSpPr>
          <p:sp>
            <p:nvSpPr>
              <p:cNvPr id="371" name="Google Shape;371;p8"/>
              <p:cNvSpPr/>
              <p:nvPr/>
            </p:nvSpPr>
            <p:spPr>
              <a:xfrm>
                <a:off x="0" y="0"/>
                <a:ext cx="582801" cy="228266"/>
              </a:xfrm>
              <a:custGeom>
                <a:avLst/>
                <a:gdLst/>
                <a:ahLst/>
                <a:cxnLst/>
                <a:rect l="l" t="t" r="r" b="b"/>
                <a:pathLst>
                  <a:path w="582801" h="228266" extrusionOk="0">
                    <a:moveTo>
                      <a:pt x="87467" y="0"/>
                    </a:moveTo>
                    <a:lnTo>
                      <a:pt x="495335" y="0"/>
                    </a:lnTo>
                    <a:cubicBezTo>
                      <a:pt x="543641" y="0"/>
                      <a:pt x="582801" y="39160"/>
                      <a:pt x="582801" y="87467"/>
                    </a:cubicBezTo>
                    <a:lnTo>
                      <a:pt x="582801" y="140800"/>
                    </a:lnTo>
                    <a:cubicBezTo>
                      <a:pt x="582801" y="189106"/>
                      <a:pt x="543641" y="228266"/>
                      <a:pt x="495335" y="228266"/>
                    </a:cubicBezTo>
                    <a:lnTo>
                      <a:pt x="87467" y="228266"/>
                    </a:lnTo>
                    <a:cubicBezTo>
                      <a:pt x="39160" y="228266"/>
                      <a:pt x="0" y="189106"/>
                      <a:pt x="0" y="140800"/>
                    </a:cubicBezTo>
                    <a:lnTo>
                      <a:pt x="0" y="87467"/>
                    </a:lnTo>
                    <a:cubicBezTo>
                      <a:pt x="0" y="39160"/>
                      <a:pt x="39160" y="0"/>
                      <a:pt x="874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 cmpd="sng">
                <a:solidFill>
                  <a:srgbClr val="6B137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8"/>
              <p:cNvSpPr txBox="1"/>
              <p:nvPr/>
            </p:nvSpPr>
            <p:spPr>
              <a:xfrm>
                <a:off x="0" y="-38100"/>
                <a:ext cx="582801" cy="266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3" name="Google Shape;373;p8"/>
            <p:cNvSpPr txBox="1"/>
            <p:nvPr/>
          </p:nvSpPr>
          <p:spPr>
            <a:xfrm>
              <a:off x="355297" y="630411"/>
              <a:ext cx="7868384" cy="2659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2400" dirty="0">
                  <a:solidFill>
                    <a:srgbClr val="1F1F1D"/>
                  </a:solidFill>
                  <a:latin typeface="Poppins"/>
                  <a:ea typeface="Poppins"/>
                  <a:cs typeface="Poppins"/>
                  <a:sym typeface="Poppins"/>
                </a:rPr>
                <a:t>Juan Esteban Mejía Velásquez</a:t>
              </a:r>
              <a:endParaRPr dirty="0"/>
            </a:p>
            <a:p>
              <a:pPr marL="0" marR="0" lvl="0" indent="0" algn="ctr" rtl="0">
                <a:lnSpc>
                  <a:spcPct val="21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2000" dirty="0">
                  <a:solidFill>
                    <a:srgbClr val="1F1F1D"/>
                  </a:solidFill>
                  <a:latin typeface="Poppins"/>
                  <a:ea typeface="Poppins"/>
                  <a:cs typeface="Poppins"/>
                  <a:sym typeface="Poppins"/>
                </a:rPr>
                <a:t>Docente</a:t>
              </a:r>
              <a:endParaRPr sz="2000" dirty="0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2400" u="sng" dirty="0">
                  <a:solidFill>
                    <a:srgbClr val="1F1F1D"/>
                  </a:solidFill>
                  <a:latin typeface="Poppins"/>
                  <a:ea typeface="Poppins"/>
                  <a:cs typeface="Poppins"/>
                  <a:sym typeface="Poppins"/>
                </a:rPr>
                <a:t>Correo</a:t>
              </a:r>
              <a:endParaRPr dirty="0"/>
            </a:p>
          </p:txBody>
        </p:sp>
      </p:grpSp>
      <p:sp>
        <p:nvSpPr>
          <p:cNvPr id="374" name="Google Shape;374;p8">
            <a:hlinkClick r:id="rId4"/>
          </p:cNvPr>
          <p:cNvSpPr/>
          <p:nvPr/>
        </p:nvSpPr>
        <p:spPr>
          <a:xfrm>
            <a:off x="2068637" y="6536925"/>
            <a:ext cx="360000" cy="332550"/>
          </a:xfrm>
          <a:custGeom>
            <a:avLst/>
            <a:gdLst/>
            <a:ahLst/>
            <a:cxnLst/>
            <a:rect l="l" t="t" r="r" b="b"/>
            <a:pathLst>
              <a:path w="360000" h="332550" extrusionOk="0">
                <a:moveTo>
                  <a:pt x="0" y="0"/>
                </a:moveTo>
                <a:lnTo>
                  <a:pt x="360000" y="0"/>
                </a:lnTo>
                <a:lnTo>
                  <a:pt x="360000" y="332550"/>
                </a:lnTo>
                <a:lnTo>
                  <a:pt x="0" y="332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8">
            <a:hlinkClick r:id="rId6"/>
          </p:cNvPr>
          <p:cNvSpPr/>
          <p:nvPr/>
        </p:nvSpPr>
        <p:spPr>
          <a:xfrm>
            <a:off x="5758126" y="6535688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60000" h="360000" extrusionOk="0">
                <a:moveTo>
                  <a:pt x="0" y="0"/>
                </a:moveTo>
                <a:lnTo>
                  <a:pt x="360000" y="0"/>
                </a:lnTo>
                <a:lnTo>
                  <a:pt x="360000" y="360000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8">
            <a:hlinkClick r:id="rId8"/>
          </p:cNvPr>
          <p:cNvSpPr/>
          <p:nvPr/>
        </p:nvSpPr>
        <p:spPr>
          <a:xfrm>
            <a:off x="5775261" y="7145700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60000" h="360000" extrusionOk="0">
                <a:moveTo>
                  <a:pt x="0" y="0"/>
                </a:moveTo>
                <a:lnTo>
                  <a:pt x="360000" y="0"/>
                </a:lnTo>
                <a:lnTo>
                  <a:pt x="360000" y="360000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2096214" y="7144126"/>
            <a:ext cx="332423" cy="332422"/>
          </a:xfrm>
          <a:custGeom>
            <a:avLst/>
            <a:gdLst/>
            <a:ahLst/>
            <a:cxnLst/>
            <a:rect l="l" t="t" r="r" b="b"/>
            <a:pathLst>
              <a:path w="332423" h="332422" extrusionOk="0">
                <a:moveTo>
                  <a:pt x="0" y="0"/>
                </a:moveTo>
                <a:lnTo>
                  <a:pt x="332423" y="0"/>
                </a:lnTo>
                <a:lnTo>
                  <a:pt x="332423" y="332423"/>
                </a:lnTo>
                <a:lnTo>
                  <a:pt x="0" y="332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8"/>
          <p:cNvSpPr txBox="1"/>
          <p:nvPr/>
        </p:nvSpPr>
        <p:spPr>
          <a:xfrm>
            <a:off x="6214196" y="7136825"/>
            <a:ext cx="1721048" cy="339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u="sng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www.enyoi.co</a:t>
            </a:r>
            <a:endParaRPr/>
          </a:p>
        </p:txBody>
      </p:sp>
      <p:sp>
        <p:nvSpPr>
          <p:cNvPr id="379" name="Google Shape;379;p8"/>
          <p:cNvSpPr txBox="1"/>
          <p:nvPr/>
        </p:nvSpPr>
        <p:spPr>
          <a:xfrm>
            <a:off x="6212929" y="6526813"/>
            <a:ext cx="1048048" cy="339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u="sng" dirty="0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enyoi.co</a:t>
            </a:r>
            <a:endParaRPr dirty="0"/>
          </a:p>
        </p:txBody>
      </p:sp>
      <p:sp>
        <p:nvSpPr>
          <p:cNvPr id="380" name="Google Shape;380;p8"/>
          <p:cNvSpPr txBox="1"/>
          <p:nvPr/>
        </p:nvSpPr>
        <p:spPr>
          <a:xfrm>
            <a:off x="2520238" y="6526813"/>
            <a:ext cx="246784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u="sng" dirty="0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+57 </a:t>
            </a:r>
            <a:r>
              <a:rPr lang="es-MX" sz="2000" u="sng" dirty="0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</a:rPr>
              <a:t>301 673 6729</a:t>
            </a:r>
            <a:endParaRPr dirty="0"/>
          </a:p>
        </p:txBody>
      </p:sp>
      <p:sp>
        <p:nvSpPr>
          <p:cNvPr id="381" name="Google Shape;381;p8"/>
          <p:cNvSpPr txBox="1"/>
          <p:nvPr/>
        </p:nvSpPr>
        <p:spPr>
          <a:xfrm>
            <a:off x="2520164" y="7136825"/>
            <a:ext cx="1048048" cy="339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u="sng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enyoi.co</a:t>
            </a:r>
            <a:endParaRPr/>
          </a:p>
        </p:txBody>
      </p:sp>
      <p:grpSp>
        <p:nvGrpSpPr>
          <p:cNvPr id="382" name="Google Shape;382;p8"/>
          <p:cNvGrpSpPr/>
          <p:nvPr/>
        </p:nvGrpSpPr>
        <p:grpSpPr>
          <a:xfrm>
            <a:off x="2068637" y="6865719"/>
            <a:ext cx="2744745" cy="192288"/>
            <a:chOff x="0" y="-38100"/>
            <a:chExt cx="722896" cy="50643"/>
          </a:xfrm>
        </p:grpSpPr>
        <p:sp>
          <p:nvSpPr>
            <p:cNvPr id="383" name="Google Shape;383;p8"/>
            <p:cNvSpPr/>
            <p:nvPr/>
          </p:nvSpPr>
          <p:spPr>
            <a:xfrm>
              <a:off x="0" y="0"/>
              <a:ext cx="722896" cy="12543"/>
            </a:xfrm>
            <a:custGeom>
              <a:avLst/>
              <a:gdLst/>
              <a:ahLst/>
              <a:cxnLst/>
              <a:rect l="l" t="t" r="r" b="b"/>
              <a:pathLst>
                <a:path w="722896" h="12543" extrusionOk="0">
                  <a:moveTo>
                    <a:pt x="6272" y="0"/>
                  </a:moveTo>
                  <a:lnTo>
                    <a:pt x="716624" y="0"/>
                  </a:lnTo>
                  <a:cubicBezTo>
                    <a:pt x="718288" y="0"/>
                    <a:pt x="719883" y="661"/>
                    <a:pt x="721059" y="1837"/>
                  </a:cubicBezTo>
                  <a:cubicBezTo>
                    <a:pt x="722235" y="3013"/>
                    <a:pt x="722896" y="4608"/>
                    <a:pt x="722896" y="6272"/>
                  </a:cubicBezTo>
                  <a:lnTo>
                    <a:pt x="722896" y="6272"/>
                  </a:lnTo>
                  <a:cubicBezTo>
                    <a:pt x="722896" y="7935"/>
                    <a:pt x="722235" y="9530"/>
                    <a:pt x="721059" y="10706"/>
                  </a:cubicBezTo>
                  <a:cubicBezTo>
                    <a:pt x="719883" y="11882"/>
                    <a:pt x="718288" y="12543"/>
                    <a:pt x="716624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8"/>
            <p:cNvSpPr txBox="1"/>
            <p:nvPr/>
          </p:nvSpPr>
          <p:spPr>
            <a:xfrm>
              <a:off x="0" y="-38100"/>
              <a:ext cx="722896" cy="50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5" name="Google Shape;385;p8"/>
          <p:cNvGrpSpPr/>
          <p:nvPr/>
        </p:nvGrpSpPr>
        <p:grpSpPr>
          <a:xfrm>
            <a:off x="5758126" y="6865719"/>
            <a:ext cx="2744745" cy="192288"/>
            <a:chOff x="0" y="-38100"/>
            <a:chExt cx="722896" cy="50643"/>
          </a:xfrm>
        </p:grpSpPr>
        <p:sp>
          <p:nvSpPr>
            <p:cNvPr id="386" name="Google Shape;386;p8"/>
            <p:cNvSpPr/>
            <p:nvPr/>
          </p:nvSpPr>
          <p:spPr>
            <a:xfrm>
              <a:off x="0" y="0"/>
              <a:ext cx="722896" cy="12543"/>
            </a:xfrm>
            <a:custGeom>
              <a:avLst/>
              <a:gdLst/>
              <a:ahLst/>
              <a:cxnLst/>
              <a:rect l="l" t="t" r="r" b="b"/>
              <a:pathLst>
                <a:path w="722896" h="12543" extrusionOk="0">
                  <a:moveTo>
                    <a:pt x="6272" y="0"/>
                  </a:moveTo>
                  <a:lnTo>
                    <a:pt x="716624" y="0"/>
                  </a:lnTo>
                  <a:cubicBezTo>
                    <a:pt x="718288" y="0"/>
                    <a:pt x="719883" y="661"/>
                    <a:pt x="721059" y="1837"/>
                  </a:cubicBezTo>
                  <a:cubicBezTo>
                    <a:pt x="722235" y="3013"/>
                    <a:pt x="722896" y="4608"/>
                    <a:pt x="722896" y="6272"/>
                  </a:cubicBezTo>
                  <a:lnTo>
                    <a:pt x="722896" y="6272"/>
                  </a:lnTo>
                  <a:cubicBezTo>
                    <a:pt x="722896" y="7935"/>
                    <a:pt x="722235" y="9530"/>
                    <a:pt x="721059" y="10706"/>
                  </a:cubicBezTo>
                  <a:cubicBezTo>
                    <a:pt x="719883" y="11882"/>
                    <a:pt x="718288" y="12543"/>
                    <a:pt x="716624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8"/>
            <p:cNvSpPr txBox="1"/>
            <p:nvPr/>
          </p:nvSpPr>
          <p:spPr>
            <a:xfrm>
              <a:off x="0" y="-38100"/>
              <a:ext cx="722896" cy="50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88" name="Google Shape;388;p8"/>
          <p:cNvPicPr preferRelativeResize="0"/>
          <p:nvPr/>
        </p:nvPicPr>
        <p:blipFill rotWithShape="1">
          <a:blip r:embed="rId12">
            <a:alphaModFix/>
          </a:blip>
          <a:srcRect l="53990" t="15859" r="8554" b="69322"/>
          <a:stretch/>
        </p:blipFill>
        <p:spPr>
          <a:xfrm>
            <a:off x="5001939" y="578151"/>
            <a:ext cx="4721448" cy="1048052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8"/>
          <p:cNvSpPr/>
          <p:nvPr/>
        </p:nvSpPr>
        <p:spPr>
          <a:xfrm>
            <a:off x="729281" y="455568"/>
            <a:ext cx="3004519" cy="1201808"/>
          </a:xfrm>
          <a:custGeom>
            <a:avLst/>
            <a:gdLst/>
            <a:ahLst/>
            <a:cxnLst/>
            <a:rect l="l" t="t" r="r" b="b"/>
            <a:pathLst>
              <a:path w="3457174" h="1382870" extrusionOk="0">
                <a:moveTo>
                  <a:pt x="0" y="0"/>
                </a:moveTo>
                <a:lnTo>
                  <a:pt x="3457174" y="0"/>
                </a:lnTo>
                <a:lnTo>
                  <a:pt x="3457174" y="1382870"/>
                </a:lnTo>
                <a:lnTo>
                  <a:pt x="0" y="13828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d0e0202-030e-462a-aa27-6a6a82479e70" xsi:nil="true"/>
    <lcf76f155ced4ddcb4097134ff3c332f xmlns="6c275f7e-0654-4a6d-8904-2cca8e28e712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E0DDBAFD1725F409D01B56EA32EFDE3" ma:contentTypeVersion="7" ma:contentTypeDescription="Crear nuevo documento." ma:contentTypeScope="" ma:versionID="7dc7d2ffd02d580038770cdc54fb49b2">
  <xsd:schema xmlns:xsd="http://www.w3.org/2001/XMLSchema" xmlns:xs="http://www.w3.org/2001/XMLSchema" xmlns:p="http://schemas.microsoft.com/office/2006/metadata/properties" xmlns:ns2="6c275f7e-0654-4a6d-8904-2cca8e28e712" xmlns:ns3="cd0e0202-030e-462a-aa27-6a6a82479e70" targetNamespace="http://schemas.microsoft.com/office/2006/metadata/properties" ma:root="true" ma:fieldsID="6553f877db16f6ec9bb39e8e018c4235" ns2:_="" ns3:_="">
    <xsd:import namespace="6c275f7e-0654-4a6d-8904-2cca8e28e712"/>
    <xsd:import namespace="cd0e0202-030e-462a-aa27-6a6a82479e70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275f7e-0654-4a6d-8904-2cca8e28e712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Etiquetas de imagen" ma:readOnly="false" ma:fieldId="{5cf76f15-5ced-4ddc-b409-7134ff3c332f}" ma:taxonomyMulti="true" ma:sspId="39d08eb0-6654-4c6a-ad6e-6625fbda6bf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0e0202-030e-462a-aa27-6a6a82479e70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821bf81b-0d50-4df5-8eec-576b1a7382f6}" ma:internalName="TaxCatchAll" ma:showField="CatchAllData" ma:web="cd0e0202-030e-462a-aa27-6a6a82479e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3D0385-A233-4172-ADB2-B697B7C4755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B26D1D1-A15E-45AB-876A-271BF38AB980}">
  <ds:schemaRefs>
    <ds:schemaRef ds:uri="http://schemas.microsoft.com/office/2006/metadata/properties"/>
    <ds:schemaRef ds:uri="http://schemas.microsoft.com/office/infopath/2007/PartnerControls"/>
    <ds:schemaRef ds:uri="cd0e0202-030e-462a-aa27-6a6a82479e70"/>
    <ds:schemaRef ds:uri="6c275f7e-0654-4a6d-8904-2cca8e28e712"/>
  </ds:schemaRefs>
</ds:datastoreItem>
</file>

<file path=customXml/itemProps3.xml><?xml version="1.0" encoding="utf-8"?>
<ds:datastoreItem xmlns:ds="http://schemas.openxmlformats.org/officeDocument/2006/customXml" ds:itemID="{C2897171-D617-4035-84F5-B2C4786536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275f7e-0654-4a6d-8904-2cca8e28e712"/>
    <ds:schemaRef ds:uri="cd0e0202-030e-462a-aa27-6a6a82479e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7066</TotalTime>
  <Words>4392</Words>
  <Application>Microsoft Office PowerPoint</Application>
  <PresentationFormat>Personalizado</PresentationFormat>
  <Paragraphs>484</Paragraphs>
  <Slides>52</Slides>
  <Notes>2</Notes>
  <HiddenSlides>1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52</vt:i4>
      </vt:variant>
    </vt:vector>
  </HeadingPairs>
  <TitlesOfParts>
    <vt:vector size="63" baseType="lpstr">
      <vt:lpstr>JetBrains Mono</vt:lpstr>
      <vt:lpstr>Courier New</vt:lpstr>
      <vt:lpstr>Space Grotesk</vt:lpstr>
      <vt:lpstr>Merriweather</vt:lpstr>
      <vt:lpstr>DM Sans</vt:lpstr>
      <vt:lpstr>Calibri</vt:lpstr>
      <vt:lpstr>Poppins 1 Bold</vt:lpstr>
      <vt:lpstr>Poppins</vt:lpstr>
      <vt:lpstr>Arial</vt:lpstr>
      <vt:lpstr>Inter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Administrador</dc:creator>
  <cp:lastModifiedBy>Juan Esteban Mejia Velasquez</cp:lastModifiedBy>
  <cp:revision>31</cp:revision>
  <dcterms:created xsi:type="dcterms:W3CDTF">2006-08-16T00:00:00Z</dcterms:created>
  <dcterms:modified xsi:type="dcterms:W3CDTF">2025-12-03T23:26:06Z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0x0101009E0DDBAFD1725F409D01B56EA32EFDE3</vt:lpwstr>
  </property>
  <property fmtid="{D5CDD505-2E9C-101B-9397-08002B2CF9AE}" pid="3" name="GUID">
    <vt:lpwstr>8ee56194-4f5f-4314-9a7c-fa71b263b52c</vt:lpwstr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SharedWithUsers">
    <vt:lpwstr/>
  </property>
  <property fmtid="{D5CDD505-2E9C-101B-9397-08002B2CF9AE}" pid="8" name="TriggerFlowInfo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MediaServiceImageTags">
    <vt:lpwstr/>
  </property>
</Properties>
</file>